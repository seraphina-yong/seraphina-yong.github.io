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1" r:id="rId1"/>
    <p:sldMasterId id="2147483653" r:id="rId2"/>
  </p:sldMasterIdLst>
  <p:notesMasterIdLst>
    <p:notesMasterId r:id="rId21"/>
  </p:notesMasterIdLst>
  <p:handoutMasterIdLst>
    <p:handoutMasterId r:id="rId22"/>
  </p:handoutMasterIdLst>
  <p:sldIdLst>
    <p:sldId id="344" r:id="rId3"/>
    <p:sldId id="461" r:id="rId4"/>
    <p:sldId id="478" r:id="rId5"/>
    <p:sldId id="479" r:id="rId6"/>
    <p:sldId id="457" r:id="rId7"/>
    <p:sldId id="460" r:id="rId8"/>
    <p:sldId id="480" r:id="rId9"/>
    <p:sldId id="462" r:id="rId10"/>
    <p:sldId id="459" r:id="rId11"/>
    <p:sldId id="458" r:id="rId12"/>
    <p:sldId id="469" r:id="rId13"/>
    <p:sldId id="468" r:id="rId14"/>
    <p:sldId id="470" r:id="rId15"/>
    <p:sldId id="471" r:id="rId16"/>
    <p:sldId id="472" r:id="rId17"/>
    <p:sldId id="464" r:id="rId18"/>
    <p:sldId id="476" r:id="rId19"/>
    <p:sldId id="477" r:id="rId20"/>
  </p:sldIdLst>
  <p:sldSz cx="9144000" cy="6858000" type="screen4x3"/>
  <p:notesSz cx="6807200" cy="9939338"/>
  <p:defaultTextStyle>
    <a:defPPr>
      <a:defRPr lang="en-US"/>
    </a:defPPr>
    <a:lvl1pPr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1pPr>
    <a:lvl2pPr marL="4572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2pPr>
    <a:lvl3pPr marL="9144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3pPr>
    <a:lvl4pPr marL="13716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4pPr>
    <a:lvl5pPr marL="1828800" algn="l" rtl="0" fontAlgn="base">
      <a:spcBef>
        <a:spcPct val="0"/>
      </a:spcBef>
      <a:spcAft>
        <a:spcPct val="0"/>
      </a:spcAft>
      <a:defRPr kumimoji="1" sz="2400" kern="1200">
        <a:solidFill>
          <a:schemeClr val="tx1"/>
        </a:solidFill>
        <a:latin typeface="Tahoma" pitchFamily="34" charset="0"/>
        <a:ea typeface="新細明體" pitchFamily="18" charset="-120"/>
        <a:cs typeface="+mn-cs"/>
      </a:defRPr>
    </a:lvl5pPr>
    <a:lvl6pPr marL="2286000" algn="l" defTabSz="914400" rtl="0" eaLnBrk="1" latinLnBrk="0" hangingPunct="1">
      <a:defRPr kumimoji="1" sz="2400" kern="1200">
        <a:solidFill>
          <a:schemeClr val="tx1"/>
        </a:solidFill>
        <a:latin typeface="Tahoma" pitchFamily="34" charset="0"/>
        <a:ea typeface="新細明體" pitchFamily="18" charset="-120"/>
        <a:cs typeface="+mn-cs"/>
      </a:defRPr>
    </a:lvl6pPr>
    <a:lvl7pPr marL="2743200" algn="l" defTabSz="914400" rtl="0" eaLnBrk="1" latinLnBrk="0" hangingPunct="1">
      <a:defRPr kumimoji="1" sz="2400" kern="1200">
        <a:solidFill>
          <a:schemeClr val="tx1"/>
        </a:solidFill>
        <a:latin typeface="Tahoma" pitchFamily="34" charset="0"/>
        <a:ea typeface="新細明體" pitchFamily="18" charset="-120"/>
        <a:cs typeface="+mn-cs"/>
      </a:defRPr>
    </a:lvl7pPr>
    <a:lvl8pPr marL="3200400" algn="l" defTabSz="914400" rtl="0" eaLnBrk="1" latinLnBrk="0" hangingPunct="1">
      <a:defRPr kumimoji="1" sz="2400" kern="1200">
        <a:solidFill>
          <a:schemeClr val="tx1"/>
        </a:solidFill>
        <a:latin typeface="Tahoma" pitchFamily="34" charset="0"/>
        <a:ea typeface="新細明體" pitchFamily="18" charset="-120"/>
        <a:cs typeface="+mn-cs"/>
      </a:defRPr>
    </a:lvl8pPr>
    <a:lvl9pPr marL="3657600" algn="l" defTabSz="914400" rtl="0" eaLnBrk="1" latinLnBrk="0" hangingPunct="1">
      <a:defRPr kumimoji="1" sz="2400" kern="1200">
        <a:solidFill>
          <a:schemeClr val="tx1"/>
        </a:solidFill>
        <a:latin typeface="Tahoma" pitchFamily="34" charset="0"/>
        <a:ea typeface="新細明體"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a:srgbClr val="009900"/>
    <a:srgbClr val="FF0000"/>
    <a:srgbClr val="FFFF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89113" autoAdjust="0"/>
  </p:normalViewPr>
  <p:slideViewPr>
    <p:cSldViewPr snapToGrid="0">
      <p:cViewPr varScale="1">
        <p:scale>
          <a:sx n="60" d="100"/>
          <a:sy n="60" d="100"/>
        </p:scale>
        <p:origin x="105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4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bwMode="auto">
          <a:xfrm>
            <a:off x="0" y="0"/>
            <a:ext cx="295116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ctr" anchorCtr="0" compatLnSpc="1">
            <a:prstTxWarp prst="textNoShape">
              <a:avLst/>
            </a:prstTxWarp>
          </a:bodyPr>
          <a:lstStyle>
            <a:lvl1pPr defTabSz="966358" eaLnBrk="0" hangingPunct="0">
              <a:defRPr kumimoji="0" sz="1300">
                <a:latin typeface="Helvetica" pitchFamily="34" charset="0"/>
              </a:defRPr>
            </a:lvl1pPr>
          </a:lstStyle>
          <a:p>
            <a:pPr>
              <a:defRPr/>
            </a:pPr>
            <a:endParaRPr lang="en-US" altLang="zh-TW"/>
          </a:p>
        </p:txBody>
      </p:sp>
      <p:sp>
        <p:nvSpPr>
          <p:cNvPr id="125955" name="Rectangle 3"/>
          <p:cNvSpPr>
            <a:spLocks noGrp="1" noChangeArrowheads="1"/>
          </p:cNvSpPr>
          <p:nvPr>
            <p:ph type="dt" sz="quarter" idx="1"/>
          </p:nvPr>
        </p:nvSpPr>
        <p:spPr bwMode="auto">
          <a:xfrm>
            <a:off x="3856038" y="0"/>
            <a:ext cx="2951162"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ctr" anchorCtr="0" compatLnSpc="1">
            <a:prstTxWarp prst="textNoShape">
              <a:avLst/>
            </a:prstTxWarp>
          </a:bodyPr>
          <a:lstStyle>
            <a:lvl1pPr algn="r" defTabSz="966358" eaLnBrk="0" hangingPunct="0">
              <a:defRPr kumimoji="0" sz="1300">
                <a:latin typeface="Helvetica" pitchFamily="34" charset="0"/>
              </a:defRPr>
            </a:lvl1pPr>
          </a:lstStyle>
          <a:p>
            <a:pPr>
              <a:defRPr/>
            </a:pPr>
            <a:endParaRPr lang="en-US" altLang="zh-TW"/>
          </a:p>
        </p:txBody>
      </p:sp>
      <p:sp>
        <p:nvSpPr>
          <p:cNvPr id="125956" name="Rectangle 4"/>
          <p:cNvSpPr>
            <a:spLocks noGrp="1" noChangeArrowheads="1"/>
          </p:cNvSpPr>
          <p:nvPr>
            <p:ph type="ftr" sz="quarter" idx="2"/>
          </p:nvPr>
        </p:nvSpPr>
        <p:spPr bwMode="auto">
          <a:xfrm>
            <a:off x="0" y="9442450"/>
            <a:ext cx="2951163"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b" anchorCtr="0" compatLnSpc="1">
            <a:prstTxWarp prst="textNoShape">
              <a:avLst/>
            </a:prstTxWarp>
          </a:bodyPr>
          <a:lstStyle>
            <a:lvl1pPr defTabSz="966358" eaLnBrk="0" hangingPunct="0">
              <a:defRPr kumimoji="0" sz="1300">
                <a:latin typeface="Helvetica" pitchFamily="34" charset="0"/>
              </a:defRPr>
            </a:lvl1pPr>
          </a:lstStyle>
          <a:p>
            <a:pPr>
              <a:defRPr/>
            </a:pPr>
            <a:endParaRPr lang="en-US" altLang="zh-TW"/>
          </a:p>
        </p:txBody>
      </p:sp>
      <p:sp>
        <p:nvSpPr>
          <p:cNvPr id="125957" name="Rectangle 5"/>
          <p:cNvSpPr>
            <a:spLocks noGrp="1" noChangeArrowheads="1"/>
          </p:cNvSpPr>
          <p:nvPr>
            <p:ph type="sldNum" sz="quarter" idx="3"/>
          </p:nvPr>
        </p:nvSpPr>
        <p:spPr bwMode="auto">
          <a:xfrm>
            <a:off x="3856038" y="9442450"/>
            <a:ext cx="2951162"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b" anchorCtr="0" compatLnSpc="1">
            <a:prstTxWarp prst="textNoShape">
              <a:avLst/>
            </a:prstTxWarp>
          </a:bodyPr>
          <a:lstStyle>
            <a:lvl1pPr algn="r" defTabSz="966358" eaLnBrk="0" hangingPunct="0">
              <a:defRPr kumimoji="0" sz="1300">
                <a:latin typeface="Helvetica" pitchFamily="34" charset="0"/>
              </a:defRPr>
            </a:lvl1pPr>
          </a:lstStyle>
          <a:p>
            <a:pPr>
              <a:defRPr/>
            </a:pPr>
            <a:fld id="{090B73B1-7B3A-49FA-86C4-A1CFC1AE3FB6}" type="slidenum">
              <a:rPr lang="zh-TW" altLang="en-US"/>
              <a:pPr>
                <a:defRPr/>
              </a:pPr>
              <a:t>‹#›</a:t>
            </a:fld>
            <a:endParaRPr lang="en-US" altLang="zh-TW"/>
          </a:p>
        </p:txBody>
      </p:sp>
    </p:spTree>
    <p:extLst>
      <p:ext uri="{BB962C8B-B14F-4D97-AF65-F5344CB8AC3E}">
        <p14:creationId xmlns:p14="http://schemas.microsoft.com/office/powerpoint/2010/main" val="29635590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51163" cy="496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ctr" anchorCtr="0" compatLnSpc="1">
            <a:prstTxWarp prst="textNoShape">
              <a:avLst/>
            </a:prstTxWarp>
          </a:bodyPr>
          <a:lstStyle>
            <a:lvl1pPr defTabSz="966358" eaLnBrk="0" hangingPunct="0">
              <a:defRPr kumimoji="0" sz="1300">
                <a:latin typeface="Times New Roman" pitchFamily="18" charset="0"/>
              </a:defRPr>
            </a:lvl1pPr>
          </a:lstStyle>
          <a:p>
            <a:pPr>
              <a:defRPr/>
            </a:pPr>
            <a:endParaRPr lang="en-US" altLang="zh-TW"/>
          </a:p>
        </p:txBody>
      </p:sp>
      <p:sp>
        <p:nvSpPr>
          <p:cNvPr id="6147" name="Rectangle 3"/>
          <p:cNvSpPr>
            <a:spLocks noGrp="1" noChangeArrowheads="1"/>
          </p:cNvSpPr>
          <p:nvPr>
            <p:ph type="dt" idx="1"/>
          </p:nvPr>
        </p:nvSpPr>
        <p:spPr bwMode="auto">
          <a:xfrm>
            <a:off x="3856038" y="0"/>
            <a:ext cx="2951162" cy="496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ctr" anchorCtr="0" compatLnSpc="1">
            <a:prstTxWarp prst="textNoShape">
              <a:avLst/>
            </a:prstTxWarp>
          </a:bodyPr>
          <a:lstStyle>
            <a:lvl1pPr algn="r" defTabSz="966358" eaLnBrk="0" hangingPunct="0">
              <a:defRPr kumimoji="0" sz="1300">
                <a:latin typeface="Times New Roman" pitchFamily="18" charset="0"/>
              </a:defRPr>
            </a:lvl1pPr>
          </a:lstStyle>
          <a:p>
            <a:pPr>
              <a:defRPr/>
            </a:pPr>
            <a:endParaRPr lang="en-US" altLang="zh-TW"/>
          </a:p>
        </p:txBody>
      </p:sp>
      <p:sp>
        <p:nvSpPr>
          <p:cNvPr id="133124" name="Rectangle 4"/>
          <p:cNvSpPr>
            <a:spLocks noGrp="1" noRot="1" noChangeAspect="1" noChangeArrowheads="1" noTextEdit="1"/>
          </p:cNvSpPr>
          <p:nvPr>
            <p:ph type="sldImg" idx="2"/>
          </p:nvPr>
        </p:nvSpPr>
        <p:spPr bwMode="auto">
          <a:xfrm>
            <a:off x="920750" y="746125"/>
            <a:ext cx="4968875" cy="3727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08050" y="4721225"/>
            <a:ext cx="4991100" cy="4471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ctr" anchorCtr="0" compatLnSpc="1">
            <a:prstTxWarp prst="textNoShape">
              <a:avLst/>
            </a:prstTxWarp>
          </a:bodyPr>
          <a:lstStyle/>
          <a:p>
            <a:pPr lvl="0"/>
            <a:r>
              <a:rPr lang="en-US" altLang="zh-TW" noProof="0" smtClean="0"/>
              <a:t>Click to edit Master text styles</a:t>
            </a:r>
          </a:p>
          <a:p>
            <a:pPr lvl="1"/>
            <a:r>
              <a:rPr lang="en-US" altLang="zh-TW" noProof="0" smtClean="0"/>
              <a:t>Second level</a:t>
            </a:r>
          </a:p>
          <a:p>
            <a:pPr lvl="2"/>
            <a:r>
              <a:rPr lang="en-US" altLang="zh-TW" noProof="0" smtClean="0"/>
              <a:t>Third level</a:t>
            </a:r>
          </a:p>
          <a:p>
            <a:pPr lvl="3"/>
            <a:r>
              <a:rPr lang="en-US" altLang="zh-TW" noProof="0" smtClean="0"/>
              <a:t>Fourth level</a:t>
            </a:r>
          </a:p>
          <a:p>
            <a:pPr lvl="4"/>
            <a:r>
              <a:rPr lang="en-US" altLang="zh-TW" noProof="0" smtClean="0"/>
              <a:t>Fifth level</a:t>
            </a:r>
          </a:p>
        </p:txBody>
      </p:sp>
      <p:sp>
        <p:nvSpPr>
          <p:cNvPr id="6150" name="Rectangle 6"/>
          <p:cNvSpPr>
            <a:spLocks noGrp="1" noChangeArrowheads="1"/>
          </p:cNvSpPr>
          <p:nvPr>
            <p:ph type="ftr" sz="quarter" idx="4"/>
          </p:nvPr>
        </p:nvSpPr>
        <p:spPr bwMode="auto">
          <a:xfrm>
            <a:off x="0" y="9442450"/>
            <a:ext cx="2951163" cy="496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b" anchorCtr="0" compatLnSpc="1">
            <a:prstTxWarp prst="textNoShape">
              <a:avLst/>
            </a:prstTxWarp>
          </a:bodyPr>
          <a:lstStyle>
            <a:lvl1pPr defTabSz="966358" eaLnBrk="0" hangingPunct="0">
              <a:defRPr kumimoji="0" sz="1300">
                <a:latin typeface="Times New Roman" pitchFamily="18" charset="0"/>
              </a:defRPr>
            </a:lvl1pPr>
          </a:lstStyle>
          <a:p>
            <a:pPr>
              <a:defRPr/>
            </a:pPr>
            <a:endParaRPr lang="en-US" altLang="zh-TW"/>
          </a:p>
        </p:txBody>
      </p:sp>
      <p:sp>
        <p:nvSpPr>
          <p:cNvPr id="6151" name="Rectangle 7"/>
          <p:cNvSpPr>
            <a:spLocks noGrp="1" noChangeArrowheads="1"/>
          </p:cNvSpPr>
          <p:nvPr>
            <p:ph type="sldNum" sz="quarter" idx="5"/>
          </p:nvPr>
        </p:nvSpPr>
        <p:spPr bwMode="auto">
          <a:xfrm>
            <a:off x="3856038" y="9442450"/>
            <a:ext cx="2951162" cy="496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12" tIns="48305" rIns="96612" bIns="48305" numCol="1" anchor="b" anchorCtr="0" compatLnSpc="1">
            <a:prstTxWarp prst="textNoShape">
              <a:avLst/>
            </a:prstTxWarp>
          </a:bodyPr>
          <a:lstStyle>
            <a:lvl1pPr algn="r" defTabSz="966358" eaLnBrk="0" hangingPunct="0">
              <a:defRPr kumimoji="0" sz="1300">
                <a:latin typeface="Times New Roman" pitchFamily="18" charset="0"/>
              </a:defRPr>
            </a:lvl1pPr>
          </a:lstStyle>
          <a:p>
            <a:pPr>
              <a:defRPr/>
            </a:pPr>
            <a:fld id="{8049E8FD-7810-43E2-A450-862787F32CD8}" type="slidenum">
              <a:rPr lang="zh-TW" altLang="en-US"/>
              <a:pPr>
                <a:defRPr/>
              </a:pPr>
              <a:t>‹#›</a:t>
            </a:fld>
            <a:endParaRPr lang="en-US" altLang="zh-TW"/>
          </a:p>
        </p:txBody>
      </p:sp>
    </p:spTree>
    <p:extLst>
      <p:ext uri="{BB962C8B-B14F-4D97-AF65-F5344CB8AC3E}">
        <p14:creationId xmlns:p14="http://schemas.microsoft.com/office/powerpoint/2010/main" val="18031736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defTabSz="965200"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965200"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965200"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965200"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965200"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965200"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965200"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965200"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965200"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a:spcBef>
                <a:spcPct val="0"/>
              </a:spcBef>
            </a:pPr>
            <a:fld id="{5BF09876-E4A4-4B15-B3B8-811C39578C9F}" type="slidenum">
              <a:rPr kumimoji="0" lang="zh-TW" altLang="en-US" sz="1300" smtClean="0"/>
              <a:pPr>
                <a:spcBef>
                  <a:spcPct val="0"/>
                </a:spcBef>
              </a:pPr>
              <a:t>1</a:t>
            </a:fld>
            <a:endParaRPr kumimoji="0" lang="en-US" altLang="zh-TW" sz="1300" dirty="0" smtClean="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p:spPr>
        <p:txBody>
          <a:bodyPr/>
          <a:lstStyle/>
          <a:p>
            <a:pPr eaLnBrk="1" hangingPunct="1"/>
            <a:endParaRPr lang="zh-TW" altLang="en-US" smtClean="0"/>
          </a:p>
        </p:txBody>
      </p:sp>
    </p:spTree>
    <p:extLst>
      <p:ext uri="{BB962C8B-B14F-4D97-AF65-F5344CB8AC3E}">
        <p14:creationId xmlns:p14="http://schemas.microsoft.com/office/powerpoint/2010/main" val="3736037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2</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1587065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3</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2406966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4</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2394499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5</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3294386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6</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4112720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7</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3317360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8</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1594252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9</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2142759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10</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2630545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11</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14250225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12</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530132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13</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1216473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14</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2688715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15</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667163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16</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2932472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17</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743216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5"/>
          <p:cNvSpPr>
            <a:spLocks noGrp="1" noChangeArrowheads="1"/>
          </p:cNvSpPr>
          <p:nvPr>
            <p:ph type="sldNum" sz="quarter" idx="5"/>
          </p:nvPr>
        </p:nvSpPr>
        <p:spPr>
          <a:noFill/>
        </p:spPr>
        <p:txBody>
          <a:bodyPr/>
          <a:lstStyle>
            <a:lvl1pPr defTabSz="760413" eaLnBrk="0" hangingPunct="0">
              <a:spcBef>
                <a:spcPct val="30000"/>
              </a:spcBef>
              <a:defRPr kumimoji="1" sz="1200">
                <a:solidFill>
                  <a:schemeClr val="tx1"/>
                </a:solidFill>
                <a:latin typeface="Times New Roman" pitchFamily="18" charset="0"/>
                <a:ea typeface="新細明體" pitchFamily="18" charset="-120"/>
              </a:defRPr>
            </a:lvl1pPr>
            <a:lvl2pPr marL="742950" indent="-285750" defTabSz="760413" eaLnBrk="0" hangingPunct="0">
              <a:spcBef>
                <a:spcPct val="30000"/>
              </a:spcBef>
              <a:defRPr kumimoji="1" sz="1200">
                <a:solidFill>
                  <a:schemeClr val="tx1"/>
                </a:solidFill>
                <a:latin typeface="Times New Roman" pitchFamily="18" charset="0"/>
                <a:ea typeface="新細明體" pitchFamily="18" charset="-120"/>
              </a:defRPr>
            </a:lvl2pPr>
            <a:lvl3pPr marL="1143000" indent="-228600" defTabSz="760413" eaLnBrk="0" hangingPunct="0">
              <a:spcBef>
                <a:spcPct val="30000"/>
              </a:spcBef>
              <a:defRPr kumimoji="1" sz="1200">
                <a:solidFill>
                  <a:schemeClr val="tx1"/>
                </a:solidFill>
                <a:latin typeface="Times New Roman" pitchFamily="18" charset="0"/>
                <a:ea typeface="新細明體" pitchFamily="18" charset="-120"/>
              </a:defRPr>
            </a:lvl3pPr>
            <a:lvl4pPr marL="1601788" indent="-228600" defTabSz="760413" eaLnBrk="0" hangingPunct="0">
              <a:spcBef>
                <a:spcPct val="30000"/>
              </a:spcBef>
              <a:defRPr kumimoji="1" sz="1200">
                <a:solidFill>
                  <a:schemeClr val="tx1"/>
                </a:solidFill>
                <a:latin typeface="Times New Roman" pitchFamily="18" charset="0"/>
                <a:ea typeface="新細明體" pitchFamily="18" charset="-120"/>
              </a:defRPr>
            </a:lvl4pPr>
            <a:lvl5pPr marL="2058988" indent="-228600" defTabSz="760413" eaLnBrk="0" hangingPunct="0">
              <a:spcBef>
                <a:spcPct val="30000"/>
              </a:spcBef>
              <a:defRPr kumimoji="1" sz="1200">
                <a:solidFill>
                  <a:schemeClr val="tx1"/>
                </a:solidFill>
                <a:latin typeface="Times New Roman" pitchFamily="18" charset="0"/>
                <a:ea typeface="新細明體" pitchFamily="18" charset="-120"/>
              </a:defRPr>
            </a:lvl5pPr>
            <a:lvl6pPr marL="25161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6pPr>
            <a:lvl7pPr marL="29733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7pPr>
            <a:lvl8pPr marL="34305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8pPr>
            <a:lvl9pPr marL="3887788" indent="-228600" defTabSz="760413" eaLnBrk="0" fontAlgn="base" hangingPunct="0">
              <a:spcBef>
                <a:spcPct val="30000"/>
              </a:spcBef>
              <a:spcAft>
                <a:spcPct val="0"/>
              </a:spcAft>
              <a:defRPr kumimoji="1" sz="1200">
                <a:solidFill>
                  <a:schemeClr val="tx1"/>
                </a:solidFill>
                <a:latin typeface="Times New Roman" pitchFamily="18" charset="0"/>
                <a:ea typeface="新細明體" pitchFamily="18" charset="-120"/>
              </a:defRPr>
            </a:lvl9pPr>
          </a:lstStyle>
          <a:p>
            <a:pPr eaLnBrk="1" hangingPunct="1">
              <a:spcBef>
                <a:spcPct val="0"/>
              </a:spcBef>
            </a:pPr>
            <a:fld id="{6FDA3677-48FC-4E96-A035-0D690F968E43}" type="slidenum">
              <a:rPr lang="en-US" altLang="zh-TW" sz="1000" smtClean="0">
                <a:solidFill>
                  <a:srgbClr val="000000"/>
                </a:solidFill>
              </a:rPr>
              <a:pPr eaLnBrk="1" hangingPunct="1">
                <a:spcBef>
                  <a:spcPct val="0"/>
                </a:spcBef>
              </a:pPr>
              <a:t>18</a:t>
            </a:fld>
            <a:endParaRPr lang="en-US" altLang="zh-TW" sz="1000" smtClean="0">
              <a:solidFill>
                <a:srgbClr val="000000"/>
              </a:solidFill>
            </a:endParaRPr>
          </a:p>
        </p:txBody>
      </p:sp>
      <p:sp>
        <p:nvSpPr>
          <p:cNvPr id="251907" name="Rectangle 2"/>
          <p:cNvSpPr>
            <a:spLocks noGrp="1" noRot="1" noChangeAspect="1" noChangeArrowheads="1" noTextEdit="1"/>
          </p:cNvSpPr>
          <p:nvPr>
            <p:ph type="sldImg"/>
          </p:nvPr>
        </p:nvSpPr>
        <p:spPr>
          <a:ln/>
        </p:spPr>
      </p:sp>
      <p:sp>
        <p:nvSpPr>
          <p:cNvPr id="251908" name="Rectangle 3"/>
          <p:cNvSpPr>
            <a:spLocks noGrp="1" noChangeArrowheads="1"/>
          </p:cNvSpPr>
          <p:nvPr>
            <p:ph type="body" idx="1"/>
          </p:nvPr>
        </p:nvSpPr>
        <p:spPr>
          <a:xfrm>
            <a:off x="682625" y="4722813"/>
            <a:ext cx="5443538" cy="4470400"/>
          </a:xfrm>
          <a:noFill/>
        </p:spPr>
        <p:txBody>
          <a:bodyPr lIns="92538" tIns="46269" rIns="92538" bIns="46269"/>
          <a:lstStyle/>
          <a:p>
            <a:endParaRPr lang="zh-TW" altLang="zh-TW" smtClean="0">
              <a:latin typeface="Arial" pitchFamily="34" charset="0"/>
            </a:endParaRPr>
          </a:p>
        </p:txBody>
      </p:sp>
    </p:spTree>
    <p:extLst>
      <p:ext uri="{BB962C8B-B14F-4D97-AF65-F5344CB8AC3E}">
        <p14:creationId xmlns:p14="http://schemas.microsoft.com/office/powerpoint/2010/main" val="1612147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defRPr/>
                </a:pPr>
                <a:endParaRPr lang="zh-TW" altLang="en-US" smtClean="0"/>
              </a:p>
            </p:txBody>
          </p:sp>
          <p:grpSp>
            <p:nvGrpSpPr>
              <p:cNvPr id="16" name="Group 5"/>
              <p:cNvGrpSpPr>
                <a:grpSpLocks/>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6" name="Group 58"/>
            <p:cNvGrpSpPr>
              <a:grpSpLocks/>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4" name="Arc 62"/>
              <p:cNvSpPr>
                <a:spLocks/>
              </p:cNvSpPr>
              <p:nvPr/>
            </p:nvSpPr>
            <p:spPr bwMode="ltGray">
              <a:xfrm rot="16200000" flipH="1">
                <a:off x="426" y="860"/>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7" name="Group 63"/>
            <p:cNvGrpSpPr>
              <a:grpSpLocks/>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 name="Arc 66"/>
              <p:cNvSpPr>
                <a:spLocks/>
              </p:cNvSpPr>
              <p:nvPr/>
            </p:nvSpPr>
            <p:spPr bwMode="ltGray">
              <a:xfrm rot="5400000">
                <a:off x="5097" y="3346"/>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sp>
        <p:nvSpPr>
          <p:cNvPr id="129091" name="Rectangle 67"/>
          <p:cNvSpPr>
            <a:spLocks noGrp="1" noChangeArrowheads="1"/>
          </p:cNvSpPr>
          <p:nvPr>
            <p:ph type="ctrTitle"/>
          </p:nvPr>
        </p:nvSpPr>
        <p:spPr>
          <a:xfrm>
            <a:off x="990600" y="1752600"/>
            <a:ext cx="7772400" cy="1143000"/>
          </a:xfrm>
        </p:spPr>
        <p:txBody>
          <a:bodyPr/>
          <a:lstStyle>
            <a:lvl1pPr>
              <a:defRPr/>
            </a:lvl1pPr>
          </a:lstStyle>
          <a:p>
            <a:pPr lvl="0"/>
            <a:r>
              <a:rPr lang="zh-TW" altLang="en-US" noProof="0" smtClean="0"/>
              <a:t>按一下以編輯母片標題樣式</a:t>
            </a:r>
          </a:p>
        </p:txBody>
      </p:sp>
      <p:sp>
        <p:nvSpPr>
          <p:cNvPr id="129092"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pPr lvl="0"/>
            <a:r>
              <a:rPr lang="zh-TW" altLang="en-US" noProof="0" smtClean="0"/>
              <a:t>按一下以編輯母片副標題樣式</a:t>
            </a:r>
          </a:p>
        </p:txBody>
      </p:sp>
      <p:sp>
        <p:nvSpPr>
          <p:cNvPr id="69" name="Rectangle 69"/>
          <p:cNvSpPr>
            <a:spLocks noGrp="1" noChangeArrowheads="1"/>
          </p:cNvSpPr>
          <p:nvPr>
            <p:ph type="dt" sz="quarter" idx="10"/>
          </p:nvPr>
        </p:nvSpPr>
        <p:spPr/>
        <p:txBody>
          <a:bodyPr/>
          <a:lstStyle>
            <a:lvl1pPr>
              <a:defRPr/>
            </a:lvl1pPr>
          </a:lstStyle>
          <a:p>
            <a:pPr>
              <a:defRPr/>
            </a:pPr>
            <a:fld id="{12D9535A-9831-4678-95A6-8DA301D6A291}" type="datetime1">
              <a:rPr lang="zh-TW" altLang="en-US" smtClean="0"/>
              <a:t>2018/5/21</a:t>
            </a:fld>
            <a:endParaRPr lang="en-US" altLang="zh-TW"/>
          </a:p>
        </p:txBody>
      </p:sp>
      <p:sp>
        <p:nvSpPr>
          <p:cNvPr id="70" name="Rectangle 70"/>
          <p:cNvSpPr>
            <a:spLocks noGrp="1" noChangeArrowheads="1"/>
          </p:cNvSpPr>
          <p:nvPr>
            <p:ph type="ftr" sz="quarter" idx="11"/>
          </p:nvPr>
        </p:nvSpPr>
        <p:spPr/>
        <p:txBody>
          <a:bodyPr/>
          <a:lstStyle>
            <a:lvl1pPr>
              <a:defRPr/>
            </a:lvl1pPr>
          </a:lstStyle>
          <a:p>
            <a:pPr>
              <a:defRPr/>
            </a:pPr>
            <a:r>
              <a:rPr lang="pt-BR" altLang="zh-TW" smtClean="0"/>
              <a:t>OS Selected Exercises 10-12 2018</a:t>
            </a:r>
            <a:endParaRPr lang="en-US" altLang="zh-TW"/>
          </a:p>
        </p:txBody>
      </p:sp>
      <p:sp>
        <p:nvSpPr>
          <p:cNvPr id="71" name="Rectangle 71"/>
          <p:cNvSpPr>
            <a:spLocks noGrp="1" noChangeArrowheads="1"/>
          </p:cNvSpPr>
          <p:nvPr>
            <p:ph type="sldNum" sz="quarter" idx="12"/>
          </p:nvPr>
        </p:nvSpPr>
        <p:spPr/>
        <p:txBody>
          <a:bodyPr/>
          <a:lstStyle>
            <a:lvl1pPr>
              <a:defRPr/>
            </a:lvl1pPr>
          </a:lstStyle>
          <a:p>
            <a:pPr>
              <a:defRPr/>
            </a:pPr>
            <a:fld id="{DF05A5C3-A4D8-430C-85C3-468A06DE008C}" type="slidenum">
              <a:rPr lang="zh-TW" altLang="en-US"/>
              <a:pPr>
                <a:defRPr/>
              </a:pPr>
              <a:t>‹#›</a:t>
            </a:fld>
            <a:endParaRPr lang="en-US" altLang="zh-TW"/>
          </a:p>
        </p:txBody>
      </p:sp>
    </p:spTree>
    <p:extLst>
      <p:ext uri="{BB962C8B-B14F-4D97-AF65-F5344CB8AC3E}">
        <p14:creationId xmlns:p14="http://schemas.microsoft.com/office/powerpoint/2010/main" val="2106816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089"/>
          <p:cNvSpPr>
            <a:spLocks noGrp="1" noChangeArrowheads="1"/>
          </p:cNvSpPr>
          <p:nvPr>
            <p:ph type="dt" sz="half" idx="10"/>
          </p:nvPr>
        </p:nvSpPr>
        <p:spPr>
          <a:ln/>
        </p:spPr>
        <p:txBody>
          <a:bodyPr/>
          <a:lstStyle>
            <a:lvl1pPr>
              <a:defRPr/>
            </a:lvl1pPr>
          </a:lstStyle>
          <a:p>
            <a:pPr>
              <a:defRPr/>
            </a:pPr>
            <a:fld id="{6D0ACB46-0B95-4190-9DC3-27B1A0C5A8AE}" type="datetime1">
              <a:rPr lang="zh-TW" altLang="en-US" smtClean="0"/>
              <a:t>2018/5/21</a:t>
            </a:fld>
            <a:endParaRPr lang="en-US" altLang="zh-TW"/>
          </a:p>
        </p:txBody>
      </p:sp>
      <p:sp>
        <p:nvSpPr>
          <p:cNvPr id="5"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1091"/>
          <p:cNvSpPr>
            <a:spLocks noGrp="1" noChangeArrowheads="1"/>
          </p:cNvSpPr>
          <p:nvPr>
            <p:ph type="sldNum" sz="quarter" idx="12"/>
          </p:nvPr>
        </p:nvSpPr>
        <p:spPr>
          <a:ln/>
        </p:spPr>
        <p:txBody>
          <a:bodyPr/>
          <a:lstStyle>
            <a:lvl1pPr>
              <a:defRPr/>
            </a:lvl1pPr>
          </a:lstStyle>
          <a:p>
            <a:pPr>
              <a:defRPr/>
            </a:pPr>
            <a:fld id="{E571068F-A8DB-4715-80D4-E261661B5ED0}" type="slidenum">
              <a:rPr lang="zh-TW" altLang="en-US"/>
              <a:pPr>
                <a:defRPr/>
              </a:pPr>
              <a:t>‹#›</a:t>
            </a:fld>
            <a:endParaRPr lang="en-US" altLang="zh-TW"/>
          </a:p>
        </p:txBody>
      </p:sp>
    </p:spTree>
    <p:extLst>
      <p:ext uri="{BB962C8B-B14F-4D97-AF65-F5344CB8AC3E}">
        <p14:creationId xmlns:p14="http://schemas.microsoft.com/office/powerpoint/2010/main" val="1374850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1089"/>
          <p:cNvSpPr>
            <a:spLocks noGrp="1" noChangeArrowheads="1"/>
          </p:cNvSpPr>
          <p:nvPr>
            <p:ph type="dt" sz="half" idx="10"/>
          </p:nvPr>
        </p:nvSpPr>
        <p:spPr>
          <a:ln/>
        </p:spPr>
        <p:txBody>
          <a:bodyPr/>
          <a:lstStyle>
            <a:lvl1pPr>
              <a:defRPr/>
            </a:lvl1pPr>
          </a:lstStyle>
          <a:p>
            <a:pPr>
              <a:defRPr/>
            </a:pPr>
            <a:fld id="{B377EFB4-EFF8-4DDE-AD5A-5B21AF4A06FF}" type="datetime1">
              <a:rPr lang="zh-TW" altLang="en-US" smtClean="0"/>
              <a:t>2018/5/21</a:t>
            </a:fld>
            <a:endParaRPr lang="en-US" altLang="zh-TW"/>
          </a:p>
        </p:txBody>
      </p:sp>
      <p:sp>
        <p:nvSpPr>
          <p:cNvPr id="5"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1091"/>
          <p:cNvSpPr>
            <a:spLocks noGrp="1" noChangeArrowheads="1"/>
          </p:cNvSpPr>
          <p:nvPr>
            <p:ph type="sldNum" sz="quarter" idx="12"/>
          </p:nvPr>
        </p:nvSpPr>
        <p:spPr>
          <a:ln/>
        </p:spPr>
        <p:txBody>
          <a:bodyPr/>
          <a:lstStyle>
            <a:lvl1pPr>
              <a:defRPr/>
            </a:lvl1pPr>
          </a:lstStyle>
          <a:p>
            <a:pPr>
              <a:defRPr/>
            </a:pPr>
            <a:fld id="{12FC183A-7273-4513-AC62-9D03DF5BAF9A}" type="slidenum">
              <a:rPr lang="zh-TW" altLang="en-US"/>
              <a:pPr>
                <a:defRPr/>
              </a:pPr>
              <a:t>‹#›</a:t>
            </a:fld>
            <a:endParaRPr lang="en-US" altLang="zh-TW"/>
          </a:p>
        </p:txBody>
      </p:sp>
    </p:spTree>
    <p:extLst>
      <p:ext uri="{BB962C8B-B14F-4D97-AF65-F5344CB8AC3E}">
        <p14:creationId xmlns:p14="http://schemas.microsoft.com/office/powerpoint/2010/main" val="908430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089"/>
          <p:cNvSpPr>
            <a:spLocks noGrp="1" noChangeArrowheads="1"/>
          </p:cNvSpPr>
          <p:nvPr>
            <p:ph type="dt" sz="half" idx="10"/>
          </p:nvPr>
        </p:nvSpPr>
        <p:spPr>
          <a:ln/>
        </p:spPr>
        <p:txBody>
          <a:bodyPr/>
          <a:lstStyle>
            <a:lvl1pPr>
              <a:defRPr/>
            </a:lvl1pPr>
          </a:lstStyle>
          <a:p>
            <a:pPr>
              <a:defRPr/>
            </a:pPr>
            <a:fld id="{3778F9B9-916E-4C27-AD9F-9A114A859AAB}" type="datetime1">
              <a:rPr lang="zh-TW" altLang="en-US" smtClean="0"/>
              <a:t>2018/5/21</a:t>
            </a:fld>
            <a:endParaRPr lang="en-US" altLang="zh-TW"/>
          </a:p>
        </p:txBody>
      </p:sp>
      <p:sp>
        <p:nvSpPr>
          <p:cNvPr id="6"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7" name="Rectangle 1091"/>
          <p:cNvSpPr>
            <a:spLocks noGrp="1" noChangeArrowheads="1"/>
          </p:cNvSpPr>
          <p:nvPr>
            <p:ph type="sldNum" sz="quarter" idx="12"/>
          </p:nvPr>
        </p:nvSpPr>
        <p:spPr>
          <a:ln/>
        </p:spPr>
        <p:txBody>
          <a:bodyPr/>
          <a:lstStyle>
            <a:lvl1pPr>
              <a:defRPr/>
            </a:lvl1pPr>
          </a:lstStyle>
          <a:p>
            <a:pPr>
              <a:defRPr/>
            </a:pPr>
            <a:fld id="{70A813C3-3514-4567-849A-EC2F31E65770}" type="slidenum">
              <a:rPr lang="zh-TW" altLang="en-US"/>
              <a:pPr>
                <a:defRPr/>
              </a:pPr>
              <a:t>‹#›</a:t>
            </a:fld>
            <a:endParaRPr lang="en-US" altLang="zh-TW"/>
          </a:p>
        </p:txBody>
      </p:sp>
    </p:spTree>
    <p:extLst>
      <p:ext uri="{BB962C8B-B14F-4D97-AF65-F5344CB8AC3E}">
        <p14:creationId xmlns:p14="http://schemas.microsoft.com/office/powerpoint/2010/main" val="2342514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089"/>
          <p:cNvSpPr>
            <a:spLocks noGrp="1" noChangeArrowheads="1"/>
          </p:cNvSpPr>
          <p:nvPr>
            <p:ph type="dt" sz="half" idx="10"/>
          </p:nvPr>
        </p:nvSpPr>
        <p:spPr>
          <a:ln/>
        </p:spPr>
        <p:txBody>
          <a:bodyPr/>
          <a:lstStyle>
            <a:lvl1pPr>
              <a:defRPr/>
            </a:lvl1pPr>
          </a:lstStyle>
          <a:p>
            <a:pPr>
              <a:defRPr/>
            </a:pPr>
            <a:fld id="{3539169E-F0C9-44AC-A851-A9C746062DEC}" type="datetime1">
              <a:rPr lang="zh-TW" altLang="en-US" smtClean="0"/>
              <a:t>2018/5/21</a:t>
            </a:fld>
            <a:endParaRPr lang="en-US" altLang="zh-TW"/>
          </a:p>
        </p:txBody>
      </p:sp>
      <p:sp>
        <p:nvSpPr>
          <p:cNvPr id="8"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9" name="Rectangle 1091"/>
          <p:cNvSpPr>
            <a:spLocks noGrp="1" noChangeArrowheads="1"/>
          </p:cNvSpPr>
          <p:nvPr>
            <p:ph type="sldNum" sz="quarter" idx="12"/>
          </p:nvPr>
        </p:nvSpPr>
        <p:spPr>
          <a:ln/>
        </p:spPr>
        <p:txBody>
          <a:bodyPr/>
          <a:lstStyle>
            <a:lvl1pPr>
              <a:defRPr/>
            </a:lvl1pPr>
          </a:lstStyle>
          <a:p>
            <a:pPr>
              <a:defRPr/>
            </a:pPr>
            <a:fld id="{79EDC75E-2BE5-4997-BB06-CDF4A9545F77}" type="slidenum">
              <a:rPr lang="zh-TW" altLang="en-US"/>
              <a:pPr>
                <a:defRPr/>
              </a:pPr>
              <a:t>‹#›</a:t>
            </a:fld>
            <a:endParaRPr lang="en-US" altLang="zh-TW"/>
          </a:p>
        </p:txBody>
      </p:sp>
    </p:spTree>
    <p:extLst>
      <p:ext uri="{BB962C8B-B14F-4D97-AF65-F5344CB8AC3E}">
        <p14:creationId xmlns:p14="http://schemas.microsoft.com/office/powerpoint/2010/main" val="1177255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1089"/>
          <p:cNvSpPr>
            <a:spLocks noGrp="1" noChangeArrowheads="1"/>
          </p:cNvSpPr>
          <p:nvPr>
            <p:ph type="dt" sz="half" idx="10"/>
          </p:nvPr>
        </p:nvSpPr>
        <p:spPr>
          <a:ln/>
        </p:spPr>
        <p:txBody>
          <a:bodyPr/>
          <a:lstStyle>
            <a:lvl1pPr>
              <a:defRPr/>
            </a:lvl1pPr>
          </a:lstStyle>
          <a:p>
            <a:pPr>
              <a:defRPr/>
            </a:pPr>
            <a:fld id="{87D59BC7-A740-4378-892F-80CCB1FE305F}" type="datetime1">
              <a:rPr lang="zh-TW" altLang="en-US" smtClean="0"/>
              <a:t>2018/5/21</a:t>
            </a:fld>
            <a:endParaRPr lang="en-US" altLang="zh-TW"/>
          </a:p>
        </p:txBody>
      </p:sp>
      <p:sp>
        <p:nvSpPr>
          <p:cNvPr id="4"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5" name="Rectangle 1091"/>
          <p:cNvSpPr>
            <a:spLocks noGrp="1" noChangeArrowheads="1"/>
          </p:cNvSpPr>
          <p:nvPr>
            <p:ph type="sldNum" sz="quarter" idx="12"/>
          </p:nvPr>
        </p:nvSpPr>
        <p:spPr>
          <a:ln/>
        </p:spPr>
        <p:txBody>
          <a:bodyPr/>
          <a:lstStyle>
            <a:lvl1pPr>
              <a:defRPr/>
            </a:lvl1pPr>
          </a:lstStyle>
          <a:p>
            <a:pPr>
              <a:defRPr/>
            </a:pPr>
            <a:fld id="{97CD9420-08DB-4FFB-A9E9-9EEC82B581F1}" type="slidenum">
              <a:rPr lang="zh-TW" altLang="en-US"/>
              <a:pPr>
                <a:defRPr/>
              </a:pPr>
              <a:t>‹#›</a:t>
            </a:fld>
            <a:endParaRPr lang="en-US" altLang="zh-TW"/>
          </a:p>
        </p:txBody>
      </p:sp>
    </p:spTree>
    <p:extLst>
      <p:ext uri="{BB962C8B-B14F-4D97-AF65-F5344CB8AC3E}">
        <p14:creationId xmlns:p14="http://schemas.microsoft.com/office/powerpoint/2010/main" val="1674069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89"/>
          <p:cNvSpPr>
            <a:spLocks noGrp="1" noChangeArrowheads="1"/>
          </p:cNvSpPr>
          <p:nvPr>
            <p:ph type="dt" sz="half" idx="10"/>
          </p:nvPr>
        </p:nvSpPr>
        <p:spPr>
          <a:ln/>
        </p:spPr>
        <p:txBody>
          <a:bodyPr/>
          <a:lstStyle>
            <a:lvl1pPr>
              <a:defRPr/>
            </a:lvl1pPr>
          </a:lstStyle>
          <a:p>
            <a:pPr>
              <a:defRPr/>
            </a:pPr>
            <a:fld id="{761EA506-F91E-42F6-8803-E0437F5BA8D9}" type="datetime1">
              <a:rPr lang="zh-TW" altLang="en-US" smtClean="0"/>
              <a:t>2018/5/21</a:t>
            </a:fld>
            <a:endParaRPr lang="en-US" altLang="zh-TW"/>
          </a:p>
        </p:txBody>
      </p:sp>
      <p:sp>
        <p:nvSpPr>
          <p:cNvPr id="3"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4" name="Rectangle 1091"/>
          <p:cNvSpPr>
            <a:spLocks noGrp="1" noChangeArrowheads="1"/>
          </p:cNvSpPr>
          <p:nvPr>
            <p:ph type="sldNum" sz="quarter" idx="12"/>
          </p:nvPr>
        </p:nvSpPr>
        <p:spPr>
          <a:ln/>
        </p:spPr>
        <p:txBody>
          <a:bodyPr/>
          <a:lstStyle>
            <a:lvl1pPr>
              <a:defRPr/>
            </a:lvl1pPr>
          </a:lstStyle>
          <a:p>
            <a:pPr>
              <a:defRPr/>
            </a:pPr>
            <a:fld id="{A1B05357-5CFB-47AA-A75D-89FADAB704C3}" type="slidenum">
              <a:rPr lang="zh-TW" altLang="en-US"/>
              <a:pPr>
                <a:defRPr/>
              </a:pPr>
              <a:t>‹#›</a:t>
            </a:fld>
            <a:endParaRPr lang="en-US" altLang="zh-TW"/>
          </a:p>
        </p:txBody>
      </p:sp>
    </p:spTree>
    <p:extLst>
      <p:ext uri="{BB962C8B-B14F-4D97-AF65-F5344CB8AC3E}">
        <p14:creationId xmlns:p14="http://schemas.microsoft.com/office/powerpoint/2010/main" val="3405998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089"/>
          <p:cNvSpPr>
            <a:spLocks noGrp="1" noChangeArrowheads="1"/>
          </p:cNvSpPr>
          <p:nvPr>
            <p:ph type="dt" sz="half" idx="10"/>
          </p:nvPr>
        </p:nvSpPr>
        <p:spPr>
          <a:ln/>
        </p:spPr>
        <p:txBody>
          <a:bodyPr/>
          <a:lstStyle>
            <a:lvl1pPr>
              <a:defRPr/>
            </a:lvl1pPr>
          </a:lstStyle>
          <a:p>
            <a:pPr>
              <a:defRPr/>
            </a:pPr>
            <a:fld id="{5B5B436A-0677-47CB-99E3-97E1E4AB9559}" type="datetime1">
              <a:rPr lang="zh-TW" altLang="en-US" smtClean="0"/>
              <a:t>2018/5/21</a:t>
            </a:fld>
            <a:endParaRPr lang="en-US" altLang="zh-TW"/>
          </a:p>
        </p:txBody>
      </p:sp>
      <p:sp>
        <p:nvSpPr>
          <p:cNvPr id="6"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7" name="Rectangle 1091"/>
          <p:cNvSpPr>
            <a:spLocks noGrp="1" noChangeArrowheads="1"/>
          </p:cNvSpPr>
          <p:nvPr>
            <p:ph type="sldNum" sz="quarter" idx="12"/>
          </p:nvPr>
        </p:nvSpPr>
        <p:spPr>
          <a:ln/>
        </p:spPr>
        <p:txBody>
          <a:bodyPr/>
          <a:lstStyle>
            <a:lvl1pPr>
              <a:defRPr/>
            </a:lvl1pPr>
          </a:lstStyle>
          <a:p>
            <a:pPr>
              <a:defRPr/>
            </a:pPr>
            <a:fld id="{E1D604B7-DDE4-4CEF-8E47-30BF9CF8263D}" type="slidenum">
              <a:rPr lang="zh-TW" altLang="en-US"/>
              <a:pPr>
                <a:defRPr/>
              </a:pPr>
              <a:t>‹#›</a:t>
            </a:fld>
            <a:endParaRPr lang="en-US" altLang="zh-TW"/>
          </a:p>
        </p:txBody>
      </p:sp>
    </p:spTree>
    <p:extLst>
      <p:ext uri="{BB962C8B-B14F-4D97-AF65-F5344CB8AC3E}">
        <p14:creationId xmlns:p14="http://schemas.microsoft.com/office/powerpoint/2010/main" val="91668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089"/>
          <p:cNvSpPr>
            <a:spLocks noGrp="1" noChangeArrowheads="1"/>
          </p:cNvSpPr>
          <p:nvPr>
            <p:ph type="dt" sz="half" idx="10"/>
          </p:nvPr>
        </p:nvSpPr>
        <p:spPr>
          <a:ln/>
        </p:spPr>
        <p:txBody>
          <a:bodyPr/>
          <a:lstStyle>
            <a:lvl1pPr>
              <a:defRPr/>
            </a:lvl1pPr>
          </a:lstStyle>
          <a:p>
            <a:pPr>
              <a:defRPr/>
            </a:pPr>
            <a:fld id="{B7CCE104-F88B-4D0D-8209-7D8C6B6A0AD8}" type="datetime1">
              <a:rPr lang="zh-TW" altLang="en-US" smtClean="0"/>
              <a:t>2018/5/21</a:t>
            </a:fld>
            <a:endParaRPr lang="en-US" altLang="zh-TW"/>
          </a:p>
        </p:txBody>
      </p:sp>
      <p:sp>
        <p:nvSpPr>
          <p:cNvPr id="6"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7" name="Rectangle 1091"/>
          <p:cNvSpPr>
            <a:spLocks noGrp="1" noChangeArrowheads="1"/>
          </p:cNvSpPr>
          <p:nvPr>
            <p:ph type="sldNum" sz="quarter" idx="12"/>
          </p:nvPr>
        </p:nvSpPr>
        <p:spPr>
          <a:ln/>
        </p:spPr>
        <p:txBody>
          <a:bodyPr/>
          <a:lstStyle>
            <a:lvl1pPr>
              <a:defRPr/>
            </a:lvl1pPr>
          </a:lstStyle>
          <a:p>
            <a:pPr>
              <a:defRPr/>
            </a:pPr>
            <a:fld id="{8C6BAB18-78D8-4432-9A69-437FD9AF8496}" type="slidenum">
              <a:rPr lang="zh-TW" altLang="en-US"/>
              <a:pPr>
                <a:defRPr/>
              </a:pPr>
              <a:t>‹#›</a:t>
            </a:fld>
            <a:endParaRPr lang="en-US" altLang="zh-TW"/>
          </a:p>
        </p:txBody>
      </p:sp>
    </p:spTree>
    <p:extLst>
      <p:ext uri="{BB962C8B-B14F-4D97-AF65-F5344CB8AC3E}">
        <p14:creationId xmlns:p14="http://schemas.microsoft.com/office/powerpoint/2010/main" val="184597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089"/>
          <p:cNvSpPr>
            <a:spLocks noGrp="1" noChangeArrowheads="1"/>
          </p:cNvSpPr>
          <p:nvPr>
            <p:ph type="dt" sz="half" idx="10"/>
          </p:nvPr>
        </p:nvSpPr>
        <p:spPr>
          <a:ln/>
        </p:spPr>
        <p:txBody>
          <a:bodyPr/>
          <a:lstStyle>
            <a:lvl1pPr>
              <a:defRPr/>
            </a:lvl1pPr>
          </a:lstStyle>
          <a:p>
            <a:pPr>
              <a:defRPr/>
            </a:pPr>
            <a:fld id="{2050E34B-1F79-49F0-81DF-D76EE2F3EEFE}" type="datetime1">
              <a:rPr lang="zh-TW" altLang="en-US" smtClean="0"/>
              <a:t>2018/5/21</a:t>
            </a:fld>
            <a:endParaRPr lang="en-US" altLang="zh-TW"/>
          </a:p>
        </p:txBody>
      </p:sp>
      <p:sp>
        <p:nvSpPr>
          <p:cNvPr id="5"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1091"/>
          <p:cNvSpPr>
            <a:spLocks noGrp="1" noChangeArrowheads="1"/>
          </p:cNvSpPr>
          <p:nvPr>
            <p:ph type="sldNum" sz="quarter" idx="12"/>
          </p:nvPr>
        </p:nvSpPr>
        <p:spPr>
          <a:ln/>
        </p:spPr>
        <p:txBody>
          <a:bodyPr/>
          <a:lstStyle>
            <a:lvl1pPr>
              <a:defRPr/>
            </a:lvl1pPr>
          </a:lstStyle>
          <a:p>
            <a:pPr>
              <a:defRPr/>
            </a:pPr>
            <a:fld id="{DC31B253-BE8C-4884-BCC8-741F435C4389}" type="slidenum">
              <a:rPr lang="zh-TW" altLang="en-US"/>
              <a:pPr>
                <a:defRPr/>
              </a:pPr>
              <a:t>‹#›</a:t>
            </a:fld>
            <a:endParaRPr lang="en-US" altLang="zh-TW"/>
          </a:p>
        </p:txBody>
      </p:sp>
    </p:spTree>
    <p:extLst>
      <p:ext uri="{BB962C8B-B14F-4D97-AF65-F5344CB8AC3E}">
        <p14:creationId xmlns:p14="http://schemas.microsoft.com/office/powerpoint/2010/main" val="2635553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10350" y="304800"/>
            <a:ext cx="2000250" cy="57150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609600" y="304800"/>
            <a:ext cx="5848350" cy="57150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089"/>
          <p:cNvSpPr>
            <a:spLocks noGrp="1" noChangeArrowheads="1"/>
          </p:cNvSpPr>
          <p:nvPr>
            <p:ph type="dt" sz="half" idx="10"/>
          </p:nvPr>
        </p:nvSpPr>
        <p:spPr>
          <a:ln/>
        </p:spPr>
        <p:txBody>
          <a:bodyPr/>
          <a:lstStyle>
            <a:lvl1pPr>
              <a:defRPr/>
            </a:lvl1pPr>
          </a:lstStyle>
          <a:p>
            <a:pPr>
              <a:defRPr/>
            </a:pPr>
            <a:fld id="{7FCC3376-50B8-4491-A9A6-C4F0453E2A9C}" type="datetime1">
              <a:rPr lang="zh-TW" altLang="en-US" smtClean="0"/>
              <a:t>2018/5/21</a:t>
            </a:fld>
            <a:endParaRPr lang="en-US" altLang="zh-TW"/>
          </a:p>
        </p:txBody>
      </p:sp>
      <p:sp>
        <p:nvSpPr>
          <p:cNvPr id="5" name="Rectangle 1090"/>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1091"/>
          <p:cNvSpPr>
            <a:spLocks noGrp="1" noChangeArrowheads="1"/>
          </p:cNvSpPr>
          <p:nvPr>
            <p:ph type="sldNum" sz="quarter" idx="12"/>
          </p:nvPr>
        </p:nvSpPr>
        <p:spPr>
          <a:ln/>
        </p:spPr>
        <p:txBody>
          <a:bodyPr/>
          <a:lstStyle>
            <a:lvl1pPr>
              <a:defRPr/>
            </a:lvl1pPr>
          </a:lstStyle>
          <a:p>
            <a:pPr>
              <a:defRPr/>
            </a:pPr>
            <a:fld id="{DA167D4F-547A-4747-8A6C-FE0231881A9A}" type="slidenum">
              <a:rPr lang="zh-TW" altLang="en-US"/>
              <a:pPr>
                <a:defRPr/>
              </a:pPr>
              <a:t>‹#›</a:t>
            </a:fld>
            <a:endParaRPr lang="en-US" altLang="zh-TW"/>
          </a:p>
        </p:txBody>
      </p:sp>
    </p:spTree>
    <p:extLst>
      <p:ext uri="{BB962C8B-B14F-4D97-AF65-F5344CB8AC3E}">
        <p14:creationId xmlns:p14="http://schemas.microsoft.com/office/powerpoint/2010/main" val="3989965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fld id="{8AC16A1D-CC9B-4E0E-9D5B-364D77AF887A}" type="datetime1">
              <a:rPr lang="zh-TW" altLang="en-US" smtClean="0"/>
              <a:t>2018/5/21</a:t>
            </a:fld>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986092F1-8900-4DB3-AD39-5868D9662140}" type="slidenum">
              <a:rPr lang="zh-TW" altLang="en-US"/>
              <a:pPr>
                <a:defRPr/>
              </a:pPr>
              <a:t>‹#›</a:t>
            </a:fld>
            <a:endParaRPr lang="en-US" altLang="zh-TW"/>
          </a:p>
        </p:txBody>
      </p:sp>
    </p:spTree>
    <p:extLst>
      <p:ext uri="{BB962C8B-B14F-4D97-AF65-F5344CB8AC3E}">
        <p14:creationId xmlns:p14="http://schemas.microsoft.com/office/powerpoint/2010/main" val="36047369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fld id="{37086956-603A-4F94-A077-19DC797FC123}" type="datetime1">
              <a:rPr lang="zh-TW" altLang="en-US" smtClean="0"/>
              <a:t>2018/5/21</a:t>
            </a:fld>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C35B0B8B-EA74-4D76-BEE9-4DE6236BA8A5}" type="slidenum">
              <a:rPr lang="zh-TW" altLang="en-US"/>
              <a:pPr>
                <a:defRPr/>
              </a:pPr>
              <a:t>‹#›</a:t>
            </a:fld>
            <a:endParaRPr lang="en-US" altLang="zh-TW"/>
          </a:p>
        </p:txBody>
      </p:sp>
    </p:spTree>
    <p:extLst>
      <p:ext uri="{BB962C8B-B14F-4D97-AF65-F5344CB8AC3E}">
        <p14:creationId xmlns:p14="http://schemas.microsoft.com/office/powerpoint/2010/main" val="27728424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fld id="{D7F37AD0-8D60-420B-BE29-0C589C9BBE63}" type="datetime1">
              <a:rPr lang="zh-TW" altLang="en-US" smtClean="0"/>
              <a:t>2018/5/21</a:t>
            </a:fld>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7334D109-BC50-42AD-BB9F-9623354B548B}" type="slidenum">
              <a:rPr lang="zh-TW" altLang="en-US"/>
              <a:pPr>
                <a:defRPr/>
              </a:pPr>
              <a:t>‹#›</a:t>
            </a:fld>
            <a:endParaRPr lang="en-US" altLang="zh-TW"/>
          </a:p>
        </p:txBody>
      </p:sp>
    </p:spTree>
    <p:extLst>
      <p:ext uri="{BB962C8B-B14F-4D97-AF65-F5344CB8AC3E}">
        <p14:creationId xmlns:p14="http://schemas.microsoft.com/office/powerpoint/2010/main" val="4277397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a:defRPr/>
            </a:pPr>
            <a:fld id="{79B45E01-8678-40C7-9213-BC40D1A7C5CA}" type="datetime1">
              <a:rPr lang="zh-TW" altLang="en-US" smtClean="0"/>
              <a:t>2018/5/21</a:t>
            </a:fld>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377CC50B-9882-4326-9BEC-FA99B6FBDC1B}" type="slidenum">
              <a:rPr lang="zh-TW" altLang="en-US"/>
              <a:pPr>
                <a:defRPr/>
              </a:pPr>
              <a:t>‹#›</a:t>
            </a:fld>
            <a:endParaRPr lang="en-US" altLang="zh-TW"/>
          </a:p>
        </p:txBody>
      </p:sp>
    </p:spTree>
    <p:extLst>
      <p:ext uri="{BB962C8B-B14F-4D97-AF65-F5344CB8AC3E}">
        <p14:creationId xmlns:p14="http://schemas.microsoft.com/office/powerpoint/2010/main" val="35448140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a:ln/>
        </p:spPr>
        <p:txBody>
          <a:bodyPr/>
          <a:lstStyle>
            <a:lvl1pPr>
              <a:defRPr/>
            </a:lvl1pPr>
          </a:lstStyle>
          <a:p>
            <a:pPr>
              <a:defRPr/>
            </a:pPr>
            <a:fld id="{6201B84F-3DF0-4088-9B90-8B96B13398E9}" type="datetime1">
              <a:rPr lang="zh-TW" altLang="en-US" smtClean="0"/>
              <a:t>2018/5/21</a:t>
            </a:fld>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9" name="Rectangle 6"/>
          <p:cNvSpPr>
            <a:spLocks noGrp="1" noChangeArrowheads="1"/>
          </p:cNvSpPr>
          <p:nvPr>
            <p:ph type="sldNum" sz="quarter" idx="12"/>
          </p:nvPr>
        </p:nvSpPr>
        <p:spPr>
          <a:ln/>
        </p:spPr>
        <p:txBody>
          <a:bodyPr/>
          <a:lstStyle>
            <a:lvl1pPr>
              <a:defRPr/>
            </a:lvl1pPr>
          </a:lstStyle>
          <a:p>
            <a:pPr>
              <a:defRPr/>
            </a:pPr>
            <a:fld id="{1E97F8DC-16DA-456B-B0BE-5FA530BF7D06}" type="slidenum">
              <a:rPr lang="zh-TW" altLang="en-US"/>
              <a:pPr>
                <a:defRPr/>
              </a:pPr>
              <a:t>‹#›</a:t>
            </a:fld>
            <a:endParaRPr lang="en-US" altLang="zh-TW"/>
          </a:p>
        </p:txBody>
      </p:sp>
    </p:spTree>
    <p:extLst>
      <p:ext uri="{BB962C8B-B14F-4D97-AF65-F5344CB8AC3E}">
        <p14:creationId xmlns:p14="http://schemas.microsoft.com/office/powerpoint/2010/main" val="31163150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a:ln/>
        </p:spPr>
        <p:txBody>
          <a:bodyPr/>
          <a:lstStyle>
            <a:lvl1pPr>
              <a:defRPr/>
            </a:lvl1pPr>
          </a:lstStyle>
          <a:p>
            <a:pPr>
              <a:defRPr/>
            </a:pPr>
            <a:fld id="{609B16B6-5821-45BF-B051-96C661D4CDE1}" type="datetime1">
              <a:rPr lang="zh-TW" altLang="en-US" smtClean="0"/>
              <a:t>2018/5/21</a:t>
            </a:fld>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5" name="Rectangle 6"/>
          <p:cNvSpPr>
            <a:spLocks noGrp="1" noChangeArrowheads="1"/>
          </p:cNvSpPr>
          <p:nvPr>
            <p:ph type="sldNum" sz="quarter" idx="12"/>
          </p:nvPr>
        </p:nvSpPr>
        <p:spPr>
          <a:ln/>
        </p:spPr>
        <p:txBody>
          <a:bodyPr/>
          <a:lstStyle>
            <a:lvl1pPr>
              <a:defRPr/>
            </a:lvl1pPr>
          </a:lstStyle>
          <a:p>
            <a:pPr>
              <a:defRPr/>
            </a:pPr>
            <a:fld id="{9CFC4046-026E-4C02-9261-8B9D1065ACCB}" type="slidenum">
              <a:rPr lang="zh-TW" altLang="en-US"/>
              <a:pPr>
                <a:defRPr/>
              </a:pPr>
              <a:t>‹#›</a:t>
            </a:fld>
            <a:endParaRPr lang="en-US" altLang="zh-TW"/>
          </a:p>
        </p:txBody>
      </p:sp>
    </p:spTree>
    <p:extLst>
      <p:ext uri="{BB962C8B-B14F-4D97-AF65-F5344CB8AC3E}">
        <p14:creationId xmlns:p14="http://schemas.microsoft.com/office/powerpoint/2010/main" val="8434634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403D5F26-EC5D-43C2-950F-B150E0C77E4B}" type="datetime1">
              <a:rPr lang="zh-TW" altLang="en-US" smtClean="0"/>
              <a:t>2018/5/21</a:t>
            </a:fld>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A0CFF7F0-89B7-4928-AD2A-C90A95E0A94D}" type="slidenum">
              <a:rPr lang="zh-TW" altLang="en-US"/>
              <a:pPr>
                <a:defRPr/>
              </a:pPr>
              <a:t>‹#›</a:t>
            </a:fld>
            <a:endParaRPr lang="en-US" altLang="zh-TW"/>
          </a:p>
        </p:txBody>
      </p:sp>
    </p:spTree>
    <p:extLst>
      <p:ext uri="{BB962C8B-B14F-4D97-AF65-F5344CB8AC3E}">
        <p14:creationId xmlns:p14="http://schemas.microsoft.com/office/powerpoint/2010/main" val="32350277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fld id="{B0F00D17-604C-49D4-A4B0-D9AC1BE41828}" type="datetime1">
              <a:rPr lang="zh-TW" altLang="en-US" smtClean="0"/>
              <a:t>2018/5/21</a:t>
            </a:fld>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97F1A10C-9E3E-461C-9A73-6FBC7EAC3A9D}" type="slidenum">
              <a:rPr lang="zh-TW" altLang="en-US"/>
              <a:pPr>
                <a:defRPr/>
              </a:pPr>
              <a:t>‹#›</a:t>
            </a:fld>
            <a:endParaRPr lang="en-US" altLang="zh-TW"/>
          </a:p>
        </p:txBody>
      </p:sp>
    </p:spTree>
    <p:extLst>
      <p:ext uri="{BB962C8B-B14F-4D97-AF65-F5344CB8AC3E}">
        <p14:creationId xmlns:p14="http://schemas.microsoft.com/office/powerpoint/2010/main" val="54217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fld id="{C3DA2991-EDDC-4E18-B8A6-63BDC6A8A568}" type="datetime1">
              <a:rPr lang="zh-TW" altLang="en-US" smtClean="0"/>
              <a:t>2018/5/21</a:t>
            </a:fld>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710EC81C-67BF-48AE-9CD0-61D81F872FD3}" type="slidenum">
              <a:rPr lang="zh-TW" altLang="en-US"/>
              <a:pPr>
                <a:defRPr/>
              </a:pPr>
              <a:t>‹#›</a:t>
            </a:fld>
            <a:endParaRPr lang="en-US" altLang="zh-TW"/>
          </a:p>
        </p:txBody>
      </p:sp>
    </p:spTree>
    <p:extLst>
      <p:ext uri="{BB962C8B-B14F-4D97-AF65-F5344CB8AC3E}">
        <p14:creationId xmlns:p14="http://schemas.microsoft.com/office/powerpoint/2010/main" val="34178913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fld id="{49100E1E-3554-4F3F-B6F1-8E1F416725D4}" type="datetime1">
              <a:rPr lang="zh-TW" altLang="en-US" smtClean="0"/>
              <a:t>2018/5/21</a:t>
            </a:fld>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29E75439-DC48-4727-B60F-413E1363F538}" type="slidenum">
              <a:rPr lang="zh-TW" altLang="en-US"/>
              <a:pPr>
                <a:defRPr/>
              </a:pPr>
              <a:t>‹#›</a:t>
            </a:fld>
            <a:endParaRPr lang="en-US" altLang="zh-TW"/>
          </a:p>
        </p:txBody>
      </p:sp>
    </p:spTree>
    <p:extLst>
      <p:ext uri="{BB962C8B-B14F-4D97-AF65-F5344CB8AC3E}">
        <p14:creationId xmlns:p14="http://schemas.microsoft.com/office/powerpoint/2010/main" val="18296026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fld id="{FEF11E7C-5FC8-462E-8520-6FCB12048755}" type="datetime1">
              <a:rPr lang="zh-TW" altLang="en-US" smtClean="0"/>
              <a:t>2018/5/21</a:t>
            </a:fld>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r>
              <a:rPr lang="pt-BR" altLang="zh-TW" smtClean="0"/>
              <a:t>OS Selected Exercises 10-12 2018</a:t>
            </a: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FCD74233-EC90-43B7-B6E3-AC44DE00BB13}" type="slidenum">
              <a:rPr lang="zh-TW" altLang="en-US"/>
              <a:pPr>
                <a:defRPr/>
              </a:pPr>
              <a:t>‹#›</a:t>
            </a:fld>
            <a:endParaRPr lang="en-US" altLang="zh-TW"/>
          </a:p>
        </p:txBody>
      </p:sp>
    </p:spTree>
    <p:extLst>
      <p:ext uri="{BB962C8B-B14F-4D97-AF65-F5344CB8AC3E}">
        <p14:creationId xmlns:p14="http://schemas.microsoft.com/office/powerpoint/2010/main" val="1247237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026"/>
          <p:cNvGrpSpPr>
            <a:grpSpLocks/>
          </p:cNvGrpSpPr>
          <p:nvPr/>
        </p:nvGrpSpPr>
        <p:grpSpPr bwMode="auto">
          <a:xfrm>
            <a:off x="0" y="0"/>
            <a:ext cx="9144000" cy="6858000"/>
            <a:chOff x="0" y="0"/>
            <a:chExt cx="5760" cy="4320"/>
          </a:xfrm>
        </p:grpSpPr>
        <p:grpSp>
          <p:nvGrpSpPr>
            <p:cNvPr id="1032" name="Group 1027"/>
            <p:cNvGrpSpPr>
              <a:grpSpLocks/>
            </p:cNvGrpSpPr>
            <p:nvPr/>
          </p:nvGrpSpPr>
          <p:grpSpPr bwMode="auto">
            <a:xfrm>
              <a:off x="0" y="0"/>
              <a:ext cx="5760" cy="4320"/>
              <a:chOff x="0" y="0"/>
              <a:chExt cx="5760" cy="4320"/>
            </a:xfrm>
          </p:grpSpPr>
          <p:grpSp>
            <p:nvGrpSpPr>
              <p:cNvPr id="1039" name="Group 1028"/>
              <p:cNvGrpSpPr>
                <a:grpSpLocks/>
              </p:cNvGrpSpPr>
              <p:nvPr/>
            </p:nvGrpSpPr>
            <p:grpSpPr bwMode="auto">
              <a:xfrm>
                <a:off x="0" y="192"/>
                <a:ext cx="5760" cy="4032"/>
                <a:chOff x="0" y="192"/>
                <a:chExt cx="5760" cy="4032"/>
              </a:xfrm>
            </p:grpSpPr>
            <p:sp>
              <p:nvSpPr>
                <p:cNvPr id="1070" name="Line 1029"/>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1" name="Line 1030"/>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2" name="Line 1031"/>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3" name="Line 1032"/>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4" name="Line 1033"/>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5" name="Line 1034"/>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6" name="Line 1035"/>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7" name="Line 1036"/>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8" name="Line 1037"/>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79" name="Line 1038"/>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0" name="Line 1039"/>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1" name="Line 1040"/>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2" name="Line 1041"/>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3" name="Line 1042"/>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4" name="Line 1043"/>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5" name="Line 1044"/>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6" name="Line 1045"/>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7" name="Line 1046"/>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8" name="Line 1047"/>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89" name="Line 1048"/>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90" name="Line 1049"/>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91" name="Line 1050"/>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1040" name="Group 1051"/>
              <p:cNvGrpSpPr>
                <a:grpSpLocks/>
              </p:cNvGrpSpPr>
              <p:nvPr/>
            </p:nvGrpSpPr>
            <p:grpSpPr bwMode="auto">
              <a:xfrm>
                <a:off x="192" y="0"/>
                <a:ext cx="5376" cy="4320"/>
                <a:chOff x="192" y="0"/>
                <a:chExt cx="5376" cy="4320"/>
              </a:xfrm>
            </p:grpSpPr>
            <p:sp>
              <p:nvSpPr>
                <p:cNvPr id="1041" name="Line 1052"/>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2" name="Line 1053"/>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3" name="Line 1054"/>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4" name="Line 1055"/>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5" name="Line 1056"/>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6" name="Line 1057"/>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7" name="Line 1058"/>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8" name="Line 1059"/>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49" name="Line 1060"/>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0" name="Line 1061"/>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1" name="Line 1062"/>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2" name="Line 1063"/>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1064"/>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1065"/>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5" name="Line 1066"/>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6" name="Line 1067"/>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7" name="Line 1068"/>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8" name="Line 1069"/>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9" name="Line 1070"/>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0" name="Line 1071"/>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1" name="Line 1072"/>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2" name="Line 1073"/>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3" name="Line 1074"/>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4" name="Line 1075"/>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5" name="Line 1076"/>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6" name="Line 1077"/>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7" name="Line 1078"/>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8" name="Line 1079"/>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69" name="Line 1080"/>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sp>
          <p:nvSpPr>
            <p:cNvPr id="1033" name="Rectangle 1081" descr="60%"/>
            <p:cNvSpPr>
              <a:spLocks noChangeArrowheads="1"/>
            </p:cNvSpPr>
            <p:nvPr/>
          </p:nvSpPr>
          <p:spPr bwMode="ltGray">
            <a:xfrm>
              <a:off x="2112" y="0"/>
              <a:ext cx="3648" cy="96"/>
            </a:xfrm>
            <a:prstGeom prst="rect">
              <a:avLst/>
            </a:prstGeom>
            <a:pattFill prst="pct60">
              <a:fgClr>
                <a:schemeClr val="folHlink"/>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新細明體" pitchFamily="18" charset="-120"/>
                </a:defRPr>
              </a:lvl1pPr>
              <a:lvl2pPr marL="742950" indent="-285750" eaLnBrk="0" hangingPunct="0">
                <a:defRPr kumimoji="1" sz="2400">
                  <a:solidFill>
                    <a:schemeClr val="tx1"/>
                  </a:solidFill>
                  <a:latin typeface="Tahoma" pitchFamily="34" charset="0"/>
                  <a:ea typeface="新細明體" pitchFamily="18" charset="-120"/>
                </a:defRPr>
              </a:lvl2pPr>
              <a:lvl3pPr marL="1143000" indent="-228600" eaLnBrk="0" hangingPunct="0">
                <a:defRPr kumimoji="1" sz="2400">
                  <a:solidFill>
                    <a:schemeClr val="tx1"/>
                  </a:solidFill>
                  <a:latin typeface="Tahoma" pitchFamily="34" charset="0"/>
                  <a:ea typeface="新細明體" pitchFamily="18" charset="-120"/>
                </a:defRPr>
              </a:lvl3pPr>
              <a:lvl4pPr marL="1600200" indent="-228600" eaLnBrk="0" hangingPunct="0">
                <a:defRPr kumimoji="1" sz="2400">
                  <a:solidFill>
                    <a:schemeClr val="tx1"/>
                  </a:solidFill>
                  <a:latin typeface="Tahoma" pitchFamily="34" charset="0"/>
                  <a:ea typeface="新細明體" pitchFamily="18" charset="-120"/>
                </a:defRPr>
              </a:lvl4pPr>
              <a:lvl5pPr marL="2057400" indent="-228600" eaLnBrk="0" hangingPunct="0">
                <a:defRPr kumimoji="1" sz="2400">
                  <a:solidFill>
                    <a:schemeClr val="tx1"/>
                  </a:solidFill>
                  <a:latin typeface="Tahoma" pitchFamily="34"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ahoma" pitchFamily="34" charset="0"/>
                  <a:ea typeface="新細明體" pitchFamily="18" charset="-120"/>
                </a:defRPr>
              </a:lvl9pPr>
            </a:lstStyle>
            <a:p>
              <a:pPr eaLnBrk="1" hangingPunct="1">
                <a:defRPr/>
              </a:pPr>
              <a:endParaRPr lang="zh-TW" altLang="en-US" smtClean="0"/>
            </a:p>
          </p:txBody>
        </p:sp>
        <p:sp>
          <p:nvSpPr>
            <p:cNvPr id="1034" name="Line 1082"/>
            <p:cNvSpPr>
              <a:spLocks noChangeShapeType="1"/>
            </p:cNvSpPr>
            <p:nvPr/>
          </p:nvSpPr>
          <p:spPr bwMode="ltGray">
            <a:xfrm>
              <a:off x="5568" y="0"/>
              <a:ext cx="0" cy="14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nvGrpSpPr>
            <p:cNvPr id="1035" name="Group 1083"/>
            <p:cNvGrpSpPr>
              <a:grpSpLocks/>
            </p:cNvGrpSpPr>
            <p:nvPr/>
          </p:nvGrpSpPr>
          <p:grpSpPr bwMode="auto">
            <a:xfrm>
              <a:off x="261" y="892"/>
              <a:ext cx="1124" cy="1464"/>
              <a:chOff x="96" y="916"/>
              <a:chExt cx="2208" cy="2876"/>
            </a:xfrm>
          </p:grpSpPr>
          <p:sp>
            <p:nvSpPr>
              <p:cNvPr id="1036" name="Line 1084"/>
              <p:cNvSpPr>
                <a:spLocks noChangeShapeType="1"/>
              </p:cNvSpPr>
              <p:nvPr/>
            </p:nvSpPr>
            <p:spPr bwMode="ltGray">
              <a:xfrm flipH="1">
                <a:off x="96" y="1037"/>
                <a:ext cx="220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37" name="Line 1085"/>
              <p:cNvSpPr>
                <a:spLocks noChangeShapeType="1"/>
              </p:cNvSpPr>
              <p:nvPr/>
            </p:nvSpPr>
            <p:spPr bwMode="ltGray">
              <a:xfrm>
                <a:off x="336" y="920"/>
                <a:ext cx="0" cy="287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38" name="Arc 1086"/>
              <p:cNvSpPr>
                <a:spLocks/>
              </p:cNvSpPr>
              <p:nvPr/>
            </p:nvSpPr>
            <p:spPr bwMode="ltGray">
              <a:xfrm flipH="1">
                <a:off x="217" y="916"/>
                <a:ext cx="239" cy="239"/>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sp>
        <p:nvSpPr>
          <p:cNvPr id="1027" name="Rectangle 1087"/>
          <p:cNvSpPr>
            <a:spLocks noGrp="1" noChangeArrowheads="1"/>
          </p:cNvSpPr>
          <p:nvPr>
            <p:ph type="title"/>
          </p:nvPr>
        </p:nvSpPr>
        <p:spPr bwMode="auto">
          <a:xfrm>
            <a:off x="6096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smtClean="0"/>
              <a:t>按一下以編輯母片標題樣式</a:t>
            </a:r>
          </a:p>
        </p:txBody>
      </p:sp>
      <p:sp>
        <p:nvSpPr>
          <p:cNvPr id="1028" name="Rectangle 1088"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28065" name="Rectangle 1089"/>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lvl1pPr>
          </a:lstStyle>
          <a:p>
            <a:pPr>
              <a:defRPr/>
            </a:pPr>
            <a:fld id="{FBF3F165-62FF-454A-9CE2-87A2959732A5}" type="datetime1">
              <a:rPr lang="zh-TW" altLang="en-US" smtClean="0"/>
              <a:t>2018/5/21</a:t>
            </a:fld>
            <a:endParaRPr lang="en-US" altLang="zh-TW"/>
          </a:p>
        </p:txBody>
      </p:sp>
      <p:sp>
        <p:nvSpPr>
          <p:cNvPr id="128066" name="Rectangle 1090"/>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lvl1pPr>
          </a:lstStyle>
          <a:p>
            <a:pPr>
              <a:defRPr/>
            </a:pPr>
            <a:r>
              <a:rPr lang="pt-BR" altLang="zh-TW" smtClean="0"/>
              <a:t>OS Selected Exercises 10-12 2018</a:t>
            </a:r>
            <a:endParaRPr lang="en-US" altLang="zh-TW"/>
          </a:p>
        </p:txBody>
      </p:sp>
      <p:sp>
        <p:nvSpPr>
          <p:cNvPr id="128067" name="Rectangle 1091"/>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lvl1pPr>
          </a:lstStyle>
          <a:p>
            <a:pPr>
              <a:defRPr/>
            </a:pPr>
            <a:fld id="{A2FBB981-2FBF-49A8-A240-1FA66F7ED706}" type="slidenum">
              <a:rPr lang="zh-TW" altLang="en-US"/>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4074" r:id="rId1"/>
    <p:sldLayoutId id="2147484052" r:id="rId2"/>
    <p:sldLayoutId id="2147484053" r:id="rId3"/>
    <p:sldLayoutId id="2147484054" r:id="rId4"/>
    <p:sldLayoutId id="2147484055" r:id="rId5"/>
    <p:sldLayoutId id="2147484056" r:id="rId6"/>
    <p:sldLayoutId id="2147484057" r:id="rId7"/>
    <p:sldLayoutId id="2147484058" r:id="rId8"/>
    <p:sldLayoutId id="2147484059" r:id="rId9"/>
    <p:sldLayoutId id="2147484060" r:id="rId10"/>
    <p:sldLayoutId id="2147484061" r:id="rId11"/>
  </p:sldLayoutIdLst>
  <p:hf hd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281604"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kumimoji="0" sz="1400">
                <a:latin typeface="Times New Roman" pitchFamily="18" charset="0"/>
              </a:defRPr>
            </a:lvl1pPr>
          </a:lstStyle>
          <a:p>
            <a:pPr>
              <a:defRPr/>
            </a:pPr>
            <a:fld id="{C748FDD9-25C3-425B-B303-8DAD444ECD30}" type="datetime1">
              <a:rPr lang="zh-TW" altLang="en-US" smtClean="0"/>
              <a:t>2018/5/21</a:t>
            </a:fld>
            <a:endParaRPr lang="en-US" altLang="zh-TW"/>
          </a:p>
        </p:txBody>
      </p:sp>
      <p:sp>
        <p:nvSpPr>
          <p:cNvPr id="281605"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0" hangingPunct="0">
              <a:defRPr kumimoji="0" sz="1400">
                <a:latin typeface="Times New Roman" pitchFamily="18" charset="0"/>
              </a:defRPr>
            </a:lvl1pPr>
          </a:lstStyle>
          <a:p>
            <a:pPr>
              <a:defRPr/>
            </a:pPr>
            <a:r>
              <a:rPr lang="pt-BR" altLang="zh-TW" smtClean="0"/>
              <a:t>OS Selected Exercises 10-12 2018</a:t>
            </a:r>
            <a:endParaRPr lang="en-US" altLang="zh-TW"/>
          </a:p>
        </p:txBody>
      </p:sp>
      <p:sp>
        <p:nvSpPr>
          <p:cNvPr id="281606"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kumimoji="0" sz="1400">
                <a:latin typeface="Times New Roman" pitchFamily="18" charset="0"/>
              </a:defRPr>
            </a:lvl1pPr>
          </a:lstStyle>
          <a:p>
            <a:pPr>
              <a:defRPr/>
            </a:pPr>
            <a:fld id="{F2643DFA-C4E9-4A05-B3EB-552E67D762B6}" type="slidenum">
              <a:rPr lang="zh-TW" altLang="en-US"/>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4063" r:id="rId1"/>
    <p:sldLayoutId id="2147484064" r:id="rId2"/>
    <p:sldLayoutId id="2147484065" r:id="rId3"/>
    <p:sldLayoutId id="2147484066" r:id="rId4"/>
    <p:sldLayoutId id="2147484067" r:id="rId5"/>
    <p:sldLayoutId id="2147484068" r:id="rId6"/>
    <p:sldLayoutId id="2147484069" r:id="rId7"/>
    <p:sldLayoutId id="2147484070" r:id="rId8"/>
    <p:sldLayoutId id="2147484071" r:id="rId9"/>
    <p:sldLayoutId id="2147484072" r:id="rId10"/>
    <p:sldLayoutId id="2147484073" r:id="rId11"/>
  </p:sldLayoutIdLst>
  <p:hf hdr="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新細明體" pitchFamily="18" charset="-120"/>
        </a:defRPr>
      </a:lvl2pPr>
      <a:lvl3pPr algn="ctr" rtl="0" eaLnBrk="0" fontAlgn="base" hangingPunct="0">
        <a:spcBef>
          <a:spcPct val="0"/>
        </a:spcBef>
        <a:spcAft>
          <a:spcPct val="0"/>
        </a:spcAft>
        <a:defRPr kumimoji="1" sz="4400">
          <a:solidFill>
            <a:schemeClr val="tx2"/>
          </a:solidFill>
          <a:latin typeface="Arial" charset="0"/>
          <a:ea typeface="新細明體" pitchFamily="18" charset="-120"/>
        </a:defRPr>
      </a:lvl3pPr>
      <a:lvl4pPr algn="ctr" rtl="0" eaLnBrk="0" fontAlgn="base" hangingPunct="0">
        <a:spcBef>
          <a:spcPct val="0"/>
        </a:spcBef>
        <a:spcAft>
          <a:spcPct val="0"/>
        </a:spcAft>
        <a:defRPr kumimoji="1" sz="4400">
          <a:solidFill>
            <a:schemeClr val="tx2"/>
          </a:solidFill>
          <a:latin typeface="Arial" charset="0"/>
          <a:ea typeface="新細明體" pitchFamily="18" charset="-120"/>
        </a:defRPr>
      </a:lvl4pPr>
      <a:lvl5pPr algn="ctr" rtl="0" eaLnBrk="0" fontAlgn="base" hangingPunct="0">
        <a:spcBef>
          <a:spcPct val="0"/>
        </a:spcBef>
        <a:spcAft>
          <a:spcPct val="0"/>
        </a:spcAft>
        <a:defRPr kumimoji="1" sz="4400">
          <a:solidFill>
            <a:schemeClr val="tx2"/>
          </a:solidFill>
          <a:latin typeface="Arial" charset="0"/>
          <a:ea typeface="新細明體" pitchFamily="18"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版面配置區 3"/>
          <p:cNvSpPr>
            <a:spLocks noGrp="1"/>
          </p:cNvSpPr>
          <p:nvPr>
            <p:ph type="dt" sz="quarter" idx="10"/>
          </p:nvPr>
        </p:nvSpPr>
        <p:spPr>
          <a:noFill/>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21EF9B90-FDA9-45AE-852B-98F31B5C6F6D}" type="datetime1">
              <a:rPr kumimoji="0" lang="zh-TW" altLang="en-US" sz="1400" smtClean="0"/>
              <a:t>2018/5/21</a:t>
            </a:fld>
            <a:endParaRPr kumimoji="0" lang="en-US" altLang="zh-TW" sz="1400" dirty="0" smtClean="0"/>
          </a:p>
        </p:txBody>
      </p:sp>
      <p:sp>
        <p:nvSpPr>
          <p:cNvPr id="4099" name="頁尾版面配置區 4"/>
          <p:cNvSpPr>
            <a:spLocks noGrp="1"/>
          </p:cNvSpPr>
          <p:nvPr>
            <p:ph type="ftr" sz="quarter" idx="11"/>
          </p:nvPr>
        </p:nvSpPr>
        <p:spPr>
          <a:noFill/>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t>OS Selected Exercises 10-12 2018</a:t>
            </a:r>
            <a:endParaRPr kumimoji="0" lang="en-US" altLang="zh-TW" sz="1400" dirty="0" smtClean="0"/>
          </a:p>
        </p:txBody>
      </p:sp>
      <p:sp>
        <p:nvSpPr>
          <p:cNvPr id="4100" name="投影片編號版面配置區 5"/>
          <p:cNvSpPr>
            <a:spLocks noGrp="1"/>
          </p:cNvSpPr>
          <p:nvPr>
            <p:ph type="sldNum" sz="quarter" idx="12"/>
          </p:nvPr>
        </p:nvSpPr>
        <p:spPr>
          <a:noFill/>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5D62AC97-676D-4117-AC90-5E3BC20F464E}" type="slidenum">
              <a:rPr kumimoji="0" lang="zh-TW" altLang="en-US" sz="1400" smtClean="0"/>
              <a:pPr eaLnBrk="1" hangingPunct="1">
                <a:spcBef>
                  <a:spcPct val="0"/>
                </a:spcBef>
                <a:buClrTx/>
                <a:buSzTx/>
                <a:buFontTx/>
                <a:buNone/>
              </a:pPr>
              <a:t>1</a:t>
            </a:fld>
            <a:endParaRPr kumimoji="0" lang="en-US" altLang="zh-TW" sz="1400" dirty="0" smtClean="0"/>
          </a:p>
        </p:txBody>
      </p:sp>
      <p:sp>
        <p:nvSpPr>
          <p:cNvPr id="4101" name="Rectangle 2"/>
          <p:cNvSpPr>
            <a:spLocks noGrp="1" noChangeArrowheads="1"/>
          </p:cNvSpPr>
          <p:nvPr>
            <p:ph type="title"/>
          </p:nvPr>
        </p:nvSpPr>
        <p:spPr>
          <a:xfrm>
            <a:off x="1143000" y="2603500"/>
            <a:ext cx="7162800" cy="11430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nchor="ctr"/>
          <a:lstStyle/>
          <a:p>
            <a:pPr eaLnBrk="1" hangingPunct="1"/>
            <a:r>
              <a:rPr lang="en-US" altLang="zh-TW" sz="4800" dirty="0" smtClean="0"/>
              <a:t>Chapters </a:t>
            </a:r>
            <a:r>
              <a:rPr lang="en-US" altLang="zh-TW" sz="4800" dirty="0" smtClean="0"/>
              <a:t>10</a:t>
            </a:r>
            <a:r>
              <a:rPr lang="en-US" altLang="zh-TW" sz="4800" dirty="0" smtClean="0"/>
              <a:t>-12</a:t>
            </a:r>
            <a:r>
              <a:rPr lang="en-US" altLang="zh-TW" sz="4800" dirty="0"/>
              <a:t/>
            </a:r>
            <a:br>
              <a:rPr lang="en-US" altLang="zh-TW" sz="4800" dirty="0"/>
            </a:br>
            <a:r>
              <a:rPr lang="pt-BR" altLang="zh-TW" sz="4800" dirty="0" smtClean="0"/>
              <a:t>Selected Exercises</a:t>
            </a:r>
            <a:r>
              <a:rPr lang="en-US" altLang="zh-TW" sz="4800" dirty="0" smtClean="0"/>
              <a:t/>
            </a:r>
            <a:br>
              <a:rPr lang="en-US" altLang="zh-TW" sz="4800" dirty="0" smtClean="0"/>
            </a:br>
            <a:r>
              <a:rPr lang="en-US" altLang="zh-TW" dirty="0" smtClean="0"/>
              <a:t/>
            </a:r>
            <a:br>
              <a:rPr lang="en-US" altLang="zh-TW" dirty="0" smtClean="0"/>
            </a:br>
            <a:endParaRPr lang="en-US" altLang="zh-TW" dirty="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2</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Explain why </a:t>
            </a:r>
            <a:r>
              <a:rPr lang="en-US" altLang="zh-TW" sz="2400" dirty="0">
                <a:solidFill>
                  <a:srgbClr val="0000FF"/>
                </a:solidFill>
                <a:latin typeface="Adobe Gothic Std B" pitchFamily="34" charset="-128"/>
                <a:ea typeface="Adobe Gothic Std B" pitchFamily="34" charset="-128"/>
              </a:rPr>
              <a:t>SSDs</a:t>
            </a:r>
            <a:r>
              <a:rPr lang="en-US" altLang="zh-TW" sz="2400" dirty="0">
                <a:solidFill>
                  <a:srgbClr val="000000"/>
                </a:solidFill>
                <a:latin typeface="Adobe Gothic Std B" pitchFamily="34" charset="-128"/>
                <a:ea typeface="Adobe Gothic Std B" pitchFamily="34" charset="-128"/>
              </a:rPr>
              <a:t> often use a </a:t>
            </a:r>
            <a:r>
              <a:rPr lang="en-US" altLang="zh-TW" sz="2400" dirty="0">
                <a:solidFill>
                  <a:srgbClr val="FF0000"/>
                </a:solidFill>
                <a:latin typeface="Adobe Gothic Std B" pitchFamily="34" charset="-128"/>
                <a:ea typeface="Adobe Gothic Std B" pitchFamily="34" charset="-128"/>
              </a:rPr>
              <a:t>FCFS</a:t>
            </a:r>
            <a:r>
              <a:rPr lang="en-US" altLang="zh-TW" sz="2400" dirty="0">
                <a:solidFill>
                  <a:srgbClr val="000000"/>
                </a:solidFill>
                <a:latin typeface="Adobe Gothic Std B" pitchFamily="34" charset="-128"/>
                <a:ea typeface="Adobe Gothic Std B" pitchFamily="34" charset="-128"/>
              </a:rPr>
              <a:t> disk scheduling algorithm</a:t>
            </a:r>
            <a:r>
              <a:rPr lang="en-US" altLang="zh-TW" sz="2400" dirty="0" smtClean="0">
                <a:solidFill>
                  <a:srgbClr val="000000"/>
                </a:solidFill>
                <a:latin typeface="Adobe Gothic Std B" pitchFamily="34" charset="-128"/>
                <a:ea typeface="Adobe Gothic Std B" pitchFamily="34" charset="-128"/>
              </a:rPr>
              <a:t>.</a:t>
            </a:r>
          </a:p>
          <a:p>
            <a:pPr eaLnBrk="1" hangingPunct="1">
              <a:spcBef>
                <a:spcPct val="60000"/>
              </a:spcBef>
              <a:buFont typeface="Wingdings" panose="05000000000000000000" pitchFamily="2" charset="2"/>
              <a:buChar char="ü"/>
            </a:pPr>
            <a:r>
              <a:rPr lang="en-US" altLang="zh-TW" sz="2400" dirty="0">
                <a:solidFill>
                  <a:srgbClr val="000000"/>
                </a:solidFill>
                <a:latin typeface="Adobe Gothic Std B" pitchFamily="34" charset="-128"/>
                <a:ea typeface="Adobe Gothic Std B" pitchFamily="34" charset="-128"/>
              </a:rPr>
              <a:t>Because SSDs </a:t>
            </a:r>
            <a:r>
              <a:rPr lang="en-US" altLang="zh-TW" sz="2400" dirty="0">
                <a:solidFill>
                  <a:srgbClr val="0000FF"/>
                </a:solidFill>
                <a:latin typeface="Adobe Gothic Std B" pitchFamily="34" charset="-128"/>
                <a:ea typeface="Adobe Gothic Std B" pitchFamily="34" charset="-128"/>
              </a:rPr>
              <a:t>do not have moving parts </a:t>
            </a:r>
            <a:r>
              <a:rPr lang="en-US" altLang="zh-TW" sz="2400" dirty="0">
                <a:solidFill>
                  <a:srgbClr val="000000"/>
                </a:solidFill>
                <a:latin typeface="Adobe Gothic Std B" pitchFamily="34" charset="-128"/>
                <a:ea typeface="Adobe Gothic Std B" pitchFamily="34" charset="-128"/>
              </a:rPr>
              <a:t>and therefore performance </a:t>
            </a:r>
            <a:r>
              <a:rPr lang="en-US" altLang="zh-TW" sz="2400" dirty="0">
                <a:solidFill>
                  <a:srgbClr val="0000FF"/>
                </a:solidFill>
                <a:latin typeface="Adobe Gothic Std B" pitchFamily="34" charset="-128"/>
                <a:ea typeface="Adobe Gothic Std B" pitchFamily="34" charset="-128"/>
              </a:rPr>
              <a:t>is insensitive to issues such as seek time and rotational latency</a:t>
            </a:r>
            <a:r>
              <a:rPr lang="en-US" altLang="zh-TW" sz="2400" dirty="0">
                <a:solidFill>
                  <a:srgbClr val="000000"/>
                </a:solidFill>
                <a:latin typeface="Adobe Gothic Std B" pitchFamily="34" charset="-128"/>
                <a:ea typeface="Adobe Gothic Std B" pitchFamily="34" charset="-128"/>
              </a:rPr>
              <a:t>. Therefore, a simple FCFS policy will suffice.</a:t>
            </a:r>
            <a:endParaRPr lang="en-US" altLang="zh-TW" sz="2400" dirty="0" smtClean="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9991F19F-575B-4B3C-A3D5-EF0CE5F14CA1}"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dirty="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10.10</a:t>
            </a:r>
            <a:endParaRPr lang="en-US" altLang="zh-TW" sz="4000" b="1" kern="0" dirty="0">
              <a:solidFill>
                <a:srgbClr val="7030A0"/>
              </a:solidFill>
            </a:endParaRPr>
          </a:p>
        </p:txBody>
      </p:sp>
    </p:spTree>
    <p:extLst>
      <p:ext uri="{BB962C8B-B14F-4D97-AF65-F5344CB8AC3E}">
        <p14:creationId xmlns:p14="http://schemas.microsoft.com/office/powerpoint/2010/main" val="155962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3</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 Suppose that a disk drive has 5,000 cylinders, numbered 0 to 4999. The drive is currently serving a request at cylinder 2150, and the previous request was at cylinder 1805. The queue of pending requests, in FIFO order, is: 2069, 1212, 2296, 2800, 544, 1618, 356, 1523, 4965, 3681. Starting from the current head position, what is the total distance (in cylinders) that the disk arm moves to satisfy all the pending requests for each of the following disk-scheduling algorithms? a. FCFS b. SSTF c. SCAN d. LOOK e. C-SCAN f. </a:t>
            </a:r>
            <a:r>
              <a:rPr lang="en-US" altLang="zh-TW" sz="2400" dirty="0" smtClean="0">
                <a:solidFill>
                  <a:srgbClr val="000000"/>
                </a:solidFill>
                <a:latin typeface="Adobe Gothic Std B" pitchFamily="34" charset="-128"/>
                <a:ea typeface="Adobe Gothic Std B" pitchFamily="34" charset="-128"/>
              </a:rPr>
              <a:t>C-LOOK.</a:t>
            </a: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The </a:t>
            </a:r>
            <a:r>
              <a:rPr lang="en-US" altLang="zh-TW" sz="2400" dirty="0">
                <a:solidFill>
                  <a:srgbClr val="000000"/>
                </a:solidFill>
                <a:latin typeface="Adobe Gothic Std B" pitchFamily="34" charset="-128"/>
                <a:ea typeface="Adobe Gothic Std B" pitchFamily="34" charset="-128"/>
              </a:rPr>
              <a:t>FCFS schedule is 2150, 2069, 1212, 2296, 2800, 544, 1618, 356, 1523, 4965, 3681. The total seek distance is 13,011.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The </a:t>
            </a:r>
            <a:r>
              <a:rPr lang="en-US" altLang="zh-TW" sz="2400" dirty="0">
                <a:solidFill>
                  <a:srgbClr val="000000"/>
                </a:solidFill>
                <a:latin typeface="Adobe Gothic Std B" pitchFamily="34" charset="-128"/>
                <a:ea typeface="Adobe Gothic Std B" pitchFamily="34" charset="-128"/>
              </a:rPr>
              <a:t>SSTF schedule is 2150, 2069, 2296, 2800, 3681, 4965, 1618, 1523, 1212, 544, 356. The total seek distance is 7586.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smtClean="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E7A10FC-B61B-4FA9-9B1B-52D1601FDAFE}"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10.11</a:t>
            </a:r>
            <a:endParaRPr lang="en-US" altLang="zh-TW" sz="4000" b="1" kern="0" dirty="0">
              <a:solidFill>
                <a:srgbClr val="7030A0"/>
              </a:solidFill>
            </a:endParaRPr>
          </a:p>
        </p:txBody>
      </p:sp>
    </p:spTree>
    <p:extLst>
      <p:ext uri="{BB962C8B-B14F-4D97-AF65-F5344CB8AC3E}">
        <p14:creationId xmlns:p14="http://schemas.microsoft.com/office/powerpoint/2010/main" val="11037171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4</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buFont typeface="Wingdings" panose="05000000000000000000" pitchFamily="2" charset="2"/>
              <a:buChar char="ü"/>
            </a:pPr>
            <a:r>
              <a:rPr lang="en-US" altLang="zh-TW" sz="2400" dirty="0">
                <a:solidFill>
                  <a:srgbClr val="000000"/>
                </a:solidFill>
                <a:latin typeface="Adobe Gothic Std B" pitchFamily="34" charset="-128"/>
                <a:ea typeface="Adobe Gothic Std B" pitchFamily="34" charset="-128"/>
              </a:rPr>
              <a:t>The SCAN schedule is 2150, 2296, 2800, 3681, 4965, 2069, 1618, 1523, 1212, 544, 356. The total seek distance is 7492</a:t>
            </a:r>
            <a:r>
              <a:rPr lang="en-US" altLang="zh-TW" sz="2400" dirty="0" smtClean="0">
                <a:solidFill>
                  <a:srgbClr val="000000"/>
                </a:solidFill>
                <a:latin typeface="Adobe Gothic Std B" pitchFamily="34" charset="-128"/>
                <a:ea typeface="Adobe Gothic Std B" pitchFamily="34" charset="-128"/>
              </a:rPr>
              <a:t>.</a:t>
            </a: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The </a:t>
            </a:r>
            <a:r>
              <a:rPr lang="en-US" altLang="zh-TW" sz="2400" dirty="0">
                <a:solidFill>
                  <a:srgbClr val="000000"/>
                </a:solidFill>
                <a:latin typeface="Adobe Gothic Std B" pitchFamily="34" charset="-128"/>
                <a:ea typeface="Adobe Gothic Std B" pitchFamily="34" charset="-128"/>
              </a:rPr>
              <a:t>LOOK schedule is 2150, 2296, 2800, 3681, 4965, 2069, 1618, 1523, 1212, 544, 356. The total seek distance is 7424</a:t>
            </a:r>
            <a:r>
              <a:rPr lang="en-US" altLang="zh-TW" sz="2400" dirty="0" smtClean="0">
                <a:solidFill>
                  <a:srgbClr val="000000"/>
                </a:solidFill>
                <a:latin typeface="Adobe Gothic Std B" pitchFamily="34" charset="-128"/>
                <a:ea typeface="Adobe Gothic Std B" pitchFamily="34" charset="-128"/>
              </a:rPr>
              <a:t>.</a:t>
            </a: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The </a:t>
            </a:r>
            <a:r>
              <a:rPr lang="en-US" altLang="zh-TW" sz="2400" dirty="0">
                <a:solidFill>
                  <a:srgbClr val="000000"/>
                </a:solidFill>
                <a:latin typeface="Adobe Gothic Std B" pitchFamily="34" charset="-128"/>
                <a:ea typeface="Adobe Gothic Std B" pitchFamily="34" charset="-128"/>
              </a:rPr>
              <a:t>C-SCAN schedule is 2150, 2296, 2800, 3681, 4965, 356, 544, 1212, 1523, 1618, 2069. The total seek distance is 9917</a:t>
            </a:r>
            <a:r>
              <a:rPr lang="en-US" altLang="zh-TW" sz="2400" dirty="0" smtClean="0">
                <a:solidFill>
                  <a:srgbClr val="000000"/>
                </a:solidFill>
                <a:latin typeface="Adobe Gothic Std B" pitchFamily="34" charset="-128"/>
                <a:ea typeface="Adobe Gothic Std B" pitchFamily="34" charset="-128"/>
              </a:rPr>
              <a:t>.</a:t>
            </a: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The </a:t>
            </a:r>
            <a:r>
              <a:rPr lang="en-US" altLang="zh-TW" sz="2400" dirty="0">
                <a:solidFill>
                  <a:srgbClr val="000000"/>
                </a:solidFill>
                <a:latin typeface="Adobe Gothic Std B" pitchFamily="34" charset="-128"/>
                <a:ea typeface="Adobe Gothic Std B" pitchFamily="34" charset="-128"/>
              </a:rPr>
              <a:t>C-LOOK schedule is 2150, 2296, 2800, 3681, 4965, 356, 544, 1212, 1523, 1618, 2069. The total seek distance is 9137.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smtClean="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30048228-6D81-4997-B3A1-9636A3C296C3}"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10.11</a:t>
            </a:r>
            <a:endParaRPr lang="en-US" altLang="zh-TW" sz="4000" b="1" kern="0" dirty="0">
              <a:solidFill>
                <a:srgbClr val="7030A0"/>
              </a:solidFill>
            </a:endParaRPr>
          </a:p>
        </p:txBody>
      </p:sp>
    </p:spTree>
    <p:extLst>
      <p:ext uri="{BB962C8B-B14F-4D97-AF65-F5344CB8AC3E}">
        <p14:creationId xmlns:p14="http://schemas.microsoft.com/office/powerpoint/2010/main" val="40341099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5</a:t>
            </a:fld>
            <a:endParaRPr kumimoji="0" lang="en-US" altLang="zh-TW" sz="1400" smtClean="0">
              <a:solidFill>
                <a:srgbClr val="40458C"/>
              </a:solidFill>
            </a:endParaRPr>
          </a:p>
        </p:txBody>
      </p:sp>
      <mc:AlternateContent xmlns:mc="http://schemas.openxmlformats.org/markup-compatibility/2006" xmlns:a14="http://schemas.microsoft.com/office/drawing/2010/main">
        <mc:Choice Requires="a14">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Elementary physics states that when an object is subjected to a </a:t>
                </a:r>
                <a:r>
                  <a:rPr lang="en-US" altLang="zh-TW" sz="2400" dirty="0">
                    <a:solidFill>
                      <a:srgbClr val="0000FF"/>
                    </a:solidFill>
                    <a:latin typeface="Adobe Gothic Std B" pitchFamily="34" charset="-128"/>
                    <a:ea typeface="Adobe Gothic Std B" pitchFamily="34" charset="-128"/>
                  </a:rPr>
                  <a:t>constant acceleration</a:t>
                </a:r>
                <a:r>
                  <a:rPr lang="en-US" altLang="zh-TW" sz="2400" dirty="0">
                    <a:solidFill>
                      <a:srgbClr val="000000"/>
                    </a:solidFill>
                    <a:latin typeface="Adobe Gothic Std B" pitchFamily="34" charset="-128"/>
                    <a:ea typeface="Adobe Gothic Std B" pitchFamily="34" charset="-128"/>
                  </a:rPr>
                  <a:t>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a</a:t>
                </a:r>
                <a:r>
                  <a:rPr lang="en-US" altLang="zh-TW" sz="2400" dirty="0">
                    <a:solidFill>
                      <a:srgbClr val="000000"/>
                    </a:solidFill>
                    <a:latin typeface="Adobe Gothic Std B" pitchFamily="34" charset="-128"/>
                    <a:ea typeface="Adobe Gothic Std B" pitchFamily="34" charset="-128"/>
                  </a:rPr>
                  <a:t>, the relationship between distance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d</a:t>
                </a:r>
                <a:r>
                  <a:rPr lang="en-US" altLang="zh-TW" sz="2400" dirty="0">
                    <a:solidFill>
                      <a:srgbClr val="000000"/>
                    </a:solidFill>
                    <a:latin typeface="Adobe Gothic Std B" pitchFamily="34" charset="-128"/>
                    <a:ea typeface="Adobe Gothic Std B" pitchFamily="34" charset="-128"/>
                  </a:rPr>
                  <a:t> and time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t</a:t>
                </a:r>
                <a:r>
                  <a:rPr lang="en-US" altLang="zh-TW" sz="2400" dirty="0">
                    <a:solidFill>
                      <a:srgbClr val="000000"/>
                    </a:solidFill>
                    <a:latin typeface="Adobe Gothic Std B" pitchFamily="34" charset="-128"/>
                    <a:ea typeface="Adobe Gothic Std B" pitchFamily="34" charset="-128"/>
                  </a:rPr>
                  <a:t> is given by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d = </a:t>
                </a:r>
                <a:r>
                  <a:rPr lang="en-US" altLang="zh-TW" sz="2400" b="1" i="1" dirty="0" smtClean="0">
                    <a:solidFill>
                      <a:srgbClr val="FF0000"/>
                    </a:solidFill>
                    <a:latin typeface="Times New Roman" panose="02020603050405020304" pitchFamily="18" charset="0"/>
                    <a:ea typeface="Adobe Gothic Std B" pitchFamily="34" charset="-128"/>
                    <a:cs typeface="Times New Roman" panose="02020603050405020304" pitchFamily="18" charset="0"/>
                  </a:rPr>
                  <a:t>at</a:t>
                </a:r>
                <a:r>
                  <a:rPr lang="en-US" altLang="zh-TW" sz="2400" b="1" baseline="30000" dirty="0" smtClean="0">
                    <a:solidFill>
                      <a:srgbClr val="FF0000"/>
                    </a:solidFill>
                    <a:latin typeface="Times New Roman" panose="02020603050405020304" pitchFamily="18" charset="0"/>
                    <a:ea typeface="Adobe Gothic Std B" pitchFamily="34" charset="-128"/>
                    <a:cs typeface="Times New Roman" panose="02020603050405020304" pitchFamily="18" charset="0"/>
                  </a:rPr>
                  <a:t>2</a:t>
                </a:r>
                <a:r>
                  <a:rPr lang="en-US" altLang="zh-TW" sz="2400" b="1" dirty="0" smtClean="0">
                    <a:solidFill>
                      <a:srgbClr val="FF0000"/>
                    </a:solidFill>
                    <a:latin typeface="Times New Roman" panose="02020603050405020304" pitchFamily="18" charset="0"/>
                    <a:ea typeface="Adobe Gothic Std B" pitchFamily="34" charset="-128"/>
                    <a:cs typeface="Times New Roman" panose="02020603050405020304" pitchFamily="18" charset="0"/>
                  </a:rPr>
                  <a:t>/2</a:t>
                </a:r>
                <a:r>
                  <a:rPr lang="en-US" altLang="zh-TW" sz="2400" dirty="0" smtClean="0">
                    <a:solidFill>
                      <a:srgbClr val="000000"/>
                    </a:solidFill>
                    <a:latin typeface="Adobe Gothic Std B" pitchFamily="34" charset="-128"/>
                    <a:ea typeface="Adobe Gothic Std B" pitchFamily="34" charset="-128"/>
                  </a:rPr>
                  <a:t>. </a:t>
                </a:r>
                <a:r>
                  <a:rPr lang="en-US" altLang="zh-TW" sz="2400" dirty="0">
                    <a:solidFill>
                      <a:srgbClr val="000000"/>
                    </a:solidFill>
                    <a:latin typeface="Adobe Gothic Std B" pitchFamily="34" charset="-128"/>
                    <a:ea typeface="Adobe Gothic Std B" pitchFamily="34" charset="-128"/>
                  </a:rPr>
                  <a:t>Suppose that, during a seek, the disk </a:t>
                </a:r>
                <a:r>
                  <a:rPr lang="en-US" altLang="zh-TW" sz="2400" dirty="0" smtClean="0">
                    <a:solidFill>
                      <a:srgbClr val="000000"/>
                    </a:solidFill>
                    <a:latin typeface="Adobe Gothic Std B" pitchFamily="34" charset="-128"/>
                    <a:ea typeface="Adobe Gothic Std B" pitchFamily="34" charset="-128"/>
                  </a:rPr>
                  <a:t>accelerates </a:t>
                </a:r>
                <a:r>
                  <a:rPr lang="en-US" altLang="zh-TW" sz="2400" dirty="0">
                    <a:solidFill>
                      <a:srgbClr val="000000"/>
                    </a:solidFill>
                    <a:latin typeface="Adobe Gothic Std B" pitchFamily="34" charset="-128"/>
                    <a:ea typeface="Adobe Gothic Std B" pitchFamily="34" charset="-128"/>
                  </a:rPr>
                  <a:t>the disk arm at a </a:t>
                </a:r>
                <a:r>
                  <a:rPr lang="en-US" altLang="zh-TW" sz="2400" dirty="0">
                    <a:solidFill>
                      <a:srgbClr val="0000FF"/>
                    </a:solidFill>
                    <a:latin typeface="Adobe Gothic Std B" pitchFamily="34" charset="-128"/>
                    <a:ea typeface="Adobe Gothic Std B" pitchFamily="34" charset="-128"/>
                  </a:rPr>
                  <a:t>constant rate for the first half of the seek</a:t>
                </a:r>
                <a:r>
                  <a:rPr lang="en-US" altLang="zh-TW" sz="2400" dirty="0">
                    <a:solidFill>
                      <a:srgbClr val="000000"/>
                    </a:solidFill>
                    <a:latin typeface="Adobe Gothic Std B" pitchFamily="34" charset="-128"/>
                    <a:ea typeface="Adobe Gothic Std B" pitchFamily="34" charset="-128"/>
                  </a:rPr>
                  <a:t>, then </a:t>
                </a:r>
                <a:r>
                  <a:rPr lang="en-US" altLang="zh-TW" sz="2400" dirty="0">
                    <a:solidFill>
                      <a:srgbClr val="0000FF"/>
                    </a:solidFill>
                    <a:latin typeface="Adobe Gothic Std B" pitchFamily="34" charset="-128"/>
                    <a:ea typeface="Adobe Gothic Std B" pitchFamily="34" charset="-128"/>
                  </a:rPr>
                  <a:t>decelerates the disk arm at the same rate for the second half of the seek</a:t>
                </a:r>
                <a:r>
                  <a:rPr lang="en-US" altLang="zh-TW" sz="2400" dirty="0">
                    <a:solidFill>
                      <a:srgbClr val="000000"/>
                    </a:solidFill>
                    <a:latin typeface="Adobe Gothic Std B" pitchFamily="34" charset="-128"/>
                    <a:ea typeface="Adobe Gothic Std B" pitchFamily="34" charset="-128"/>
                  </a:rPr>
                  <a:t>. Assume that the disk can perform a seek to an </a:t>
                </a:r>
                <a:r>
                  <a:rPr lang="en-US" altLang="zh-TW" sz="2400" dirty="0">
                    <a:solidFill>
                      <a:srgbClr val="FF0000"/>
                    </a:solidFill>
                    <a:latin typeface="Adobe Gothic Std B" pitchFamily="34" charset="-128"/>
                    <a:ea typeface="Adobe Gothic Std B" pitchFamily="34" charset="-128"/>
                  </a:rPr>
                  <a:t>adjacent cylinder in 1 millisecond</a:t>
                </a:r>
                <a:r>
                  <a:rPr lang="en-US" altLang="zh-TW" sz="2400" dirty="0">
                    <a:solidFill>
                      <a:srgbClr val="000000"/>
                    </a:solidFill>
                    <a:latin typeface="Adobe Gothic Std B" pitchFamily="34" charset="-128"/>
                    <a:ea typeface="Adobe Gothic Std B" pitchFamily="34" charset="-128"/>
                  </a:rPr>
                  <a:t> and a </a:t>
                </a:r>
                <a:r>
                  <a:rPr lang="en-US" altLang="zh-TW" sz="2400" dirty="0">
                    <a:solidFill>
                      <a:srgbClr val="FF0000"/>
                    </a:solidFill>
                    <a:latin typeface="Adobe Gothic Std B" pitchFamily="34" charset="-128"/>
                    <a:ea typeface="Adobe Gothic Std B" pitchFamily="34" charset="-128"/>
                  </a:rPr>
                  <a:t>full-stroke seek </a:t>
                </a:r>
                <a:r>
                  <a:rPr lang="en-US" altLang="zh-TW" sz="2400" dirty="0">
                    <a:solidFill>
                      <a:srgbClr val="000000"/>
                    </a:solidFill>
                    <a:latin typeface="Adobe Gothic Std B" pitchFamily="34" charset="-128"/>
                    <a:ea typeface="Adobe Gothic Std B" pitchFamily="34" charset="-128"/>
                  </a:rPr>
                  <a:t>over all </a:t>
                </a:r>
                <a:r>
                  <a:rPr lang="en-US" altLang="zh-TW" sz="2400" dirty="0">
                    <a:solidFill>
                      <a:srgbClr val="FF0000"/>
                    </a:solidFill>
                    <a:latin typeface="Adobe Gothic Std B" pitchFamily="34" charset="-128"/>
                    <a:ea typeface="Adobe Gothic Std B" pitchFamily="34" charset="-128"/>
                  </a:rPr>
                  <a:t>5000 cylinders in 18 milliseconds</a:t>
                </a:r>
                <a:r>
                  <a:rPr lang="en-US" altLang="zh-TW" sz="2400" dirty="0" smtClean="0">
                    <a:solidFill>
                      <a:srgbClr val="000000"/>
                    </a:solidFill>
                    <a:latin typeface="Adobe Gothic Std B" pitchFamily="34" charset="-128"/>
                    <a:ea typeface="Adobe Gothic Std B" pitchFamily="34" charset="-128"/>
                  </a:rPr>
                  <a:t>.</a:t>
                </a:r>
              </a:p>
              <a:p>
                <a:pPr marL="457200" indent="-457200" eaLnBrk="1" hangingPunct="1">
                  <a:spcBef>
                    <a:spcPct val="60000"/>
                  </a:spcBef>
                  <a:buFont typeface="+mj-lt"/>
                  <a:buAutoNum type="alphaLcPeriod"/>
                </a:pPr>
                <a:r>
                  <a:rPr lang="en-US" altLang="zh-TW" sz="2400" dirty="0">
                    <a:solidFill>
                      <a:srgbClr val="000000"/>
                    </a:solidFill>
                    <a:latin typeface="Adobe Gothic Std B" pitchFamily="34" charset="-128"/>
                    <a:ea typeface="Adobe Gothic Std B" pitchFamily="34" charset="-128"/>
                  </a:rPr>
                  <a:t>The distance of a seek is the number of cylinders that the head moves. Explain why </a:t>
                </a:r>
                <a:r>
                  <a:rPr lang="en-US" altLang="zh-TW" sz="2400" dirty="0">
                    <a:solidFill>
                      <a:srgbClr val="FF0000"/>
                    </a:solidFill>
                    <a:latin typeface="Adobe Gothic Std B" pitchFamily="34" charset="-128"/>
                    <a:ea typeface="Adobe Gothic Std B" pitchFamily="34" charset="-128"/>
                  </a:rPr>
                  <a:t>the seek time is proportional to the square root of the seek </a:t>
                </a:r>
                <a:r>
                  <a:rPr lang="en-US" altLang="zh-TW" sz="2400" dirty="0" smtClean="0">
                    <a:solidFill>
                      <a:srgbClr val="FF0000"/>
                    </a:solidFill>
                    <a:latin typeface="Adobe Gothic Std B" pitchFamily="34" charset="-128"/>
                    <a:ea typeface="Adobe Gothic Std B" pitchFamily="34" charset="-128"/>
                  </a:rPr>
                  <a:t>distance</a:t>
                </a:r>
                <a:r>
                  <a:rPr lang="en-US" altLang="zh-TW" sz="2400" dirty="0" smtClean="0">
                    <a:solidFill>
                      <a:srgbClr val="000000"/>
                    </a:solidFill>
                    <a:latin typeface="Adobe Gothic Std B" pitchFamily="34" charset="-128"/>
                    <a:ea typeface="Adobe Gothic Std B" pitchFamily="34" charset="-128"/>
                  </a:rPr>
                  <a:t>.</a:t>
                </a:r>
              </a:p>
              <a:p>
                <a:pPr marL="0" indent="0" algn="ctr" eaLnBrk="1" hangingPunct="1">
                  <a:spcBef>
                    <a:spcPts val="0"/>
                  </a:spcBef>
                  <a:buNone/>
                </a:pP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d = </a:t>
                </a:r>
                <a:r>
                  <a:rPr lang="en-US" altLang="zh-TW" sz="2400" b="1" i="1" dirty="0" smtClean="0">
                    <a:solidFill>
                      <a:srgbClr val="FF0000"/>
                    </a:solidFill>
                    <a:latin typeface="Times New Roman" panose="02020603050405020304" pitchFamily="18" charset="0"/>
                    <a:ea typeface="Adobe Gothic Std B" pitchFamily="34" charset="-128"/>
                    <a:cs typeface="Times New Roman" panose="02020603050405020304" pitchFamily="18" charset="0"/>
                  </a:rPr>
                  <a:t>at</a:t>
                </a:r>
                <a:r>
                  <a:rPr lang="en-US" altLang="zh-TW" sz="2400" b="1" baseline="30000" dirty="0" smtClean="0">
                    <a:solidFill>
                      <a:srgbClr val="FF0000"/>
                    </a:solidFill>
                    <a:latin typeface="Times New Roman" panose="02020603050405020304" pitchFamily="18" charset="0"/>
                    <a:ea typeface="Adobe Gothic Std B" pitchFamily="34" charset="-128"/>
                    <a:cs typeface="Times New Roman" panose="02020603050405020304" pitchFamily="18" charset="0"/>
                  </a:rPr>
                  <a:t>2</a:t>
                </a:r>
                <a:r>
                  <a:rPr lang="en-US" altLang="zh-TW" sz="2400" b="1" dirty="0" smtClean="0">
                    <a:solidFill>
                      <a:srgbClr val="FF0000"/>
                    </a:solidFill>
                    <a:latin typeface="Times New Roman" panose="02020603050405020304" pitchFamily="18" charset="0"/>
                    <a:ea typeface="Adobe Gothic Std B" pitchFamily="34" charset="-128"/>
                    <a:cs typeface="Times New Roman" panose="02020603050405020304" pitchFamily="18" charset="0"/>
                  </a:rPr>
                  <a:t>/2, so </a:t>
                </a:r>
                <a14:m>
                  <m:oMath xmlns:m="http://schemas.openxmlformats.org/officeDocument/2006/math">
                    <m:r>
                      <a:rPr lang="en-US" altLang="zh-TW" sz="2400" i="1">
                        <a:latin typeface="Cambria Math"/>
                      </a:rPr>
                      <m:t>𝑡</m:t>
                    </m:r>
                    <m:r>
                      <a:rPr lang="en-US" altLang="zh-TW" sz="2400" i="1">
                        <a:latin typeface="Cambria Math"/>
                      </a:rPr>
                      <m:t>=</m:t>
                    </m:r>
                    <m:rad>
                      <m:radPr>
                        <m:degHide m:val="on"/>
                        <m:ctrlPr>
                          <a:rPr lang="zh-TW" altLang="zh-TW" sz="2400" i="1">
                            <a:latin typeface="Cambria Math" panose="02040503050406030204" pitchFamily="18" charset="0"/>
                          </a:rPr>
                        </m:ctrlPr>
                      </m:radPr>
                      <m:deg/>
                      <m:e>
                        <m:f>
                          <m:fPr>
                            <m:ctrlPr>
                              <a:rPr lang="zh-TW" altLang="zh-TW" sz="2400" i="1">
                                <a:latin typeface="Cambria Math" panose="02040503050406030204" pitchFamily="18" charset="0"/>
                              </a:rPr>
                            </m:ctrlPr>
                          </m:fPr>
                          <m:num>
                            <m:r>
                              <a:rPr lang="en-US" altLang="zh-TW" sz="2400" i="1">
                                <a:latin typeface="Cambria Math"/>
                              </a:rPr>
                              <m:t>2</m:t>
                            </m:r>
                            <m:r>
                              <a:rPr lang="en-US" altLang="zh-TW" sz="2400" i="1">
                                <a:latin typeface="Cambria Math"/>
                              </a:rPr>
                              <m:t>𝑑</m:t>
                            </m:r>
                          </m:num>
                          <m:den>
                            <m:r>
                              <a:rPr lang="en-US" altLang="zh-TW" sz="2400" i="1">
                                <a:latin typeface="Cambria Math"/>
                              </a:rPr>
                              <m:t>𝑎</m:t>
                            </m:r>
                          </m:den>
                        </m:f>
                      </m:e>
                    </m:rad>
                  </m:oMath>
                </a14:m>
                <a:r>
                  <a:rPr lang="en-US" altLang="zh-TW" sz="2400" dirty="0" smtClean="0">
                    <a:solidFill>
                      <a:srgbClr val="000000"/>
                    </a:solidFill>
                    <a:latin typeface="Adobe Gothic Std B" pitchFamily="34" charset="-128"/>
                    <a:ea typeface="Adobe Gothic Std B" pitchFamily="34" charset="-128"/>
                  </a:rPr>
                  <a:t>.</a:t>
                </a:r>
                <a:endParaRPr lang="en-US" altLang="zh-TW" sz="2400" dirty="0">
                  <a:solidFill>
                    <a:srgbClr val="000000"/>
                  </a:solidFill>
                  <a:latin typeface="Adobe Gothic Std B" pitchFamily="34" charset="-128"/>
                  <a:ea typeface="Adobe Gothic Std B" pitchFamily="34" charset="-128"/>
                </a:endParaRPr>
              </a:p>
            </p:txBody>
          </p:sp>
        </mc:Choice>
        <mc:Fallback xmlns="">
          <p:sp>
            <p:nvSpPr>
              <p:cNvPr id="109572" name="Content Placeholder 2" descr="Rectangle: Click to edit Master text styles&#10;Second level&#10;Third level&#10;Fourth level&#10;Fifth level"/>
              <p:cNvSpPr>
                <a:spLocks noGrp="1" noRot="1" noChangeAspect="1" noMove="1" noResize="1" noEditPoints="1" noAdjustHandles="1" noChangeArrowheads="1" noChangeShapeType="1" noTextEdit="1"/>
              </p:cNvSpPr>
              <p:nvPr>
                <p:ph idx="4294967295"/>
              </p:nvPr>
            </p:nvSpPr>
            <p:spPr>
              <a:xfrm>
                <a:off x="103188" y="854075"/>
                <a:ext cx="8937625" cy="5486400"/>
              </a:xfrm>
              <a:blipFill rotWithShape="1">
                <a:blip r:embed="rId4"/>
                <a:stretch>
                  <a:fillRect l="-1364" t="-1000" r="-1978"/>
                </a:stretch>
              </a:blipFill>
            </p:spPr>
            <p:txBody>
              <a:bodyPr/>
              <a:lstStyle/>
              <a:p>
                <a:r>
                  <a:rPr lang="zh-TW" altLang="en-US">
                    <a:noFill/>
                  </a:rPr>
                  <a:t> </a:t>
                </a:r>
              </a:p>
            </p:txBody>
          </p:sp>
        </mc:Fallback>
      </mc:AlternateContent>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8F685C2E-FA68-4D93-8EB2-79689725D052}"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dirty="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10.12</a:t>
            </a:r>
            <a:endParaRPr lang="en-US" altLang="zh-TW" sz="4000" b="1" kern="0" dirty="0">
              <a:solidFill>
                <a:srgbClr val="7030A0"/>
              </a:solidFill>
            </a:endParaRPr>
          </a:p>
        </p:txBody>
      </p:sp>
    </p:spTree>
    <p:extLst>
      <p:ext uri="{BB962C8B-B14F-4D97-AF65-F5344CB8AC3E}">
        <p14:creationId xmlns:p14="http://schemas.microsoft.com/office/powerpoint/2010/main" val="2304625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5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6</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marL="457200" indent="-457200" eaLnBrk="1" hangingPunct="1">
              <a:spcBef>
                <a:spcPct val="60000"/>
              </a:spcBef>
              <a:buFont typeface="+mj-lt"/>
              <a:buAutoNum type="alphaLcPeriod" startAt="2"/>
            </a:pPr>
            <a:r>
              <a:rPr lang="en-US" altLang="zh-TW" sz="2400" dirty="0">
                <a:solidFill>
                  <a:srgbClr val="000000"/>
                </a:solidFill>
                <a:latin typeface="Adobe Gothic Std B" pitchFamily="34" charset="-128"/>
                <a:ea typeface="Adobe Gothic Std B" pitchFamily="34" charset="-128"/>
              </a:rPr>
              <a:t>Write an equation for the </a:t>
            </a:r>
            <a:r>
              <a:rPr lang="en-US" altLang="zh-TW" sz="2400" dirty="0">
                <a:solidFill>
                  <a:srgbClr val="FF0000"/>
                </a:solidFill>
                <a:latin typeface="Adobe Gothic Std B" pitchFamily="34" charset="-128"/>
                <a:ea typeface="Adobe Gothic Std B" pitchFamily="34" charset="-128"/>
              </a:rPr>
              <a:t>seek time </a:t>
            </a:r>
            <a:r>
              <a:rPr lang="en-US" altLang="zh-TW" sz="2400" dirty="0">
                <a:solidFill>
                  <a:srgbClr val="000000"/>
                </a:solidFill>
                <a:latin typeface="Adobe Gothic Std B" pitchFamily="34" charset="-128"/>
                <a:ea typeface="Adobe Gothic Std B" pitchFamily="34" charset="-128"/>
              </a:rPr>
              <a:t>as a </a:t>
            </a:r>
            <a:r>
              <a:rPr lang="en-US" altLang="zh-TW" sz="2400" dirty="0">
                <a:solidFill>
                  <a:srgbClr val="0000FF"/>
                </a:solidFill>
                <a:latin typeface="Adobe Gothic Std B" pitchFamily="34" charset="-128"/>
                <a:ea typeface="Adobe Gothic Std B" pitchFamily="34" charset="-128"/>
              </a:rPr>
              <a:t>function of the seek distance</a:t>
            </a:r>
            <a:r>
              <a:rPr lang="en-US" altLang="zh-TW" sz="2400" dirty="0">
                <a:solidFill>
                  <a:srgbClr val="000000"/>
                </a:solidFill>
                <a:latin typeface="Adobe Gothic Std B" pitchFamily="34" charset="-128"/>
                <a:ea typeface="Adobe Gothic Std B" pitchFamily="34" charset="-128"/>
              </a:rPr>
              <a:t>. This equation should be of the form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t = x+ </a:t>
            </a:r>
            <a:r>
              <a:rPr lang="en-US" altLang="zh-TW" sz="2400" b="1" i="1" dirty="0" err="1">
                <a:solidFill>
                  <a:srgbClr val="FF0000"/>
                </a:solidFill>
                <a:latin typeface="Times New Roman" panose="02020603050405020304" pitchFamily="18" charset="0"/>
                <a:ea typeface="Adobe Gothic Std B" pitchFamily="34" charset="-128"/>
                <a:cs typeface="Times New Roman" panose="02020603050405020304" pitchFamily="18" charset="0"/>
              </a:rPr>
              <a:t>y</a:t>
            </a:r>
            <a:r>
              <a:rPr lang="en-US" altLang="zh-TW" sz="2400" b="1" i="1" dirty="0" err="1" smtClean="0">
                <a:solidFill>
                  <a:srgbClr val="FF0000"/>
                </a:solidFill>
                <a:latin typeface="Times New Roman" panose="02020603050405020304" pitchFamily="18" charset="0"/>
                <a:ea typeface="Adobe Gothic Std B" pitchFamily="34" charset="-128"/>
                <a:cs typeface="Times New Roman" panose="02020603050405020304" pitchFamily="18" charset="0"/>
              </a:rPr>
              <a:t>√L</a:t>
            </a:r>
            <a:r>
              <a:rPr lang="en-US" altLang="zh-TW" sz="2400" dirty="0" smtClean="0">
                <a:solidFill>
                  <a:srgbClr val="000000"/>
                </a:solidFill>
                <a:latin typeface="Adobe Gothic Std B" pitchFamily="34" charset="-128"/>
                <a:ea typeface="Adobe Gothic Std B" pitchFamily="34" charset="-128"/>
              </a:rPr>
              <a:t> </a:t>
            </a:r>
            <a:r>
              <a:rPr lang="en-US" altLang="zh-TW" sz="2400" dirty="0">
                <a:solidFill>
                  <a:srgbClr val="000000"/>
                </a:solidFill>
                <a:latin typeface="Adobe Gothic Std B" pitchFamily="34" charset="-128"/>
                <a:ea typeface="Adobe Gothic Std B" pitchFamily="34" charset="-128"/>
              </a:rPr>
              <a:t>, where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t</a:t>
            </a:r>
            <a:r>
              <a:rPr lang="en-US" altLang="zh-TW" sz="2400" dirty="0">
                <a:solidFill>
                  <a:srgbClr val="000000"/>
                </a:solidFill>
                <a:latin typeface="Adobe Gothic Std B" pitchFamily="34" charset="-128"/>
                <a:ea typeface="Adobe Gothic Std B" pitchFamily="34" charset="-128"/>
              </a:rPr>
              <a:t> is the time in milliseconds and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L</a:t>
            </a:r>
            <a:r>
              <a:rPr lang="en-US" altLang="zh-TW" sz="2400" dirty="0">
                <a:solidFill>
                  <a:srgbClr val="000000"/>
                </a:solidFill>
                <a:latin typeface="Adobe Gothic Std B" pitchFamily="34" charset="-128"/>
                <a:ea typeface="Adobe Gothic Std B" pitchFamily="34" charset="-128"/>
              </a:rPr>
              <a:t> is the seek distance in cylinders</a:t>
            </a:r>
            <a:r>
              <a:rPr lang="en-US" altLang="zh-TW" sz="2400" dirty="0" smtClean="0">
                <a:solidFill>
                  <a:srgbClr val="000000"/>
                </a:solidFill>
                <a:latin typeface="Adobe Gothic Std B" pitchFamily="34" charset="-128"/>
                <a:ea typeface="Adobe Gothic Std B" pitchFamily="34" charset="-128"/>
              </a:rPr>
              <a:t>.</a:t>
            </a:r>
          </a:p>
          <a:p>
            <a:pPr marL="400050" lvl="1" indent="0" eaLnBrk="1" hangingPunct="1">
              <a:spcBef>
                <a:spcPct val="60000"/>
              </a:spcBef>
              <a:buNone/>
            </a:pPr>
            <a:r>
              <a:rPr lang="en-US" altLang="zh-TW" sz="2400" dirty="0">
                <a:solidFill>
                  <a:srgbClr val="000000"/>
                </a:solidFill>
                <a:latin typeface="Adobe Gothic Std B" pitchFamily="34" charset="-128"/>
                <a:ea typeface="Adobe Gothic Std B" pitchFamily="34" charset="-128"/>
              </a:rPr>
              <a:t>Solve the simultaneous equations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t = x+ </a:t>
            </a:r>
            <a:r>
              <a:rPr lang="en-US" altLang="zh-TW" sz="2400" b="1" i="1" dirty="0" err="1">
                <a:solidFill>
                  <a:srgbClr val="FF0000"/>
                </a:solidFill>
                <a:latin typeface="Times New Roman" panose="02020603050405020304" pitchFamily="18" charset="0"/>
                <a:ea typeface="Adobe Gothic Std B" pitchFamily="34" charset="-128"/>
                <a:cs typeface="Times New Roman" panose="02020603050405020304" pitchFamily="18" charset="0"/>
              </a:rPr>
              <a:t>y√L</a:t>
            </a:r>
            <a:r>
              <a:rPr lang="en-US" altLang="zh-TW" sz="2400" dirty="0" smtClean="0">
                <a:solidFill>
                  <a:srgbClr val="000000"/>
                </a:solidFill>
                <a:latin typeface="Adobe Gothic Std B" pitchFamily="34" charset="-128"/>
                <a:ea typeface="Adobe Gothic Std B" pitchFamily="34" charset="-128"/>
              </a:rPr>
              <a:t> </a:t>
            </a:r>
            <a:r>
              <a:rPr lang="en-US" altLang="zh-TW" sz="2400" dirty="0">
                <a:solidFill>
                  <a:srgbClr val="000000"/>
                </a:solidFill>
                <a:latin typeface="Adobe Gothic Std B" pitchFamily="34" charset="-128"/>
                <a:ea typeface="Adobe Gothic Std B" pitchFamily="34" charset="-128"/>
              </a:rPr>
              <a:t>that result from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t</a:t>
            </a:r>
            <a:r>
              <a:rPr lang="en-US" altLang="zh-TW" sz="2400" dirty="0">
                <a:solidFill>
                  <a:srgbClr val="000000"/>
                </a:solidFill>
                <a:latin typeface="Adobe Gothic Std B" pitchFamily="34" charset="-128"/>
                <a:ea typeface="Adobe Gothic Std B" pitchFamily="34" charset="-128"/>
              </a:rPr>
              <a:t> = 1,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L</a:t>
            </a:r>
            <a:r>
              <a:rPr lang="en-US" altLang="zh-TW" sz="2400" dirty="0">
                <a:solidFill>
                  <a:srgbClr val="000000"/>
                </a:solidFill>
                <a:latin typeface="Adobe Gothic Std B" pitchFamily="34" charset="-128"/>
                <a:ea typeface="Adobe Gothic Std B" pitchFamily="34" charset="-128"/>
              </a:rPr>
              <a:t> = 1) and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t</a:t>
            </a:r>
            <a:r>
              <a:rPr lang="en-US" altLang="zh-TW" sz="2400" dirty="0">
                <a:solidFill>
                  <a:srgbClr val="000000"/>
                </a:solidFill>
                <a:latin typeface="Adobe Gothic Std B" pitchFamily="34" charset="-128"/>
                <a:ea typeface="Adobe Gothic Std B" pitchFamily="34" charset="-128"/>
              </a:rPr>
              <a:t> = 18,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L </a:t>
            </a:r>
            <a:r>
              <a:rPr lang="en-US" altLang="zh-TW" sz="2400" dirty="0">
                <a:solidFill>
                  <a:srgbClr val="000000"/>
                </a:solidFill>
                <a:latin typeface="Adobe Gothic Std B" pitchFamily="34" charset="-128"/>
                <a:ea typeface="Adobe Gothic Std B" pitchFamily="34" charset="-128"/>
              </a:rPr>
              <a:t>= 4999) to </a:t>
            </a:r>
            <a:r>
              <a:rPr lang="en-US" altLang="zh-TW" sz="2400" dirty="0" smtClean="0">
                <a:solidFill>
                  <a:srgbClr val="000000"/>
                </a:solidFill>
                <a:latin typeface="Adobe Gothic Std B" pitchFamily="34" charset="-128"/>
                <a:ea typeface="Adobe Gothic Std B" pitchFamily="34" charset="-128"/>
              </a:rPr>
              <a:t>obtain</a:t>
            </a:r>
          </a:p>
          <a:p>
            <a:pPr marL="400050" lvl="1" indent="0" algn="ctr" eaLnBrk="1" hangingPunct="1">
              <a:spcBef>
                <a:spcPct val="60000"/>
              </a:spcBef>
              <a:buNone/>
            </a:pPr>
            <a:r>
              <a:rPr lang="en-US" altLang="zh-TW" sz="2400" dirty="0" smtClean="0">
                <a:solidFill>
                  <a:srgbClr val="000000"/>
                </a:solidFill>
                <a:latin typeface="Adobe Gothic Std B" pitchFamily="34" charset="-128"/>
                <a:ea typeface="Adobe Gothic Std B" pitchFamily="34" charset="-128"/>
              </a:rPr>
              <a:t> </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t</a:t>
            </a:r>
            <a:r>
              <a:rPr lang="en-US" altLang="zh-TW" sz="2400" dirty="0">
                <a:solidFill>
                  <a:srgbClr val="000000"/>
                </a:solidFill>
                <a:latin typeface="Adobe Gothic Std B" pitchFamily="34" charset="-128"/>
                <a:ea typeface="Adobe Gothic Std B" pitchFamily="34" charset="-128"/>
              </a:rPr>
              <a:t> = 0.7561 + </a:t>
            </a:r>
            <a:r>
              <a:rPr lang="en-US" altLang="zh-TW" sz="2400" dirty="0" smtClean="0">
                <a:solidFill>
                  <a:srgbClr val="000000"/>
                </a:solidFill>
                <a:latin typeface="Adobe Gothic Std B" pitchFamily="34" charset="-128"/>
                <a:ea typeface="Adobe Gothic Std B" pitchFamily="34" charset="-128"/>
              </a:rPr>
              <a:t>0.2439</a:t>
            </a:r>
            <a:r>
              <a:rPr lang="en-US" altLang="zh-TW" sz="2400" b="1" i="1" dirty="0" smtClean="0">
                <a:solidFill>
                  <a:srgbClr val="FF0000"/>
                </a:solidFill>
                <a:latin typeface="Times New Roman" panose="02020603050405020304" pitchFamily="18" charset="0"/>
                <a:ea typeface="Adobe Gothic Std B" pitchFamily="34" charset="-128"/>
                <a:cs typeface="Times New Roman" panose="02020603050405020304" pitchFamily="18" charset="0"/>
              </a:rPr>
              <a:t>√</a:t>
            </a:r>
            <a:r>
              <a:rPr lang="en-US" altLang="zh-TW" sz="2400" b="1" i="1" dirty="0">
                <a:solidFill>
                  <a:srgbClr val="FF0000"/>
                </a:solidFill>
                <a:latin typeface="Times New Roman" panose="02020603050405020304" pitchFamily="18" charset="0"/>
                <a:ea typeface="Adobe Gothic Std B" pitchFamily="34" charset="-128"/>
                <a:cs typeface="Times New Roman" panose="02020603050405020304" pitchFamily="18" charset="0"/>
              </a:rPr>
              <a:t>L</a:t>
            </a:r>
            <a:r>
              <a:rPr lang="en-US" altLang="zh-TW" sz="2400" dirty="0" smtClean="0">
                <a:solidFill>
                  <a:srgbClr val="000000"/>
                </a:solidFill>
                <a:latin typeface="Adobe Gothic Std B" pitchFamily="34" charset="-128"/>
                <a:ea typeface="Adobe Gothic Std B" pitchFamily="34" charset="-128"/>
              </a:rPr>
              <a:t> .</a:t>
            </a:r>
          </a:p>
          <a:p>
            <a:pPr marL="0" indent="0" algn="just" eaLnBrk="1" hangingPunct="1">
              <a:spcBef>
                <a:spcPct val="60000"/>
              </a:spcBef>
              <a:buNone/>
            </a:pPr>
            <a:endParaRPr lang="en-US" altLang="zh-TW" dirty="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ECF3274B-8D1A-4928-9A27-A5C094474464}"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dirty="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10.12</a:t>
            </a:r>
            <a:endParaRPr lang="en-US" altLang="zh-TW" sz="4000" b="1" kern="0" dirty="0">
              <a:solidFill>
                <a:srgbClr val="7030A0"/>
              </a:solidFill>
            </a:endParaRPr>
          </a:p>
        </p:txBody>
      </p:sp>
    </p:spTree>
    <p:extLst>
      <p:ext uri="{BB962C8B-B14F-4D97-AF65-F5344CB8AC3E}">
        <p14:creationId xmlns:p14="http://schemas.microsoft.com/office/powerpoint/2010/main" val="299643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5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5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7</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Consider a RAID Level 5 organization comprising five disks, with the parity for sets of four blocks on four disks stored on the fifth disk. How many blocks are accessed in order to perform the following? </a:t>
            </a:r>
            <a:r>
              <a:rPr lang="en-US" altLang="zh-TW" sz="2400" dirty="0" smtClean="0">
                <a:solidFill>
                  <a:srgbClr val="000000"/>
                </a:solidFill>
                <a:latin typeface="Adobe Gothic Std B" pitchFamily="34" charset="-128"/>
                <a:ea typeface="Adobe Gothic Std B" pitchFamily="34" charset="-128"/>
              </a:rPr>
              <a:t>a) </a:t>
            </a:r>
            <a:r>
              <a:rPr lang="en-US" altLang="zh-TW" sz="2400" dirty="0">
                <a:solidFill>
                  <a:srgbClr val="009900"/>
                </a:solidFill>
                <a:latin typeface="Adobe Gothic Std B" pitchFamily="34" charset="-128"/>
                <a:ea typeface="Adobe Gothic Std B" pitchFamily="34" charset="-128"/>
              </a:rPr>
              <a:t>A write of one block of data </a:t>
            </a:r>
            <a:r>
              <a:rPr lang="en-US" altLang="zh-TW" sz="2400" dirty="0" smtClean="0">
                <a:solidFill>
                  <a:srgbClr val="000000"/>
                </a:solidFill>
                <a:latin typeface="Adobe Gothic Std B" pitchFamily="34" charset="-128"/>
                <a:ea typeface="Adobe Gothic Std B" pitchFamily="34" charset="-128"/>
              </a:rPr>
              <a:t>; b) </a:t>
            </a:r>
            <a:r>
              <a:rPr lang="en-US" altLang="zh-TW" sz="2400" dirty="0">
                <a:solidFill>
                  <a:srgbClr val="009900"/>
                </a:solidFill>
                <a:latin typeface="Adobe Gothic Std B" pitchFamily="34" charset="-128"/>
                <a:ea typeface="Adobe Gothic Std B" pitchFamily="34" charset="-128"/>
              </a:rPr>
              <a:t>A write of seven continuous blocks of </a:t>
            </a:r>
            <a:r>
              <a:rPr lang="en-US" altLang="zh-TW" sz="2400" dirty="0" smtClean="0">
                <a:solidFill>
                  <a:srgbClr val="009900"/>
                </a:solidFill>
                <a:latin typeface="Adobe Gothic Std B" pitchFamily="34" charset="-128"/>
                <a:ea typeface="Adobe Gothic Std B" pitchFamily="34" charset="-128"/>
              </a:rPr>
              <a:t>data.</a:t>
            </a:r>
            <a:r>
              <a:rPr lang="en-US" altLang="zh-TW" sz="2400" dirty="0">
                <a:solidFill>
                  <a:srgbClr val="000000"/>
                </a:solidFill>
                <a:latin typeface="Adobe Gothic Std B" pitchFamily="34" charset="-128"/>
                <a:ea typeface="Adobe Gothic Std B" pitchFamily="34" charset="-128"/>
              </a:rPr>
              <a:t> (Assume that the seven contiguous blocks begin at a four-block boundary.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Wingdings" panose="05000000000000000000" pitchFamily="2" charset="2"/>
              <a:buChar char="ü"/>
            </a:pPr>
            <a:r>
              <a:rPr lang="en-US" altLang="zh-TW" sz="2400" dirty="0" smtClean="0">
                <a:solidFill>
                  <a:srgbClr val="0000FF"/>
                </a:solidFill>
                <a:latin typeface="Adobe Gothic Std B" pitchFamily="34" charset="-128"/>
                <a:ea typeface="Adobe Gothic Std B" pitchFamily="34" charset="-128"/>
              </a:rPr>
              <a:t>a) read </a:t>
            </a:r>
            <a:r>
              <a:rPr lang="en-US" altLang="zh-TW" sz="2400" dirty="0">
                <a:solidFill>
                  <a:srgbClr val="0000FF"/>
                </a:solidFill>
                <a:latin typeface="Adobe Gothic Std B" pitchFamily="34" charset="-128"/>
                <a:ea typeface="Adobe Gothic Std B" pitchFamily="34" charset="-128"/>
              </a:rPr>
              <a:t>of the parity block, read of the old data stored in the target block</a:t>
            </a:r>
            <a:r>
              <a:rPr lang="en-US" altLang="zh-TW" sz="2400" dirty="0">
                <a:solidFill>
                  <a:srgbClr val="000000"/>
                </a:solidFill>
                <a:latin typeface="Adobe Gothic Std B" pitchFamily="34" charset="-128"/>
                <a:ea typeface="Adobe Gothic Std B" pitchFamily="34" charset="-128"/>
              </a:rPr>
              <a:t>, computation of the new parity based on the differences between the new and old contents of the target block, and </a:t>
            </a:r>
            <a:r>
              <a:rPr lang="en-US" altLang="zh-TW" sz="2400" dirty="0">
                <a:solidFill>
                  <a:srgbClr val="0000FF"/>
                </a:solidFill>
                <a:latin typeface="Adobe Gothic Std B" pitchFamily="34" charset="-128"/>
                <a:ea typeface="Adobe Gothic Std B" pitchFamily="34" charset="-128"/>
              </a:rPr>
              <a:t>write of the parity block and the target block</a:t>
            </a:r>
            <a:r>
              <a:rPr lang="en-US" altLang="zh-TW" sz="2400" dirty="0">
                <a:solidFill>
                  <a:srgbClr val="000000"/>
                </a:solidFill>
                <a:latin typeface="Adobe Gothic Std B" pitchFamily="34" charset="-128"/>
                <a:ea typeface="Adobe Gothic Std B" pitchFamily="34" charset="-128"/>
              </a:rPr>
              <a:t>.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b) </a:t>
            </a:r>
            <a:r>
              <a:rPr lang="en-US" altLang="zh-TW" sz="2400" dirty="0">
                <a:solidFill>
                  <a:srgbClr val="000000"/>
                </a:solidFill>
                <a:latin typeface="Adobe Gothic Std B" pitchFamily="34" charset="-128"/>
                <a:ea typeface="Adobe Gothic Std B" pitchFamily="34" charset="-128"/>
              </a:rPr>
              <a:t>writing the seven contiguous blocks, writing the parity block of the first four blocks, reading the eight block, computing the parity for the next set of four blocks and writing the corresponding parity block onto disk. </a:t>
            </a:r>
            <a:endParaRPr lang="en-US" altLang="zh-TW" sz="2400" dirty="0" smtClean="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913A839A-124B-4AB4-A0A8-7795A9A88AE8}"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10.17</a:t>
            </a:r>
            <a:endParaRPr lang="en-US" altLang="zh-TW" sz="4000" b="1" kern="0" dirty="0">
              <a:solidFill>
                <a:srgbClr val="7030A0"/>
              </a:solidFill>
            </a:endParaRPr>
          </a:p>
        </p:txBody>
      </p:sp>
    </p:spTree>
    <p:extLst>
      <p:ext uri="{BB962C8B-B14F-4D97-AF65-F5344CB8AC3E}">
        <p14:creationId xmlns:p14="http://schemas.microsoft.com/office/powerpoint/2010/main" val="29552323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8</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Compare the performance of </a:t>
            </a:r>
            <a:r>
              <a:rPr lang="en-US" altLang="zh-TW" sz="2400" dirty="0">
                <a:solidFill>
                  <a:srgbClr val="FF0000"/>
                </a:solidFill>
                <a:latin typeface="Adobe Gothic Std B" pitchFamily="34" charset="-128"/>
                <a:ea typeface="Adobe Gothic Std B" pitchFamily="34" charset="-128"/>
              </a:rPr>
              <a:t>write</a:t>
            </a:r>
            <a:r>
              <a:rPr lang="en-US" altLang="zh-TW" sz="2400" dirty="0">
                <a:solidFill>
                  <a:srgbClr val="000000"/>
                </a:solidFill>
                <a:latin typeface="Adobe Gothic Std B" pitchFamily="34" charset="-128"/>
                <a:ea typeface="Adobe Gothic Std B" pitchFamily="34" charset="-128"/>
              </a:rPr>
              <a:t> operations achieved by a RAID </a:t>
            </a:r>
            <a:r>
              <a:rPr lang="en-US" altLang="zh-TW" sz="2400" dirty="0">
                <a:solidFill>
                  <a:srgbClr val="0000FF"/>
                </a:solidFill>
                <a:latin typeface="Adobe Gothic Std B" pitchFamily="34" charset="-128"/>
                <a:ea typeface="Adobe Gothic Std B" pitchFamily="34" charset="-128"/>
              </a:rPr>
              <a:t>Level 5</a:t>
            </a:r>
            <a:r>
              <a:rPr lang="en-US" altLang="zh-TW" sz="2400" dirty="0">
                <a:solidFill>
                  <a:srgbClr val="000000"/>
                </a:solidFill>
                <a:latin typeface="Adobe Gothic Std B" pitchFamily="34" charset="-128"/>
                <a:ea typeface="Adobe Gothic Std B" pitchFamily="34" charset="-128"/>
              </a:rPr>
              <a:t> organization with that achieved by a RAID </a:t>
            </a:r>
            <a:r>
              <a:rPr lang="en-US" altLang="zh-TW" sz="2400" dirty="0">
                <a:solidFill>
                  <a:srgbClr val="0000FF"/>
                </a:solidFill>
                <a:latin typeface="Adobe Gothic Std B" pitchFamily="34" charset="-128"/>
                <a:ea typeface="Adobe Gothic Std B" pitchFamily="34" charset="-128"/>
              </a:rPr>
              <a:t>Level 1</a:t>
            </a:r>
            <a:r>
              <a:rPr lang="en-US" altLang="zh-TW" sz="2400" dirty="0">
                <a:solidFill>
                  <a:srgbClr val="000000"/>
                </a:solidFill>
                <a:latin typeface="Adobe Gothic Std B" pitchFamily="34" charset="-128"/>
                <a:ea typeface="Adobe Gothic Std B" pitchFamily="34" charset="-128"/>
              </a:rPr>
              <a:t> organization</a:t>
            </a:r>
            <a:r>
              <a:rPr lang="en-US" altLang="zh-TW" sz="2400" dirty="0" smtClean="0">
                <a:solidFill>
                  <a:srgbClr val="000000"/>
                </a:solidFill>
                <a:latin typeface="Adobe Gothic Std B" pitchFamily="34" charset="-128"/>
                <a:ea typeface="Adobe Gothic Std B" pitchFamily="34" charset="-128"/>
              </a:rPr>
              <a:t>.</a:t>
            </a:r>
            <a:endParaRPr lang="en-US" altLang="zh-TW" sz="2400" dirty="0">
              <a:solidFill>
                <a:srgbClr val="000000"/>
              </a:solidFill>
              <a:latin typeface="Adobe Gothic Std B" pitchFamily="34" charset="-128"/>
              <a:ea typeface="Adobe Gothic Std B" pitchFamily="34" charset="-128"/>
            </a:endParaRPr>
          </a:p>
          <a:p>
            <a:pPr eaLnBrk="1" hangingPunct="1">
              <a:spcBef>
                <a:spcPts val="1200"/>
              </a:spcBef>
              <a:buFont typeface="Wingdings" panose="05000000000000000000" pitchFamily="2" charset="2"/>
              <a:buChar char="ü"/>
            </a:pPr>
            <a:r>
              <a:rPr lang="en-US" altLang="zh-TW" sz="2400" dirty="0">
                <a:solidFill>
                  <a:srgbClr val="000000"/>
                </a:solidFill>
                <a:latin typeface="Adobe Gothic Std B" pitchFamily="34" charset="-128"/>
                <a:ea typeface="Adobe Gothic Std B" pitchFamily="34" charset="-128"/>
              </a:rPr>
              <a:t>RAID Level 1 organization can perform writes by simply issuing the </a:t>
            </a:r>
            <a:r>
              <a:rPr lang="en-US" altLang="zh-TW" sz="2400" dirty="0">
                <a:solidFill>
                  <a:srgbClr val="0000FF"/>
                </a:solidFill>
                <a:latin typeface="Adobe Gothic Std B" pitchFamily="34" charset="-128"/>
                <a:ea typeface="Adobe Gothic Std B" pitchFamily="34" charset="-128"/>
              </a:rPr>
              <a:t>writes to mirrored data concurrently</a:t>
            </a:r>
            <a:r>
              <a:rPr lang="en-US" altLang="zh-TW" sz="2400" dirty="0">
                <a:solidFill>
                  <a:srgbClr val="000000"/>
                </a:solidFill>
                <a:latin typeface="Adobe Gothic Std B" pitchFamily="34" charset="-128"/>
                <a:ea typeface="Adobe Gothic Std B" pitchFamily="34" charset="-128"/>
              </a:rPr>
              <a:t>. </a:t>
            </a:r>
            <a:endParaRPr lang="en-US" altLang="zh-TW" sz="2400" dirty="0" smtClean="0">
              <a:solidFill>
                <a:srgbClr val="000000"/>
              </a:solidFill>
              <a:latin typeface="Adobe Gothic Std B" pitchFamily="34" charset="-128"/>
              <a:ea typeface="Adobe Gothic Std B" pitchFamily="34" charset="-128"/>
            </a:endParaRPr>
          </a:p>
          <a:p>
            <a:pPr eaLnBrk="1" hangingPunct="1">
              <a:spcBef>
                <a:spcPts val="12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RAID </a:t>
            </a:r>
            <a:r>
              <a:rPr lang="en-US" altLang="zh-TW" sz="2400" dirty="0">
                <a:solidFill>
                  <a:srgbClr val="000000"/>
                </a:solidFill>
                <a:latin typeface="Adobe Gothic Std B" pitchFamily="34" charset="-128"/>
                <a:ea typeface="Adobe Gothic Std B" pitchFamily="34" charset="-128"/>
              </a:rPr>
              <a:t>Level 5, on the other hand, would require the old contents of the </a:t>
            </a:r>
            <a:r>
              <a:rPr lang="en-US" altLang="zh-TW" sz="2400" dirty="0">
                <a:solidFill>
                  <a:srgbClr val="FF0000"/>
                </a:solidFill>
                <a:latin typeface="Adobe Gothic Std B" pitchFamily="34" charset="-128"/>
                <a:ea typeface="Adobe Gothic Std B" pitchFamily="34" charset="-128"/>
              </a:rPr>
              <a:t>parity block to be read before it is updated </a:t>
            </a:r>
            <a:r>
              <a:rPr lang="en-US" altLang="zh-TW" sz="2400" dirty="0">
                <a:solidFill>
                  <a:srgbClr val="000000"/>
                </a:solidFill>
                <a:latin typeface="Adobe Gothic Std B" pitchFamily="34" charset="-128"/>
                <a:ea typeface="Adobe Gothic Std B" pitchFamily="34" charset="-128"/>
              </a:rPr>
              <a:t>based on the new contents of the target block. </a:t>
            </a:r>
            <a:endParaRPr lang="en-US" altLang="zh-TW" sz="2400" dirty="0" smtClean="0">
              <a:solidFill>
                <a:srgbClr val="000000"/>
              </a:solidFill>
              <a:latin typeface="Adobe Gothic Std B" pitchFamily="34" charset="-128"/>
              <a:ea typeface="Adobe Gothic Std B" pitchFamily="34" charset="-128"/>
            </a:endParaRPr>
          </a:p>
          <a:p>
            <a:pPr eaLnBrk="1" hangingPunct="1">
              <a:spcBef>
                <a:spcPts val="12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This </a:t>
            </a:r>
            <a:r>
              <a:rPr lang="en-US" altLang="zh-TW" sz="2400" dirty="0">
                <a:solidFill>
                  <a:srgbClr val="000000"/>
                </a:solidFill>
                <a:latin typeface="Adobe Gothic Std B" pitchFamily="34" charset="-128"/>
                <a:ea typeface="Adobe Gothic Std B" pitchFamily="34" charset="-128"/>
              </a:rPr>
              <a:t>results in </a:t>
            </a:r>
            <a:r>
              <a:rPr lang="en-US" altLang="zh-TW" sz="2400" dirty="0">
                <a:solidFill>
                  <a:srgbClr val="0000FF"/>
                </a:solidFill>
                <a:latin typeface="Adobe Gothic Std B" pitchFamily="34" charset="-128"/>
                <a:ea typeface="Adobe Gothic Std B" pitchFamily="34" charset="-128"/>
              </a:rPr>
              <a:t>more overhead for the write operations on a RAID Level 5 system</a:t>
            </a:r>
            <a:r>
              <a:rPr lang="en-US" altLang="zh-TW" sz="2400" dirty="0">
                <a:solidFill>
                  <a:srgbClr val="000000"/>
                </a:solidFill>
                <a:latin typeface="Adobe Gothic Std B" pitchFamily="34" charset="-128"/>
                <a:ea typeface="Adobe Gothic Std B" pitchFamily="34" charset="-128"/>
              </a:rPr>
              <a:t>.</a:t>
            </a: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2A6D86BF-E576-40EE-AE75-1F1C34328F5A}"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10.19</a:t>
            </a:r>
            <a:endParaRPr lang="en-US" altLang="zh-TW" sz="4000" b="1" kern="0" dirty="0">
              <a:solidFill>
                <a:srgbClr val="7030A0"/>
              </a:solidFill>
            </a:endParaRPr>
          </a:p>
        </p:txBody>
      </p:sp>
    </p:spTree>
    <p:extLst>
      <p:ext uri="{BB962C8B-B14F-4D97-AF65-F5344CB8AC3E}">
        <p14:creationId xmlns:p14="http://schemas.microsoft.com/office/powerpoint/2010/main" val="375834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5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5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9</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The reliability of a hard-disk drive is typically described in terms of a quantity called </a:t>
            </a:r>
            <a:r>
              <a:rPr lang="en-US" altLang="zh-TW" sz="2400" dirty="0">
                <a:solidFill>
                  <a:srgbClr val="FF0000"/>
                </a:solidFill>
                <a:latin typeface="Adobe Gothic Std B" pitchFamily="34" charset="-128"/>
                <a:ea typeface="Adobe Gothic Std B" pitchFamily="34" charset="-128"/>
              </a:rPr>
              <a:t>mean time between failures (MTBF)</a:t>
            </a:r>
            <a:r>
              <a:rPr lang="en-US" altLang="zh-TW" sz="2400" dirty="0">
                <a:solidFill>
                  <a:srgbClr val="000000"/>
                </a:solidFill>
                <a:latin typeface="Adobe Gothic Std B" pitchFamily="34" charset="-128"/>
                <a:ea typeface="Adobe Gothic Std B" pitchFamily="34" charset="-128"/>
              </a:rPr>
              <a:t>. Although this quantity is called a “time,” the MTBF actually is measured in </a:t>
            </a:r>
            <a:r>
              <a:rPr lang="en-US" altLang="zh-TW" sz="2400" dirty="0">
                <a:solidFill>
                  <a:srgbClr val="FF0000"/>
                </a:solidFill>
                <a:latin typeface="Adobe Gothic Std B" pitchFamily="34" charset="-128"/>
                <a:ea typeface="Adobe Gothic Std B" pitchFamily="34" charset="-128"/>
              </a:rPr>
              <a:t>drive-hours per failure</a:t>
            </a:r>
            <a:r>
              <a:rPr lang="en-US" altLang="zh-TW" sz="2400" dirty="0" smtClean="0">
                <a:solidFill>
                  <a:srgbClr val="000000"/>
                </a:solidFill>
                <a:latin typeface="Adobe Gothic Std B" pitchFamily="34" charset="-128"/>
                <a:ea typeface="Adobe Gothic Std B" pitchFamily="34" charset="-128"/>
              </a:rPr>
              <a:t>. </a:t>
            </a:r>
          </a:p>
          <a:p>
            <a:pPr marL="457200" indent="-457200" eaLnBrk="1" hangingPunct="1">
              <a:spcBef>
                <a:spcPts val="1200"/>
              </a:spcBef>
              <a:buFont typeface="+mj-lt"/>
              <a:buAutoNum type="alphaLcPeriod"/>
            </a:pPr>
            <a:r>
              <a:rPr lang="en-US" altLang="zh-TW" sz="2400" dirty="0">
                <a:solidFill>
                  <a:srgbClr val="0000FF"/>
                </a:solidFill>
                <a:latin typeface="Adobe Gothic Std B" pitchFamily="34" charset="-128"/>
                <a:ea typeface="Adobe Gothic Std B" pitchFamily="34" charset="-128"/>
              </a:rPr>
              <a:t>If a system contains </a:t>
            </a:r>
            <a:r>
              <a:rPr lang="en-US" altLang="zh-TW" sz="2400" dirty="0">
                <a:solidFill>
                  <a:srgbClr val="FF0000"/>
                </a:solidFill>
                <a:latin typeface="Adobe Gothic Std B" pitchFamily="34" charset="-128"/>
                <a:ea typeface="Adobe Gothic Std B" pitchFamily="34" charset="-128"/>
              </a:rPr>
              <a:t>1000 drives</a:t>
            </a:r>
            <a:r>
              <a:rPr lang="en-US" altLang="zh-TW" sz="2400" dirty="0">
                <a:solidFill>
                  <a:srgbClr val="0000FF"/>
                </a:solidFill>
                <a:latin typeface="Adobe Gothic Std B" pitchFamily="34" charset="-128"/>
                <a:ea typeface="Adobe Gothic Std B" pitchFamily="34" charset="-128"/>
              </a:rPr>
              <a:t>, each of which has a 750,000-hour MTBF, which of the following best describes </a:t>
            </a:r>
            <a:r>
              <a:rPr lang="en-US" altLang="zh-TW" sz="2400" dirty="0">
                <a:solidFill>
                  <a:srgbClr val="7030A0"/>
                </a:solidFill>
                <a:latin typeface="Adobe Gothic Std B" pitchFamily="34" charset="-128"/>
                <a:ea typeface="Adobe Gothic Std B" pitchFamily="34" charset="-128"/>
              </a:rPr>
              <a:t>how often a drive failure will occur in that disk farm</a:t>
            </a:r>
            <a:r>
              <a:rPr lang="en-US" altLang="zh-TW" sz="2400" dirty="0">
                <a:solidFill>
                  <a:srgbClr val="000000"/>
                </a:solidFill>
                <a:latin typeface="Adobe Gothic Std B" pitchFamily="34" charset="-128"/>
                <a:ea typeface="Adobe Gothic Std B" pitchFamily="34" charset="-128"/>
              </a:rPr>
              <a:t>: once per thousand years, once per century, once per decade, once per year, once per month, once per week, once per day, once per hour, once per minute, or once per second? </a:t>
            </a:r>
            <a:endParaRPr lang="en-US" altLang="zh-TW" sz="2400" dirty="0" smtClean="0">
              <a:solidFill>
                <a:srgbClr val="000000"/>
              </a:solidFill>
              <a:latin typeface="Adobe Gothic Std B" pitchFamily="34" charset="-128"/>
              <a:ea typeface="Adobe Gothic Std B" pitchFamily="34" charset="-128"/>
            </a:endParaRPr>
          </a:p>
          <a:p>
            <a:pPr eaLnBrk="1" hangingPunct="1">
              <a:spcBef>
                <a:spcPts val="1200"/>
              </a:spcBef>
              <a:buFont typeface="Wingdings" panose="05000000000000000000" pitchFamily="2" charset="2"/>
              <a:buChar char="ü"/>
            </a:pPr>
            <a:r>
              <a:rPr lang="en-US" altLang="zh-TW" sz="2400" dirty="0">
                <a:solidFill>
                  <a:srgbClr val="000000"/>
                </a:solidFill>
                <a:latin typeface="Adobe Gothic Std B" pitchFamily="34" charset="-128"/>
                <a:ea typeface="Adobe Gothic Std B" pitchFamily="34" charset="-128"/>
              </a:rPr>
              <a:t>750,000 drive-hours per failure divided by 1000 drives gives </a:t>
            </a:r>
            <a:r>
              <a:rPr lang="en-US" altLang="zh-TW" sz="2400" dirty="0">
                <a:solidFill>
                  <a:srgbClr val="FF0000"/>
                </a:solidFill>
                <a:latin typeface="Adobe Gothic Std B" pitchFamily="34" charset="-128"/>
                <a:ea typeface="Adobe Gothic Std B" pitchFamily="34" charset="-128"/>
              </a:rPr>
              <a:t>750 hours per </a:t>
            </a:r>
            <a:r>
              <a:rPr lang="en-US" altLang="zh-TW" sz="2400" dirty="0" smtClean="0">
                <a:solidFill>
                  <a:srgbClr val="FF0000"/>
                </a:solidFill>
                <a:latin typeface="Adobe Gothic Std B" pitchFamily="34" charset="-128"/>
                <a:ea typeface="Adobe Gothic Std B" pitchFamily="34" charset="-128"/>
              </a:rPr>
              <a:t>failure </a:t>
            </a:r>
            <a:r>
              <a:rPr lang="en-US" altLang="zh-TW" sz="2400" dirty="0" smtClean="0">
                <a:solidFill>
                  <a:srgbClr val="000000"/>
                </a:solidFill>
                <a:latin typeface="Adobe Gothic Std B" pitchFamily="34" charset="-128"/>
                <a:ea typeface="Adobe Gothic Std B" pitchFamily="34" charset="-128"/>
              </a:rPr>
              <a:t>—</a:t>
            </a:r>
            <a:r>
              <a:rPr lang="en-US" altLang="zh-TW" sz="2400" dirty="0">
                <a:solidFill>
                  <a:srgbClr val="000000"/>
                </a:solidFill>
                <a:latin typeface="Adobe Gothic Std B" pitchFamily="34" charset="-128"/>
                <a:ea typeface="Adobe Gothic Std B" pitchFamily="34" charset="-128"/>
              </a:rPr>
              <a:t>about 31 days or </a:t>
            </a:r>
            <a:r>
              <a:rPr lang="en-US" altLang="zh-TW" sz="2400" dirty="0">
                <a:solidFill>
                  <a:srgbClr val="FF0000"/>
                </a:solidFill>
                <a:latin typeface="Adobe Gothic Std B" pitchFamily="34" charset="-128"/>
                <a:ea typeface="Adobe Gothic Std B" pitchFamily="34" charset="-128"/>
              </a:rPr>
              <a:t>once per month</a:t>
            </a:r>
            <a:r>
              <a:rPr lang="en-US" altLang="zh-TW" sz="2400" dirty="0">
                <a:solidFill>
                  <a:srgbClr val="000000"/>
                </a:solidFill>
                <a:latin typeface="Adobe Gothic Std B" pitchFamily="34" charset="-128"/>
                <a:ea typeface="Adobe Gothic Std B" pitchFamily="34" charset="-128"/>
              </a:rPr>
              <a:t>.</a:t>
            </a: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8093AF1-DE52-430C-BE0B-E8CAF2ACE2DA}"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10.21</a:t>
            </a:r>
            <a:endParaRPr lang="en-US" altLang="zh-TW" sz="4000" b="1" kern="0" dirty="0">
              <a:solidFill>
                <a:srgbClr val="7030A0"/>
              </a:solidFill>
            </a:endParaRPr>
          </a:p>
        </p:txBody>
      </p:sp>
    </p:spTree>
    <p:extLst>
      <p:ext uri="{BB962C8B-B14F-4D97-AF65-F5344CB8AC3E}">
        <p14:creationId xmlns:p14="http://schemas.microsoft.com/office/powerpoint/2010/main" val="166813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5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10</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marL="457200" indent="-457200" eaLnBrk="1" hangingPunct="1">
              <a:spcBef>
                <a:spcPts val="1200"/>
              </a:spcBef>
              <a:buFont typeface="+mj-lt"/>
              <a:buAutoNum type="alphaLcPeriod" startAt="3"/>
            </a:pPr>
            <a:r>
              <a:rPr lang="en-US" altLang="zh-TW" sz="2400" dirty="0">
                <a:solidFill>
                  <a:srgbClr val="0000FF"/>
                </a:solidFill>
                <a:latin typeface="Adobe Gothic Std B" pitchFamily="34" charset="-128"/>
                <a:ea typeface="Adobe Gothic Std B" pitchFamily="34" charset="-128"/>
              </a:rPr>
              <a:t>The manufacturer guarantees a 1-million-hour MTBF for a certain model of disk drive</a:t>
            </a:r>
            <a:r>
              <a:rPr lang="en-US" altLang="zh-TW" sz="2400" dirty="0">
                <a:solidFill>
                  <a:srgbClr val="000000"/>
                </a:solidFill>
                <a:latin typeface="Adobe Gothic Std B" pitchFamily="34" charset="-128"/>
                <a:ea typeface="Adobe Gothic Std B" pitchFamily="34" charset="-128"/>
              </a:rPr>
              <a:t>. What can you conclude about the number of years for which one of these drives is under warranty</a:t>
            </a:r>
            <a:r>
              <a:rPr lang="en-US" altLang="zh-TW" sz="2400" dirty="0" smtClean="0">
                <a:solidFill>
                  <a:srgbClr val="000000"/>
                </a:solidFill>
                <a:latin typeface="Adobe Gothic Std B" pitchFamily="34" charset="-128"/>
                <a:ea typeface="Adobe Gothic Std B" pitchFamily="34" charset="-128"/>
              </a:rPr>
              <a:t>?</a:t>
            </a:r>
          </a:p>
          <a:p>
            <a:pPr eaLnBrk="1" hangingPunct="1">
              <a:spcBef>
                <a:spcPts val="12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Hard </a:t>
            </a:r>
            <a:r>
              <a:rPr lang="en-US" altLang="zh-TW" sz="2400" dirty="0">
                <a:solidFill>
                  <a:srgbClr val="000000"/>
                </a:solidFill>
                <a:latin typeface="Adobe Gothic Std B" pitchFamily="34" charset="-128"/>
                <a:ea typeface="Adobe Gothic Std B" pitchFamily="34" charset="-128"/>
              </a:rPr>
              <a:t>disk drives are generally designed to have a </a:t>
            </a:r>
            <a:r>
              <a:rPr lang="en-US" altLang="zh-TW" sz="2400" dirty="0">
                <a:solidFill>
                  <a:srgbClr val="FF0000"/>
                </a:solidFill>
                <a:latin typeface="Adobe Gothic Std B" pitchFamily="34" charset="-128"/>
                <a:ea typeface="Adobe Gothic Std B" pitchFamily="34" charset="-128"/>
              </a:rPr>
              <a:t>lifetime of five years</a:t>
            </a:r>
            <a:r>
              <a:rPr lang="en-US" altLang="zh-TW" sz="2400" dirty="0">
                <a:solidFill>
                  <a:srgbClr val="000000"/>
                </a:solidFill>
                <a:latin typeface="Adobe Gothic Std B" pitchFamily="34" charset="-128"/>
                <a:ea typeface="Adobe Gothic Std B" pitchFamily="34" charset="-128"/>
              </a:rPr>
              <a:t>. If such a drive truly has a million-hour MTBF, it is very unlikely that the drive will fail during its expected lifetime.</a:t>
            </a: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D1A756BF-6F5E-42A5-9A14-FDCFEB1F8843}"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10.21</a:t>
            </a:r>
            <a:endParaRPr lang="en-US" altLang="zh-TW" sz="4000" b="1" kern="0" dirty="0">
              <a:solidFill>
                <a:srgbClr val="7030A0"/>
              </a:solidFill>
            </a:endParaRPr>
          </a:p>
        </p:txBody>
      </p:sp>
    </p:spTree>
    <p:extLst>
      <p:ext uri="{BB962C8B-B14F-4D97-AF65-F5344CB8AC3E}">
        <p14:creationId xmlns:p14="http://schemas.microsoft.com/office/powerpoint/2010/main" val="326328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11</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The </a:t>
            </a:r>
            <a:r>
              <a:rPr lang="en-US" altLang="zh-TW" sz="2400" dirty="0">
                <a:solidFill>
                  <a:srgbClr val="0000FF"/>
                </a:solidFill>
                <a:latin typeface="Adobe Gothic Std B" pitchFamily="34" charset="-128"/>
                <a:ea typeface="Adobe Gothic Std B" pitchFamily="34" charset="-128"/>
              </a:rPr>
              <a:t>open-file table </a:t>
            </a:r>
            <a:r>
              <a:rPr lang="en-US" altLang="zh-TW" sz="2400" dirty="0">
                <a:solidFill>
                  <a:srgbClr val="000000"/>
                </a:solidFill>
                <a:latin typeface="Adobe Gothic Std B" pitchFamily="34" charset="-128"/>
                <a:ea typeface="Adobe Gothic Std B" pitchFamily="34" charset="-128"/>
              </a:rPr>
              <a:t>is used to maintain information about files that are currently open. Should the </a:t>
            </a:r>
            <a:r>
              <a:rPr lang="en-US" altLang="zh-TW" sz="2400" dirty="0" smtClean="0">
                <a:solidFill>
                  <a:srgbClr val="000000"/>
                </a:solidFill>
                <a:latin typeface="Adobe Gothic Std B" pitchFamily="34" charset="-128"/>
                <a:ea typeface="Adobe Gothic Std B" pitchFamily="34" charset="-128"/>
              </a:rPr>
              <a:t>OS maintain </a:t>
            </a:r>
            <a:r>
              <a:rPr lang="en-US" altLang="zh-TW" sz="2400" dirty="0">
                <a:solidFill>
                  <a:srgbClr val="000000"/>
                </a:solidFill>
                <a:latin typeface="Adobe Gothic Std B" pitchFamily="34" charset="-128"/>
                <a:ea typeface="Adobe Gothic Std B" pitchFamily="34" charset="-128"/>
              </a:rPr>
              <a:t>a separate table for each user or just maintain one table that contains references to files that are being accessed by all users at the current time? If the same file is being </a:t>
            </a:r>
            <a:r>
              <a:rPr lang="en-US" altLang="zh-TW" sz="2400" dirty="0">
                <a:solidFill>
                  <a:srgbClr val="0000FF"/>
                </a:solidFill>
                <a:latin typeface="Adobe Gothic Std B" pitchFamily="34" charset="-128"/>
                <a:ea typeface="Adobe Gothic Std B" pitchFamily="34" charset="-128"/>
              </a:rPr>
              <a:t>accessed by two different programs</a:t>
            </a:r>
            <a:r>
              <a:rPr lang="en-US" altLang="zh-TW" sz="2400" dirty="0">
                <a:solidFill>
                  <a:srgbClr val="000000"/>
                </a:solidFill>
                <a:latin typeface="Adobe Gothic Std B" pitchFamily="34" charset="-128"/>
                <a:ea typeface="Adobe Gothic Std B" pitchFamily="34" charset="-128"/>
              </a:rPr>
              <a:t> or users, should there be </a:t>
            </a:r>
            <a:r>
              <a:rPr lang="en-US" altLang="zh-TW" sz="2400" dirty="0">
                <a:solidFill>
                  <a:srgbClr val="FF0000"/>
                </a:solidFill>
                <a:latin typeface="Adobe Gothic Std B" pitchFamily="34" charset="-128"/>
                <a:ea typeface="Adobe Gothic Std B" pitchFamily="34" charset="-128"/>
              </a:rPr>
              <a:t>separate entries </a:t>
            </a:r>
            <a:r>
              <a:rPr lang="en-US" altLang="zh-TW" sz="2400" dirty="0">
                <a:solidFill>
                  <a:srgbClr val="000000"/>
                </a:solidFill>
                <a:latin typeface="Adobe Gothic Std B" pitchFamily="34" charset="-128"/>
                <a:ea typeface="Adobe Gothic Std B" pitchFamily="34" charset="-128"/>
              </a:rPr>
              <a:t>in the open file table</a:t>
            </a:r>
            <a:r>
              <a:rPr lang="en-US" altLang="zh-TW" sz="2400" dirty="0" smtClean="0">
                <a:solidFill>
                  <a:srgbClr val="000000"/>
                </a:solidFill>
                <a:latin typeface="Adobe Gothic Std B" pitchFamily="34" charset="-128"/>
                <a:ea typeface="Adobe Gothic Std B" pitchFamily="34" charset="-128"/>
              </a:rPr>
              <a:t>?</a:t>
            </a: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Consider </a:t>
            </a:r>
            <a:r>
              <a:rPr lang="en-US" altLang="zh-TW" sz="2400" dirty="0">
                <a:solidFill>
                  <a:srgbClr val="000000"/>
                </a:solidFill>
                <a:latin typeface="Adobe Gothic Std B" pitchFamily="34" charset="-128"/>
                <a:ea typeface="Adobe Gothic Std B" pitchFamily="34" charset="-128"/>
              </a:rPr>
              <a:t>a file that is currently being accessed by one or more processes. If the file is </a:t>
            </a:r>
            <a:r>
              <a:rPr lang="en-US" altLang="zh-TW" sz="2400" dirty="0">
                <a:solidFill>
                  <a:srgbClr val="FF0000"/>
                </a:solidFill>
                <a:latin typeface="Adobe Gothic Std B" pitchFamily="34" charset="-128"/>
                <a:ea typeface="Adobe Gothic Std B" pitchFamily="34" charset="-128"/>
              </a:rPr>
              <a:t>deleted</a:t>
            </a:r>
            <a:r>
              <a:rPr lang="en-US" altLang="zh-TW" sz="2400" dirty="0">
                <a:solidFill>
                  <a:srgbClr val="000000"/>
                </a:solidFill>
                <a:latin typeface="Adobe Gothic Std B" pitchFamily="34" charset="-128"/>
                <a:ea typeface="Adobe Gothic Std B" pitchFamily="34" charset="-128"/>
              </a:rPr>
              <a:t>, then it </a:t>
            </a:r>
            <a:r>
              <a:rPr lang="en-US" altLang="zh-TW" sz="2400" dirty="0">
                <a:solidFill>
                  <a:srgbClr val="FF0000"/>
                </a:solidFill>
                <a:latin typeface="Adobe Gothic Std B" pitchFamily="34" charset="-128"/>
                <a:ea typeface="Adobe Gothic Std B" pitchFamily="34" charset="-128"/>
              </a:rPr>
              <a:t>should not be removed</a:t>
            </a:r>
            <a:r>
              <a:rPr lang="en-US" altLang="zh-TW" sz="2400" dirty="0">
                <a:solidFill>
                  <a:srgbClr val="000000"/>
                </a:solidFill>
                <a:latin typeface="Adobe Gothic Std B" pitchFamily="34" charset="-128"/>
                <a:ea typeface="Adobe Gothic Std B" pitchFamily="34" charset="-128"/>
              </a:rPr>
              <a:t> from the disk until all processes accessing the file have closed it. </a:t>
            </a:r>
            <a:endParaRPr lang="en-US" altLang="zh-TW" sz="2400" dirty="0" smtClean="0">
              <a:solidFill>
                <a:srgbClr val="000000"/>
              </a:solidFill>
              <a:latin typeface="Adobe Gothic Std B" pitchFamily="34" charset="-128"/>
              <a:ea typeface="Adobe Gothic Std B" pitchFamily="34" charset="-128"/>
            </a:endParaRPr>
          </a:p>
          <a:p>
            <a:pPr marL="400050" lvl="1" indent="0" eaLnBrk="1" hangingPunct="1">
              <a:spcBef>
                <a:spcPct val="60000"/>
              </a:spcBef>
              <a:buNone/>
            </a:pPr>
            <a:r>
              <a:rPr lang="en-US" altLang="zh-TW" sz="2400" dirty="0">
                <a:solidFill>
                  <a:srgbClr val="000000"/>
                </a:solidFill>
                <a:latin typeface="Adobe Gothic Std B" pitchFamily="34" charset="-128"/>
                <a:ea typeface="Adobe Gothic Std B" pitchFamily="34" charset="-128"/>
              </a:rPr>
              <a:t>This check can be performed only if there is </a:t>
            </a:r>
            <a:r>
              <a:rPr lang="en-US" altLang="zh-TW" sz="2400" dirty="0">
                <a:solidFill>
                  <a:srgbClr val="FF0000"/>
                </a:solidFill>
                <a:latin typeface="Adobe Gothic Std B" pitchFamily="34" charset="-128"/>
                <a:ea typeface="Adobe Gothic Std B" pitchFamily="34" charset="-128"/>
              </a:rPr>
              <a:t>centralized accounting of number of processes accessing the file</a:t>
            </a:r>
            <a:r>
              <a:rPr lang="en-US" altLang="zh-TW" sz="2400" dirty="0">
                <a:solidFill>
                  <a:srgbClr val="000000"/>
                </a:solidFill>
                <a:latin typeface="Adobe Gothic Std B" pitchFamily="34" charset="-128"/>
                <a:ea typeface="Adobe Gothic Std B" pitchFamily="34" charset="-128"/>
              </a:rPr>
              <a:t>.</a:t>
            </a:r>
            <a:endParaRPr lang="en-US" altLang="zh-TW" sz="2000" dirty="0" smtClean="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F256E932-085E-4C4D-A44B-B1967FBBAB33}"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11.10</a:t>
            </a:r>
            <a:endParaRPr lang="en-US" altLang="zh-TW" sz="4000" b="1" kern="0" dirty="0">
              <a:solidFill>
                <a:srgbClr val="7030A0"/>
              </a:solidFill>
            </a:endParaRPr>
          </a:p>
        </p:txBody>
      </p:sp>
    </p:spTree>
    <p:extLst>
      <p:ext uri="{BB962C8B-B14F-4D97-AF65-F5344CB8AC3E}">
        <p14:creationId xmlns:p14="http://schemas.microsoft.com/office/powerpoint/2010/main" val="2071203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12</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On </a:t>
            </a:r>
            <a:r>
              <a:rPr lang="en-US" altLang="zh-TW" sz="2400" dirty="0">
                <a:solidFill>
                  <a:srgbClr val="000000"/>
                </a:solidFill>
                <a:latin typeface="Adobe Gothic Std B" pitchFamily="34" charset="-128"/>
                <a:ea typeface="Adobe Gothic Std B" pitchFamily="34" charset="-128"/>
              </a:rPr>
              <a:t>the other hand, if two processes are accessing the file, then </a:t>
            </a:r>
            <a:r>
              <a:rPr lang="en-US" altLang="zh-TW" sz="2400" dirty="0">
                <a:solidFill>
                  <a:srgbClr val="0000FF"/>
                </a:solidFill>
                <a:latin typeface="Adobe Gothic Std B" pitchFamily="34" charset="-128"/>
                <a:ea typeface="Adobe Gothic Std B" pitchFamily="34" charset="-128"/>
              </a:rPr>
              <a:t>two separate states need to be maintained </a:t>
            </a:r>
            <a:r>
              <a:rPr lang="en-US" altLang="zh-TW" sz="2400" dirty="0">
                <a:solidFill>
                  <a:srgbClr val="000000"/>
                </a:solidFill>
                <a:latin typeface="Adobe Gothic Std B" pitchFamily="34" charset="-128"/>
                <a:ea typeface="Adobe Gothic Std B" pitchFamily="34" charset="-128"/>
              </a:rPr>
              <a:t>to keep track of the </a:t>
            </a:r>
            <a:r>
              <a:rPr lang="en-US" altLang="zh-TW" sz="2400" dirty="0">
                <a:solidFill>
                  <a:srgbClr val="0000FF"/>
                </a:solidFill>
                <a:latin typeface="Adobe Gothic Std B" pitchFamily="34" charset="-128"/>
                <a:ea typeface="Adobe Gothic Std B" pitchFamily="34" charset="-128"/>
              </a:rPr>
              <a:t>current location </a:t>
            </a:r>
            <a:r>
              <a:rPr lang="en-US" altLang="zh-TW" sz="2400" dirty="0">
                <a:solidFill>
                  <a:srgbClr val="000000"/>
                </a:solidFill>
                <a:latin typeface="Adobe Gothic Std B" pitchFamily="34" charset="-128"/>
                <a:ea typeface="Adobe Gothic Std B" pitchFamily="34" charset="-128"/>
              </a:rPr>
              <a:t>of which parts of the file are being accessed by the two processes.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This </a:t>
            </a:r>
            <a:r>
              <a:rPr lang="en-US" altLang="zh-TW" sz="2400" dirty="0">
                <a:solidFill>
                  <a:srgbClr val="000000"/>
                </a:solidFill>
                <a:latin typeface="Adobe Gothic Std B" pitchFamily="34" charset="-128"/>
                <a:ea typeface="Adobe Gothic Std B" pitchFamily="34" charset="-128"/>
              </a:rPr>
              <a:t>requires the </a:t>
            </a:r>
            <a:r>
              <a:rPr lang="en-US" altLang="zh-TW" sz="2400" dirty="0" smtClean="0">
                <a:solidFill>
                  <a:srgbClr val="000000"/>
                </a:solidFill>
                <a:latin typeface="Adobe Gothic Std B" pitchFamily="34" charset="-128"/>
                <a:ea typeface="Adobe Gothic Std B" pitchFamily="34" charset="-128"/>
              </a:rPr>
              <a:t>OS to </a:t>
            </a:r>
            <a:r>
              <a:rPr lang="en-US" altLang="zh-TW" sz="2400" dirty="0">
                <a:solidFill>
                  <a:srgbClr val="000000"/>
                </a:solidFill>
                <a:latin typeface="Adobe Gothic Std B" pitchFamily="34" charset="-128"/>
                <a:ea typeface="Adobe Gothic Std B" pitchFamily="34" charset="-128"/>
              </a:rPr>
              <a:t>maintain </a:t>
            </a:r>
            <a:r>
              <a:rPr lang="en-US" altLang="zh-TW" sz="2400" dirty="0">
                <a:solidFill>
                  <a:srgbClr val="0000FF"/>
                </a:solidFill>
                <a:latin typeface="Adobe Gothic Std B" pitchFamily="34" charset="-128"/>
                <a:ea typeface="Adobe Gothic Std B" pitchFamily="34" charset="-128"/>
              </a:rPr>
              <a:t>separate entries </a:t>
            </a:r>
            <a:r>
              <a:rPr lang="en-US" altLang="zh-TW" sz="2400" dirty="0">
                <a:solidFill>
                  <a:srgbClr val="000000"/>
                </a:solidFill>
                <a:latin typeface="Adobe Gothic Std B" pitchFamily="34" charset="-128"/>
                <a:ea typeface="Adobe Gothic Std B" pitchFamily="34" charset="-128"/>
              </a:rPr>
              <a:t>for the two processes.</a:t>
            </a: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0FC48143-F114-4E09-928C-AEEDAC942D84}"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11.10</a:t>
            </a:r>
            <a:endParaRPr lang="en-US" altLang="zh-TW" sz="4000" b="1" kern="0" dirty="0">
              <a:solidFill>
                <a:srgbClr val="7030A0"/>
              </a:solidFill>
            </a:endParaRPr>
          </a:p>
        </p:txBody>
      </p:sp>
    </p:spTree>
    <p:extLst>
      <p:ext uri="{BB962C8B-B14F-4D97-AF65-F5344CB8AC3E}">
        <p14:creationId xmlns:p14="http://schemas.microsoft.com/office/powerpoint/2010/main" val="302339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957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13</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What are the implications of supporting</a:t>
            </a:r>
            <a:r>
              <a:rPr lang="en-US" altLang="zh-TW" sz="2400" dirty="0">
                <a:solidFill>
                  <a:srgbClr val="0000FF"/>
                </a:solidFill>
                <a:latin typeface="Adobe Gothic Std B" pitchFamily="34" charset="-128"/>
                <a:ea typeface="Adobe Gothic Std B" pitchFamily="34" charset="-128"/>
              </a:rPr>
              <a:t> UNIX consistency semantics</a:t>
            </a:r>
            <a:r>
              <a:rPr lang="en-US" altLang="zh-TW" sz="2400" dirty="0">
                <a:solidFill>
                  <a:srgbClr val="000000"/>
                </a:solidFill>
                <a:latin typeface="Adobe Gothic Std B" pitchFamily="34" charset="-128"/>
                <a:ea typeface="Adobe Gothic Std B" pitchFamily="34" charset="-128"/>
              </a:rPr>
              <a:t> for </a:t>
            </a:r>
            <a:r>
              <a:rPr lang="en-US" altLang="zh-TW" sz="2400" dirty="0">
                <a:solidFill>
                  <a:srgbClr val="FF0000"/>
                </a:solidFill>
                <a:latin typeface="Adobe Gothic Std B" pitchFamily="34" charset="-128"/>
                <a:ea typeface="Adobe Gothic Std B" pitchFamily="34" charset="-128"/>
              </a:rPr>
              <a:t>shared access </a:t>
            </a:r>
            <a:r>
              <a:rPr lang="en-US" altLang="zh-TW" sz="2400" dirty="0">
                <a:solidFill>
                  <a:srgbClr val="000000"/>
                </a:solidFill>
                <a:latin typeface="Adobe Gothic Std B" pitchFamily="34" charset="-128"/>
                <a:ea typeface="Adobe Gothic Std B" pitchFamily="34" charset="-128"/>
              </a:rPr>
              <a:t>for those files that are stored on remote file systems</a:t>
            </a:r>
            <a:r>
              <a:rPr lang="en-US" altLang="zh-TW" sz="2400" dirty="0" smtClean="0">
                <a:solidFill>
                  <a:srgbClr val="000000"/>
                </a:solidFill>
                <a:latin typeface="Adobe Gothic Std B" pitchFamily="34" charset="-128"/>
                <a:ea typeface="Adobe Gothic Std B" pitchFamily="34" charset="-128"/>
              </a:rPr>
              <a:t>?</a:t>
            </a:r>
          </a:p>
          <a:p>
            <a:pPr eaLnBrk="1" hangingPunct="1">
              <a:spcBef>
                <a:spcPct val="60000"/>
              </a:spcBef>
              <a:buFont typeface="Wingdings" panose="05000000000000000000" pitchFamily="2" charset="2"/>
              <a:buChar char="ü"/>
            </a:pPr>
            <a:r>
              <a:rPr lang="en-US" altLang="zh-TW" sz="2400" dirty="0">
                <a:solidFill>
                  <a:srgbClr val="000000"/>
                </a:solidFill>
                <a:latin typeface="Adobe Gothic Std B" pitchFamily="34" charset="-128"/>
                <a:ea typeface="Adobe Gothic Std B" pitchFamily="34" charset="-128"/>
              </a:rPr>
              <a:t>UNIX consistency semantics requires </a:t>
            </a:r>
            <a:r>
              <a:rPr lang="en-US" altLang="zh-TW" sz="2400" dirty="0">
                <a:solidFill>
                  <a:srgbClr val="FF0000"/>
                </a:solidFill>
                <a:latin typeface="Adobe Gothic Std B" pitchFamily="34" charset="-128"/>
                <a:ea typeface="Adobe Gothic Std B" pitchFamily="34" charset="-128"/>
              </a:rPr>
              <a:t>updates to a file to be immediately available to other processes</a:t>
            </a:r>
            <a:r>
              <a:rPr lang="en-US" altLang="zh-TW" sz="2400" dirty="0">
                <a:solidFill>
                  <a:srgbClr val="000000"/>
                </a:solidFill>
                <a:latin typeface="Adobe Gothic Std B" pitchFamily="34" charset="-128"/>
                <a:ea typeface="Adobe Gothic Std B" pitchFamily="34" charset="-128"/>
              </a:rPr>
              <a:t>.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Wingdings" panose="05000000000000000000" pitchFamily="2" charset="2"/>
              <a:buChar char="ü"/>
            </a:pPr>
            <a:r>
              <a:rPr lang="en-US" altLang="zh-TW" sz="2400" dirty="0" smtClean="0">
                <a:solidFill>
                  <a:srgbClr val="0000FF"/>
                </a:solidFill>
                <a:latin typeface="Adobe Gothic Std B" pitchFamily="34" charset="-128"/>
                <a:ea typeface="Adobe Gothic Std B" pitchFamily="34" charset="-128"/>
              </a:rPr>
              <a:t>inefficiencies</a:t>
            </a:r>
            <a:r>
              <a:rPr lang="en-US" altLang="zh-TW" sz="2400" dirty="0">
                <a:solidFill>
                  <a:srgbClr val="000000"/>
                </a:solidFill>
                <a:latin typeface="Adobe Gothic Std B" pitchFamily="34" charset="-128"/>
                <a:ea typeface="Adobe Gothic Std B" pitchFamily="34" charset="-128"/>
              </a:rPr>
              <a:t>: all updates by a client have to be immediately reported to the file server instead of being </a:t>
            </a:r>
            <a:r>
              <a:rPr lang="en-US" altLang="zh-TW" sz="2400" dirty="0" smtClean="0">
                <a:solidFill>
                  <a:srgbClr val="000000"/>
                </a:solidFill>
                <a:latin typeface="Adobe Gothic Std B" pitchFamily="34" charset="-128"/>
                <a:ea typeface="Adobe Gothic Std B" pitchFamily="34" charset="-128"/>
              </a:rPr>
              <a:t>batched, </a:t>
            </a:r>
            <a:r>
              <a:rPr lang="en-US" altLang="zh-TW" sz="2400" dirty="0">
                <a:solidFill>
                  <a:srgbClr val="000000"/>
                </a:solidFill>
                <a:latin typeface="Adobe Gothic Std B" pitchFamily="34" charset="-128"/>
                <a:ea typeface="Adobe Gothic Std B" pitchFamily="34" charset="-128"/>
              </a:rPr>
              <a:t>and updates have to be communicated by the file server to clients caching the data immediately, again resulting in </a:t>
            </a:r>
            <a:r>
              <a:rPr lang="en-US" altLang="zh-TW" sz="2400" dirty="0">
                <a:solidFill>
                  <a:srgbClr val="0000FF"/>
                </a:solidFill>
                <a:latin typeface="Adobe Gothic Std B" pitchFamily="34" charset="-128"/>
                <a:ea typeface="Adobe Gothic Std B" pitchFamily="34" charset="-128"/>
              </a:rPr>
              <a:t>more communication</a:t>
            </a:r>
            <a:r>
              <a:rPr lang="en-US" altLang="zh-TW" sz="2400" dirty="0">
                <a:solidFill>
                  <a:srgbClr val="000000"/>
                </a:solidFill>
                <a:latin typeface="Adobe Gothic Std B" pitchFamily="34" charset="-128"/>
                <a:ea typeface="Adobe Gothic Std B" pitchFamily="34" charset="-128"/>
              </a:rPr>
              <a:t>.</a:t>
            </a:r>
            <a:endParaRPr lang="en-US" altLang="zh-TW" sz="2400" dirty="0" smtClean="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4D7E5817-1506-4785-B9F1-20E01FC22048}"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11.19</a:t>
            </a:r>
            <a:endParaRPr lang="en-US" altLang="zh-TW" sz="4000" b="1" kern="0" dirty="0">
              <a:solidFill>
                <a:srgbClr val="7030A0"/>
              </a:solidFill>
            </a:endParaRPr>
          </a:p>
        </p:txBody>
      </p:sp>
    </p:spTree>
    <p:extLst>
      <p:ext uri="{BB962C8B-B14F-4D97-AF65-F5344CB8AC3E}">
        <p14:creationId xmlns:p14="http://schemas.microsoft.com/office/powerpoint/2010/main" val="3428798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14</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Contrast the performance of the three techniques for allocating disk blocks (</a:t>
            </a:r>
            <a:r>
              <a:rPr lang="en-US" altLang="zh-TW" sz="2400" dirty="0">
                <a:solidFill>
                  <a:srgbClr val="FF0000"/>
                </a:solidFill>
                <a:latin typeface="Adobe Gothic Std B" pitchFamily="34" charset="-128"/>
                <a:ea typeface="Adobe Gothic Std B" pitchFamily="34" charset="-128"/>
              </a:rPr>
              <a:t>contiguous, </a:t>
            </a:r>
            <a:r>
              <a:rPr lang="en-US" altLang="zh-TW" sz="2400" dirty="0">
                <a:solidFill>
                  <a:srgbClr val="0000FF"/>
                </a:solidFill>
                <a:latin typeface="Adobe Gothic Std B" pitchFamily="34" charset="-128"/>
                <a:ea typeface="Adobe Gothic Std B" pitchFamily="34" charset="-128"/>
              </a:rPr>
              <a:t>linked</a:t>
            </a:r>
            <a:r>
              <a:rPr lang="en-US" altLang="zh-TW" sz="2400" dirty="0">
                <a:solidFill>
                  <a:srgbClr val="FF0000"/>
                </a:solidFill>
                <a:latin typeface="Adobe Gothic Std B" pitchFamily="34" charset="-128"/>
                <a:ea typeface="Adobe Gothic Std B" pitchFamily="34" charset="-128"/>
              </a:rPr>
              <a:t>, </a:t>
            </a:r>
            <a:r>
              <a:rPr lang="en-US" altLang="zh-TW" sz="2400" dirty="0">
                <a:solidFill>
                  <a:srgbClr val="000000"/>
                </a:solidFill>
                <a:latin typeface="Adobe Gothic Std B" pitchFamily="34" charset="-128"/>
                <a:ea typeface="Adobe Gothic Std B" pitchFamily="34" charset="-128"/>
              </a:rPr>
              <a:t>and</a:t>
            </a:r>
            <a:r>
              <a:rPr lang="en-US" altLang="zh-TW" sz="2400" dirty="0">
                <a:solidFill>
                  <a:srgbClr val="FF0000"/>
                </a:solidFill>
                <a:latin typeface="Adobe Gothic Std B" pitchFamily="34" charset="-128"/>
                <a:ea typeface="Adobe Gothic Std B" pitchFamily="34" charset="-128"/>
              </a:rPr>
              <a:t> </a:t>
            </a:r>
            <a:r>
              <a:rPr lang="en-US" altLang="zh-TW" sz="2400" dirty="0">
                <a:solidFill>
                  <a:srgbClr val="009900"/>
                </a:solidFill>
                <a:latin typeface="Adobe Gothic Std B" pitchFamily="34" charset="-128"/>
                <a:ea typeface="Adobe Gothic Std B" pitchFamily="34" charset="-128"/>
              </a:rPr>
              <a:t>indexed</a:t>
            </a:r>
            <a:r>
              <a:rPr lang="en-US" altLang="zh-TW" sz="2400" dirty="0">
                <a:solidFill>
                  <a:srgbClr val="000000"/>
                </a:solidFill>
                <a:latin typeface="Adobe Gothic Std B" pitchFamily="34" charset="-128"/>
                <a:ea typeface="Adobe Gothic Std B" pitchFamily="34" charset="-128"/>
              </a:rPr>
              <a:t>) for both sequential and random file access</a:t>
            </a:r>
            <a:r>
              <a:rPr lang="en-US" altLang="zh-TW" sz="2400" dirty="0" smtClean="0">
                <a:solidFill>
                  <a:srgbClr val="000000"/>
                </a:solidFill>
                <a:latin typeface="Adobe Gothic Std B" pitchFamily="34" charset="-128"/>
                <a:ea typeface="Adobe Gothic Std B" pitchFamily="34" charset="-128"/>
              </a:rPr>
              <a:t>.</a:t>
            </a:r>
          </a:p>
          <a:p>
            <a:pPr eaLnBrk="1" hangingPunct="1">
              <a:spcBef>
                <a:spcPct val="60000"/>
              </a:spcBef>
              <a:buFont typeface="Wingdings" panose="05000000000000000000" pitchFamily="2" charset="2"/>
              <a:buChar char="ü"/>
            </a:pPr>
            <a:r>
              <a:rPr lang="en-US" altLang="zh-TW" sz="2400" dirty="0">
                <a:solidFill>
                  <a:srgbClr val="FF0000"/>
                </a:solidFill>
                <a:latin typeface="Adobe Gothic Std B" pitchFamily="34" charset="-128"/>
                <a:ea typeface="Adobe Gothic Std B" pitchFamily="34" charset="-128"/>
              </a:rPr>
              <a:t>Contiguous </a:t>
            </a:r>
            <a:r>
              <a:rPr lang="en-US" altLang="zh-TW" sz="2400" dirty="0" smtClean="0">
                <a:solidFill>
                  <a:srgbClr val="FF0000"/>
                </a:solidFill>
                <a:latin typeface="Adobe Gothic Std B" pitchFamily="34" charset="-128"/>
                <a:ea typeface="Adobe Gothic Std B" pitchFamily="34" charset="-128"/>
              </a:rPr>
              <a:t>Sequential </a:t>
            </a:r>
            <a:r>
              <a:rPr lang="en-US" altLang="zh-TW" sz="2400" dirty="0">
                <a:solidFill>
                  <a:srgbClr val="000000"/>
                </a:solidFill>
                <a:latin typeface="Adobe Gothic Std B" pitchFamily="34" charset="-128"/>
                <a:ea typeface="Adobe Gothic Std B" pitchFamily="34" charset="-128"/>
              </a:rPr>
              <a:t>- Works very well as the file is stored contiguously.</a:t>
            </a:r>
          </a:p>
          <a:p>
            <a:pPr eaLnBrk="1" hangingPunct="1">
              <a:spcBef>
                <a:spcPct val="60000"/>
              </a:spcBef>
              <a:buFont typeface="Wingdings" panose="05000000000000000000" pitchFamily="2" charset="2"/>
              <a:buChar char="ü"/>
            </a:pPr>
            <a:r>
              <a:rPr lang="en-US" altLang="zh-TW" sz="2400" dirty="0" smtClean="0">
                <a:solidFill>
                  <a:srgbClr val="FF0000"/>
                </a:solidFill>
                <a:latin typeface="Adobe Gothic Std B" pitchFamily="34" charset="-128"/>
                <a:ea typeface="Adobe Gothic Std B" pitchFamily="34" charset="-128"/>
              </a:rPr>
              <a:t>Sequential </a:t>
            </a:r>
            <a:r>
              <a:rPr lang="en-US" altLang="zh-TW" sz="2400" dirty="0">
                <a:solidFill>
                  <a:srgbClr val="FF0000"/>
                </a:solidFill>
                <a:latin typeface="Adobe Gothic Std B" pitchFamily="34" charset="-128"/>
                <a:ea typeface="Adobe Gothic Std B" pitchFamily="34" charset="-128"/>
              </a:rPr>
              <a:t>access </a:t>
            </a:r>
            <a:r>
              <a:rPr lang="en-US" altLang="zh-TW" sz="2400" dirty="0">
                <a:solidFill>
                  <a:srgbClr val="000000"/>
                </a:solidFill>
                <a:latin typeface="Adobe Gothic Std B" pitchFamily="34" charset="-128"/>
                <a:ea typeface="Adobe Gothic Std B" pitchFamily="34" charset="-128"/>
              </a:rPr>
              <a:t>- Simply involves traversing the contiguous disk blocks.</a:t>
            </a:r>
          </a:p>
          <a:p>
            <a:pPr eaLnBrk="1" hangingPunct="1">
              <a:spcBef>
                <a:spcPct val="60000"/>
              </a:spcBef>
              <a:buFont typeface="Wingdings" panose="05000000000000000000" pitchFamily="2" charset="2"/>
              <a:buChar char="ü"/>
            </a:pPr>
            <a:r>
              <a:rPr lang="en-US" altLang="zh-TW" sz="2400" dirty="0" smtClean="0">
                <a:solidFill>
                  <a:srgbClr val="FF0000"/>
                </a:solidFill>
                <a:latin typeface="Adobe Gothic Std B" pitchFamily="34" charset="-128"/>
                <a:ea typeface="Adobe Gothic Std B" pitchFamily="34" charset="-128"/>
              </a:rPr>
              <a:t>Contiguous </a:t>
            </a:r>
            <a:r>
              <a:rPr lang="en-US" altLang="zh-TW" sz="2400" dirty="0">
                <a:solidFill>
                  <a:srgbClr val="FF0000"/>
                </a:solidFill>
                <a:latin typeface="Adobe Gothic Std B" pitchFamily="34" charset="-128"/>
                <a:ea typeface="Adobe Gothic Std B" pitchFamily="34" charset="-128"/>
              </a:rPr>
              <a:t>Random </a:t>
            </a:r>
            <a:r>
              <a:rPr lang="en-US" altLang="zh-TW" sz="2400" dirty="0">
                <a:solidFill>
                  <a:srgbClr val="000000"/>
                </a:solidFill>
                <a:latin typeface="Adobe Gothic Std B" pitchFamily="34" charset="-128"/>
                <a:ea typeface="Adobe Gothic Std B" pitchFamily="34" charset="-128"/>
              </a:rPr>
              <a:t>-Works very well as you can easily determine the adjacent disk block containing the </a:t>
            </a:r>
            <a:r>
              <a:rPr lang="en-US" altLang="zh-TW" sz="2400" dirty="0">
                <a:solidFill>
                  <a:srgbClr val="0000FF"/>
                </a:solidFill>
                <a:latin typeface="Adobe Gothic Std B" pitchFamily="34" charset="-128"/>
                <a:ea typeface="Adobe Gothic Std B" pitchFamily="34" charset="-128"/>
              </a:rPr>
              <a:t>position</a:t>
            </a:r>
            <a:r>
              <a:rPr lang="en-US" altLang="zh-TW" sz="2400" dirty="0">
                <a:solidFill>
                  <a:srgbClr val="000000"/>
                </a:solidFill>
                <a:latin typeface="Adobe Gothic Std B" pitchFamily="34" charset="-128"/>
                <a:ea typeface="Adobe Gothic Std B" pitchFamily="34" charset="-128"/>
              </a:rPr>
              <a:t> you wish to seek to.</a:t>
            </a: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 </a:t>
            </a:r>
            <a:r>
              <a:rPr lang="en-US" altLang="zh-TW" sz="2400" dirty="0">
                <a:solidFill>
                  <a:srgbClr val="0000FF"/>
                </a:solidFill>
                <a:latin typeface="Adobe Gothic Std B" pitchFamily="34" charset="-128"/>
                <a:ea typeface="Adobe Gothic Std B" pitchFamily="34" charset="-128"/>
              </a:rPr>
              <a:t>Linked Sequential </a:t>
            </a:r>
            <a:r>
              <a:rPr lang="en-US" altLang="zh-TW" sz="2400" dirty="0">
                <a:solidFill>
                  <a:srgbClr val="000000"/>
                </a:solidFill>
                <a:latin typeface="Adobe Gothic Std B" pitchFamily="34" charset="-128"/>
                <a:ea typeface="Adobe Gothic Std B" pitchFamily="34" charset="-128"/>
              </a:rPr>
              <a:t>- </a:t>
            </a:r>
            <a:r>
              <a:rPr lang="en-US" altLang="zh-TW" sz="2400" dirty="0">
                <a:solidFill>
                  <a:srgbClr val="00B0F0"/>
                </a:solidFill>
                <a:latin typeface="Adobe Gothic Std B" pitchFamily="34" charset="-128"/>
                <a:ea typeface="Adobe Gothic Std B" pitchFamily="34" charset="-128"/>
              </a:rPr>
              <a:t>Satisfactory</a:t>
            </a:r>
            <a:r>
              <a:rPr lang="en-US" altLang="zh-TW" sz="2400" dirty="0">
                <a:solidFill>
                  <a:srgbClr val="000000"/>
                </a:solidFill>
                <a:latin typeface="Adobe Gothic Std B" pitchFamily="34" charset="-128"/>
                <a:ea typeface="Adobe Gothic Std B" pitchFamily="34" charset="-128"/>
              </a:rPr>
              <a:t> as you are simply following the links from one block to the next</a:t>
            </a:r>
            <a:r>
              <a:rPr lang="en-US" altLang="zh-TW" sz="2400" dirty="0" smtClean="0">
                <a:solidFill>
                  <a:srgbClr val="000000"/>
                </a:solidFill>
                <a:latin typeface="Adobe Gothic Std B" pitchFamily="34" charset="-128"/>
                <a:ea typeface="Adobe Gothic Std B" pitchFamily="34" charset="-128"/>
              </a:rPr>
              <a:t>.</a:t>
            </a:r>
            <a:endParaRPr lang="en-US" altLang="zh-TW" sz="2400" dirty="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3A949424-FEA2-497A-9035-1C7AD86B1CD9}"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12.10</a:t>
            </a:r>
            <a:endParaRPr lang="en-US" altLang="zh-TW" sz="4000" b="1" kern="0" dirty="0">
              <a:solidFill>
                <a:srgbClr val="7030A0"/>
              </a:solidFill>
            </a:endParaRPr>
          </a:p>
        </p:txBody>
      </p:sp>
    </p:spTree>
    <p:extLst>
      <p:ext uri="{BB962C8B-B14F-4D97-AF65-F5344CB8AC3E}">
        <p14:creationId xmlns:p14="http://schemas.microsoft.com/office/powerpoint/2010/main" val="120098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957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95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15</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buFont typeface="Wingdings" panose="05000000000000000000" pitchFamily="2" charset="2"/>
              <a:buChar char="ü"/>
            </a:pPr>
            <a:r>
              <a:rPr lang="en-US" altLang="zh-TW" sz="2400" dirty="0" smtClean="0">
                <a:solidFill>
                  <a:srgbClr val="0000FF"/>
                </a:solidFill>
                <a:latin typeface="Adobe Gothic Std B" pitchFamily="34" charset="-128"/>
                <a:ea typeface="Adobe Gothic Std B" pitchFamily="34" charset="-128"/>
              </a:rPr>
              <a:t>Linked </a:t>
            </a:r>
            <a:r>
              <a:rPr lang="en-US" altLang="zh-TW" sz="2400" dirty="0">
                <a:solidFill>
                  <a:srgbClr val="0000FF"/>
                </a:solidFill>
                <a:latin typeface="Adobe Gothic Std B" pitchFamily="34" charset="-128"/>
                <a:ea typeface="Adobe Gothic Std B" pitchFamily="34" charset="-128"/>
              </a:rPr>
              <a:t>Random </a:t>
            </a:r>
            <a:r>
              <a:rPr lang="en-US" altLang="zh-TW" sz="2400" dirty="0">
                <a:solidFill>
                  <a:srgbClr val="000000"/>
                </a:solidFill>
                <a:latin typeface="Adobe Gothic Std B" pitchFamily="34" charset="-128"/>
                <a:ea typeface="Adobe Gothic Std B" pitchFamily="34" charset="-128"/>
              </a:rPr>
              <a:t>- </a:t>
            </a:r>
            <a:r>
              <a:rPr lang="en-US" altLang="zh-TW" sz="2400" dirty="0">
                <a:solidFill>
                  <a:srgbClr val="00B0F0"/>
                </a:solidFill>
                <a:latin typeface="Adobe Gothic Std B" pitchFamily="34" charset="-128"/>
                <a:ea typeface="Adobe Gothic Std B" pitchFamily="34" charset="-128"/>
              </a:rPr>
              <a:t>Poor</a:t>
            </a:r>
            <a:r>
              <a:rPr lang="en-US" altLang="zh-TW" sz="2400" dirty="0">
                <a:solidFill>
                  <a:srgbClr val="000000"/>
                </a:solidFill>
                <a:latin typeface="Adobe Gothic Std B" pitchFamily="34" charset="-128"/>
                <a:ea typeface="Adobe Gothic Std B" pitchFamily="34" charset="-128"/>
              </a:rPr>
              <a:t> as it may require following the links to several disk blocks until you arrive at the intended seek point of the file.</a:t>
            </a:r>
          </a:p>
          <a:p>
            <a:pPr eaLnBrk="1" hangingPunct="1">
              <a:spcBef>
                <a:spcPct val="60000"/>
              </a:spcBef>
              <a:buFont typeface="Wingdings" panose="05000000000000000000" pitchFamily="2" charset="2"/>
              <a:buChar char="ü"/>
            </a:pPr>
            <a:r>
              <a:rPr lang="en-US" altLang="zh-TW" sz="2400" dirty="0" smtClean="0">
                <a:solidFill>
                  <a:srgbClr val="009900"/>
                </a:solidFill>
                <a:latin typeface="Adobe Gothic Std B" pitchFamily="34" charset="-128"/>
                <a:ea typeface="Adobe Gothic Std B" pitchFamily="34" charset="-128"/>
              </a:rPr>
              <a:t>Indexed </a:t>
            </a:r>
            <a:r>
              <a:rPr lang="en-US" altLang="zh-TW" sz="2400" dirty="0">
                <a:solidFill>
                  <a:srgbClr val="009900"/>
                </a:solidFill>
                <a:latin typeface="Adobe Gothic Std B" pitchFamily="34" charset="-128"/>
                <a:ea typeface="Adobe Gothic Std B" pitchFamily="34" charset="-128"/>
              </a:rPr>
              <a:t>Sequential </a:t>
            </a:r>
            <a:r>
              <a:rPr lang="en-US" altLang="zh-TW" sz="2400" dirty="0">
                <a:solidFill>
                  <a:srgbClr val="000000"/>
                </a:solidFill>
                <a:latin typeface="Adobe Gothic Std B" pitchFamily="34" charset="-128"/>
                <a:ea typeface="Adobe Gothic Std B" pitchFamily="34" charset="-128"/>
              </a:rPr>
              <a:t>- Works well as sequential access simply involves sequentially accessing each index.</a:t>
            </a:r>
          </a:p>
          <a:p>
            <a:pPr eaLnBrk="1" hangingPunct="1">
              <a:spcBef>
                <a:spcPct val="60000"/>
              </a:spcBef>
              <a:buFont typeface="Wingdings" panose="05000000000000000000" pitchFamily="2" charset="2"/>
              <a:buChar char="ü"/>
            </a:pPr>
            <a:r>
              <a:rPr lang="en-US" altLang="zh-TW" sz="2400" dirty="0" smtClean="0">
                <a:solidFill>
                  <a:srgbClr val="009900"/>
                </a:solidFill>
                <a:latin typeface="Adobe Gothic Std B" pitchFamily="34" charset="-128"/>
                <a:ea typeface="Adobe Gothic Std B" pitchFamily="34" charset="-128"/>
              </a:rPr>
              <a:t>Indexed </a:t>
            </a:r>
            <a:r>
              <a:rPr lang="en-US" altLang="zh-TW" sz="2400" dirty="0">
                <a:solidFill>
                  <a:srgbClr val="009900"/>
                </a:solidFill>
                <a:latin typeface="Adobe Gothic Std B" pitchFamily="34" charset="-128"/>
                <a:ea typeface="Adobe Gothic Std B" pitchFamily="34" charset="-128"/>
              </a:rPr>
              <a:t>Random </a:t>
            </a:r>
            <a:r>
              <a:rPr lang="en-US" altLang="zh-TW" sz="2400" dirty="0">
                <a:solidFill>
                  <a:srgbClr val="000000"/>
                </a:solidFill>
                <a:latin typeface="Adobe Gothic Std B" pitchFamily="34" charset="-128"/>
                <a:ea typeface="Adobe Gothic Std B" pitchFamily="34" charset="-128"/>
              </a:rPr>
              <a:t>- Works well as it is easy to determine the index associated with the disk block containing the position you wish to seek </a:t>
            </a:r>
            <a:r>
              <a:rPr lang="en-US" altLang="zh-TW" sz="2400" dirty="0" smtClean="0">
                <a:solidFill>
                  <a:srgbClr val="000000"/>
                </a:solidFill>
                <a:latin typeface="Adobe Gothic Std B" pitchFamily="34" charset="-128"/>
                <a:ea typeface="Adobe Gothic Std B" pitchFamily="34" charset="-128"/>
              </a:rPr>
              <a:t>to.</a:t>
            </a:r>
            <a:endParaRPr lang="en-US" altLang="zh-TW" sz="2400" dirty="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46940A73-FEA2-4EC6-ACC1-2DDCBA34D8D8}"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12.10</a:t>
            </a:r>
            <a:endParaRPr lang="en-US" altLang="zh-TW" sz="4000" b="1" kern="0" dirty="0">
              <a:solidFill>
                <a:srgbClr val="7030A0"/>
              </a:solidFill>
            </a:endParaRPr>
          </a:p>
        </p:txBody>
      </p:sp>
    </p:spTree>
    <p:extLst>
      <p:ext uri="{BB962C8B-B14F-4D97-AF65-F5344CB8AC3E}">
        <p14:creationId xmlns:p14="http://schemas.microsoft.com/office/powerpoint/2010/main" val="3248460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16</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Consider a file system that uses </a:t>
            </a:r>
            <a:r>
              <a:rPr lang="en-US" altLang="zh-TW" sz="2400" dirty="0" err="1">
                <a:solidFill>
                  <a:srgbClr val="000000"/>
                </a:solidFill>
                <a:latin typeface="Adobe Gothic Std B" pitchFamily="34" charset="-128"/>
                <a:ea typeface="Adobe Gothic Std B" pitchFamily="34" charset="-128"/>
              </a:rPr>
              <a:t>inodes</a:t>
            </a:r>
            <a:r>
              <a:rPr lang="en-US" altLang="zh-TW" sz="2400" dirty="0">
                <a:solidFill>
                  <a:srgbClr val="000000"/>
                </a:solidFill>
                <a:latin typeface="Adobe Gothic Std B" pitchFamily="34" charset="-128"/>
                <a:ea typeface="Adobe Gothic Std B" pitchFamily="34" charset="-128"/>
              </a:rPr>
              <a:t> to represent files. </a:t>
            </a:r>
            <a:r>
              <a:rPr lang="en-US" altLang="zh-TW" sz="2400" dirty="0">
                <a:solidFill>
                  <a:srgbClr val="0000FF"/>
                </a:solidFill>
                <a:latin typeface="Adobe Gothic Std B" pitchFamily="34" charset="-128"/>
                <a:ea typeface="Adobe Gothic Std B" pitchFamily="34" charset="-128"/>
              </a:rPr>
              <a:t>Disk blocks are 8-KB </a:t>
            </a:r>
            <a:r>
              <a:rPr lang="en-US" altLang="zh-TW" sz="2400" dirty="0">
                <a:solidFill>
                  <a:srgbClr val="000000"/>
                </a:solidFill>
                <a:latin typeface="Adobe Gothic Std B" pitchFamily="34" charset="-128"/>
                <a:ea typeface="Adobe Gothic Std B" pitchFamily="34" charset="-128"/>
              </a:rPr>
              <a:t>in size and </a:t>
            </a:r>
            <a:r>
              <a:rPr lang="en-US" altLang="zh-TW" sz="2400" dirty="0">
                <a:solidFill>
                  <a:srgbClr val="0000FF"/>
                </a:solidFill>
                <a:latin typeface="Adobe Gothic Std B" pitchFamily="34" charset="-128"/>
                <a:ea typeface="Adobe Gothic Std B" pitchFamily="34" charset="-128"/>
              </a:rPr>
              <a:t>a pointer </a:t>
            </a:r>
            <a:r>
              <a:rPr lang="en-US" altLang="zh-TW" sz="2400" dirty="0">
                <a:solidFill>
                  <a:srgbClr val="000000"/>
                </a:solidFill>
                <a:latin typeface="Adobe Gothic Std B" pitchFamily="34" charset="-128"/>
                <a:ea typeface="Adobe Gothic Std B" pitchFamily="34" charset="-128"/>
              </a:rPr>
              <a:t>to a disk block requires </a:t>
            </a:r>
            <a:r>
              <a:rPr lang="en-US" altLang="zh-TW" sz="2400" dirty="0">
                <a:solidFill>
                  <a:srgbClr val="0000FF"/>
                </a:solidFill>
                <a:latin typeface="Adobe Gothic Std B" pitchFamily="34" charset="-128"/>
                <a:ea typeface="Adobe Gothic Std B" pitchFamily="34" charset="-128"/>
              </a:rPr>
              <a:t>4 bytes</a:t>
            </a:r>
            <a:r>
              <a:rPr lang="en-US" altLang="zh-TW" sz="2400" dirty="0">
                <a:solidFill>
                  <a:srgbClr val="000000"/>
                </a:solidFill>
                <a:latin typeface="Adobe Gothic Std B" pitchFamily="34" charset="-128"/>
                <a:ea typeface="Adobe Gothic Std B" pitchFamily="34" charset="-128"/>
              </a:rPr>
              <a:t>. This file system has </a:t>
            </a:r>
            <a:r>
              <a:rPr lang="en-US" altLang="zh-TW" sz="2400" dirty="0">
                <a:solidFill>
                  <a:srgbClr val="0000FF"/>
                </a:solidFill>
                <a:latin typeface="Adobe Gothic Std B" pitchFamily="34" charset="-128"/>
                <a:ea typeface="Adobe Gothic Std B" pitchFamily="34" charset="-128"/>
              </a:rPr>
              <a:t>12 direct disk blocks</a:t>
            </a:r>
            <a:r>
              <a:rPr lang="en-US" altLang="zh-TW" sz="2400" dirty="0">
                <a:solidFill>
                  <a:srgbClr val="000000"/>
                </a:solidFill>
                <a:latin typeface="Adobe Gothic Std B" pitchFamily="34" charset="-128"/>
                <a:ea typeface="Adobe Gothic Std B" pitchFamily="34" charset="-128"/>
              </a:rPr>
              <a:t>, plus</a:t>
            </a:r>
            <a:r>
              <a:rPr lang="en-US" altLang="zh-TW" sz="2400" dirty="0">
                <a:solidFill>
                  <a:srgbClr val="0000FF"/>
                </a:solidFill>
                <a:latin typeface="Adobe Gothic Std B" pitchFamily="34" charset="-128"/>
                <a:ea typeface="Adobe Gothic Std B" pitchFamily="34" charset="-128"/>
              </a:rPr>
              <a:t> single, double, and triple indirect disk blocks</a:t>
            </a:r>
            <a:r>
              <a:rPr lang="en-US" altLang="zh-TW" sz="2400" dirty="0">
                <a:solidFill>
                  <a:srgbClr val="000000"/>
                </a:solidFill>
                <a:latin typeface="Adobe Gothic Std B" pitchFamily="34" charset="-128"/>
                <a:ea typeface="Adobe Gothic Std B" pitchFamily="34" charset="-128"/>
              </a:rPr>
              <a:t>. What is the maximum size of a file that can be stored in this file system</a:t>
            </a:r>
            <a:r>
              <a:rPr lang="en-US" altLang="zh-TW" sz="2400" dirty="0" smtClean="0">
                <a:solidFill>
                  <a:srgbClr val="000000"/>
                </a:solidFill>
                <a:latin typeface="Adobe Gothic Std B" pitchFamily="34" charset="-128"/>
                <a:ea typeface="Adobe Gothic Std B" pitchFamily="34" charset="-128"/>
              </a:rPr>
              <a:t>?</a:t>
            </a:r>
          </a:p>
          <a:p>
            <a:pPr eaLnBrk="1" hangingPunct="1">
              <a:spcBef>
                <a:spcPts val="1200"/>
              </a:spcBef>
              <a:buFont typeface="Wingdings" panose="05000000000000000000" pitchFamily="2" charset="2"/>
              <a:buChar char="ü"/>
            </a:pPr>
            <a:r>
              <a:rPr lang="en-US" altLang="zh-TW" sz="2400" dirty="0">
                <a:solidFill>
                  <a:srgbClr val="000000"/>
                </a:solidFill>
                <a:latin typeface="Adobe Gothic Std B" pitchFamily="34" charset="-128"/>
                <a:ea typeface="Adobe Gothic Std B" pitchFamily="34" charset="-128"/>
              </a:rPr>
              <a:t>(12 * 8 </a:t>
            </a:r>
            <a:r>
              <a:rPr lang="en-US" altLang="zh-TW" sz="2400" dirty="0" smtClean="0">
                <a:solidFill>
                  <a:srgbClr val="000000"/>
                </a:solidFill>
                <a:latin typeface="Adobe Gothic Std B" pitchFamily="34" charset="-128"/>
                <a:ea typeface="Adobe Gothic Std B" pitchFamily="34" charset="-128"/>
              </a:rPr>
              <a:t>KB) </a:t>
            </a:r>
            <a:r>
              <a:rPr lang="en-US" altLang="zh-TW" sz="2400" dirty="0">
                <a:solidFill>
                  <a:srgbClr val="000000"/>
                </a:solidFill>
                <a:latin typeface="Adobe Gothic Std B" pitchFamily="34" charset="-128"/>
                <a:ea typeface="Adobe Gothic Std B" pitchFamily="34" charset="-128"/>
              </a:rPr>
              <a:t>+ (2048 * 8 </a:t>
            </a:r>
            <a:r>
              <a:rPr lang="en-US" altLang="zh-TW" sz="2400" dirty="0" smtClean="0">
                <a:solidFill>
                  <a:srgbClr val="000000"/>
                </a:solidFill>
                <a:latin typeface="Adobe Gothic Std B" pitchFamily="34" charset="-128"/>
                <a:ea typeface="Adobe Gothic Std B" pitchFamily="34" charset="-128"/>
              </a:rPr>
              <a:t>KB</a:t>
            </a:r>
            <a:r>
              <a:rPr lang="en-US" altLang="zh-TW" sz="2400" dirty="0">
                <a:solidFill>
                  <a:srgbClr val="000000"/>
                </a:solidFill>
                <a:latin typeface="Adobe Gothic Std B" pitchFamily="34" charset="-128"/>
                <a:ea typeface="Adobe Gothic Std B" pitchFamily="34" charset="-128"/>
              </a:rPr>
              <a:t>) + (2048 * 2048 * 8 </a:t>
            </a:r>
            <a:r>
              <a:rPr lang="en-US" altLang="zh-TW" sz="2400" dirty="0" smtClean="0">
                <a:solidFill>
                  <a:srgbClr val="000000"/>
                </a:solidFill>
                <a:latin typeface="Adobe Gothic Std B" pitchFamily="34" charset="-128"/>
                <a:ea typeface="Adobe Gothic Std B" pitchFamily="34" charset="-128"/>
              </a:rPr>
              <a:t>KB</a:t>
            </a:r>
            <a:r>
              <a:rPr lang="en-US" altLang="zh-TW" sz="2400" dirty="0">
                <a:solidFill>
                  <a:srgbClr val="000000"/>
                </a:solidFill>
                <a:latin typeface="Adobe Gothic Std B" pitchFamily="34" charset="-128"/>
                <a:ea typeface="Adobe Gothic Std B" pitchFamily="34" charset="-128"/>
              </a:rPr>
              <a:t>/) + (2048 * 2048 * 2048 * 8 </a:t>
            </a:r>
            <a:r>
              <a:rPr lang="en-US" altLang="zh-TW" sz="2400" dirty="0" smtClean="0">
                <a:solidFill>
                  <a:srgbClr val="000000"/>
                </a:solidFill>
                <a:latin typeface="Adobe Gothic Std B" pitchFamily="34" charset="-128"/>
                <a:ea typeface="Adobe Gothic Std B" pitchFamily="34" charset="-128"/>
              </a:rPr>
              <a:t>KB</a:t>
            </a:r>
            <a:r>
              <a:rPr lang="en-US" altLang="zh-TW" sz="2400" dirty="0">
                <a:solidFill>
                  <a:srgbClr val="000000"/>
                </a:solidFill>
                <a:latin typeface="Adobe Gothic Std B" pitchFamily="34" charset="-128"/>
                <a:ea typeface="Adobe Gothic Std B" pitchFamily="34" charset="-128"/>
              </a:rPr>
              <a:t>) = 64 terabytes</a:t>
            </a: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72388244-E3F4-4D0E-B1F7-30F328589143}"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7030A0"/>
                </a:solidFill>
              </a:rPr>
              <a:t>EX 12.16</a:t>
            </a:r>
            <a:endParaRPr lang="en-US" altLang="zh-TW" sz="4000" b="1" kern="0" dirty="0">
              <a:solidFill>
                <a:srgbClr val="7030A0"/>
              </a:solidFill>
            </a:endParaRPr>
          </a:p>
        </p:txBody>
      </p:sp>
    </p:spTree>
    <p:extLst>
      <p:ext uri="{BB962C8B-B14F-4D97-AF65-F5344CB8AC3E}">
        <p14:creationId xmlns:p14="http://schemas.microsoft.com/office/powerpoint/2010/main" val="2735426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17</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pPr>
            <a:r>
              <a:rPr lang="en-US" altLang="zh-TW" sz="2400" dirty="0">
                <a:solidFill>
                  <a:srgbClr val="000000"/>
                </a:solidFill>
                <a:latin typeface="Adobe Gothic Std B" pitchFamily="34" charset="-128"/>
                <a:ea typeface="Adobe Gothic Std B" pitchFamily="34" charset="-128"/>
              </a:rPr>
              <a:t> Consider a system where free space is kept in a free-space list.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Wingdings" panose="05000000000000000000" pitchFamily="2" charset="2"/>
              <a:buChar char="ü"/>
            </a:pPr>
            <a:r>
              <a:rPr lang="en-US" altLang="zh-TW" sz="2400" dirty="0">
                <a:solidFill>
                  <a:srgbClr val="000000"/>
                </a:solidFill>
                <a:latin typeface="Adobe Gothic Std B" pitchFamily="34" charset="-128"/>
                <a:ea typeface="Adobe Gothic Std B" pitchFamily="34" charset="-128"/>
              </a:rPr>
              <a:t>a. Suppose that the pointer to the free-space list is lost. Can the system reconstruct the free-space list? Explain your answer.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Arial" panose="020B0604020202020204" pitchFamily="34" charset="0"/>
              <a:buChar char="•"/>
            </a:pPr>
            <a:r>
              <a:rPr lang="en-US" altLang="zh-TW" sz="2400" dirty="0" smtClean="0">
                <a:solidFill>
                  <a:srgbClr val="000000"/>
                </a:solidFill>
                <a:latin typeface="Adobe Gothic Std B" pitchFamily="34" charset="-128"/>
                <a:ea typeface="Adobe Gothic Std B" pitchFamily="34" charset="-128"/>
              </a:rPr>
              <a:t>In </a:t>
            </a:r>
            <a:r>
              <a:rPr lang="en-US" altLang="zh-TW" sz="2400" dirty="0">
                <a:solidFill>
                  <a:srgbClr val="000000"/>
                </a:solidFill>
                <a:latin typeface="Adobe Gothic Std B" pitchFamily="34" charset="-128"/>
                <a:ea typeface="Adobe Gothic Std B" pitchFamily="34" charset="-128"/>
              </a:rPr>
              <a:t>order to reconstruct the free list, it would be necessary to perform “garbage collection.” This would entail </a:t>
            </a:r>
            <a:r>
              <a:rPr lang="en-US" altLang="zh-TW" sz="2400" dirty="0">
                <a:solidFill>
                  <a:srgbClr val="0000FF"/>
                </a:solidFill>
                <a:latin typeface="Adobe Gothic Std B" pitchFamily="34" charset="-128"/>
                <a:ea typeface="Adobe Gothic Std B" pitchFamily="34" charset="-128"/>
              </a:rPr>
              <a:t>searching the entire directory structure to determine which pages are already allocated to jobs. </a:t>
            </a:r>
            <a:r>
              <a:rPr lang="en-US" altLang="zh-TW" sz="2400" dirty="0">
                <a:solidFill>
                  <a:srgbClr val="000000"/>
                </a:solidFill>
                <a:latin typeface="Adobe Gothic Std B" pitchFamily="34" charset="-128"/>
                <a:ea typeface="Adobe Gothic Std B" pitchFamily="34" charset="-128"/>
              </a:rPr>
              <a:t>Those remaining unallocated pages could be relinked as the free-space list. </a:t>
            </a:r>
            <a:endParaRPr lang="en-US" altLang="zh-TW" sz="2400" dirty="0" smtClean="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C1ED008B-6825-419B-A8E9-810FECDB3A01}"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FF0000"/>
                </a:solidFill>
              </a:rPr>
              <a:t>EX 12.12</a:t>
            </a:r>
            <a:endParaRPr lang="en-US" altLang="zh-TW" sz="4000" b="1" kern="0" dirty="0">
              <a:solidFill>
                <a:srgbClr val="FF0000"/>
              </a:solidFill>
            </a:endParaRPr>
          </a:p>
        </p:txBody>
      </p:sp>
    </p:spTree>
    <p:extLst>
      <p:ext uri="{BB962C8B-B14F-4D97-AF65-F5344CB8AC3E}">
        <p14:creationId xmlns:p14="http://schemas.microsoft.com/office/powerpoint/2010/main" val="1226973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投影片編號版面配置區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AB53A650-D13B-4EF8-9F0D-B22CF1941A38}" type="slidenum">
              <a:rPr kumimoji="0" lang="en-US" altLang="zh-TW" sz="1400" smtClean="0">
                <a:solidFill>
                  <a:srgbClr val="40458C"/>
                </a:solidFill>
              </a:rPr>
              <a:pPr eaLnBrk="1" hangingPunct="1">
                <a:spcBef>
                  <a:spcPct val="0"/>
                </a:spcBef>
                <a:buClrTx/>
                <a:buSzTx/>
                <a:buFontTx/>
                <a:buNone/>
              </a:pPr>
              <a:t>18</a:t>
            </a:fld>
            <a:endParaRPr kumimoji="0" lang="en-US" altLang="zh-TW" sz="1400" smtClean="0">
              <a:solidFill>
                <a:srgbClr val="40458C"/>
              </a:solidFill>
            </a:endParaRPr>
          </a:p>
        </p:txBody>
      </p:sp>
      <p:sp>
        <p:nvSpPr>
          <p:cNvPr id="109572" name="Content Placeholder 2" descr="Rectangle: Click to edit Master text styles&#10;Second level&#10;Third level&#10;Fourth level&#10;Fifth level"/>
          <p:cNvSpPr>
            <a:spLocks noGrp="1"/>
          </p:cNvSpPr>
          <p:nvPr>
            <p:ph idx="4294967295"/>
          </p:nvPr>
        </p:nvSpPr>
        <p:spPr>
          <a:xfrm>
            <a:off x="103188" y="854075"/>
            <a:ext cx="8937625" cy="5486400"/>
          </a:xfrm>
        </p:spPr>
        <p:txBody>
          <a:bodyPr/>
          <a:lstStyle/>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b</a:t>
            </a:r>
            <a:r>
              <a:rPr lang="en-US" altLang="zh-TW" sz="2400" dirty="0">
                <a:solidFill>
                  <a:srgbClr val="000000"/>
                </a:solidFill>
                <a:latin typeface="Adobe Gothic Std B" pitchFamily="34" charset="-128"/>
                <a:ea typeface="Adobe Gothic Std B" pitchFamily="34" charset="-128"/>
              </a:rPr>
              <a:t>. Consider a file system similar to the one used by UNIX with indexed allocation. How many disk I/O operations might be required to read the contents of a small local file at /a/b/c? Assume that none of the disk blocks is currently being cached.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Arial" panose="020B0604020202020204" pitchFamily="34" charset="0"/>
              <a:buChar char="•"/>
            </a:pPr>
            <a:r>
              <a:rPr lang="en-US" altLang="zh-TW" sz="2400" dirty="0">
                <a:solidFill>
                  <a:srgbClr val="0000FF"/>
                </a:solidFill>
                <a:latin typeface="Adobe Gothic Std B" pitchFamily="34" charset="-128"/>
                <a:ea typeface="Adobe Gothic Std B" pitchFamily="34" charset="-128"/>
              </a:rPr>
              <a:t>Reading the contents of the small local file /a/b/c involves </a:t>
            </a:r>
            <a:r>
              <a:rPr lang="en-US" altLang="zh-TW" sz="2400" dirty="0">
                <a:solidFill>
                  <a:srgbClr val="FF0000"/>
                </a:solidFill>
                <a:latin typeface="Adobe Gothic Std B" pitchFamily="34" charset="-128"/>
                <a:ea typeface="Adobe Gothic Std B" pitchFamily="34" charset="-128"/>
              </a:rPr>
              <a:t>4 separate disk operations</a:t>
            </a:r>
            <a:r>
              <a:rPr lang="en-US" altLang="zh-TW" sz="2400" dirty="0">
                <a:solidFill>
                  <a:srgbClr val="0000FF"/>
                </a:solidFill>
                <a:latin typeface="Adobe Gothic Std B" pitchFamily="34" charset="-128"/>
                <a:ea typeface="Adobe Gothic Std B" pitchFamily="34" charset="-128"/>
              </a:rPr>
              <a:t>: (1) Reading in the disk block containing the root directory /, (2) &amp; (3) reading in the disk block containing the directories b and c, and reading in the disk block containing the file c. </a:t>
            </a:r>
          </a:p>
          <a:p>
            <a:pPr eaLnBrk="1" hangingPunct="1">
              <a:spcBef>
                <a:spcPct val="60000"/>
              </a:spcBef>
              <a:buFont typeface="Wingdings" panose="05000000000000000000" pitchFamily="2" charset="2"/>
              <a:buChar char="ü"/>
            </a:pPr>
            <a:r>
              <a:rPr lang="en-US" altLang="zh-TW" sz="2400" dirty="0" smtClean="0">
                <a:solidFill>
                  <a:srgbClr val="000000"/>
                </a:solidFill>
                <a:latin typeface="Adobe Gothic Std B" pitchFamily="34" charset="-128"/>
                <a:ea typeface="Adobe Gothic Std B" pitchFamily="34" charset="-128"/>
              </a:rPr>
              <a:t>c</a:t>
            </a:r>
            <a:r>
              <a:rPr lang="en-US" altLang="zh-TW" sz="2400" dirty="0">
                <a:solidFill>
                  <a:srgbClr val="000000"/>
                </a:solidFill>
                <a:latin typeface="Adobe Gothic Std B" pitchFamily="34" charset="-128"/>
                <a:ea typeface="Adobe Gothic Std B" pitchFamily="34" charset="-128"/>
              </a:rPr>
              <a:t>. Suggest a scheme to ensure that the pointer is never lost as a result of memory failure. </a:t>
            </a: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buFont typeface="Arial" panose="020B0604020202020204" pitchFamily="34" charset="0"/>
              <a:buChar char="•"/>
            </a:pPr>
            <a:r>
              <a:rPr lang="en-US" altLang="zh-TW" sz="2400" dirty="0">
                <a:solidFill>
                  <a:srgbClr val="0000FF"/>
                </a:solidFill>
                <a:latin typeface="Adobe Gothic Std B" pitchFamily="34" charset="-128"/>
                <a:ea typeface="Adobe Gothic Std B" pitchFamily="34" charset="-128"/>
              </a:rPr>
              <a:t>The free-space list pointer could be stored on the disk, perhaps in several places. </a:t>
            </a:r>
            <a:endParaRPr lang="en-US" altLang="zh-TW" sz="2400" dirty="0" smtClean="0">
              <a:solidFill>
                <a:srgbClr val="0000FF"/>
              </a:solidFill>
              <a:latin typeface="Adobe Gothic Std B" pitchFamily="34" charset="-128"/>
              <a:ea typeface="Adobe Gothic Std B" pitchFamily="34" charset="-128"/>
            </a:endParaRPr>
          </a:p>
          <a:p>
            <a:pPr eaLnBrk="1" hangingPunct="1">
              <a:spcBef>
                <a:spcPct val="60000"/>
              </a:spcBef>
            </a:pPr>
            <a:endParaRPr lang="en-US" altLang="zh-TW" sz="2400" dirty="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smtClean="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a:solidFill>
                <a:srgbClr val="000000"/>
              </a:solidFill>
              <a:latin typeface="Adobe Gothic Std B" pitchFamily="34" charset="-128"/>
              <a:ea typeface="Adobe Gothic Std B" pitchFamily="34" charset="-128"/>
            </a:endParaRPr>
          </a:p>
          <a:p>
            <a:pPr eaLnBrk="1" hangingPunct="1">
              <a:spcBef>
                <a:spcPct val="60000"/>
              </a:spcBef>
            </a:pPr>
            <a:endParaRPr lang="en-US" altLang="zh-TW" sz="2400" dirty="0" smtClean="0">
              <a:solidFill>
                <a:srgbClr val="000000"/>
              </a:solidFill>
              <a:latin typeface="Adobe Gothic Std B" pitchFamily="34" charset="-128"/>
              <a:ea typeface="Adobe Gothic Std B" pitchFamily="34" charset="-128"/>
            </a:endParaRPr>
          </a:p>
        </p:txBody>
      </p:sp>
      <p:sp>
        <p:nvSpPr>
          <p:cNvPr id="121860" name="日期版面配置區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fld id="{2BD53D22-5DB7-4B2E-84F5-CC36FB22EA03}" type="datetime1">
              <a:rPr kumimoji="0" lang="zh-TW" altLang="en-US" sz="1400" smtClean="0">
                <a:solidFill>
                  <a:srgbClr val="40458C"/>
                </a:solidFill>
              </a:rPr>
              <a:t>2018/5/21</a:t>
            </a:fld>
            <a:endParaRPr kumimoji="0" lang="en-US" altLang="zh-TW" sz="1400" smtClean="0">
              <a:solidFill>
                <a:srgbClr val="40458C"/>
              </a:solidFill>
            </a:endParaRPr>
          </a:p>
        </p:txBody>
      </p:sp>
      <p:sp>
        <p:nvSpPr>
          <p:cNvPr id="121861" name="頁尾版面配置區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hlink"/>
              </a:buClr>
              <a:buSzPct val="110000"/>
              <a:buFont typeface="Wingdings" pitchFamily="2" charset="2"/>
              <a:buBlip>
                <a:blip r:embed="rId3"/>
              </a:buBlip>
              <a:defRPr kumimoji="1" sz="3200">
                <a:solidFill>
                  <a:schemeClr val="tx1"/>
                </a:solidFill>
                <a:latin typeface="Tahoma" pitchFamily="34" charset="0"/>
                <a:ea typeface="新細明體" pitchFamily="18" charset="-120"/>
              </a:defRPr>
            </a:lvl1pPr>
            <a:lvl2pPr marL="742950" indent="-285750" eaLnBrk="0" hangingPunct="0">
              <a:spcBef>
                <a:spcPct val="20000"/>
              </a:spcBef>
              <a:buClr>
                <a:schemeClr val="tx1"/>
              </a:buClr>
              <a:buSzPct val="60000"/>
              <a:buFont typeface="Wingdings" pitchFamily="2" charset="2"/>
              <a:buChar char="n"/>
              <a:defRPr kumimoji="1" sz="2800">
                <a:solidFill>
                  <a:schemeClr val="tx1"/>
                </a:solidFill>
                <a:latin typeface="Tahoma" pitchFamily="34" charset="0"/>
                <a:ea typeface="新細明體" pitchFamily="18" charset="-120"/>
              </a:defRPr>
            </a:lvl2pPr>
            <a:lvl3pPr marL="1143000" indent="-228600" eaLnBrk="0" hangingPunct="0">
              <a:spcBef>
                <a:spcPct val="20000"/>
              </a:spcBef>
              <a:buClr>
                <a:schemeClr val="hlink"/>
              </a:buClr>
              <a:buSzPct val="95000"/>
              <a:buFont typeface="Wingdings" pitchFamily="2" charset="2"/>
              <a:buChar char="w"/>
              <a:defRPr kumimoji="1" sz="2400">
                <a:solidFill>
                  <a:schemeClr val="tx1"/>
                </a:solidFill>
                <a:latin typeface="Tahoma" pitchFamily="34" charset="0"/>
                <a:ea typeface="新細明體" pitchFamily="18" charset="-120"/>
              </a:defRPr>
            </a:lvl3pPr>
            <a:lvl4pPr marL="1600200" indent="-228600" eaLnBrk="0" hangingPunct="0">
              <a:spcBef>
                <a:spcPct val="20000"/>
              </a:spcBef>
              <a:buClr>
                <a:schemeClr val="tx1"/>
              </a:buClr>
              <a:buSzPct val="65000"/>
              <a:buFont typeface="Wingdings" pitchFamily="2" charset="2"/>
              <a:buChar char="n"/>
              <a:defRPr kumimoji="1" sz="2000">
                <a:solidFill>
                  <a:schemeClr val="tx1"/>
                </a:solidFill>
                <a:latin typeface="Tahoma" pitchFamily="34" charset="0"/>
                <a:ea typeface="新細明體" pitchFamily="18" charset="-120"/>
              </a:defRPr>
            </a:lvl4pPr>
            <a:lvl5pPr marL="2057400" indent="-228600" eaLnBrk="0" hangingPunct="0">
              <a:spcBef>
                <a:spcPct val="20000"/>
              </a:spcBef>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5pPr>
            <a:lvl6pPr marL="25146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6pPr>
            <a:lvl7pPr marL="29718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7pPr>
            <a:lvl8pPr marL="34290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8pPr>
            <a:lvl9pPr marL="3886200" indent="-22860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Tahoma" pitchFamily="34" charset="0"/>
                <a:ea typeface="新細明體" pitchFamily="18" charset="-120"/>
              </a:defRPr>
            </a:lvl9pPr>
          </a:lstStyle>
          <a:p>
            <a:pPr eaLnBrk="1" hangingPunct="1">
              <a:spcBef>
                <a:spcPct val="0"/>
              </a:spcBef>
              <a:buClrTx/>
              <a:buSzTx/>
              <a:buFontTx/>
              <a:buNone/>
            </a:pPr>
            <a:r>
              <a:rPr kumimoji="0" lang="pt-BR" altLang="zh-TW" sz="1400" smtClean="0">
                <a:solidFill>
                  <a:srgbClr val="40458C"/>
                </a:solidFill>
              </a:rPr>
              <a:t>OS Selected Exercises 10-12 2018</a:t>
            </a:r>
            <a:endParaRPr kumimoji="0" lang="en-US" altLang="zh-TW" sz="1400" smtClean="0">
              <a:solidFill>
                <a:srgbClr val="40458C"/>
              </a:solidFill>
            </a:endParaRPr>
          </a:p>
        </p:txBody>
      </p:sp>
      <p:sp>
        <p:nvSpPr>
          <p:cNvPr id="7" name="Title 1"/>
          <p:cNvSpPr txBox="1">
            <a:spLocks/>
          </p:cNvSpPr>
          <p:nvPr/>
        </p:nvSpPr>
        <p:spPr bwMode="auto">
          <a:xfrm>
            <a:off x="322263" y="304800"/>
            <a:ext cx="8516937"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2pPr>
            <a:lvl3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3pPr>
            <a:lvl4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4pPr>
            <a:lvl5pPr algn="l" rtl="0" eaLnBrk="0" fontAlgn="base" hangingPunct="0">
              <a:spcBef>
                <a:spcPct val="0"/>
              </a:spcBef>
              <a:spcAft>
                <a:spcPct val="0"/>
              </a:spcAft>
              <a:defRPr kumimoji="1" sz="4400">
                <a:solidFill>
                  <a:schemeClr val="tx2"/>
                </a:solidFill>
                <a:latin typeface="Tahoma" pitchFamily="34" charset="0"/>
                <a:ea typeface="新細明體" pitchFamily="18" charset="-120"/>
              </a:defRPr>
            </a:lvl5pPr>
            <a:lvl6pPr marL="457200" algn="l" rtl="0" fontAlgn="base">
              <a:spcBef>
                <a:spcPct val="0"/>
              </a:spcBef>
              <a:spcAft>
                <a:spcPct val="0"/>
              </a:spcAft>
              <a:defRPr kumimoji="1" sz="4400">
                <a:solidFill>
                  <a:schemeClr val="tx2"/>
                </a:solidFill>
                <a:latin typeface="Tahoma" pitchFamily="34" charset="0"/>
                <a:ea typeface="新細明體" pitchFamily="18" charset="-120"/>
              </a:defRPr>
            </a:lvl6pPr>
            <a:lvl7pPr marL="914400" algn="l" rtl="0" fontAlgn="base">
              <a:spcBef>
                <a:spcPct val="0"/>
              </a:spcBef>
              <a:spcAft>
                <a:spcPct val="0"/>
              </a:spcAft>
              <a:defRPr kumimoji="1" sz="4400">
                <a:solidFill>
                  <a:schemeClr val="tx2"/>
                </a:solidFill>
                <a:latin typeface="Tahoma" pitchFamily="34" charset="0"/>
                <a:ea typeface="新細明體" pitchFamily="18" charset="-120"/>
              </a:defRPr>
            </a:lvl7pPr>
            <a:lvl8pPr marL="1371600" algn="l" rtl="0" fontAlgn="base">
              <a:spcBef>
                <a:spcPct val="0"/>
              </a:spcBef>
              <a:spcAft>
                <a:spcPct val="0"/>
              </a:spcAft>
              <a:defRPr kumimoji="1" sz="4400">
                <a:solidFill>
                  <a:schemeClr val="tx2"/>
                </a:solidFill>
                <a:latin typeface="Tahoma" pitchFamily="34" charset="0"/>
                <a:ea typeface="新細明體" pitchFamily="18" charset="-120"/>
              </a:defRPr>
            </a:lvl8pPr>
            <a:lvl9pPr marL="1828800" algn="l" rtl="0" fontAlgn="base">
              <a:spcBef>
                <a:spcPct val="0"/>
              </a:spcBef>
              <a:spcAft>
                <a:spcPct val="0"/>
              </a:spcAft>
              <a:defRPr kumimoji="1" sz="4400">
                <a:solidFill>
                  <a:schemeClr val="tx2"/>
                </a:solidFill>
                <a:latin typeface="Tahoma" pitchFamily="34" charset="0"/>
                <a:ea typeface="新細明體" pitchFamily="18" charset="-120"/>
              </a:defRPr>
            </a:lvl9pPr>
          </a:lstStyle>
          <a:p>
            <a:pPr eaLnBrk="1" hangingPunct="1">
              <a:defRPr/>
            </a:pPr>
            <a:r>
              <a:rPr lang="en-US" altLang="zh-TW" sz="4000" b="1" kern="0" dirty="0" smtClean="0">
                <a:solidFill>
                  <a:srgbClr val="FF0000"/>
                </a:solidFill>
              </a:rPr>
              <a:t>EX 12.12</a:t>
            </a:r>
            <a:endParaRPr lang="en-US" altLang="zh-TW" sz="4000" b="1" kern="0" dirty="0">
              <a:solidFill>
                <a:srgbClr val="FF0000"/>
              </a:solidFill>
            </a:endParaRPr>
          </a:p>
        </p:txBody>
      </p:sp>
    </p:spTree>
    <p:extLst>
      <p:ext uri="{BB962C8B-B14F-4D97-AF65-F5344CB8AC3E}">
        <p14:creationId xmlns:p14="http://schemas.microsoft.com/office/powerpoint/2010/main" val="714518742"/>
      </p:ext>
    </p:extLst>
  </p:cSld>
  <p:clrMapOvr>
    <a:masterClrMapping/>
  </p:clrMapOvr>
  <p:timing>
    <p:tnLst>
      <p:par>
        <p:cTn id="1" dur="indefinite" restart="never" nodeType="tmRoot"/>
      </p:par>
    </p:tnLst>
  </p:timing>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新細明體"/>
        <a:cs typeface=""/>
      </a:majorFont>
      <a:minorFont>
        <a:latin typeface="Tahom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pitchFamily="18" charset="-12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新細明體" pitchFamily="18" charset="-12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8280</TotalTime>
  <Words>2003</Words>
  <Application>Microsoft Office PowerPoint</Application>
  <PresentationFormat>如螢幕大小 (4:3)</PresentationFormat>
  <Paragraphs>148</Paragraphs>
  <Slides>18</Slides>
  <Notes>18</Notes>
  <HiddenSlides>0</HiddenSlides>
  <MMClips>0</MMClips>
  <ScaleCrop>false</ScaleCrop>
  <HeadingPairs>
    <vt:vector size="6" baseType="variant">
      <vt:variant>
        <vt:lpstr>使用字型</vt:lpstr>
      </vt:variant>
      <vt:variant>
        <vt:i4>8</vt:i4>
      </vt:variant>
      <vt:variant>
        <vt:lpstr>佈景主題</vt:lpstr>
      </vt:variant>
      <vt:variant>
        <vt:i4>2</vt:i4>
      </vt:variant>
      <vt:variant>
        <vt:lpstr>投影片標題</vt:lpstr>
      </vt:variant>
      <vt:variant>
        <vt:i4>18</vt:i4>
      </vt:variant>
    </vt:vector>
  </HeadingPairs>
  <TitlesOfParts>
    <vt:vector size="28" baseType="lpstr">
      <vt:lpstr>Adobe Gothic Std B</vt:lpstr>
      <vt:lpstr>新細明體</vt:lpstr>
      <vt:lpstr>Arial</vt:lpstr>
      <vt:lpstr>Cambria Math</vt:lpstr>
      <vt:lpstr>Helvetica</vt:lpstr>
      <vt:lpstr>Tahoma</vt:lpstr>
      <vt:lpstr>Times New Roman</vt:lpstr>
      <vt:lpstr>Wingdings</vt:lpstr>
      <vt:lpstr>Blueprint</vt:lpstr>
      <vt:lpstr>自訂設計</vt:lpstr>
      <vt:lpstr>Chapters 10-12 Selected Exercises  </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Lucent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Process Synchronization</dc:title>
  <dc:creator>Jia-Shung WANG</dc:creator>
  <cp:lastModifiedBy>JS</cp:lastModifiedBy>
  <cp:revision>440</cp:revision>
  <cp:lastPrinted>2015-12-29T03:54:41Z</cp:lastPrinted>
  <dcterms:created xsi:type="dcterms:W3CDTF">1999-07-23T13:31:00Z</dcterms:created>
  <dcterms:modified xsi:type="dcterms:W3CDTF">2018-05-21T02:24:51Z</dcterms:modified>
</cp:coreProperties>
</file>