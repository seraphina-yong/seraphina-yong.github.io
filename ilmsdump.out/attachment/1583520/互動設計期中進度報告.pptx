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embeddedFontLst>
    <p:embeddedFont>
      <p:font typeface="Raleway"/>
      <p:regular r:id="rId9"/>
      <p:bold r:id="rId10"/>
      <p:italic r:id="rId11"/>
      <p:boldItalic r:id="rId12"/>
    </p:embeddedFont>
    <p:embeddedFont>
      <p:font typeface="La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aleway-italic.fntdata"/><Relationship Id="rId10" Type="http://schemas.openxmlformats.org/officeDocument/2006/relationships/font" Target="fonts/Raleway-bold.fntdata"/><Relationship Id="rId13" Type="http://schemas.openxmlformats.org/officeDocument/2006/relationships/font" Target="fonts/Lato-regular.fntdata"/><Relationship Id="rId12" Type="http://schemas.openxmlformats.org/officeDocument/2006/relationships/font" Target="fonts/Raleway-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aleway-regular.fntdata"/><Relationship Id="rId15" Type="http://schemas.openxmlformats.org/officeDocument/2006/relationships/font" Target="fonts/Lato-italic.fntdata"/><Relationship Id="rId14" Type="http://schemas.openxmlformats.org/officeDocument/2006/relationships/font" Target="fonts/Lato-bold.fntdata"/><Relationship Id="rId16"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l.acm.org/citation.cfm?id=1357335" TargetMode="External"/><Relationship Id="rId3" Type="http://schemas.openxmlformats.org/officeDocument/2006/relationships/hyperlink" Target="https://news.vanderbilt.edu/2017/03/29/app-will-help-students-self-monitor-and-improve-classroom-behavior/" TargetMode="External"/><Relationship Id="rId4" Type="http://schemas.openxmlformats.org/officeDocument/2006/relationships/hyperlink" Target="http://w1.dorise.info/JCSE/paper_detail.php?pid=108320070050010041" TargetMode="External"/><Relationship Id="rId5" Type="http://schemas.openxmlformats.org/officeDocument/2006/relationships/hyperlink" Target="https://www.sciencedirect.com/science/article/pii/S0191886909001421"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9" name="Shape 89"/>
        <p:cNvGrpSpPr/>
        <p:nvPr/>
      </p:nvGrpSpPr>
      <p:grpSpPr>
        <a:xfrm>
          <a:off x="0" y="0"/>
          <a:ext cx="0" cy="0"/>
          <a:chOff x="0" y="0"/>
          <a:chExt cx="0" cy="0"/>
        </a:xfrm>
      </p:grpSpPr>
      <p:sp>
        <p:nvSpPr>
          <p:cNvPr id="90" name="Google Shape;90;g447e0a0e66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447e0a0e6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開源及節流</a:t>
            </a:r>
            <a:endParaRPr/>
          </a:p>
          <a:p>
            <a:pPr indent="0" lvl="0" marL="0" rtl="0" algn="l">
              <a:spcBef>
                <a:spcPts val="0"/>
              </a:spcBef>
              <a:spcAft>
                <a:spcPts val="0"/>
              </a:spcAft>
              <a:buNone/>
            </a:pPr>
            <a:r>
              <a:rPr lang="zh-TW"/>
              <a:t>但在做這些事情之前</a:t>
            </a:r>
            <a:endParaRPr/>
          </a:p>
          <a:p>
            <a:pPr indent="0" lvl="0" marL="0" rtl="0" algn="l">
              <a:spcBef>
                <a:spcPts val="0"/>
              </a:spcBef>
              <a:spcAft>
                <a:spcPts val="0"/>
              </a:spcAft>
              <a:buNone/>
            </a:pPr>
            <a:r>
              <a:rPr lang="zh-TW"/>
              <a:t>都要非常了解自己手上的現金流</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5" name="Shape 95"/>
        <p:cNvGrpSpPr/>
        <p:nvPr/>
      </p:nvGrpSpPr>
      <p:grpSpPr>
        <a:xfrm>
          <a:off x="0" y="0"/>
          <a:ext cx="0" cy="0"/>
          <a:chOff x="0" y="0"/>
          <a:chExt cx="0" cy="0"/>
        </a:xfrm>
      </p:grpSpPr>
      <p:sp>
        <p:nvSpPr>
          <p:cNvPr id="96" name="Google Shape;96;g447e0a0e66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447e0a0e66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遊戲化 </a:t>
            </a:r>
            <a:r>
              <a:rPr lang="zh-TW" u="sng">
                <a:solidFill>
                  <a:schemeClr val="hlink"/>
                </a:solidFill>
                <a:hlinkClick r:id="rId2"/>
              </a:rPr>
              <a:t>https://dl.acm.org/citation.cfm?id=1357335</a:t>
            </a:r>
            <a:r>
              <a:rPr lang="zh-TW"/>
              <a:t> (James Landay’s ubifit garden)</a:t>
            </a:r>
            <a:endParaRPr/>
          </a:p>
          <a:p>
            <a:pPr indent="-298450" lvl="0" marL="457200" rtl="0" algn="l">
              <a:spcBef>
                <a:spcPts val="0"/>
              </a:spcBef>
              <a:spcAft>
                <a:spcPts val="0"/>
              </a:spcAft>
              <a:buSzPts val="1100"/>
              <a:buChar char="-"/>
            </a:pPr>
            <a:r>
              <a:rPr lang="zh-TW"/>
              <a:t>Landay 2008實驗裡面的系統會偵測使用者的運動行為</a:t>
            </a:r>
            <a:endParaRPr/>
          </a:p>
          <a:p>
            <a:pPr indent="-298450" lvl="0" marL="457200" rtl="0" algn="l">
              <a:spcBef>
                <a:spcPts val="0"/>
              </a:spcBef>
              <a:spcAft>
                <a:spcPts val="0"/>
              </a:spcAft>
              <a:buSzPts val="1100"/>
              <a:buChar char="-"/>
            </a:pPr>
            <a:r>
              <a:rPr lang="zh-TW"/>
              <a:t>系統有聯結到使用者手機的螢幕 -- 螢幕的桌布是一個花園</a:t>
            </a:r>
            <a:endParaRPr/>
          </a:p>
          <a:p>
            <a:pPr indent="-298450" lvl="0" marL="457200" rtl="0" algn="l">
              <a:spcBef>
                <a:spcPts val="0"/>
              </a:spcBef>
              <a:spcAft>
                <a:spcPts val="0"/>
              </a:spcAft>
              <a:buSzPts val="1100"/>
              <a:buChar char="-"/>
            </a:pPr>
            <a:r>
              <a:rPr lang="zh-TW"/>
              <a:t>按照運動行為的紀錄，會增加或是減少花園裡面的植物</a:t>
            </a:r>
            <a:endParaRPr/>
          </a:p>
          <a:p>
            <a:pPr indent="-298450" lvl="0" marL="457200" rtl="0" algn="l">
              <a:spcBef>
                <a:spcPts val="0"/>
              </a:spcBef>
              <a:spcAft>
                <a:spcPts val="0"/>
              </a:spcAft>
              <a:buSzPts val="1100"/>
              <a:buChar char="-"/>
            </a:pPr>
            <a:r>
              <a:rPr lang="zh-TW"/>
              <a:t>這種介面有增加使用者的運動頻率</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透過自我監測 (self-monitoring) 提升自我認知，清楚了解自己行為的各種層面就比較容易做行為改變</a:t>
            </a:r>
            <a:endParaRPr/>
          </a:p>
          <a:p>
            <a:pPr indent="0" lvl="0" marL="0" rtl="0" algn="l">
              <a:spcBef>
                <a:spcPts val="0"/>
              </a:spcBef>
              <a:spcAft>
                <a:spcPts val="0"/>
              </a:spcAft>
              <a:buNone/>
            </a:pPr>
            <a:r>
              <a:rPr lang="zh-TW" u="sng">
                <a:solidFill>
                  <a:schemeClr val="hlink"/>
                </a:solidFill>
                <a:hlinkClick r:id="rId3"/>
              </a:rPr>
              <a:t>https://news.vanderbilt.edu/2017/03/29/app-will-help-students-self-monitor-and-improve-classroom-behavior/</a:t>
            </a:r>
            <a:endParaRPr/>
          </a:p>
          <a:p>
            <a:pPr indent="0" lvl="0" marL="0" rtl="0" algn="l">
              <a:spcBef>
                <a:spcPts val="0"/>
              </a:spcBef>
              <a:spcAft>
                <a:spcPts val="0"/>
              </a:spcAft>
              <a:buNone/>
            </a:pPr>
            <a:r>
              <a:rPr lang="zh-TW"/>
              <a:t>MoBeGo (Monitoring Behavior on the Go) app讓學生紀錄自己的學習行為並且鼓勵他們如何自我調節 (self-regulation) (行為改變的一種）</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歸屬感／地方感：提升地方感也許可以讓人對那些地方跟和那些地方有關的事情比較有依附感 - 有依附感就比較會一直在乎這些事情</a:t>
            </a:r>
            <a:endParaRPr/>
          </a:p>
          <a:p>
            <a:pPr indent="0" lvl="0" marL="0" rtl="0" algn="l">
              <a:spcBef>
                <a:spcPts val="0"/>
              </a:spcBef>
              <a:spcAft>
                <a:spcPts val="0"/>
              </a:spcAft>
              <a:buNone/>
            </a:pPr>
            <a:r>
              <a:rPr lang="zh-TW" u="sng">
                <a:solidFill>
                  <a:schemeClr val="hlink"/>
                </a:solidFill>
                <a:hlinkClick r:id="rId4"/>
              </a:rPr>
              <a:t>http://w1.dorise.info/JCSE/paper_detail.php?pid=108320070050010041</a:t>
            </a:r>
            <a:r>
              <a:rPr lang="zh-TW"/>
              <a:t> → 只是在解釋「地方感」的概念</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正念的概念：讓使用者比較明顯的意識到自己當下的心態 - 平常這個療法是為了減壓，但也能提高行為改變</a:t>
            </a:r>
            <a:endParaRPr/>
          </a:p>
          <a:p>
            <a:pPr indent="0" lvl="0" marL="0" rtl="0" algn="l">
              <a:spcBef>
                <a:spcPts val="0"/>
              </a:spcBef>
              <a:spcAft>
                <a:spcPts val="0"/>
              </a:spcAft>
              <a:buNone/>
            </a:pPr>
            <a:r>
              <a:rPr lang="zh-TW" u="sng">
                <a:solidFill>
                  <a:schemeClr val="hlink"/>
                </a:solidFill>
                <a:hlinkClick r:id="rId5"/>
              </a:rPr>
              <a:t>https://www.sciencedirect.com/science/article/pii/S0191886909001421</a:t>
            </a:r>
            <a:r>
              <a:rPr lang="zh-TW"/>
              <a:t> → 這個研究提供「正念」能提高行為改變的證據</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互動設計期中進度報告</a:t>
            </a:r>
            <a:endParaRPr/>
          </a:p>
        </p:txBody>
      </p:sp>
      <p:sp>
        <p:nvSpPr>
          <p:cNvPr id="87" name="Google Shape;87;p13"/>
          <p:cNvSpPr txBox="1"/>
          <p:nvPr>
            <p:ph idx="1" type="subTitle"/>
          </p:nvPr>
        </p:nvSpPr>
        <p:spPr>
          <a:xfrm>
            <a:off x="727952" y="418435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楊馥名  曾偉德  賴琮運  陳譽升</a:t>
            </a:r>
            <a:endParaRPr/>
          </a:p>
        </p:txBody>
      </p:sp>
      <p:sp>
        <p:nvSpPr>
          <p:cNvPr id="88" name="Google Shape;88;p13"/>
          <p:cNvSpPr txBox="1"/>
          <p:nvPr>
            <p:ph idx="1" type="subTitle"/>
          </p:nvPr>
        </p:nvSpPr>
        <p:spPr>
          <a:xfrm>
            <a:off x="729627" y="21225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運用在日常生活中的應用軟體</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2" name="Shape 92"/>
        <p:cNvGrpSpPr/>
        <p:nvPr/>
      </p:nvGrpSpPr>
      <p:grpSpPr>
        <a:xfrm>
          <a:off x="0" y="0"/>
          <a:ext cx="0" cy="0"/>
          <a:chOff x="0" y="0"/>
          <a:chExt cx="0" cy="0"/>
        </a:xfrm>
      </p:grpSpPr>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動機</a:t>
            </a:r>
            <a:endParaRPr/>
          </a:p>
        </p:txBody>
      </p:sp>
      <p:sp>
        <p:nvSpPr>
          <p:cNvPr id="94" name="Google Shape;94;p14"/>
          <p:cNvSpPr txBox="1"/>
          <p:nvPr>
            <p:ph idx="1" type="body"/>
          </p:nvPr>
        </p:nvSpPr>
        <p:spPr>
          <a:xfrm>
            <a:off x="1658000" y="1318650"/>
            <a:ext cx="7688700" cy="32172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zh-TW" sz="2000"/>
              <a:t>大學生離家在外，難以維持住在家中的生活品質。</a:t>
            </a:r>
            <a:endParaRPr sz="2000"/>
          </a:p>
          <a:p>
            <a:pPr indent="-355600" lvl="0" marL="457200" rtl="0" algn="l">
              <a:lnSpc>
                <a:spcPct val="115000"/>
              </a:lnSpc>
              <a:spcBef>
                <a:spcPts val="0"/>
              </a:spcBef>
              <a:spcAft>
                <a:spcPts val="0"/>
              </a:spcAft>
              <a:buSzPts val="2000"/>
              <a:buChar char="●"/>
            </a:pPr>
            <a:r>
              <a:rPr lang="zh-TW" sz="2000"/>
              <a:t>記帳</a:t>
            </a:r>
            <a:r>
              <a:rPr lang="zh-TW" sz="2400"/>
              <a:t> </a:t>
            </a:r>
            <a:endParaRPr sz="2400"/>
          </a:p>
          <a:p>
            <a:pPr indent="-336550" lvl="1" marL="914400" rtl="0" algn="l">
              <a:lnSpc>
                <a:spcPct val="115000"/>
              </a:lnSpc>
              <a:spcBef>
                <a:spcPts val="0"/>
              </a:spcBef>
              <a:spcAft>
                <a:spcPts val="0"/>
              </a:spcAft>
              <a:buSzPts val="1700"/>
              <a:buChar char="○"/>
            </a:pPr>
            <a:r>
              <a:rPr lang="zh-TW" sz="1700"/>
              <a:t>目的</a:t>
            </a:r>
            <a:endParaRPr sz="1700"/>
          </a:p>
          <a:p>
            <a:pPr indent="-336550" lvl="1" marL="914400" rtl="0" algn="l">
              <a:lnSpc>
                <a:spcPct val="115000"/>
              </a:lnSpc>
              <a:spcBef>
                <a:spcPts val="0"/>
              </a:spcBef>
              <a:spcAft>
                <a:spcPts val="0"/>
              </a:spcAft>
              <a:buSzPts val="1700"/>
              <a:buChar char="○"/>
            </a:pPr>
            <a:r>
              <a:rPr lang="zh-TW" sz="1700"/>
              <a:t>一般常見的記帳軟體：Ahorro、CWMoney、AndroMoney …</a:t>
            </a:r>
            <a:endParaRPr sz="1700"/>
          </a:p>
          <a:p>
            <a:pPr indent="-336550" lvl="1" marL="914400" rtl="0" algn="l">
              <a:lnSpc>
                <a:spcPct val="115000"/>
              </a:lnSpc>
              <a:spcBef>
                <a:spcPts val="0"/>
              </a:spcBef>
              <a:spcAft>
                <a:spcPts val="0"/>
              </a:spcAft>
              <a:buSzPts val="1700"/>
              <a:buChar char="○"/>
            </a:pPr>
            <a:r>
              <a:rPr lang="zh-TW" sz="1700"/>
              <a:t>記帳城市</a:t>
            </a:r>
            <a:endParaRPr sz="1700"/>
          </a:p>
          <a:p>
            <a:pPr indent="-355600" lvl="0" marL="457200" rtl="0" algn="l">
              <a:lnSpc>
                <a:spcPct val="115000"/>
              </a:lnSpc>
              <a:spcBef>
                <a:spcPts val="0"/>
              </a:spcBef>
              <a:spcAft>
                <a:spcPts val="0"/>
              </a:spcAft>
              <a:buSzPts val="2000"/>
              <a:buChar char="●"/>
            </a:pPr>
            <a:r>
              <a:rPr lang="zh-TW" sz="2000"/>
              <a:t>使用者記帳習慣不盡相同</a:t>
            </a:r>
            <a:endParaRPr sz="2000"/>
          </a:p>
          <a:p>
            <a:pPr indent="-355600" lvl="0" marL="457200" rtl="0" algn="l">
              <a:lnSpc>
                <a:spcPct val="115000"/>
              </a:lnSpc>
              <a:spcBef>
                <a:spcPts val="0"/>
              </a:spcBef>
              <a:spcAft>
                <a:spcPts val="0"/>
              </a:spcAft>
              <a:buSzPts val="2000"/>
              <a:buChar char="●"/>
            </a:pPr>
            <a:r>
              <a:rPr lang="zh-TW" sz="2000"/>
              <a:t>如何讓使用者養成記帳習慣？提升動機？</a:t>
            </a:r>
            <a:endParaRPr sz="2000"/>
          </a:p>
          <a:p>
            <a:pPr indent="-336550" lvl="1" marL="914400" rtl="0" algn="l">
              <a:lnSpc>
                <a:spcPct val="115000"/>
              </a:lnSpc>
              <a:spcBef>
                <a:spcPts val="0"/>
              </a:spcBef>
              <a:spcAft>
                <a:spcPts val="0"/>
              </a:spcAft>
              <a:buSzPts val="1700"/>
              <a:buChar char="○"/>
            </a:pPr>
            <a:r>
              <a:rPr lang="zh-TW" sz="1700"/>
              <a:t>更簡便的紀錄流程</a:t>
            </a:r>
            <a:endParaRPr sz="1700"/>
          </a:p>
          <a:p>
            <a:pPr indent="-336550" lvl="1" marL="914400" rtl="0" algn="l">
              <a:lnSpc>
                <a:spcPct val="115000"/>
              </a:lnSpc>
              <a:spcBef>
                <a:spcPts val="0"/>
              </a:spcBef>
              <a:spcAft>
                <a:spcPts val="0"/>
              </a:spcAft>
              <a:buSzPts val="1700"/>
              <a:buChar char="○"/>
            </a:pPr>
            <a:r>
              <a:rPr lang="zh-TW" sz="1700"/>
              <a:t>連結紀錄當下的感受</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相關心理學科普 </a:t>
            </a:r>
            <a:endParaRPr/>
          </a:p>
        </p:txBody>
      </p:sp>
      <p:sp>
        <p:nvSpPr>
          <p:cNvPr id="100" name="Google Shape;100;p15"/>
          <p:cNvSpPr txBox="1"/>
          <p:nvPr>
            <p:ph idx="1" type="body"/>
          </p:nvPr>
        </p:nvSpPr>
        <p:spPr>
          <a:xfrm>
            <a:off x="729450" y="1926475"/>
            <a:ext cx="7688700" cy="3808800"/>
          </a:xfrm>
          <a:prstGeom prst="rect">
            <a:avLst/>
          </a:prstGeom>
        </p:spPr>
        <p:txBody>
          <a:bodyPr anchorCtr="0" anchor="t" bIns="91425" lIns="91425" spcFirstLastPara="1" rIns="91425" wrap="square" tIns="91425">
            <a:noAutofit/>
          </a:bodyPr>
          <a:lstStyle/>
          <a:p>
            <a:pPr indent="-381000" lvl="0" marL="457200" rtl="0" algn="l">
              <a:lnSpc>
                <a:spcPct val="150000"/>
              </a:lnSpc>
              <a:spcBef>
                <a:spcPts val="0"/>
              </a:spcBef>
              <a:spcAft>
                <a:spcPts val="0"/>
              </a:spcAft>
              <a:buSzPts val="2400"/>
              <a:buChar char="●"/>
            </a:pPr>
            <a:r>
              <a:rPr lang="zh-TW" sz="2400"/>
              <a:t>如何導致 </a:t>
            </a:r>
            <a:r>
              <a:rPr b="1" lang="zh-TW" sz="2400"/>
              <a:t>Behavior Change</a:t>
            </a:r>
            <a:r>
              <a:rPr lang="zh-TW" sz="2400"/>
              <a:t>（</a:t>
            </a:r>
            <a:r>
              <a:rPr lang="zh-TW" sz="2400"/>
              <a:t>行為改變）</a:t>
            </a:r>
            <a:endParaRPr sz="2400"/>
          </a:p>
          <a:p>
            <a:pPr indent="-355600" lvl="0" marL="914400" rtl="0" algn="l">
              <a:lnSpc>
                <a:spcPct val="150000"/>
              </a:lnSpc>
              <a:spcBef>
                <a:spcPts val="0"/>
              </a:spcBef>
              <a:spcAft>
                <a:spcPts val="0"/>
              </a:spcAft>
              <a:buSzPts val="2000"/>
              <a:buChar char="●"/>
            </a:pPr>
            <a:r>
              <a:rPr lang="zh-TW" sz="2000"/>
              <a:t>遊戲化 </a:t>
            </a:r>
            <a:r>
              <a:rPr b="1" lang="zh-TW" sz="2000"/>
              <a:t>Gamification</a:t>
            </a:r>
            <a:endParaRPr b="1" sz="2000"/>
          </a:p>
          <a:p>
            <a:pPr indent="-355600" lvl="0" marL="914400" rtl="0" algn="l">
              <a:lnSpc>
                <a:spcPct val="150000"/>
              </a:lnSpc>
              <a:spcBef>
                <a:spcPts val="0"/>
              </a:spcBef>
              <a:spcAft>
                <a:spcPts val="0"/>
              </a:spcAft>
              <a:buSzPts val="2000"/>
              <a:buChar char="●"/>
            </a:pPr>
            <a:r>
              <a:rPr lang="zh-TW" sz="2000"/>
              <a:t>提升自我認知／自我監測 </a:t>
            </a:r>
            <a:r>
              <a:rPr b="1" lang="zh-TW" sz="2000"/>
              <a:t>Self-monitoring</a:t>
            </a:r>
            <a:endParaRPr b="1" sz="2000"/>
          </a:p>
          <a:p>
            <a:pPr indent="-355600" lvl="0" marL="914400" rtl="0" algn="l">
              <a:lnSpc>
                <a:spcPct val="150000"/>
              </a:lnSpc>
              <a:spcBef>
                <a:spcPts val="0"/>
              </a:spcBef>
              <a:spcAft>
                <a:spcPts val="0"/>
              </a:spcAft>
              <a:buSzPts val="2000"/>
              <a:buChar char="●"/>
            </a:pPr>
            <a:r>
              <a:rPr lang="zh-TW" sz="2000"/>
              <a:t>增加 “正念” </a:t>
            </a:r>
            <a:r>
              <a:rPr b="1" lang="zh-TW" sz="2000"/>
              <a:t>Mindfulness</a:t>
            </a:r>
            <a:endParaRPr b="1" sz="2000"/>
          </a:p>
          <a:p>
            <a:pPr indent="-355600" lvl="0" marL="914400" rtl="0" algn="l">
              <a:lnSpc>
                <a:spcPct val="150000"/>
              </a:lnSpc>
              <a:spcBef>
                <a:spcPts val="0"/>
              </a:spcBef>
              <a:spcAft>
                <a:spcPts val="0"/>
              </a:spcAft>
              <a:buSzPts val="2000"/>
              <a:buChar char="●"/>
            </a:pPr>
            <a:r>
              <a:rPr lang="zh-TW" sz="2000"/>
              <a:t>歸屬感／地方感 </a:t>
            </a:r>
            <a:r>
              <a:rPr b="1" lang="zh-TW" sz="2000"/>
              <a:t>Sense of Places, Belongings</a:t>
            </a:r>
            <a:endParaRPr b="1" sz="2000"/>
          </a:p>
          <a:p>
            <a:pPr indent="0" lvl="0" marL="0" rtl="0" algn="l">
              <a:lnSpc>
                <a:spcPct val="150000"/>
              </a:lnSpc>
              <a:spcBef>
                <a:spcPts val="1600"/>
              </a:spcBef>
              <a:spcAft>
                <a:spcPts val="1600"/>
              </a:spcAft>
              <a:buNone/>
            </a:pPr>
            <a:r>
              <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