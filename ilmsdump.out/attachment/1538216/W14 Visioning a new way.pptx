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69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3B8AF-3261-4F27-A950-3927AFA48AAF}" type="datetimeFigureOut">
              <a:rPr lang="zh-TW" altLang="en-US" smtClean="0"/>
              <a:t>2018/9/13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1E1EC0-DF74-4294-B4F2-6733782F0D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7117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209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1E1EC0-DF74-4294-B4F2-6733782F0DC5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210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1E1EC0-DF74-4294-B4F2-6733782F0DC5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210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1E1EC0-DF74-4294-B4F2-6733782F0DC5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8419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211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1E1EC0-DF74-4294-B4F2-6733782F0DC5}" type="slidenum">
              <a:rPr lang="zh-TW" altLang="en-US" smtClean="0"/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212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1E1EC0-DF74-4294-B4F2-6733782F0DC5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3368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212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1E1EC0-DF74-4294-B4F2-6733782F0DC5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1542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213-214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1E1EC0-DF74-4294-B4F2-6733782F0DC5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1786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214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1E1EC0-DF74-4294-B4F2-6733782F0DC5}" type="slidenum">
              <a:rPr lang="zh-TW" altLang="en-US" smtClean="0"/>
              <a:t>12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217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1E1EC0-DF74-4294-B4F2-6733782F0DC5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07516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217-218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1E1EC0-DF74-4294-B4F2-6733782F0DC5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78822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218-219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1E1EC0-DF74-4294-B4F2-6733782F0DC5}" type="slidenum">
              <a:rPr lang="zh-TW" altLang="en-US" smtClean="0"/>
              <a:t>16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220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1E1EC0-DF74-4294-B4F2-6733782F0DC5}" type="slidenum">
              <a:rPr lang="zh-TW" altLang="en-US" smtClean="0"/>
              <a:t>17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222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1E1EC0-DF74-4294-B4F2-6733782F0DC5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5132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82134-3FD8-42D0-9FBA-2A0BE6987C99}" type="datetimeFigureOut">
              <a:rPr lang="zh-TW" altLang="en-US" smtClean="0"/>
              <a:t>2018/9/13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FEC02-E165-461D-B629-0FC49093D4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9848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82134-3FD8-42D0-9FBA-2A0BE6987C99}" type="datetimeFigureOut">
              <a:rPr lang="zh-TW" altLang="en-US" smtClean="0"/>
              <a:t>2018/9/13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FEC02-E165-461D-B629-0FC49093D4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2415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82134-3FD8-42D0-9FBA-2A0BE6987C99}" type="datetimeFigureOut">
              <a:rPr lang="zh-TW" altLang="en-US" smtClean="0"/>
              <a:t>2018/9/13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FEC02-E165-461D-B629-0FC49093D4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3935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82134-3FD8-42D0-9FBA-2A0BE6987C99}" type="datetimeFigureOut">
              <a:rPr lang="zh-TW" altLang="en-US" smtClean="0"/>
              <a:t>2018/9/13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FEC02-E165-461D-B629-0FC49093D4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234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82134-3FD8-42D0-9FBA-2A0BE6987C99}" type="datetimeFigureOut">
              <a:rPr lang="zh-TW" altLang="en-US" smtClean="0"/>
              <a:t>2018/9/13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FEC02-E165-461D-B629-0FC49093D4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6674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82134-3FD8-42D0-9FBA-2A0BE6987C99}" type="datetimeFigureOut">
              <a:rPr lang="zh-TW" altLang="en-US" smtClean="0"/>
              <a:t>2018/9/13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FEC02-E165-461D-B629-0FC49093D4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8499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82134-3FD8-42D0-9FBA-2A0BE6987C99}" type="datetimeFigureOut">
              <a:rPr lang="zh-TW" altLang="en-US" smtClean="0"/>
              <a:t>2018/9/13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FEC02-E165-461D-B629-0FC49093D4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2848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82134-3FD8-42D0-9FBA-2A0BE6987C99}" type="datetimeFigureOut">
              <a:rPr lang="zh-TW" altLang="en-US" smtClean="0"/>
              <a:t>2018/9/13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FEC02-E165-461D-B629-0FC49093D4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5832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82134-3FD8-42D0-9FBA-2A0BE6987C99}" type="datetimeFigureOut">
              <a:rPr lang="zh-TW" altLang="en-US" smtClean="0"/>
              <a:t>2018/9/13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FEC02-E165-461D-B629-0FC49093D4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7359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82134-3FD8-42D0-9FBA-2A0BE6987C99}" type="datetimeFigureOut">
              <a:rPr lang="zh-TW" altLang="en-US" smtClean="0"/>
              <a:t>2018/9/13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FEC02-E165-461D-B629-0FC49093D4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6989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82134-3FD8-42D0-9FBA-2A0BE6987C99}" type="datetimeFigureOut">
              <a:rPr lang="zh-TW" altLang="en-US" smtClean="0"/>
              <a:t>2018/9/13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FEC02-E165-461D-B629-0FC49093D4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555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82134-3FD8-42D0-9FBA-2A0BE6987C99}" type="datetimeFigureOut">
              <a:rPr lang="zh-TW" altLang="en-US" smtClean="0"/>
              <a:t>2018/9/13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FEC02-E165-461D-B629-0FC49093D4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3934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C11 Visioning a new way to work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 descr="http://t1.gstatic.com/images?q=tbn:ANd9GcRsk4p5VAEipLrFX_MXS8ueRZK1PAeWDk1Iix810vfj_WQTIhA-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572230"/>
            <a:ext cx="4752528" cy="3162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Visioning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zh-TW" dirty="0" smtClean="0"/>
              <a:t>Affinity diagram, work models --- </a:t>
            </a:r>
            <a:r>
              <a:rPr lang="zh-TW" altLang="en-US" dirty="0" smtClean="0"/>
              <a:t>產出 </a:t>
            </a:r>
            <a:r>
              <a:rPr lang="en-US" altLang="zh-TW" dirty="0" smtClean="0"/>
              <a:t>implications for design</a:t>
            </a:r>
            <a:r>
              <a:rPr lang="zh-TW" altLang="en-US" dirty="0" smtClean="0"/>
              <a:t>之後，準備</a:t>
            </a:r>
            <a:r>
              <a:rPr lang="en-US" altLang="zh-TW" dirty="0" smtClean="0"/>
              <a:t>redesign system to support users’ work or lives.</a:t>
            </a:r>
          </a:p>
          <a:p>
            <a:pPr>
              <a:lnSpc>
                <a:spcPct val="110000"/>
              </a:lnSpc>
            </a:pPr>
            <a:endParaRPr lang="en-US" altLang="zh-TW" dirty="0" smtClean="0"/>
          </a:p>
          <a:p>
            <a:pPr>
              <a:lnSpc>
                <a:spcPct val="110000"/>
              </a:lnSpc>
            </a:pPr>
            <a:r>
              <a:rPr lang="en-US" altLang="zh-TW" dirty="0" smtClean="0"/>
              <a:t>Don’t start design by brainstorming function, start by telling the story of what the new life will be like.</a:t>
            </a:r>
          </a:p>
          <a:p>
            <a:pPr>
              <a:lnSpc>
                <a:spcPct val="110000"/>
              </a:lnSpc>
            </a:pPr>
            <a:endParaRPr lang="en-US" altLang="zh-TW" dirty="0" smtClean="0"/>
          </a:p>
          <a:p>
            <a:pPr>
              <a:lnSpc>
                <a:spcPct val="110000"/>
              </a:lnSpc>
            </a:pPr>
            <a:r>
              <a:rPr lang="en-US" altLang="zh-TW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Visioning</a:t>
            </a:r>
            <a:r>
              <a:rPr lang="zh-TW" altLang="en-US" dirty="0" smtClean="0"/>
              <a:t> </a:t>
            </a:r>
            <a:r>
              <a:rPr lang="en-US" altLang="zh-TW" dirty="0" smtClean="0"/>
              <a:t>--</a:t>
            </a:r>
            <a:r>
              <a:rPr lang="zh-TW" altLang="en-US" dirty="0" smtClean="0"/>
              <a:t> 看見，在幻覺中看見、夢一般的事物，美景，洞察力</a:t>
            </a:r>
          </a:p>
          <a:p>
            <a:pPr>
              <a:lnSpc>
                <a:spcPct val="110000"/>
              </a:lnSpc>
            </a:pPr>
            <a:endParaRPr lang="zh-TW" altLang="en-US" dirty="0" smtClean="0"/>
          </a:p>
          <a:p>
            <a:pPr>
              <a:lnSpc>
                <a:spcPct val="110000"/>
              </a:lnSpc>
            </a:pPr>
            <a:endParaRPr lang="en-US" altLang="zh-TW" dirty="0" smtClean="0"/>
          </a:p>
          <a:p>
            <a:pPr>
              <a:lnSpc>
                <a:spcPct val="110000"/>
              </a:lnSpc>
            </a:pPr>
            <a:endParaRPr lang="zh-TW" altLang="en-US" dirty="0" smtClean="0"/>
          </a:p>
          <a:p>
            <a:pPr>
              <a:lnSpc>
                <a:spcPct val="110000"/>
              </a:lnSpc>
            </a:pPr>
            <a:endParaRPr lang="en-US" altLang="zh-TW" dirty="0" smtClean="0"/>
          </a:p>
          <a:p>
            <a:pPr>
              <a:lnSpc>
                <a:spcPct val="110000"/>
              </a:lnSpc>
            </a:pPr>
            <a:endParaRPr lang="en-US" altLang="zh-TW" dirty="0" smtClean="0"/>
          </a:p>
          <a:p>
            <a:pPr>
              <a:lnSpc>
                <a:spcPct val="110000"/>
              </a:lnSpc>
            </a:pPr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400" dirty="0" smtClean="0"/>
              <a:t>Visioning – a grounded brainstorm &amp; a story telling session</a:t>
            </a:r>
          </a:p>
          <a:p>
            <a:pPr lvl="1"/>
            <a:r>
              <a:rPr lang="en-US" altLang="zh-TW" sz="2400" dirty="0" smtClean="0">
                <a:solidFill>
                  <a:srgbClr val="FF0000"/>
                </a:solidFill>
              </a:rPr>
              <a:t>Grounded</a:t>
            </a:r>
            <a:r>
              <a:rPr lang="en-US" altLang="zh-TW" sz="2400" dirty="0" smtClean="0"/>
              <a:t> brainstorm</a:t>
            </a:r>
          </a:p>
          <a:p>
            <a:pPr lvl="2"/>
            <a:r>
              <a:rPr lang="en-US" altLang="zh-TW" sz="2400" dirty="0" smtClean="0"/>
              <a:t>Team walks the wall and collects data</a:t>
            </a:r>
          </a:p>
          <a:p>
            <a:pPr lvl="2"/>
            <a:r>
              <a:rPr lang="en-US" altLang="zh-TW" sz="2400" dirty="0" smtClean="0"/>
              <a:t>The team are free to present any idea</a:t>
            </a:r>
          </a:p>
          <a:p>
            <a:pPr lvl="1"/>
            <a:r>
              <a:rPr lang="en-US" altLang="zh-TW" sz="2400" dirty="0" smtClean="0"/>
              <a:t>Story telling</a:t>
            </a:r>
          </a:p>
          <a:p>
            <a:pPr lvl="2"/>
            <a:r>
              <a:rPr lang="en-US" altLang="zh-TW" sz="2400" dirty="0" smtClean="0"/>
              <a:t>Weaves a story of how  users accomplish the tasks.</a:t>
            </a:r>
          </a:p>
          <a:p>
            <a:r>
              <a:rPr lang="en-US" altLang="zh-TW" sz="2400" dirty="0" smtClean="0"/>
              <a:t>Visioning – a method to lead in </a:t>
            </a:r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</a:rPr>
              <a:t>future scenario building</a:t>
            </a:r>
            <a:r>
              <a:rPr lang="en-US" altLang="zh-TW" sz="2400" dirty="0" smtClean="0"/>
              <a:t>, grounded in </a:t>
            </a:r>
            <a:r>
              <a:rPr lang="en-US" altLang="zh-TW" sz="2400" dirty="0" smtClean="0">
                <a:solidFill>
                  <a:schemeClr val="accent1">
                    <a:lumMod val="75000"/>
                  </a:schemeClr>
                </a:solidFill>
              </a:rPr>
              <a:t>user data</a:t>
            </a:r>
            <a:r>
              <a:rPr lang="en-US" altLang="zh-TW" sz="2400" dirty="0" smtClean="0"/>
              <a:t>.</a:t>
            </a:r>
          </a:p>
          <a:p>
            <a:pPr marL="0" indent="0">
              <a:buNone/>
              <a:defRPr/>
            </a:pPr>
            <a:endParaRPr lang="en-US" altLang="zh-TW" sz="1800" b="1" dirty="0" smtClean="0"/>
          </a:p>
          <a:p>
            <a:endParaRPr lang="zh-TW" alt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Definition of vision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01752" y="1268760"/>
            <a:ext cx="8503920" cy="4572000"/>
          </a:xfrm>
        </p:spPr>
        <p:txBody>
          <a:bodyPr>
            <a:noAutofit/>
          </a:bodyPr>
          <a:lstStyle/>
          <a:p>
            <a:r>
              <a:rPr lang="en-US" altLang="zh-TW" sz="2800" dirty="0" smtClean="0"/>
              <a:t>A vision – </a:t>
            </a:r>
          </a:p>
          <a:p>
            <a:endParaRPr lang="en-US" altLang="zh-TW" sz="800" dirty="0" smtClean="0"/>
          </a:p>
          <a:p>
            <a:pPr lvl="1"/>
            <a:r>
              <a:rPr lang="en-US" altLang="zh-TW" sz="2800" dirty="0" smtClean="0"/>
              <a:t>is a hand-drawn, graphical representation</a:t>
            </a:r>
          </a:p>
          <a:p>
            <a:pPr lvl="1"/>
            <a:r>
              <a:rPr lang="en-US" altLang="zh-TW" sz="2800" dirty="0" smtClean="0"/>
              <a:t>is a High-level story of the customers’ new practice</a:t>
            </a:r>
          </a:p>
          <a:p>
            <a:pPr lvl="1"/>
            <a:r>
              <a:rPr lang="en-US" altLang="zh-TW" sz="2800" dirty="0" smtClean="0"/>
              <a:t>Describe what is in the new environment and how it works as told from the user’s point of view</a:t>
            </a:r>
          </a:p>
          <a:p>
            <a:pPr lvl="1"/>
            <a:r>
              <a:rPr lang="en-US" altLang="zh-TW" sz="2800" dirty="0" smtClean="0"/>
              <a:t>Includes possible change in technology, user interface function, underlying business rules, role definition, process, help, training, overall support and service.</a:t>
            </a:r>
            <a:endParaRPr lang="zh-TW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/>
              <a:t>Key concepts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552" y="1340768"/>
            <a:ext cx="8229600" cy="4525963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sz="2800" dirty="0" smtClean="0"/>
              <a:t>Plus and minuses</a:t>
            </a:r>
          </a:p>
          <a:p>
            <a:pPr marL="788670" lvl="1" indent="-514350"/>
            <a:r>
              <a:rPr lang="zh-TW" altLang="en-US" sz="2800" dirty="0" smtClean="0"/>
              <a:t>產出願景後，設計團隊評估每個願景的正、負面</a:t>
            </a:r>
            <a:endParaRPr lang="en-US" altLang="zh-TW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zh-TW" sz="2800" dirty="0" smtClean="0"/>
              <a:t>Consolidated vision</a:t>
            </a:r>
          </a:p>
          <a:p>
            <a:pPr marL="788670" lvl="1" indent="-514350"/>
            <a:r>
              <a:rPr lang="zh-TW" altLang="en-US" sz="2800" dirty="0" smtClean="0"/>
              <a:t>從數個創造出的願景中選出要保留及修正的，合併成一個做為設計依據</a:t>
            </a:r>
            <a:endParaRPr lang="en-US" altLang="zh-TW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zh-TW" sz="2800" dirty="0" smtClean="0"/>
              <a:t>The pen</a:t>
            </a:r>
          </a:p>
          <a:p>
            <a:pPr marL="788670" lvl="1" indent="-514350"/>
            <a:r>
              <a:rPr lang="zh-TW" altLang="en-US" sz="2800" dirty="0" smtClean="0"/>
              <a:t>一個負責繪圖的人 </a:t>
            </a:r>
            <a:r>
              <a:rPr lang="en-US" altLang="zh-TW" sz="2800" dirty="0" smtClean="0"/>
              <a:t>(pen)</a:t>
            </a:r>
            <a:r>
              <a:rPr lang="zh-TW" altLang="en-US" sz="2800" dirty="0" smtClean="0"/>
              <a:t>，其他人說故事</a:t>
            </a:r>
            <a:endParaRPr lang="en-US" altLang="zh-TW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zh-TW" sz="2800" dirty="0" smtClean="0"/>
              <a:t>The poker</a:t>
            </a:r>
          </a:p>
          <a:p>
            <a:pPr marL="788670" lvl="1" indent="-514350"/>
            <a:r>
              <a:rPr lang="zh-TW" altLang="en-US" sz="2800" dirty="0" smtClean="0"/>
              <a:t>一人提醒團隊尚未考慮到的事，以確保願景的完整性</a:t>
            </a:r>
            <a:endParaRPr lang="zh-TW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1752" y="44624"/>
            <a:ext cx="8534400" cy="758952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Process for visioning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847253"/>
            <a:ext cx="8229600" cy="4525963"/>
          </a:xfrm>
        </p:spPr>
        <p:txBody>
          <a:bodyPr>
            <a:noAutofit/>
          </a:bodyPr>
          <a:lstStyle/>
          <a:p>
            <a:r>
              <a:rPr lang="en-US" altLang="zh-TW" sz="2800" dirty="0" smtClean="0"/>
              <a:t>Preparation</a:t>
            </a:r>
          </a:p>
          <a:p>
            <a:pPr lvl="1"/>
            <a:r>
              <a:rPr lang="en-US" altLang="zh-TW" dirty="0" smtClean="0"/>
              <a:t>Prepare for visioning</a:t>
            </a:r>
          </a:p>
          <a:p>
            <a:pPr lvl="1"/>
            <a:r>
              <a:rPr lang="en-US" altLang="zh-TW" dirty="0" smtClean="0"/>
              <a:t>Invite people to vision</a:t>
            </a:r>
          </a:p>
          <a:p>
            <a:r>
              <a:rPr lang="en-US" altLang="zh-TW" sz="2800" dirty="0" smtClean="0"/>
              <a:t>Run the visioning session</a:t>
            </a:r>
          </a:p>
          <a:p>
            <a:pPr lvl="1"/>
            <a:r>
              <a:rPr lang="en-US" altLang="zh-TW" dirty="0" smtClean="0"/>
              <a:t>Review how to vision</a:t>
            </a:r>
          </a:p>
          <a:p>
            <a:pPr lvl="1"/>
            <a:r>
              <a:rPr lang="en-US" altLang="zh-TW" dirty="0" smtClean="0"/>
              <a:t>Review issues and hot ideas</a:t>
            </a:r>
          </a:p>
          <a:p>
            <a:pPr lvl="1"/>
            <a:r>
              <a:rPr lang="en-US" altLang="zh-TW" dirty="0" smtClean="0"/>
              <a:t>Define parameters for the vision</a:t>
            </a:r>
          </a:p>
          <a:p>
            <a:pPr lvl="1"/>
            <a:r>
              <a:rPr lang="en-US" altLang="zh-TW" dirty="0" smtClean="0"/>
              <a:t>Select a hot idea for first version</a:t>
            </a:r>
          </a:p>
          <a:p>
            <a:pPr lvl="1"/>
            <a:r>
              <a:rPr lang="en-US" altLang="zh-TW" dirty="0" smtClean="0"/>
              <a:t>Run the visioning session </a:t>
            </a:r>
          </a:p>
          <a:p>
            <a:pPr lvl="1"/>
            <a:r>
              <a:rPr lang="en-US" altLang="zh-TW" dirty="0" smtClean="0"/>
              <a:t>Evaluate the vision </a:t>
            </a:r>
          </a:p>
          <a:p>
            <a:r>
              <a:rPr lang="en-US" altLang="zh-TW" sz="2800" dirty="0" smtClean="0"/>
              <a:t>Create one consolidation vision</a:t>
            </a:r>
            <a:endParaRPr lang="zh-TW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開始</a:t>
            </a:r>
            <a:r>
              <a:rPr lang="en-US" altLang="zh-TW" dirty="0" smtClean="0"/>
              <a:t>visioning </a:t>
            </a:r>
            <a:r>
              <a:rPr lang="zh-TW" altLang="en-US" dirty="0" smtClean="0"/>
              <a:t>過程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274320" lvl="1"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altLang="zh-TW" sz="2800" b="1" dirty="0" smtClean="0"/>
              <a:t>Prepare for visioning</a:t>
            </a:r>
          </a:p>
          <a:p>
            <a:pPr marL="548640" lvl="2"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altLang="zh-TW" sz="2600" dirty="0" smtClean="0"/>
              <a:t>Walk the data (affinity diagram)</a:t>
            </a:r>
            <a:r>
              <a:rPr lang="zh-TW" altLang="en-US" sz="2600" dirty="0" smtClean="0"/>
              <a:t> </a:t>
            </a:r>
            <a:r>
              <a:rPr lang="en-US" altLang="zh-TW" sz="2600" dirty="0" smtClean="0"/>
              <a:t>before do first vision (</a:t>
            </a:r>
            <a:r>
              <a:rPr lang="zh-TW" altLang="en-US" sz="2600" dirty="0" smtClean="0"/>
              <a:t>兩者需時間相近，</a:t>
            </a:r>
            <a:r>
              <a:rPr lang="en-US" altLang="zh-TW" sz="2600" dirty="0" smtClean="0"/>
              <a:t>12</a:t>
            </a:r>
            <a:r>
              <a:rPr lang="zh-TW" altLang="en-US" sz="2600" dirty="0" smtClean="0"/>
              <a:t>小時內</a:t>
            </a:r>
            <a:r>
              <a:rPr lang="en-US" altLang="zh-TW" sz="2600" dirty="0" smtClean="0"/>
              <a:t>)</a:t>
            </a:r>
          </a:p>
          <a:p>
            <a:pPr marL="548640" lvl="2"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altLang="zh-TW" sz="2600" dirty="0" smtClean="0"/>
              <a:t>Display the affinity diagram  on the wall – can refer back to the data</a:t>
            </a:r>
          </a:p>
          <a:p>
            <a:pPr marL="548640" lvl="2"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zh-TW" altLang="en-US" sz="2800" dirty="0" smtClean="0"/>
              <a:t>準備活動掛圖、</a:t>
            </a:r>
            <a:r>
              <a:rPr lang="en-US" altLang="zh-TW" sz="2800" dirty="0" smtClean="0"/>
              <a:t>post-it note</a:t>
            </a:r>
            <a:r>
              <a:rPr lang="zh-TW" altLang="en-US" sz="2800" dirty="0" smtClean="0"/>
              <a:t>、</a:t>
            </a:r>
            <a:r>
              <a:rPr lang="en-US" altLang="zh-TW" sz="2800" dirty="0" smtClean="0"/>
              <a:t>pen</a:t>
            </a:r>
            <a:r>
              <a:rPr lang="zh-TW" altLang="en-US" sz="2800" dirty="0" smtClean="0"/>
              <a:t>、</a:t>
            </a:r>
            <a:r>
              <a:rPr lang="en-US" altLang="zh-TW" sz="2800" dirty="0" smtClean="0"/>
              <a:t>tape</a:t>
            </a:r>
            <a:r>
              <a:rPr lang="zh-TW" altLang="en-US" sz="2800" dirty="0" smtClean="0"/>
              <a:t>、</a:t>
            </a:r>
            <a:r>
              <a:rPr lang="en-US" altLang="zh-TW" sz="2800" dirty="0" smtClean="0"/>
              <a:t>large paper  (for the pluses and minuses)</a:t>
            </a:r>
          </a:p>
          <a:p>
            <a:pPr marL="274320" lvl="1"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altLang="zh-TW" sz="2800" b="1" dirty="0" smtClean="0"/>
              <a:t>Invite people to vision</a:t>
            </a:r>
          </a:p>
          <a:p>
            <a:pPr marL="548640" lvl="2"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altLang="zh-TW" sz="2600" dirty="0" smtClean="0"/>
              <a:t>4-8</a:t>
            </a:r>
            <a:r>
              <a:rPr lang="zh-TW" altLang="en-US" sz="2600" dirty="0" smtClean="0"/>
              <a:t>人</a:t>
            </a:r>
            <a:endParaRPr lang="en-US" altLang="zh-TW" sz="2600" dirty="0" smtClean="0"/>
          </a:p>
          <a:p>
            <a:pPr marL="548640" lvl="2"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zh-TW" altLang="en-US" sz="2600" dirty="0" smtClean="0"/>
              <a:t>具不同經驗 </a:t>
            </a:r>
            <a:r>
              <a:rPr lang="en-US" altLang="zh-TW" sz="2600" dirty="0" smtClean="0"/>
              <a:t>(have design skill, technical, </a:t>
            </a:r>
          </a:p>
          <a:p>
            <a:pPr marL="548640" lvl="2">
              <a:buClr>
                <a:schemeClr val="accent1"/>
              </a:buClr>
              <a:buSzPct val="85000"/>
              <a:buNone/>
            </a:pPr>
            <a:r>
              <a:rPr lang="en-US" altLang="zh-TW" sz="2600" dirty="0" smtClean="0"/>
              <a:t>market, process, and business knowledge)</a:t>
            </a:r>
          </a:p>
          <a:p>
            <a:pPr marL="274320" lvl="1">
              <a:buClr>
                <a:schemeClr val="accent1"/>
              </a:buClr>
              <a:buSzPct val="85000"/>
              <a:buFont typeface="Wingdings 2"/>
              <a:buChar char=""/>
            </a:pPr>
            <a:endParaRPr lang="en-US" altLang="zh-TW" sz="2800" dirty="0" smtClean="0"/>
          </a:p>
          <a:p>
            <a:endParaRPr lang="zh-TW" altLang="en-US" sz="2800" dirty="0"/>
          </a:p>
        </p:txBody>
      </p:sp>
      <p:pic>
        <p:nvPicPr>
          <p:cNvPr id="2050" name="Picture 2" descr="http://t0.gstatic.com/images?q=tbn:ANd9GcQAt9GpXzL2UACaL__pgIKh8BEwab7DY9jeQEw_FvftRgQbLluAJ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83338" y="4383359"/>
            <a:ext cx="1581150" cy="22860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Review how to vision (</a:t>
            </a:r>
            <a:r>
              <a:rPr lang="zh-TW" altLang="en-US" dirty="0" smtClean="0"/>
              <a:t>在</a:t>
            </a:r>
            <a:r>
              <a:rPr lang="en-US" altLang="zh-TW" dirty="0" smtClean="0"/>
              <a:t>1-2</a:t>
            </a:r>
            <a:r>
              <a:rPr lang="zh-TW" altLang="en-US" dirty="0" smtClean="0"/>
              <a:t> 天內完成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TW" sz="2400" dirty="0" smtClean="0"/>
              <a:t>Three major steps: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altLang="zh-TW" sz="2400" dirty="0" smtClean="0"/>
              <a:t>1.</a:t>
            </a:r>
            <a:r>
              <a:rPr lang="zh-TW" altLang="en-US" sz="2400" dirty="0" smtClean="0"/>
              <a:t> 創出數個想法</a:t>
            </a:r>
            <a:r>
              <a:rPr lang="en-US" altLang="zh-TW" sz="2400" dirty="0" smtClean="0"/>
              <a:t>: </a:t>
            </a:r>
          </a:p>
          <a:p>
            <a:pPr marL="548640" lvl="2" indent="0">
              <a:lnSpc>
                <a:spcPct val="120000"/>
              </a:lnSpc>
              <a:buNone/>
            </a:pPr>
            <a:r>
              <a:rPr lang="en-US" altLang="zh-TW" sz="2400" dirty="0" smtClean="0"/>
              <a:t>Create 3-4 individual visions on flipchart pages (</a:t>
            </a:r>
            <a:r>
              <a:rPr lang="zh-TW" altLang="en-US" sz="2400" dirty="0" smtClean="0"/>
              <a:t>每個花</a:t>
            </a:r>
            <a:r>
              <a:rPr lang="en-US" altLang="zh-TW" sz="2400" dirty="0" smtClean="0"/>
              <a:t>30</a:t>
            </a:r>
            <a:r>
              <a:rPr lang="zh-TW" altLang="en-US" sz="2400" dirty="0" smtClean="0"/>
              <a:t>分鐘</a:t>
            </a:r>
            <a:r>
              <a:rPr lang="en-US" altLang="zh-TW" sz="2400" dirty="0" smtClean="0"/>
              <a:t>).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altLang="zh-TW" sz="2400" dirty="0" smtClean="0"/>
              <a:t>2.</a:t>
            </a:r>
            <a:r>
              <a:rPr lang="zh-TW" altLang="en-US" sz="2400" dirty="0" smtClean="0"/>
              <a:t> 評估可行性</a:t>
            </a:r>
            <a:r>
              <a:rPr lang="en-US" altLang="zh-TW" sz="2400" dirty="0" smtClean="0"/>
              <a:t>: 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altLang="zh-TW" sz="2400" dirty="0"/>
              <a:t>	</a:t>
            </a:r>
            <a:r>
              <a:rPr lang="en-US" altLang="zh-TW" sz="2400" dirty="0" smtClean="0"/>
              <a:t>Evaluate each vision and identify what works </a:t>
            </a:r>
            <a:r>
              <a:rPr lang="zh-TW" altLang="en-US" sz="2400" dirty="0" smtClean="0"/>
              <a:t> </a:t>
            </a:r>
            <a:endParaRPr lang="en-US" altLang="zh-TW" sz="2400" dirty="0" smtClean="0"/>
          </a:p>
          <a:p>
            <a:pPr marL="274320" lvl="1" indent="0">
              <a:lnSpc>
                <a:spcPct val="120000"/>
              </a:lnSpc>
              <a:buNone/>
            </a:pPr>
            <a:r>
              <a:rPr lang="zh-TW" altLang="en-US" sz="2400" dirty="0"/>
              <a:t> </a:t>
            </a:r>
            <a:r>
              <a:rPr lang="zh-TW" altLang="en-US" sz="2400" dirty="0" smtClean="0"/>
              <a:t>        </a:t>
            </a:r>
            <a:r>
              <a:rPr lang="en-US" altLang="zh-TW" sz="2400" dirty="0" smtClean="0"/>
              <a:t>and doesn’t work.</a:t>
            </a:r>
          </a:p>
          <a:p>
            <a:pPr marL="274320" lvl="1" indent="0">
              <a:lnSpc>
                <a:spcPct val="120000"/>
              </a:lnSpc>
              <a:buNone/>
            </a:pPr>
            <a:r>
              <a:rPr lang="en-US" altLang="zh-TW" sz="2400" dirty="0" smtClean="0"/>
              <a:t>3.</a:t>
            </a:r>
            <a:r>
              <a:rPr lang="zh-TW" altLang="en-US" sz="2400" dirty="0" smtClean="0"/>
              <a:t> 整合</a:t>
            </a:r>
            <a:r>
              <a:rPr lang="en-US" altLang="zh-TW" sz="2400" dirty="0" smtClean="0"/>
              <a:t>:</a:t>
            </a:r>
            <a:r>
              <a:rPr lang="zh-TW" altLang="en-US" sz="2400" dirty="0" smtClean="0"/>
              <a:t> </a:t>
            </a:r>
            <a:endParaRPr lang="en-US" altLang="zh-TW" sz="2400" dirty="0" smtClean="0"/>
          </a:p>
          <a:p>
            <a:pPr marL="548640" lvl="2" indent="0">
              <a:lnSpc>
                <a:spcPct val="120000"/>
              </a:lnSpc>
              <a:buNone/>
            </a:pPr>
            <a:r>
              <a:rPr lang="zh-TW" altLang="en-US" sz="2400" dirty="0"/>
              <a:t> </a:t>
            </a:r>
            <a:r>
              <a:rPr lang="zh-TW" altLang="en-US" sz="2400" dirty="0" smtClean="0"/>
              <a:t>  </a:t>
            </a:r>
            <a:r>
              <a:rPr lang="en-US" altLang="zh-TW" sz="2400" dirty="0" smtClean="0"/>
              <a:t>Take the good parts of each vision, create the final </a:t>
            </a:r>
            <a:r>
              <a:rPr lang="zh-TW" altLang="en-US" sz="2400" dirty="0" smtClean="0"/>
              <a:t>   </a:t>
            </a:r>
            <a:endParaRPr lang="en-US" altLang="zh-TW" sz="2400" dirty="0" smtClean="0"/>
          </a:p>
          <a:p>
            <a:pPr marL="548640" lvl="2" indent="0">
              <a:lnSpc>
                <a:spcPct val="120000"/>
              </a:lnSpc>
              <a:buNone/>
            </a:pPr>
            <a:r>
              <a:rPr lang="zh-TW" altLang="en-US" sz="2400" dirty="0"/>
              <a:t> </a:t>
            </a:r>
            <a:r>
              <a:rPr lang="zh-TW" altLang="en-US" sz="2400" dirty="0" smtClean="0"/>
              <a:t>  </a:t>
            </a:r>
            <a:r>
              <a:rPr lang="en-US" altLang="zh-TW" sz="2400" dirty="0" smtClean="0"/>
              <a:t>consolidated vision</a:t>
            </a:r>
          </a:p>
          <a:p>
            <a:pPr lvl="1">
              <a:lnSpc>
                <a:spcPct val="120000"/>
              </a:lnSpc>
            </a:pPr>
            <a:endParaRPr lang="en-US" altLang="zh-TW" sz="2400" dirty="0" smtClean="0"/>
          </a:p>
          <a:p>
            <a:pPr>
              <a:lnSpc>
                <a:spcPct val="120000"/>
              </a:lnSpc>
            </a:pPr>
            <a:endParaRPr lang="zh-TW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solidFill>
                  <a:schemeClr val="tx1"/>
                </a:solidFill>
              </a:rPr>
              <a:t>Review how to vision --Introduce the visioning process 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b="1" dirty="0" smtClean="0"/>
              <a:t>Explain how to vision</a:t>
            </a:r>
          </a:p>
          <a:p>
            <a:pPr lvl="1"/>
            <a:r>
              <a:rPr lang="zh-TW" altLang="en-US" sz="2400" dirty="0" smtClean="0">
                <a:solidFill>
                  <a:schemeClr val="tx1"/>
                </a:solidFill>
              </a:rPr>
              <a:t>說故事，使用者如何利用新科技來做事情  </a:t>
            </a:r>
            <a:r>
              <a:rPr lang="en-US" altLang="zh-TW" sz="2400" dirty="0" smtClean="0">
                <a:solidFill>
                  <a:schemeClr val="tx1"/>
                </a:solidFill>
              </a:rPr>
              <a:t>Story of the users we interviewed performing the tasks we saw with the new technology and processes we are going to invent.</a:t>
            </a:r>
          </a:p>
          <a:p>
            <a:pPr lvl="1"/>
            <a:r>
              <a:rPr lang="zh-TW" altLang="en-US" sz="2400" dirty="0" smtClean="0">
                <a:solidFill>
                  <a:schemeClr val="tx1"/>
                </a:solidFill>
              </a:rPr>
              <a:t>內容包含</a:t>
            </a:r>
            <a:r>
              <a:rPr lang="zh-TW" altLang="en-US" sz="2400" dirty="0" smtClean="0">
                <a:solidFill>
                  <a:schemeClr val="accent1">
                    <a:lumMod val="75000"/>
                  </a:schemeClr>
                </a:solidFill>
              </a:rPr>
              <a:t>工作或生活中可能被科技影響的部分</a:t>
            </a:r>
            <a:endParaRPr lang="en-US" altLang="zh-TW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2"/>
            <a:r>
              <a:rPr lang="en-US" altLang="zh-TW" sz="2400" dirty="0" smtClean="0"/>
              <a:t>User interface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concept (</a:t>
            </a:r>
            <a:r>
              <a:rPr lang="zh-TW" altLang="en-US" sz="2400" dirty="0" smtClean="0"/>
              <a:t>畫面</a:t>
            </a:r>
            <a:r>
              <a:rPr lang="en-US" altLang="zh-TW" sz="2400" dirty="0" smtClean="0"/>
              <a:t>icons, color)</a:t>
            </a:r>
          </a:p>
          <a:p>
            <a:pPr lvl="2"/>
            <a:r>
              <a:rPr lang="en-US" altLang="zh-TW" sz="2400" dirty="0" smtClean="0"/>
              <a:t>Human interactions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(</a:t>
            </a:r>
            <a:r>
              <a:rPr lang="zh-TW" altLang="en-US" sz="2400" dirty="0" smtClean="0"/>
              <a:t>使用者操作醫療系統</a:t>
            </a:r>
            <a:r>
              <a:rPr lang="zh-TW" altLang="en-US" sz="2400" dirty="0"/>
              <a:t>方式</a:t>
            </a:r>
            <a:r>
              <a:rPr lang="en-US" altLang="zh-TW" sz="2400" dirty="0" smtClean="0"/>
              <a:t>)</a:t>
            </a:r>
          </a:p>
          <a:p>
            <a:pPr lvl="2"/>
            <a:r>
              <a:rPr lang="en-US" altLang="zh-TW" sz="2400" dirty="0" smtClean="0"/>
              <a:t>Automatic function (</a:t>
            </a:r>
            <a:r>
              <a:rPr lang="zh-TW" altLang="en-US" sz="2400" dirty="0" smtClean="0"/>
              <a:t>自動執行功能</a:t>
            </a:r>
            <a:r>
              <a:rPr lang="en-US" altLang="zh-TW" sz="2400" dirty="0" smtClean="0"/>
              <a:t>)</a:t>
            </a:r>
          </a:p>
          <a:p>
            <a:pPr lvl="2"/>
            <a:r>
              <a:rPr lang="en-US" altLang="zh-TW" sz="2400" dirty="0" smtClean="0"/>
              <a:t>Walking, reading, talking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(user </a:t>
            </a:r>
            <a:r>
              <a:rPr lang="zh-TW" altLang="en-US" sz="2400" dirty="0" smtClean="0"/>
              <a:t>日常活動</a:t>
            </a:r>
            <a:r>
              <a:rPr lang="en-US" altLang="zh-TW" sz="2400" dirty="0" smtClean="0"/>
              <a:t>)</a:t>
            </a:r>
          </a:p>
          <a:p>
            <a:pPr lvl="1"/>
            <a:endParaRPr lang="zh-TW" alt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764704"/>
            <a:ext cx="8338128" cy="5334344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zh-TW" dirty="0" smtClean="0"/>
              <a:t>Explain the perspective of the story</a:t>
            </a:r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Be told as a story from the perspective of the user (</a:t>
            </a:r>
            <a:r>
              <a:rPr lang="zh-TW" altLang="en-US" dirty="0" smtClean="0"/>
              <a:t>非從系統或產品角度</a:t>
            </a:r>
            <a:r>
              <a:rPr lang="en-US" altLang="zh-TW" dirty="0" smtClean="0"/>
              <a:t>)</a:t>
            </a:r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Who am I? what am I doing?</a:t>
            </a:r>
          </a:p>
          <a:p>
            <a:pPr lvl="1">
              <a:lnSpc>
                <a:spcPct val="110000"/>
              </a:lnSpc>
            </a:pPr>
            <a:endParaRPr lang="en-US" altLang="zh-TW" dirty="0" smtClean="0"/>
          </a:p>
          <a:p>
            <a:pPr>
              <a:lnSpc>
                <a:spcPct val="110000"/>
              </a:lnSpc>
            </a:pPr>
            <a:r>
              <a:rPr lang="en-US" altLang="zh-TW" dirty="0" smtClean="0"/>
              <a:t>Describe the level of detail</a:t>
            </a:r>
          </a:p>
          <a:p>
            <a:pPr lvl="1">
              <a:lnSpc>
                <a:spcPct val="110000"/>
              </a:lnSpc>
            </a:pPr>
            <a:r>
              <a:rPr lang="en-US" altLang="zh-TW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High-level</a:t>
            </a:r>
            <a:r>
              <a:rPr lang="en-US" altLang="zh-TW" dirty="0" smtClean="0"/>
              <a:t>, doesn’t work out the details.</a:t>
            </a:r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User stories based on the tasks in </a:t>
            </a:r>
            <a:r>
              <a:rPr lang="en-US" altLang="zh-TW" b="1" dirty="0" smtClean="0"/>
              <a:t>the sequence models</a:t>
            </a:r>
            <a:r>
              <a:rPr lang="en-US" altLang="zh-TW" dirty="0" smtClean="0"/>
              <a:t>. </a:t>
            </a:r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It does not include detailed UIs or technology implementation</a:t>
            </a:r>
            <a:r>
              <a:rPr lang="zh-TW" altLang="en-US" dirty="0" smtClean="0"/>
              <a:t> </a:t>
            </a:r>
            <a:r>
              <a:rPr lang="en-US" altLang="zh-TW" dirty="0" smtClean="0"/>
              <a:t>(</a:t>
            </a:r>
            <a:r>
              <a:rPr lang="zh-TW" altLang="en-US" dirty="0" smtClean="0"/>
              <a:t>不含科技操作及呈現細節</a:t>
            </a:r>
            <a:r>
              <a:rPr lang="en-US" altLang="zh-TW" dirty="0" smtClean="0"/>
              <a:t>).</a:t>
            </a:r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It focuses on </a:t>
            </a:r>
            <a:r>
              <a:rPr lang="en-US" altLang="zh-TW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the user sees and does</a:t>
            </a:r>
            <a:r>
              <a:rPr lang="en-US" altLang="zh-TW" dirty="0" smtClean="0"/>
              <a:t>, what the system monitors and automates at the level of </a:t>
            </a:r>
            <a:r>
              <a:rPr lang="en-US" altLang="zh-TW" b="1" dirty="0" smtClean="0"/>
              <a:t>function</a:t>
            </a:r>
            <a:r>
              <a:rPr lang="en-US" altLang="zh-TW" dirty="0" smtClean="0"/>
              <a:t> (</a:t>
            </a:r>
            <a:r>
              <a:rPr lang="zh-TW" altLang="en-US" dirty="0" smtClean="0"/>
              <a:t>系統自動連到資料庫</a:t>
            </a:r>
            <a:r>
              <a:rPr lang="en-US" altLang="zh-TW" dirty="0" smtClean="0"/>
              <a:t>OR</a:t>
            </a:r>
            <a:r>
              <a:rPr lang="zh-TW" altLang="en-US" dirty="0" smtClean="0"/>
              <a:t>偵測去看馬的基本健康資訊</a:t>
            </a:r>
            <a:r>
              <a:rPr lang="en-US" altLang="zh-TW" dirty="0" smtClean="0"/>
              <a:t>).</a:t>
            </a:r>
            <a:endParaRPr lang="zh-TW" altLang="en-US" dirty="0"/>
          </a:p>
        </p:txBody>
      </p:sp>
      <p:pic>
        <p:nvPicPr>
          <p:cNvPr id="25604" name="Picture 4" descr="http://www.worksofross.com/sequence_model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4288" y="1772816"/>
            <a:ext cx="1443515" cy="18661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01752" y="476672"/>
            <a:ext cx="8503920" cy="5622376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sz="2800" dirty="0" smtClean="0"/>
              <a:t>Explain that visioning is iterative</a:t>
            </a:r>
          </a:p>
          <a:p>
            <a:pPr lvl="1"/>
            <a:r>
              <a:rPr lang="en-US" altLang="zh-TW" sz="2800" dirty="0" smtClean="0"/>
              <a:t>Several visions</a:t>
            </a:r>
            <a:r>
              <a:rPr lang="zh-TW" altLang="en-US" sz="2800" dirty="0" smtClean="0"/>
              <a:t>，一個約</a:t>
            </a:r>
            <a:r>
              <a:rPr lang="en-US" altLang="zh-TW" sz="2800" dirty="0" smtClean="0"/>
              <a:t>20-03</a:t>
            </a:r>
            <a:r>
              <a:rPr lang="zh-TW" altLang="en-US" sz="2800" dirty="0" smtClean="0"/>
              <a:t>分鐘</a:t>
            </a:r>
            <a:endParaRPr lang="en-US" altLang="zh-TW" sz="2800" dirty="0" smtClean="0"/>
          </a:p>
          <a:p>
            <a:pPr lvl="1"/>
            <a:r>
              <a:rPr lang="zh-TW" altLang="en-US" sz="2800" dirty="0" smtClean="0"/>
              <a:t>創造出</a:t>
            </a:r>
            <a:r>
              <a:rPr lang="en-US" altLang="zh-TW" sz="2800" dirty="0" smtClean="0"/>
              <a:t>3-4</a:t>
            </a:r>
            <a:r>
              <a:rPr lang="zh-TW" altLang="en-US" sz="2800" dirty="0" smtClean="0"/>
              <a:t>個之後，才開始進行評估</a:t>
            </a:r>
            <a:endParaRPr lang="en-US" altLang="zh-TW" sz="2800" dirty="0" smtClean="0"/>
          </a:p>
          <a:p>
            <a:pPr lvl="1"/>
            <a:r>
              <a:rPr lang="zh-TW" altLang="en-US" sz="2800" dirty="0" smtClean="0"/>
              <a:t>找出好的以及有問題的部分</a:t>
            </a:r>
            <a:endParaRPr lang="en-US" altLang="zh-TW" sz="2800" dirty="0" smtClean="0"/>
          </a:p>
          <a:p>
            <a:r>
              <a:rPr lang="en-US" altLang="zh-TW" sz="2800" dirty="0" smtClean="0"/>
              <a:t>Figure 11.1</a:t>
            </a:r>
          </a:p>
          <a:p>
            <a:pPr lvl="1"/>
            <a:r>
              <a:rPr lang="zh-TW" altLang="en-US" sz="2800" dirty="0"/>
              <a:t>呈現</a:t>
            </a:r>
            <a:r>
              <a:rPr lang="zh-TW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不同</a:t>
            </a:r>
            <a:r>
              <a:rPr lang="zh-TW" altLang="en-US" sz="28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情境</a:t>
            </a:r>
            <a:r>
              <a:rPr lang="zh-TW" altLang="en-US" sz="2800" dirty="0" smtClean="0"/>
              <a:t>中會有的功能，但不會有細部</a:t>
            </a:r>
            <a:r>
              <a:rPr lang="en-US" altLang="zh-TW" sz="2800" dirty="0" smtClean="0"/>
              <a:t>UI</a:t>
            </a:r>
          </a:p>
          <a:p>
            <a:pPr lvl="1"/>
            <a:r>
              <a:rPr lang="zh-TW" altLang="en-US" sz="2800" dirty="0" smtClean="0"/>
              <a:t>呈現</a:t>
            </a:r>
            <a:r>
              <a:rPr lang="zh-TW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不同</a:t>
            </a:r>
            <a:r>
              <a:rPr lang="zh-TW" altLang="en-US" sz="28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角色人物</a:t>
            </a:r>
            <a:r>
              <a:rPr lang="zh-TW" altLang="en-US" sz="2800" dirty="0" smtClean="0"/>
              <a:t>會運用的功能</a:t>
            </a:r>
            <a:endParaRPr lang="en-US" altLang="zh-TW" sz="2800" dirty="0" smtClean="0"/>
          </a:p>
          <a:p>
            <a:pPr lvl="1"/>
            <a:r>
              <a:rPr lang="zh-TW" altLang="en-US" sz="2800" dirty="0" smtClean="0"/>
              <a:t>利用罐子圖形</a:t>
            </a:r>
            <a:r>
              <a:rPr lang="en-US" altLang="zh-TW" sz="2800" dirty="0" smtClean="0"/>
              <a:t>(can)</a:t>
            </a:r>
            <a:r>
              <a:rPr lang="zh-TW" altLang="en-US" sz="2800" dirty="0" smtClean="0"/>
              <a:t>呈現自動功能或是要處理的隱藏概念</a:t>
            </a:r>
            <a:endParaRPr lang="en-US" altLang="zh-TW" sz="2800" dirty="0" smtClean="0"/>
          </a:p>
          <a:p>
            <a:r>
              <a:rPr lang="en-US" altLang="zh-TW" sz="2800" dirty="0" smtClean="0"/>
              <a:t>Figure 11.2 (</a:t>
            </a:r>
            <a:r>
              <a:rPr lang="zh-TW" altLang="en-US" sz="2800" dirty="0"/>
              <a:t>不含</a:t>
            </a:r>
            <a:r>
              <a:rPr lang="en-US" altLang="zh-TW" sz="2800" dirty="0" smtClean="0"/>
              <a:t>layout)</a:t>
            </a:r>
          </a:p>
          <a:p>
            <a:pPr lvl="1"/>
            <a:r>
              <a:rPr lang="zh-TW" altLang="en-US" sz="2800" dirty="0" smtClean="0"/>
              <a:t>呈現</a:t>
            </a:r>
            <a:r>
              <a:rPr lang="zh-TW" altLang="en-US" sz="28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協調的功能組 </a:t>
            </a:r>
            <a:r>
              <a:rPr lang="en-US" altLang="zh-TW" sz="2800" dirty="0" smtClean="0"/>
              <a:t>(coherent collection of function)</a:t>
            </a:r>
          </a:p>
          <a:p>
            <a:pPr lvl="1"/>
            <a:r>
              <a:rPr lang="zh-TW" altLang="en-US" sz="2800" dirty="0" smtClean="0"/>
              <a:t>呈現</a:t>
            </a:r>
            <a:endParaRPr lang="en-US" altLang="zh-TW" sz="2800" dirty="0" smtClean="0"/>
          </a:p>
          <a:p>
            <a:pPr lvl="2"/>
            <a:r>
              <a:rPr lang="en-US" altLang="zh-TW" sz="2600" dirty="0" smtClean="0"/>
              <a:t>process of use</a:t>
            </a:r>
            <a:r>
              <a:rPr lang="zh-TW" altLang="en-US" sz="2600" dirty="0" smtClean="0"/>
              <a:t> </a:t>
            </a:r>
            <a:r>
              <a:rPr lang="en-US" altLang="zh-TW" sz="2600" dirty="0" smtClean="0"/>
              <a:t>within the workgroup </a:t>
            </a:r>
          </a:p>
          <a:p>
            <a:pPr lvl="2"/>
            <a:r>
              <a:rPr lang="en-US" altLang="zh-TW" sz="2600" dirty="0" smtClean="0"/>
              <a:t>what happens under happy and upset conditions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solidFill>
                  <a:schemeClr val="tx1"/>
                </a:solidFill>
              </a:rPr>
              <a:t>Review how to vision --Introduce the roles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 smtClean="0"/>
              <a:t> The pen </a:t>
            </a:r>
          </a:p>
          <a:p>
            <a:pPr lvl="1"/>
            <a:r>
              <a:rPr lang="en-US" altLang="zh-TW" dirty="0" smtClean="0"/>
              <a:t>The person drawing the vision</a:t>
            </a:r>
            <a:r>
              <a:rPr lang="zh-TW" altLang="en-US" dirty="0" smtClean="0"/>
              <a:t>，其他人說故事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可以問問題來釐清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Pen</a:t>
            </a:r>
            <a:r>
              <a:rPr lang="zh-TW" altLang="en-US" dirty="0" smtClean="0"/>
              <a:t>不能是發想故事的主角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Two roles: </a:t>
            </a:r>
            <a:r>
              <a:rPr lang="zh-TW" altLang="en-US" dirty="0" smtClean="0"/>
              <a:t>鼓勵其他人發言，將他人想法發展成</a:t>
            </a:r>
            <a:r>
              <a:rPr lang="en-US" altLang="zh-TW" dirty="0" smtClean="0"/>
              <a:t>vision</a:t>
            </a:r>
          </a:p>
          <a:p>
            <a:pPr lvl="1"/>
            <a:r>
              <a:rPr lang="zh-TW" altLang="en-US" dirty="0" smtClean="0"/>
              <a:t>可針對他人想法做拉回的動作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將好的但衝突的想法寫下，供之後回顧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引導團隊成員的發言</a:t>
            </a:r>
            <a:endParaRPr lang="en-US" altLang="zh-TW" dirty="0" smtClean="0"/>
          </a:p>
          <a:p>
            <a:r>
              <a:rPr lang="en-US" altLang="zh-TW" dirty="0" smtClean="0"/>
              <a:t>The poker </a:t>
            </a:r>
            <a:r>
              <a:rPr lang="zh-TW" altLang="en-US" dirty="0" smtClean="0"/>
              <a:t>激發者、捅一下的人</a:t>
            </a:r>
          </a:p>
          <a:p>
            <a:pPr lvl="1"/>
            <a:r>
              <a:rPr lang="zh-TW" altLang="en-US" dirty="0" smtClean="0"/>
              <a:t>留意並提醒大家尚未被討論的議題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確認大家都發言，沒有一人主導整個流程</a:t>
            </a:r>
            <a:endParaRPr lang="en-US" altLang="zh-TW" dirty="0" smtClean="0"/>
          </a:p>
          <a:p>
            <a:r>
              <a:rPr lang="en-US" altLang="zh-TW" dirty="0" smtClean="0"/>
              <a:t>Participants </a:t>
            </a:r>
            <a:endParaRPr lang="zh-TW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solidFill>
                  <a:schemeClr val="tx1"/>
                </a:solidFill>
              </a:rPr>
              <a:t>Review how to vision – explain the rules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01752" y="1593304"/>
            <a:ext cx="8503920" cy="4572000"/>
          </a:xfrm>
        </p:spPr>
        <p:txBody>
          <a:bodyPr>
            <a:normAutofit/>
          </a:bodyPr>
          <a:lstStyle/>
          <a:p>
            <a:r>
              <a:rPr lang="en-US" altLang="zh-TW" sz="2400" dirty="0" smtClean="0"/>
              <a:t>Visioning </a:t>
            </a:r>
            <a:r>
              <a:rPr lang="zh-TW" altLang="en-US" sz="2400" dirty="0" smtClean="0"/>
              <a:t>過程中不評論，之後再做</a:t>
            </a:r>
            <a:endParaRPr lang="en-US" altLang="zh-TW" sz="2400" dirty="0" smtClean="0"/>
          </a:p>
          <a:p>
            <a:r>
              <a:rPr lang="zh-TW" altLang="en-US" sz="2400" dirty="0" smtClean="0"/>
              <a:t>沒有屬於個人的想法，是經由大家一起去推敲出願景</a:t>
            </a:r>
            <a:endParaRPr lang="en-US" altLang="zh-TW" sz="2400" dirty="0" smtClean="0"/>
          </a:p>
          <a:p>
            <a:r>
              <a:rPr lang="en-US" altLang="zh-TW" sz="2400" dirty="0" smtClean="0"/>
              <a:t>Talk to the pen, not to each other (contribute to the flipchart</a:t>
            </a:r>
            <a:r>
              <a:rPr lang="zh-TW" altLang="en-US" sz="2400" dirty="0" smtClean="0"/>
              <a:t> 看著討論板</a:t>
            </a:r>
            <a:r>
              <a:rPr lang="en-US" altLang="zh-TW" sz="2400" dirty="0" smtClean="0"/>
              <a:t>)</a:t>
            </a:r>
          </a:p>
          <a:p>
            <a:endParaRPr lang="en-US" altLang="zh-TW" sz="2400" dirty="0" smtClean="0"/>
          </a:p>
          <a:p>
            <a:r>
              <a:rPr lang="en-US" altLang="zh-TW" sz="2400" dirty="0" smtClean="0"/>
              <a:t>Offer design solution and user action</a:t>
            </a:r>
          </a:p>
          <a:p>
            <a:pPr lvl="1"/>
            <a:r>
              <a:rPr lang="zh-TW" altLang="en-US" sz="2400" dirty="0" smtClean="0"/>
              <a:t>別問我們要做甚麼來解決問題 </a:t>
            </a:r>
            <a:r>
              <a:rPr lang="en-US" altLang="zh-TW" sz="2400" dirty="0" smtClean="0"/>
              <a:t>(</a:t>
            </a:r>
            <a:r>
              <a:rPr lang="zh-TW" altLang="en-US" sz="2400" dirty="0" smtClean="0"/>
              <a:t>問題導向</a:t>
            </a:r>
            <a:r>
              <a:rPr lang="en-US" altLang="zh-TW" sz="2400" dirty="0" smtClean="0"/>
              <a:t>)</a:t>
            </a:r>
            <a:r>
              <a:rPr lang="zh-TW" altLang="en-US" sz="2400" dirty="0" smtClean="0"/>
              <a:t>，</a:t>
            </a:r>
            <a:r>
              <a:rPr lang="en-US" altLang="zh-TW" sz="2400" dirty="0" smtClean="0"/>
              <a:t>visioning</a:t>
            </a:r>
            <a:r>
              <a:rPr lang="zh-TW" altLang="en-US" sz="2400" dirty="0" smtClean="0"/>
              <a:t>不是討論或提出問題，而是創造故事。</a:t>
            </a:r>
            <a:r>
              <a:rPr lang="en-US" altLang="zh-TW" sz="2400" b="1" dirty="0" smtClean="0"/>
              <a:t>It is a time for all to concrete the story of </a:t>
            </a:r>
            <a:r>
              <a:rPr lang="en-US" altLang="zh-TW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things will work in the future</a:t>
            </a:r>
            <a:r>
              <a:rPr lang="en-US" altLang="zh-TW" sz="2400" b="1" dirty="0" smtClean="0"/>
              <a:t>.</a:t>
            </a:r>
            <a:r>
              <a:rPr lang="zh-TW" altLang="en-US" sz="2400" b="1" dirty="0" smtClean="0"/>
              <a:t> </a:t>
            </a:r>
            <a:endParaRPr lang="en-US" altLang="zh-TW" sz="2400" b="1" dirty="0" smtClean="0"/>
          </a:p>
          <a:p>
            <a:endParaRPr lang="en-US" altLang="zh-TW" sz="2400" dirty="0" smtClean="0"/>
          </a:p>
          <a:p>
            <a:endParaRPr lang="zh-TW" alt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Review issues and hot ideas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 smtClean="0"/>
              <a:t>準備寫願景之前需要做的事</a:t>
            </a:r>
            <a:endParaRPr lang="en-US" altLang="zh-TW" dirty="0" smtClean="0"/>
          </a:p>
          <a:p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回顧從前一階段得到的重要議題，</a:t>
            </a:r>
            <a:r>
              <a:rPr lang="en-US" altLang="zh-TW" dirty="0" smtClean="0"/>
              <a:t>Make or review the list of issues generated by walking the affinity and consolidated sequence models. 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寫下重要想法 </a:t>
            </a:r>
            <a:r>
              <a:rPr lang="en-US" altLang="zh-TW" dirty="0" smtClean="0"/>
              <a:t>(hot ideas)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列出可用科技 </a:t>
            </a:r>
            <a:r>
              <a:rPr lang="en-US" altLang="zh-TW" dirty="0" smtClean="0"/>
              <a:t>(</a:t>
            </a:r>
            <a:r>
              <a:rPr lang="zh-TW" altLang="en-US" dirty="0" smtClean="0"/>
              <a:t>觸碰式螢幕，穿戴式科技，藍芽 </a:t>
            </a:r>
            <a:r>
              <a:rPr lang="en-US" altLang="zh-TW" dirty="0" smtClean="0"/>
              <a:t>…)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Define parameters for the vision </a:t>
            </a:r>
            <a:r>
              <a:rPr lang="zh-TW" altLang="en-US" dirty="0" smtClean="0"/>
              <a:t>定義界線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zh-TW" altLang="en-US" dirty="0" smtClean="0"/>
              <a:t>創造願景前須要確定的界線</a:t>
            </a:r>
            <a:endParaRPr lang="en-US" altLang="zh-TW" dirty="0" smtClean="0"/>
          </a:p>
          <a:p>
            <a:r>
              <a:rPr lang="en-US" altLang="zh-TW" dirty="0" smtClean="0"/>
              <a:t>Technology platforms</a:t>
            </a:r>
          </a:p>
          <a:p>
            <a:pPr lvl="1"/>
            <a:r>
              <a:rPr lang="zh-TW" altLang="en-US" dirty="0" smtClean="0"/>
              <a:t>了解科技可到達那些層面</a:t>
            </a:r>
            <a:endParaRPr lang="en-US" altLang="zh-TW" dirty="0" smtClean="0"/>
          </a:p>
          <a:p>
            <a:r>
              <a:rPr lang="en-US" altLang="zh-TW" dirty="0" smtClean="0"/>
              <a:t>Business constraints</a:t>
            </a:r>
          </a:p>
          <a:p>
            <a:pPr lvl="1"/>
            <a:r>
              <a:rPr lang="zh-TW" altLang="en-US" dirty="0" smtClean="0"/>
              <a:t>了解商業目標，此系統是內部用途還是要對外銷售的產品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公司改革期待，此產品會為公司帶來何種改變</a:t>
            </a:r>
            <a:endParaRPr lang="en-US" altLang="zh-TW" dirty="0" smtClean="0"/>
          </a:p>
          <a:p>
            <a:r>
              <a:rPr lang="en-US" altLang="zh-TW" dirty="0" smtClean="0"/>
              <a:t>Time </a:t>
            </a:r>
          </a:p>
          <a:p>
            <a:pPr lvl="1"/>
            <a:r>
              <a:rPr lang="en-US" altLang="zh-TW" dirty="0" smtClean="0"/>
              <a:t>Timeframe</a:t>
            </a:r>
            <a:endParaRPr lang="zh-TW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Select a hot idea for the first vision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61792" y="1340768"/>
            <a:ext cx="8014664" cy="45720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TW" altLang="en-US" sz="2000" dirty="0" smtClean="0"/>
              <a:t>在進行</a:t>
            </a:r>
            <a:r>
              <a:rPr lang="en-US" altLang="zh-TW" sz="2000" dirty="0" smtClean="0"/>
              <a:t>affinity diagram &amp; consolidated model</a:t>
            </a:r>
            <a:r>
              <a:rPr lang="zh-TW" altLang="en-US" sz="2000" dirty="0" smtClean="0"/>
              <a:t>時，就列出 </a:t>
            </a:r>
            <a:r>
              <a:rPr lang="en-US" altLang="zh-TW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hot ideas list</a:t>
            </a:r>
          </a:p>
          <a:p>
            <a:pPr>
              <a:lnSpc>
                <a:spcPct val="120000"/>
              </a:lnSpc>
            </a:pPr>
            <a:r>
              <a:rPr lang="zh-TW" altLang="en-US" sz="2000" dirty="0" smtClean="0"/>
              <a:t>開始發想前，需要選出一個主要想法 </a:t>
            </a:r>
            <a:r>
              <a:rPr lang="en-US" altLang="zh-TW" sz="2000" dirty="0" smtClean="0"/>
              <a:t>(one vision) </a:t>
            </a:r>
            <a:r>
              <a:rPr lang="zh-TW" altLang="en-US" sz="2000" dirty="0" smtClean="0"/>
              <a:t>來著手進行</a:t>
            </a:r>
            <a:endParaRPr lang="en-US" altLang="zh-TW" sz="2000" dirty="0" smtClean="0"/>
          </a:p>
          <a:p>
            <a:pPr>
              <a:lnSpc>
                <a:spcPct val="120000"/>
              </a:lnSpc>
            </a:pPr>
            <a:r>
              <a:rPr lang="zh-TW" altLang="en-US" sz="2000" dirty="0" smtClean="0"/>
              <a:t>先</a:t>
            </a:r>
            <a:r>
              <a:rPr lang="en-US" altLang="zh-TW" sz="2000" dirty="0" smtClean="0"/>
              <a:t>consolidate the list and identify </a:t>
            </a:r>
            <a:r>
              <a:rPr lang="en-US" altLang="zh-TW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top grouping of them</a:t>
            </a:r>
            <a:r>
              <a:rPr lang="zh-TW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訂出想法的主要分類</a:t>
            </a:r>
            <a:r>
              <a:rPr lang="en-US" altLang="zh-TW" sz="2000" dirty="0" smtClean="0"/>
              <a:t>.</a:t>
            </a:r>
          </a:p>
          <a:p>
            <a:pPr>
              <a:lnSpc>
                <a:spcPct val="120000"/>
              </a:lnSpc>
            </a:pPr>
            <a:r>
              <a:rPr lang="en-US" altLang="zh-TW" sz="2000" dirty="0" smtClean="0"/>
              <a:t>EX. </a:t>
            </a:r>
            <a:r>
              <a:rPr lang="zh-TW" altLang="en-US" sz="2000" dirty="0" smtClean="0"/>
              <a:t> </a:t>
            </a:r>
            <a:r>
              <a:rPr lang="en-US" altLang="zh-TW" sz="2000" dirty="0" err="1" smtClean="0"/>
              <a:t>eChalks</a:t>
            </a:r>
            <a:r>
              <a:rPr lang="zh-TW" altLang="en-US" sz="2000" dirty="0" smtClean="0"/>
              <a:t>一開始有</a:t>
            </a:r>
            <a:r>
              <a:rPr lang="en-US" altLang="zh-TW" sz="2000" dirty="0" smtClean="0"/>
              <a:t>30</a:t>
            </a:r>
            <a:r>
              <a:rPr lang="zh-TW" altLang="en-US" sz="2000" dirty="0" smtClean="0"/>
              <a:t>個想法，主要的</a:t>
            </a:r>
            <a:r>
              <a:rPr lang="en-US" altLang="zh-TW" sz="2000" dirty="0" smtClean="0"/>
              <a:t>hot idea</a:t>
            </a:r>
            <a:r>
              <a:rPr lang="zh-TW" altLang="en-US" sz="2000" dirty="0" smtClean="0"/>
              <a:t>為</a:t>
            </a:r>
            <a:r>
              <a:rPr lang="en-US" altLang="zh-TW" sz="2000" dirty="0" smtClean="0"/>
              <a:t>virtual classroom</a:t>
            </a:r>
            <a:r>
              <a:rPr lang="zh-TW" altLang="en-US" sz="2000" dirty="0" smtClean="0"/>
              <a:t> </a:t>
            </a:r>
            <a:r>
              <a:rPr lang="en-US" altLang="zh-TW" sz="2000" dirty="0" smtClean="0"/>
              <a:t>(</a:t>
            </a:r>
            <a:r>
              <a:rPr lang="zh-TW" altLang="en-US" sz="2000" dirty="0" smtClean="0"/>
              <a:t>或是虛擬點餐服務員</a:t>
            </a:r>
            <a:r>
              <a:rPr lang="en-US" altLang="zh-TW" sz="2000" dirty="0" smtClean="0"/>
              <a:t>)</a:t>
            </a:r>
            <a:r>
              <a:rPr lang="zh-TW" altLang="en-US" sz="2000" dirty="0" smtClean="0"/>
              <a:t>，其他附屬在底下</a:t>
            </a:r>
            <a:endParaRPr lang="en-US" altLang="zh-TW" sz="2000" dirty="0" smtClean="0"/>
          </a:p>
          <a:p>
            <a:pPr lvl="1">
              <a:lnSpc>
                <a:spcPct val="120000"/>
              </a:lnSpc>
            </a:pPr>
            <a:r>
              <a:rPr lang="en-US" altLang="zh-TW" sz="2000" dirty="0" smtClean="0"/>
              <a:t>Student files</a:t>
            </a:r>
          </a:p>
          <a:p>
            <a:pPr lvl="1">
              <a:lnSpc>
                <a:spcPct val="120000"/>
              </a:lnSpc>
            </a:pPr>
            <a:r>
              <a:rPr lang="en-US" altLang="zh-TW" sz="2000" dirty="0" smtClean="0"/>
              <a:t>virtual support person</a:t>
            </a:r>
          </a:p>
          <a:p>
            <a:pPr lvl="1">
              <a:lnSpc>
                <a:spcPct val="120000"/>
              </a:lnSpc>
            </a:pPr>
            <a:r>
              <a:rPr lang="en-US" altLang="zh-TW" sz="2000" dirty="0" smtClean="0"/>
              <a:t>Online classroom</a:t>
            </a:r>
          </a:p>
          <a:p>
            <a:pPr lvl="1">
              <a:lnSpc>
                <a:spcPct val="120000"/>
              </a:lnSpc>
            </a:pPr>
            <a:r>
              <a:rPr lang="en-US" altLang="zh-TW" sz="2000" dirty="0" smtClean="0"/>
              <a:t>My </a:t>
            </a:r>
            <a:r>
              <a:rPr lang="en-US" altLang="zh-TW" sz="2000" dirty="0" err="1" smtClean="0"/>
              <a:t>eChalk</a:t>
            </a:r>
            <a:r>
              <a:rPr lang="en-US" altLang="zh-TW" sz="2000" dirty="0" smtClean="0"/>
              <a:t>…</a:t>
            </a:r>
          </a:p>
          <a:p>
            <a:pPr>
              <a:lnSpc>
                <a:spcPct val="120000"/>
              </a:lnSpc>
            </a:pPr>
            <a:r>
              <a:rPr lang="zh-TW" altLang="en-US" sz="2000" dirty="0" smtClean="0"/>
              <a:t>票選一個想法</a:t>
            </a:r>
            <a:r>
              <a:rPr lang="en-US" altLang="zh-TW" sz="2000" dirty="0" smtClean="0"/>
              <a:t>: </a:t>
            </a:r>
            <a:r>
              <a:rPr lang="zh-TW" altLang="en-US" sz="2000" dirty="0" smtClean="0"/>
              <a:t>利用</a:t>
            </a:r>
            <a:r>
              <a:rPr lang="en-US" altLang="zh-TW" sz="2000" dirty="0" smtClean="0"/>
              <a:t>post it note</a:t>
            </a:r>
            <a:r>
              <a:rPr lang="zh-TW" altLang="en-US" sz="2000" dirty="0" smtClean="0"/>
              <a:t>投票選出最好的</a:t>
            </a:r>
            <a:r>
              <a:rPr lang="en-US" altLang="zh-TW" sz="2000" dirty="0" smtClean="0"/>
              <a:t>hot idea</a:t>
            </a:r>
            <a:r>
              <a:rPr lang="zh-TW" altLang="en-US" sz="2000" dirty="0" smtClean="0"/>
              <a:t>，每人</a:t>
            </a:r>
            <a:r>
              <a:rPr lang="en-US" altLang="zh-TW" sz="2000" dirty="0" smtClean="0"/>
              <a:t>6</a:t>
            </a:r>
            <a:r>
              <a:rPr lang="zh-TW" altLang="en-US" sz="2000" dirty="0" smtClean="0"/>
              <a:t>票</a:t>
            </a:r>
            <a:endParaRPr lang="zh-TW" alt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Run the visioning session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sz="360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</a:t>
            </a:r>
            <a:r>
              <a:rPr lang="en-US" altLang="zh-TW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lvl="1"/>
            <a:r>
              <a:rPr lang="zh-TW" altLang="en-US" sz="2400" dirty="0" smtClean="0">
                <a:solidFill>
                  <a:schemeClr val="tx1"/>
                </a:solidFill>
              </a:rPr>
              <a:t>先將</a:t>
            </a:r>
            <a:r>
              <a:rPr lang="en-US" altLang="zh-TW" sz="2400" dirty="0" smtClean="0">
                <a:solidFill>
                  <a:schemeClr val="tx1"/>
                </a:solidFill>
              </a:rPr>
              <a:t>hot idea</a:t>
            </a:r>
            <a:r>
              <a:rPr lang="zh-TW" altLang="en-US" sz="2400" dirty="0" smtClean="0">
                <a:solidFill>
                  <a:schemeClr val="tx1"/>
                </a:solidFill>
              </a:rPr>
              <a:t>寫在</a:t>
            </a:r>
            <a:r>
              <a:rPr lang="en-US" altLang="zh-TW" sz="2400" dirty="0" smtClean="0">
                <a:solidFill>
                  <a:schemeClr val="tx1"/>
                </a:solidFill>
              </a:rPr>
              <a:t>flipchart</a:t>
            </a:r>
            <a:r>
              <a:rPr lang="zh-TW" altLang="en-US" sz="2400" dirty="0" smtClean="0">
                <a:solidFill>
                  <a:schemeClr val="tx1"/>
                </a:solidFill>
              </a:rPr>
              <a:t>上作為</a:t>
            </a:r>
            <a:r>
              <a:rPr lang="en-US" altLang="zh-TW" sz="2400" dirty="0" smtClean="0">
                <a:solidFill>
                  <a:schemeClr val="tx1"/>
                </a:solidFill>
              </a:rPr>
              <a:t>title</a:t>
            </a:r>
          </a:p>
          <a:p>
            <a:pPr lvl="1"/>
            <a:r>
              <a:rPr lang="en-US" altLang="zh-TW" sz="2400" dirty="0" smtClean="0">
                <a:solidFill>
                  <a:schemeClr val="tx1"/>
                </a:solidFill>
              </a:rPr>
              <a:t>Ask : who am I? what am I doing?</a:t>
            </a:r>
          </a:p>
          <a:p>
            <a:r>
              <a:rPr lang="en-US" altLang="zh-TW" sz="2900" dirty="0" smtClean="0">
                <a:solidFill>
                  <a:schemeClr val="tx1"/>
                </a:solidFill>
              </a:rPr>
              <a:t>Start providing ideas</a:t>
            </a:r>
          </a:p>
          <a:p>
            <a:pPr lvl="1"/>
            <a:r>
              <a:rPr lang="en-US" altLang="zh-TW" sz="2400" dirty="0" smtClean="0">
                <a:solidFill>
                  <a:schemeClr val="tx1"/>
                </a:solidFill>
              </a:rPr>
              <a:t>Everyone participate</a:t>
            </a:r>
          </a:p>
          <a:p>
            <a:pPr lvl="1"/>
            <a:r>
              <a:rPr lang="zh-TW" altLang="en-US" sz="2400" dirty="0" smtClean="0">
                <a:solidFill>
                  <a:schemeClr val="tx1"/>
                </a:solidFill>
              </a:rPr>
              <a:t>確實記錄</a:t>
            </a:r>
            <a:r>
              <a:rPr lang="en-US" altLang="zh-TW" sz="2400" dirty="0" smtClean="0">
                <a:solidFill>
                  <a:schemeClr val="tx1"/>
                </a:solidFill>
              </a:rPr>
              <a:t>ideas</a:t>
            </a:r>
          </a:p>
          <a:p>
            <a:pPr lvl="1"/>
            <a:r>
              <a:rPr lang="en-US" altLang="zh-TW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Poker: </a:t>
            </a:r>
            <a:r>
              <a:rPr lang="en-US" altLang="zh-TW" sz="24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remind areas to cover</a:t>
            </a:r>
          </a:p>
          <a:p>
            <a:pPr lvl="1"/>
            <a:r>
              <a:rPr lang="zh-TW" altLang="en-US" sz="2400" dirty="0" smtClean="0"/>
              <a:t>若是新想法則分開列出 </a:t>
            </a:r>
            <a:r>
              <a:rPr lang="en-US" altLang="zh-TW" sz="2400" dirty="0" smtClean="0"/>
              <a:t>(</a:t>
            </a:r>
            <a:r>
              <a:rPr lang="zh-TW" altLang="en-US" sz="2400" dirty="0" smtClean="0"/>
              <a:t>勿在一個新想法上太久，之後可再回來檢視</a:t>
            </a:r>
            <a:r>
              <a:rPr lang="en-US" altLang="zh-TW" sz="2400" dirty="0" smtClean="0"/>
              <a:t>)</a:t>
            </a:r>
            <a:r>
              <a:rPr lang="zh-TW" altLang="en-US" sz="2400" dirty="0" smtClean="0"/>
              <a:t>，合併相同的想法</a:t>
            </a:r>
            <a:endParaRPr lang="en-US" altLang="zh-TW" sz="2400" dirty="0" smtClean="0"/>
          </a:p>
          <a:p>
            <a:pPr lvl="1"/>
            <a:r>
              <a:rPr lang="en-US" altLang="zh-TW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Pen: </a:t>
            </a:r>
            <a:r>
              <a:rPr lang="en-US" altLang="zh-TW" sz="24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listen and synthesize ideas quickly</a:t>
            </a:r>
          </a:p>
          <a:p>
            <a:r>
              <a:rPr lang="zh-TW" altLang="en-US" sz="2900" dirty="0" smtClean="0">
                <a:solidFill>
                  <a:schemeClr val="tx1"/>
                </a:solidFill>
              </a:rPr>
              <a:t>完成第一個</a:t>
            </a:r>
            <a:r>
              <a:rPr lang="en-US" altLang="zh-TW" sz="2900" dirty="0" smtClean="0">
                <a:solidFill>
                  <a:schemeClr val="tx1"/>
                </a:solidFill>
              </a:rPr>
              <a:t>vision</a:t>
            </a:r>
            <a:r>
              <a:rPr lang="zh-TW" altLang="en-US" sz="2900" dirty="0" smtClean="0">
                <a:solidFill>
                  <a:schemeClr val="tx1"/>
                </a:solidFill>
              </a:rPr>
              <a:t>後，繼續第</a:t>
            </a:r>
            <a:r>
              <a:rPr lang="en-US" altLang="zh-TW" sz="2900" dirty="0" smtClean="0">
                <a:solidFill>
                  <a:schemeClr val="tx1"/>
                </a:solidFill>
              </a:rPr>
              <a:t>2</a:t>
            </a:r>
            <a:r>
              <a:rPr lang="zh-TW" altLang="en-US" sz="2900" dirty="0" smtClean="0">
                <a:solidFill>
                  <a:schemeClr val="tx1"/>
                </a:solidFill>
              </a:rPr>
              <a:t>、</a:t>
            </a:r>
            <a:r>
              <a:rPr lang="en-US" altLang="zh-TW" sz="2900" dirty="0" smtClean="0">
                <a:solidFill>
                  <a:schemeClr val="tx1"/>
                </a:solidFill>
              </a:rPr>
              <a:t>3</a:t>
            </a:r>
            <a:r>
              <a:rPr lang="zh-TW" altLang="en-US" sz="2900" dirty="0" smtClean="0">
                <a:solidFill>
                  <a:schemeClr val="tx1"/>
                </a:solidFill>
              </a:rPr>
              <a:t>、</a:t>
            </a:r>
            <a:r>
              <a:rPr lang="en-US" altLang="zh-TW" sz="2900" dirty="0" smtClean="0">
                <a:solidFill>
                  <a:schemeClr val="tx1"/>
                </a:solidFill>
              </a:rPr>
              <a:t>4</a:t>
            </a:r>
            <a:r>
              <a:rPr lang="zh-TW" altLang="en-US" sz="2900" dirty="0" smtClean="0">
                <a:solidFill>
                  <a:schemeClr val="tx1"/>
                </a:solidFill>
              </a:rPr>
              <a:t>個。</a:t>
            </a:r>
            <a:endParaRPr lang="zh-TW" altLang="en-US" sz="29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Evaluate the vision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01752" y="1527048"/>
            <a:ext cx="8518720" cy="5142312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 smtClean="0"/>
              <a:t>Purpose: identify what works and overcome what does not work</a:t>
            </a:r>
          </a:p>
          <a:p>
            <a:pPr lvl="1"/>
            <a:r>
              <a:rPr lang="en-US" altLang="zh-TW" b="1" dirty="0" smtClean="0"/>
              <a:t>Each vision</a:t>
            </a:r>
            <a:r>
              <a:rPr lang="zh-TW" altLang="en-US" b="1" dirty="0" smtClean="0"/>
              <a:t>包含</a:t>
            </a:r>
            <a:r>
              <a:rPr lang="en-US" altLang="zh-TW" b="1" dirty="0" smtClean="0"/>
              <a:t>:</a:t>
            </a:r>
            <a:r>
              <a:rPr lang="zh-TW" altLang="en-US" b="1" dirty="0" smtClean="0"/>
              <a:t> </a:t>
            </a:r>
            <a:r>
              <a:rPr lang="en-US" altLang="zh-TW" dirty="0" smtClean="0"/>
              <a:t>processes, function, design elements</a:t>
            </a:r>
            <a:r>
              <a:rPr lang="zh-TW" altLang="en-US" dirty="0" smtClean="0"/>
              <a:t>，可以被分別檢視</a:t>
            </a:r>
            <a:endParaRPr lang="en-US" altLang="zh-TW" dirty="0" smtClean="0"/>
          </a:p>
          <a:p>
            <a:pPr lvl="1"/>
            <a:r>
              <a:rPr lang="en-US" altLang="zh-TW" b="1" dirty="0" smtClean="0"/>
              <a:t>Good design: </a:t>
            </a:r>
            <a:r>
              <a:rPr lang="en-US" altLang="zh-TW" dirty="0" smtClean="0"/>
              <a:t>invention, recombination, iteration of parts within a system </a:t>
            </a:r>
            <a:r>
              <a:rPr lang="zh-TW" altLang="en-US" dirty="0" smtClean="0"/>
              <a:t>直至符合</a:t>
            </a:r>
            <a:r>
              <a:rPr lang="en-US" altLang="zh-TW" dirty="0" smtClean="0"/>
              <a:t>user, technology, </a:t>
            </a:r>
            <a:r>
              <a:rPr lang="en-US" altLang="zh-TW" dirty="0" err="1" smtClean="0"/>
              <a:t>besiness</a:t>
            </a:r>
            <a:r>
              <a:rPr lang="zh-TW" altLang="en-US" dirty="0" smtClean="0"/>
              <a:t>的需求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An evaluation session </a:t>
            </a:r>
            <a:r>
              <a:rPr lang="zh-TW" altLang="en-US" dirty="0" smtClean="0"/>
              <a:t>中包含評估</a:t>
            </a:r>
            <a:r>
              <a:rPr lang="en-US" altLang="zh-TW" dirty="0" smtClean="0"/>
              <a:t>2-4</a:t>
            </a:r>
            <a:r>
              <a:rPr lang="zh-TW" altLang="en-US" dirty="0" smtClean="0"/>
              <a:t>個</a:t>
            </a:r>
            <a:r>
              <a:rPr lang="en-US" altLang="zh-TW" dirty="0" smtClean="0"/>
              <a:t>visions</a:t>
            </a:r>
          </a:p>
          <a:p>
            <a:endParaRPr lang="en-US" altLang="zh-TW" sz="35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3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Plus and minus</a:t>
            </a:r>
            <a:r>
              <a:rPr lang="zh-TW" altLang="en-US" sz="3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法</a:t>
            </a:r>
            <a:endParaRPr lang="en-US" altLang="zh-TW" sz="35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altLang="zh-TW" dirty="0" smtClean="0"/>
              <a:t>Review each vision</a:t>
            </a:r>
          </a:p>
          <a:p>
            <a:pPr lvl="1"/>
            <a:r>
              <a:rPr lang="en-US" altLang="zh-TW" dirty="0" smtClean="0"/>
              <a:t>List </a:t>
            </a:r>
            <a:r>
              <a:rPr lang="en-US" altLang="zh-TW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positive </a:t>
            </a:r>
            <a:r>
              <a:rPr lang="en-US" altLang="zh-TW" dirty="0" smtClean="0"/>
              <a:t>attribute</a:t>
            </a:r>
            <a:r>
              <a:rPr lang="zh-TW" altLang="en-US" dirty="0" smtClean="0"/>
              <a:t> </a:t>
            </a:r>
            <a:r>
              <a:rPr lang="en-US" altLang="zh-TW" dirty="0" smtClean="0"/>
              <a:t>--</a:t>
            </a:r>
            <a:r>
              <a:rPr lang="zh-TW" altLang="en-US" dirty="0" smtClean="0"/>
              <a:t>  </a:t>
            </a:r>
            <a:r>
              <a:rPr lang="en-US" altLang="zh-TW" dirty="0" smtClean="0"/>
              <a:t>plus (</a:t>
            </a:r>
            <a:r>
              <a:rPr lang="zh-TW" altLang="en-US" dirty="0" smtClean="0"/>
              <a:t>優點先於缺點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List </a:t>
            </a:r>
            <a:r>
              <a:rPr lang="en-US" altLang="zh-TW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negative </a:t>
            </a:r>
            <a:r>
              <a:rPr lang="en-US" altLang="zh-TW" dirty="0" smtClean="0"/>
              <a:t>attribute – minus</a:t>
            </a:r>
          </a:p>
          <a:p>
            <a:pPr lvl="1"/>
            <a:r>
              <a:rPr lang="zh-TW" altLang="en-US" dirty="0" smtClean="0"/>
              <a:t>針對</a:t>
            </a:r>
            <a:r>
              <a:rPr lang="en-US" altLang="zh-TW" dirty="0" smtClean="0"/>
              <a:t>negative attribute </a:t>
            </a:r>
            <a:r>
              <a:rPr lang="zh-TW" altLang="en-US" dirty="0" smtClean="0"/>
              <a:t>想出思考對策 </a:t>
            </a:r>
            <a:r>
              <a:rPr lang="en-US" altLang="zh-TW" dirty="0" smtClean="0"/>
              <a:t>(</a:t>
            </a:r>
            <a:r>
              <a:rPr lang="zh-TW" altLang="en-US" dirty="0" smtClean="0"/>
              <a:t>寫在</a:t>
            </a:r>
            <a:r>
              <a:rPr lang="en-US" altLang="zh-TW" dirty="0" smtClean="0"/>
              <a:t>post-it note</a:t>
            </a:r>
            <a:r>
              <a:rPr lang="zh-TW" altLang="en-US" dirty="0" smtClean="0"/>
              <a:t>上，貼上去</a:t>
            </a:r>
            <a:r>
              <a:rPr lang="en-US" altLang="zh-TW" dirty="0" smtClean="0"/>
              <a:t>)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Plus and minus</a:t>
            </a:r>
            <a:r>
              <a:rPr lang="zh-TW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法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 smtClean="0"/>
              <a:t>Plus</a:t>
            </a:r>
          </a:p>
          <a:p>
            <a:pPr lvl="1"/>
            <a:r>
              <a:rPr lang="zh-TW" altLang="en-US" dirty="0" smtClean="0"/>
              <a:t>能支援</a:t>
            </a:r>
            <a:r>
              <a:rPr lang="en-US" altLang="zh-TW" dirty="0" smtClean="0"/>
              <a:t>User‘s work</a:t>
            </a:r>
          </a:p>
          <a:p>
            <a:pPr lvl="1"/>
            <a:r>
              <a:rPr lang="en-US" altLang="zh-TW" dirty="0" smtClean="0"/>
              <a:t>Has good sales potential </a:t>
            </a:r>
            <a:r>
              <a:rPr lang="zh-TW" altLang="en-US" dirty="0" smtClean="0"/>
              <a:t>有賣點，能說服買方的</a:t>
            </a:r>
            <a:r>
              <a:rPr lang="en-US" altLang="zh-TW" dirty="0" smtClean="0"/>
              <a:t>decision-maker</a:t>
            </a:r>
          </a:p>
          <a:p>
            <a:pPr lvl="1"/>
            <a:r>
              <a:rPr lang="en-US" altLang="zh-TW" dirty="0" smtClean="0"/>
              <a:t>Design is doable</a:t>
            </a:r>
            <a:r>
              <a:rPr lang="zh-TW" altLang="en-US" dirty="0" smtClean="0"/>
              <a:t>可行的</a:t>
            </a:r>
            <a:r>
              <a:rPr lang="en-US" altLang="zh-TW" dirty="0" smtClean="0"/>
              <a:t> within organization </a:t>
            </a:r>
          </a:p>
          <a:p>
            <a:pPr lvl="1"/>
            <a:r>
              <a:rPr lang="en-US" altLang="zh-TW" dirty="0" smtClean="0"/>
              <a:t>Support the organizational mission</a:t>
            </a:r>
          </a:p>
          <a:p>
            <a:r>
              <a:rPr lang="en-US" altLang="zh-TW" dirty="0" smtClean="0"/>
              <a:t>Minus</a:t>
            </a:r>
          </a:p>
          <a:p>
            <a:pPr lvl="1"/>
            <a:r>
              <a:rPr lang="zh-TW" altLang="en-US" dirty="0" smtClean="0"/>
              <a:t>同上</a:t>
            </a:r>
            <a:r>
              <a:rPr lang="en-US" altLang="zh-TW" dirty="0" smtClean="0"/>
              <a:t>(</a:t>
            </a:r>
            <a:r>
              <a:rPr lang="zh-TW" altLang="en-US" dirty="0" smtClean="0"/>
              <a:t>相反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Is not technically doable</a:t>
            </a:r>
          </a:p>
          <a:p>
            <a:pPr lvl="1"/>
            <a:r>
              <a:rPr lang="en-US" altLang="zh-TW" dirty="0" smtClean="0"/>
              <a:t>Require too much organizational politics or new processes to succeed.</a:t>
            </a:r>
          </a:p>
          <a:p>
            <a:pPr lvl="1">
              <a:buNone/>
            </a:pPr>
            <a:r>
              <a:rPr lang="en-US" altLang="zh-TW" b="1" dirty="0" smtClean="0"/>
              <a:t>See p224 for examples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Create one consolidated vision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/>
              <a:t>It combines visions to eliminate the negative and reinforce the positive.</a:t>
            </a:r>
          </a:p>
          <a:p>
            <a:pPr lvl="1"/>
            <a:r>
              <a:rPr lang="zh-TW" altLang="en-US" sz="2400" dirty="0" smtClean="0"/>
              <a:t>若</a:t>
            </a:r>
            <a:r>
              <a:rPr lang="en-US" altLang="zh-TW" sz="2400" dirty="0" smtClean="0"/>
              <a:t>visions</a:t>
            </a:r>
            <a:r>
              <a:rPr lang="zh-TW" altLang="en-US" sz="2400" dirty="0" smtClean="0"/>
              <a:t>間彼此不衝突，畫一個</a:t>
            </a:r>
            <a:r>
              <a:rPr lang="zh-TW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新的</a:t>
            </a:r>
            <a:r>
              <a:rPr lang="en-US" altLang="zh-TW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vision</a:t>
            </a:r>
            <a:r>
              <a:rPr lang="zh-TW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包含所有必要的部分</a:t>
            </a:r>
            <a:endParaRPr lang="en-US" altLang="zh-TW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zh-TW" altLang="en-US" sz="2400" dirty="0" smtClean="0"/>
              <a:t>若</a:t>
            </a:r>
            <a:r>
              <a:rPr lang="en-US" altLang="zh-TW" sz="2400" dirty="0" smtClean="0"/>
              <a:t>visions</a:t>
            </a:r>
            <a:r>
              <a:rPr lang="zh-TW" altLang="en-US" sz="2400" dirty="0" smtClean="0"/>
              <a:t>間因為不同的商業假設或科技平台而有衝突 </a:t>
            </a:r>
            <a:r>
              <a:rPr lang="en-US" altLang="zh-TW" sz="2400" dirty="0" smtClean="0"/>
              <a:t>–</a:t>
            </a:r>
            <a:r>
              <a:rPr lang="zh-TW" altLang="en-US" sz="2400" dirty="0" smtClean="0"/>
              <a:t> </a:t>
            </a:r>
            <a:endParaRPr lang="en-US" altLang="zh-TW" sz="2400" dirty="0" smtClean="0"/>
          </a:p>
          <a:p>
            <a:pPr lvl="2"/>
            <a:r>
              <a:rPr lang="zh-TW" altLang="en-US" sz="2400" dirty="0" smtClean="0"/>
              <a:t>依從會運作的</a:t>
            </a:r>
            <a:r>
              <a:rPr lang="en-US" altLang="zh-TW" sz="2400" dirty="0" smtClean="0"/>
              <a:t>technology &amp; business assumption</a:t>
            </a:r>
            <a:r>
              <a:rPr lang="zh-TW" altLang="en-US" sz="2400" dirty="0" smtClean="0"/>
              <a:t>，將所有</a:t>
            </a:r>
            <a:r>
              <a:rPr lang="en-US" altLang="zh-TW" sz="2400" dirty="0" smtClean="0"/>
              <a:t>visions</a:t>
            </a:r>
            <a:r>
              <a:rPr lang="zh-TW" altLang="en-US" sz="2400" dirty="0" smtClean="0"/>
              <a:t>中與此</a:t>
            </a:r>
            <a:r>
              <a:rPr lang="en-US" altLang="zh-TW" sz="2400" dirty="0" smtClean="0"/>
              <a:t>assumption</a:t>
            </a:r>
            <a:r>
              <a:rPr lang="zh-TW" altLang="en-US" sz="2400" dirty="0" smtClean="0"/>
              <a:t>相符的部分圈起來，修改掉不符合的部分，重新畫一個</a:t>
            </a:r>
            <a:r>
              <a:rPr lang="en-US" altLang="zh-TW" sz="2400" dirty="0" smtClean="0"/>
              <a:t>vision</a:t>
            </a:r>
            <a:r>
              <a:rPr lang="zh-TW" altLang="en-US" sz="2400" dirty="0" smtClean="0"/>
              <a:t>圖</a:t>
            </a:r>
            <a:endParaRPr lang="en-US" altLang="zh-TW" sz="2400" dirty="0" smtClean="0"/>
          </a:p>
          <a:p>
            <a:pPr lvl="1"/>
            <a:r>
              <a:rPr lang="zh-TW" altLang="en-US" sz="2600" dirty="0" smtClean="0"/>
              <a:t>若一個</a:t>
            </a:r>
            <a:r>
              <a:rPr lang="en-US" altLang="zh-TW" sz="2600" dirty="0" smtClean="0"/>
              <a:t>vision</a:t>
            </a:r>
            <a:r>
              <a:rPr lang="zh-TW" altLang="en-US" sz="2600" dirty="0" smtClean="0"/>
              <a:t>的科技需要預先去調查，開始組成</a:t>
            </a:r>
            <a:r>
              <a:rPr lang="en-US" altLang="zh-TW" sz="2600" dirty="0" smtClean="0"/>
              <a:t>technical team</a:t>
            </a:r>
            <a:r>
              <a:rPr lang="zh-TW" altLang="en-US" sz="2600" dirty="0" smtClean="0"/>
              <a:t>，同時一邊設計，隨時依科技狀況調整</a:t>
            </a:r>
            <a:endParaRPr lang="en-US" altLang="zh-TW" sz="2600" dirty="0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完成後重新畫一個圖 </a:t>
            </a:r>
            <a:r>
              <a:rPr lang="en-US" altLang="zh-TW" dirty="0" smtClean="0"/>
              <a:t>(</a:t>
            </a:r>
            <a:r>
              <a:rPr lang="zh-TW" altLang="en-US" dirty="0" smtClean="0"/>
              <a:t>參考</a:t>
            </a:r>
            <a:r>
              <a:rPr lang="en-US" altLang="zh-TW" dirty="0" smtClean="0"/>
              <a:t>p. 226)</a:t>
            </a:r>
            <a:r>
              <a:rPr lang="zh-TW" altLang="en-US" dirty="0" smtClean="0"/>
              <a:t>，加上簡短文字敘述 </a:t>
            </a:r>
            <a:r>
              <a:rPr lang="en-US" altLang="zh-TW" dirty="0" smtClean="0"/>
              <a:t>(</a:t>
            </a:r>
            <a:r>
              <a:rPr lang="zh-TW" altLang="en-US" dirty="0" smtClean="0"/>
              <a:t>參考</a:t>
            </a:r>
            <a:r>
              <a:rPr lang="en-US" altLang="zh-TW" dirty="0" smtClean="0"/>
              <a:t>p. 227)</a:t>
            </a:r>
            <a:r>
              <a:rPr lang="zh-TW" altLang="en-US" dirty="0" smtClean="0"/>
              <a:t>　－－－成為</a:t>
            </a:r>
            <a:r>
              <a:rPr lang="en-US" altLang="zh-TW" sz="3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high-level use case or user story</a:t>
            </a:r>
            <a:endParaRPr lang="zh-TW" altLang="en-US" sz="3600" b="1" dirty="0" smtClean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zh-TW" altLang="en-US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</TotalTime>
  <Words>1583</Words>
  <Application>Microsoft Office PowerPoint</Application>
  <PresentationFormat>如螢幕大小 (4:3)</PresentationFormat>
  <Paragraphs>206</Paragraphs>
  <Slides>21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6" baseType="lpstr">
      <vt:lpstr>新細明體</vt:lpstr>
      <vt:lpstr>Arial</vt:lpstr>
      <vt:lpstr>Calibri</vt:lpstr>
      <vt:lpstr>Wingdings 2</vt:lpstr>
      <vt:lpstr>Office 佈景主題</vt:lpstr>
      <vt:lpstr> C11 Visioning a new way to work</vt:lpstr>
      <vt:lpstr>Visioning</vt:lpstr>
      <vt:lpstr>PowerPoint 簡報</vt:lpstr>
      <vt:lpstr>Definition of vision</vt:lpstr>
      <vt:lpstr>Key concepts</vt:lpstr>
      <vt:lpstr>Process for visioning</vt:lpstr>
      <vt:lpstr>開始visioning 過程</vt:lpstr>
      <vt:lpstr>Review how to vision (在1-2 天內完成)</vt:lpstr>
      <vt:lpstr>Review how to vision --Introduce the visioning process </vt:lpstr>
      <vt:lpstr>PowerPoint 簡報</vt:lpstr>
      <vt:lpstr>PowerPoint 簡報</vt:lpstr>
      <vt:lpstr>Review how to vision --Introduce the roles</vt:lpstr>
      <vt:lpstr>Review how to vision – explain the rules</vt:lpstr>
      <vt:lpstr>Review issues and hot ideas</vt:lpstr>
      <vt:lpstr>Define parameters for the vision 定義界線</vt:lpstr>
      <vt:lpstr>Select a hot idea for the first vision</vt:lpstr>
      <vt:lpstr>Run the visioning session</vt:lpstr>
      <vt:lpstr>Evaluate the vision</vt:lpstr>
      <vt:lpstr>Plus and minus法</vt:lpstr>
      <vt:lpstr>Create one consolidated vision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W12 C11 Visioning a new way to work</dc:title>
  <dc:creator>user</dc:creator>
  <cp:lastModifiedBy>User</cp:lastModifiedBy>
  <cp:revision>226</cp:revision>
  <dcterms:created xsi:type="dcterms:W3CDTF">2011-05-10T01:24:51Z</dcterms:created>
  <dcterms:modified xsi:type="dcterms:W3CDTF">2018-09-13T07:53:52Z</dcterms:modified>
</cp:coreProperties>
</file>