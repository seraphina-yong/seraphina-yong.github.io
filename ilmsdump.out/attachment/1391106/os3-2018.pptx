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tags/tag1.xml" ContentType="application/vnd.openxmlformats-officedocument.presentationml.tag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66"/>
  </p:notesMasterIdLst>
  <p:handoutMasterIdLst>
    <p:handoutMasterId r:id="rId67"/>
  </p:handoutMasterIdLst>
  <p:sldIdLst>
    <p:sldId id="368" r:id="rId2"/>
    <p:sldId id="369" r:id="rId3"/>
    <p:sldId id="370" r:id="rId4"/>
    <p:sldId id="391" r:id="rId5"/>
    <p:sldId id="371" r:id="rId6"/>
    <p:sldId id="372" r:id="rId7"/>
    <p:sldId id="373" r:id="rId8"/>
    <p:sldId id="374" r:id="rId9"/>
    <p:sldId id="375" r:id="rId10"/>
    <p:sldId id="376" r:id="rId11"/>
    <p:sldId id="407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387" r:id="rId21"/>
    <p:sldId id="404" r:id="rId22"/>
    <p:sldId id="408" r:id="rId23"/>
    <p:sldId id="348" r:id="rId24"/>
    <p:sldId id="349" r:id="rId25"/>
    <p:sldId id="389" r:id="rId26"/>
    <p:sldId id="390" r:id="rId27"/>
    <p:sldId id="351" r:id="rId28"/>
    <p:sldId id="406" r:id="rId29"/>
    <p:sldId id="405" r:id="rId30"/>
    <p:sldId id="409" r:id="rId31"/>
    <p:sldId id="352" r:id="rId32"/>
    <p:sldId id="353" r:id="rId33"/>
    <p:sldId id="354" r:id="rId34"/>
    <p:sldId id="355" r:id="rId35"/>
    <p:sldId id="356" r:id="rId36"/>
    <p:sldId id="357" r:id="rId37"/>
    <p:sldId id="401" r:id="rId38"/>
    <p:sldId id="358" r:id="rId39"/>
    <p:sldId id="365" r:id="rId40"/>
    <p:sldId id="359" r:id="rId41"/>
    <p:sldId id="366" r:id="rId42"/>
    <p:sldId id="360" r:id="rId43"/>
    <p:sldId id="361" r:id="rId44"/>
    <p:sldId id="362" r:id="rId45"/>
    <p:sldId id="363" r:id="rId46"/>
    <p:sldId id="364" r:id="rId47"/>
    <p:sldId id="367" r:id="rId48"/>
    <p:sldId id="340" r:id="rId49"/>
    <p:sldId id="341" r:id="rId50"/>
    <p:sldId id="342" r:id="rId51"/>
    <p:sldId id="396" r:id="rId52"/>
    <p:sldId id="397" r:id="rId53"/>
    <p:sldId id="403" r:id="rId54"/>
    <p:sldId id="300" r:id="rId55"/>
    <p:sldId id="301" r:id="rId56"/>
    <p:sldId id="302" r:id="rId57"/>
    <p:sldId id="402" r:id="rId58"/>
    <p:sldId id="293" r:id="rId59"/>
    <p:sldId id="410" r:id="rId60"/>
    <p:sldId id="411" r:id="rId61"/>
    <p:sldId id="303" r:id="rId62"/>
    <p:sldId id="295" r:id="rId63"/>
    <p:sldId id="399" r:id="rId64"/>
    <p:sldId id="400" r:id="rId65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FF"/>
    <a:srgbClr val="008000"/>
    <a:srgbClr val="FF99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4569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7"/>
    </p:cViewPr>
  </p:sorterViewPr>
  <p:notesViewPr>
    <p:cSldViewPr snapToGrid="0">
      <p:cViewPr varScale="1">
        <p:scale>
          <a:sx n="64" d="100"/>
          <a:sy n="64" d="100"/>
        </p:scale>
        <p:origin x="-1914" y="-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50.xml"/><Relationship Id="rId1" Type="http://schemas.openxmlformats.org/officeDocument/2006/relationships/slide" Target="slides/slide4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6426" cy="49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ctr" anchorCtr="0" compatLnSpc="1">
            <a:prstTxWarp prst="textNoShape">
              <a:avLst/>
            </a:prstTxWarp>
          </a:bodyPr>
          <a:lstStyle>
            <a:lvl1pPr defTabSz="947072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8262" y="0"/>
            <a:ext cx="2968015" cy="49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ctr" anchorCtr="0" compatLnSpc="1">
            <a:prstTxWarp prst="textNoShape">
              <a:avLst/>
            </a:prstTxWarp>
          </a:bodyPr>
          <a:lstStyle>
            <a:lvl1pPr algn="r" defTabSz="947072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64145"/>
            <a:ext cx="2966426" cy="489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b" anchorCtr="0" compatLnSpc="1">
            <a:prstTxWarp prst="textNoShape">
              <a:avLst/>
            </a:prstTxWarp>
          </a:bodyPr>
          <a:lstStyle>
            <a:lvl1pPr defTabSz="947072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8262" y="9464145"/>
            <a:ext cx="2968015" cy="489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b" anchorCtr="0" compatLnSpc="1">
            <a:prstTxWarp prst="textNoShape">
              <a:avLst/>
            </a:prstTxWarp>
          </a:bodyPr>
          <a:lstStyle>
            <a:lvl1pPr algn="r" defTabSz="945696" eaLnBrk="0" hangingPunct="0">
              <a:defRPr kumimoji="0" sz="1300" smtClean="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97F3F260-2019-4A76-9207-274D3B4292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1182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6426" cy="49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ctr" anchorCtr="0" compatLnSpc="1">
            <a:prstTxWarp prst="textNoShape">
              <a:avLst/>
            </a:prstTxWarp>
          </a:bodyPr>
          <a:lstStyle>
            <a:lvl1pPr defTabSz="947072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8262" y="0"/>
            <a:ext cx="2968015" cy="49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ctr" anchorCtr="0" compatLnSpc="1">
            <a:prstTxWarp prst="textNoShape">
              <a:avLst/>
            </a:prstTxWarp>
          </a:bodyPr>
          <a:lstStyle>
            <a:lvl1pPr algn="r" defTabSz="947072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6600"/>
            <a:ext cx="5000625" cy="37512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1836" y="4732867"/>
            <a:ext cx="5042606" cy="4488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145"/>
            <a:ext cx="2966426" cy="489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b" anchorCtr="0" compatLnSpc="1">
            <a:prstTxWarp prst="textNoShape">
              <a:avLst/>
            </a:prstTxWarp>
          </a:bodyPr>
          <a:lstStyle>
            <a:lvl1pPr defTabSz="947072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8262" y="9464145"/>
            <a:ext cx="2968015" cy="489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4837" tIns="47418" rIns="94837" bIns="47418" numCol="1" anchor="b" anchorCtr="0" compatLnSpc="1">
            <a:prstTxWarp prst="textNoShape">
              <a:avLst/>
            </a:prstTxWarp>
          </a:bodyPr>
          <a:lstStyle>
            <a:lvl1pPr algn="r" defTabSz="945696" eaLnBrk="0" hangingPunct="0">
              <a:defRPr kumimoji="0" sz="1300" smtClean="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fld id="{DEC019C0-8305-421E-A189-BC0486C0F93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537820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508444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47031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066003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60953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90874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099915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36623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500982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144220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210349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09155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952068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484544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263435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840416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223991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134154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173157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616788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23311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024771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215321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04538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3852136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2821118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888584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8006679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96341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440280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2409504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847372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9497467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0579524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504533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1911637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568863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2135004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305525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5808672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48595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258004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881464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8694242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8566046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09311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3279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2269859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0998254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564471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836" y="4734457"/>
            <a:ext cx="5042606" cy="4486528"/>
          </a:xfrm>
          <a:noFill/>
        </p:spPr>
        <p:txBody>
          <a:bodyPr lIns="90828" tIns="45413" rIns="90828" bIns="45413"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9043581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836" y="4734457"/>
            <a:ext cx="5042606" cy="4486528"/>
          </a:xfrm>
          <a:noFill/>
        </p:spPr>
        <p:txBody>
          <a:bodyPr lIns="90828" tIns="45413" rIns="90828" bIns="45413"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0557072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  <p:sp>
        <p:nvSpPr>
          <p:cNvPr id="11162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4569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4569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4569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4569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45696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4569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4569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4569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45696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8E43873-DD5B-47BF-B79A-ECD934549B53}" type="slidenum">
              <a:rPr kumimoji="0" lang="zh-TW" altLang="en-US" sz="1300">
                <a:latin typeface="Helvetica" panose="020B0604020202020204" pitchFamily="34" charset="0"/>
              </a:rPr>
              <a:pPr>
                <a:spcBef>
                  <a:spcPct val="0"/>
                </a:spcBef>
              </a:pPr>
              <a:t>53</a:t>
            </a:fld>
            <a:endParaRPr kumimoji="0" lang="en-US" altLang="zh-TW" sz="130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071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41827721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96271281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580232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004061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318426289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12742227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9135722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8924612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5170958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415613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244627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9325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9325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ED743E-D4F6-4721-84D9-D7259AB634FA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D43A1F-F144-4FD5-9453-CCA95E8A5A3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618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39EAF-C64B-423D-A5DA-5E8FD29A7B53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F2340-561F-4B59-A023-5CC34A0DFA0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127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471BCF-9B15-462B-9A81-17EC25577BF3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D399D-69CB-40FD-8E1C-83BE4193D18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933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90BC4-16D9-43CA-8C41-F47650FDAA7D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69FF2-DDBB-43E9-9166-1C0CFF2A4A7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41283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30D8D-E343-4511-80B3-262374F8E4ED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652CB-A4B6-4AE1-A5A3-9847AD45CA8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369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88830-C5BF-4549-9E24-7EC506402C9C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A8895-40AF-450D-9BBF-F6CA94C47F4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1349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155A11-2E87-41B3-8BAF-3347A7FE25F8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A9775-6221-4E9C-B352-4572D34EE7E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027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5356D3-98C6-424F-9DE2-4AD33BAD69F5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030EC-2AAE-44B4-9A0E-9C78CAF80D9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72273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F9696-8A96-4003-8F0C-4790E8EC04F3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5D229-CB00-494A-86D5-31EF719C3A6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339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8587CE-E3CA-411B-AA17-5403D875F62A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6222-1943-4A7B-B5F0-AEAD055B85A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9159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55C84-CB38-4C08-BB48-7254B89C6EB1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C3D3C1-5BFC-4CDE-8F24-E19445204A5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602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92225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smtClean="0"/>
            </a:lvl1pPr>
          </a:lstStyle>
          <a:p>
            <a:pPr>
              <a:defRPr/>
            </a:pPr>
            <a:fld id="{F8615498-5A09-43FE-8687-9E331FC3B548}" type="datetime1">
              <a:rPr lang="zh-TW" altLang="en-US" smtClean="0"/>
              <a:t>2018/3/5</a:t>
            </a:fld>
            <a:endParaRPr lang="en-US" altLang="zh-TW"/>
          </a:p>
        </p:txBody>
      </p:sp>
      <p:sp>
        <p:nvSpPr>
          <p:cNvPr id="92226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r>
              <a:rPr lang="en-US" altLang="zh-TW" smtClean="0"/>
              <a:t>OS3 2018</a:t>
            </a:r>
            <a:endParaRPr lang="en-US" altLang="zh-TW"/>
          </a:p>
        </p:txBody>
      </p:sp>
      <p:sp>
        <p:nvSpPr>
          <p:cNvPr id="92227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/>
            </a:lvl1pPr>
          </a:lstStyle>
          <a:p>
            <a:pPr>
              <a:defRPr/>
            </a:pPr>
            <a:fld id="{AF02FEE0-EFBD-4776-885F-FF28030E938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6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slide" Target="slide23.xml"/><Relationship Id="rId4" Type="http://schemas.openxmlformats.org/officeDocument/2006/relationships/image" Target="../media/image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3.jpeg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BC92B2-27A9-4A45-8517-B19635B76E87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DE5A0B-3048-4D63-9592-02F7880E53B3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2350" y="2624138"/>
            <a:ext cx="7481888" cy="1550987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smtClean="0"/>
              <a:t>Chapter 3 </a:t>
            </a:r>
            <a:br>
              <a:rPr lang="en-US" altLang="zh-TW" sz="4800" smtClean="0"/>
            </a:br>
            <a:r>
              <a:rPr lang="en-US" altLang="zh-TW" sz="4800" smtClean="0"/>
              <a:t>Processes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504212-1C84-40A9-A2A5-6F68E150E16A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71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71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9F0587-91D5-4331-8A3B-122D58812871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/>
          </a:p>
        </p:txBody>
      </p:sp>
      <p:sp>
        <p:nvSpPr>
          <p:cNvPr id="717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6918325" cy="692150"/>
          </a:xfrm>
        </p:spPr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7174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974725"/>
            <a:ext cx="8154988" cy="4899025"/>
          </a:xfrm>
        </p:spPr>
        <p:txBody>
          <a:bodyPr/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TW" smtClean="0"/>
              <a:t>Process Concept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TW" smtClean="0"/>
              <a:t>Process Scheduling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TW" smtClean="0"/>
              <a:t>Operations on Processes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TW" smtClean="0"/>
              <a:t>Cooperating Processes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TW" smtClean="0">
                <a:solidFill>
                  <a:srgbClr val="FF3300"/>
                </a:solidFill>
              </a:rPr>
              <a:t>Interprocess Communication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en-US" altLang="zh-TW" smtClean="0"/>
              <a:t>Communication in Client-Server Systems</a:t>
            </a:r>
            <a:endParaRPr lang="en-US" altLang="zh-TW" sz="3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6DFB1C-B370-4C06-86B7-7992FE26D2EC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92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92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E3F9F7-0CF3-47A9-AC40-1851163BB938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/>
          </a:p>
        </p:txBody>
      </p:sp>
      <p:sp>
        <p:nvSpPr>
          <p:cNvPr id="922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20738" y="0"/>
            <a:ext cx="7178675" cy="8651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Process Concept (1)</a:t>
            </a:r>
          </a:p>
        </p:txBody>
      </p:sp>
      <p:sp>
        <p:nvSpPr>
          <p:cNvPr id="181251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3838" y="768350"/>
            <a:ext cx="8672512" cy="554831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sz="2800" b="1" dirty="0" smtClean="0">
                <a:solidFill>
                  <a:srgbClr val="FF3300"/>
                </a:solidFill>
              </a:rPr>
              <a:t>Process</a:t>
            </a:r>
            <a:r>
              <a:rPr lang="en-US" altLang="zh-TW" sz="2800" i="1" dirty="0" smtClean="0">
                <a:solidFill>
                  <a:srgbClr val="FFCC00"/>
                </a:solidFill>
              </a:rPr>
              <a:t> </a:t>
            </a:r>
            <a:r>
              <a:rPr lang="en-US" altLang="zh-TW" sz="2800" dirty="0" smtClean="0"/>
              <a:t>(</a:t>
            </a:r>
            <a:r>
              <a:rPr lang="en-US" altLang="zh-TW" sz="2800" dirty="0" smtClean="0">
                <a:solidFill>
                  <a:srgbClr val="FF3300"/>
                </a:solidFill>
              </a:rPr>
              <a:t>job</a:t>
            </a:r>
            <a:r>
              <a:rPr lang="en-US" altLang="zh-TW" sz="2800" dirty="0" smtClean="0"/>
              <a:t>): a program in execution (</a:t>
            </a:r>
            <a:r>
              <a:rPr lang="en-US" altLang="zh-TW" sz="2800" dirty="0" smtClean="0">
                <a:solidFill>
                  <a:schemeClr val="tx2"/>
                </a:solidFill>
              </a:rPr>
              <a:t>informally</a:t>
            </a:r>
            <a:r>
              <a:rPr lang="en-US" altLang="zh-TW" sz="2800" dirty="0" smtClean="0"/>
              <a:t>) 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the </a:t>
            </a:r>
            <a:r>
              <a:rPr lang="en-US" altLang="zh-TW" sz="2400" dirty="0" smtClean="0">
                <a:solidFill>
                  <a:srgbClr val="0000FF"/>
                </a:solidFill>
              </a:rPr>
              <a:t>unit of work</a:t>
            </a:r>
            <a:r>
              <a:rPr lang="en-US" altLang="zh-TW" sz="2400" dirty="0" smtClean="0"/>
              <a:t> in most systems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A system consists of a collection of processes (system processes and user processes) executing </a:t>
            </a:r>
            <a:r>
              <a:rPr lang="en-US" altLang="zh-TW" sz="2400" dirty="0" smtClean="0">
                <a:solidFill>
                  <a:srgbClr val="FF3300"/>
                </a:solidFill>
              </a:rPr>
              <a:t>concurrently</a:t>
            </a:r>
            <a:r>
              <a:rPr lang="en-US" altLang="zh-TW" sz="2400" dirty="0" smtClean="0"/>
              <a:t>, with </a:t>
            </a:r>
            <a:r>
              <a:rPr lang="en-US" altLang="zh-TW" sz="2400" dirty="0" smtClean="0">
                <a:solidFill>
                  <a:srgbClr val="0000FF"/>
                </a:solidFill>
              </a:rPr>
              <a:t>CPU multiplexed among them</a:t>
            </a:r>
          </a:p>
          <a:p>
            <a:pPr eaLnBrk="1" hangingPunct="1">
              <a:spcBef>
                <a:spcPts val="1200"/>
              </a:spcBef>
              <a:defRPr/>
            </a:pPr>
            <a:r>
              <a:rPr lang="en-US" altLang="zh-TW" sz="2800" dirty="0" smtClean="0"/>
              <a:t>A process is more than the program code (known as the </a:t>
            </a:r>
            <a:r>
              <a:rPr lang="en-US" altLang="zh-TW" sz="2800" dirty="0" smtClean="0">
                <a:solidFill>
                  <a:srgbClr val="FF3300"/>
                </a:solidFill>
              </a:rPr>
              <a:t>text section</a:t>
            </a:r>
            <a:r>
              <a:rPr lang="en-US" altLang="zh-TW" sz="2800" dirty="0" smtClean="0"/>
              <a:t>). It also includes: (more 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formal definition</a:t>
            </a:r>
            <a:r>
              <a:rPr lang="en-US" altLang="zh-TW" sz="2800" dirty="0" smtClean="0"/>
              <a:t>)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current activity (</a:t>
            </a:r>
            <a:r>
              <a:rPr lang="en-US" altLang="zh-TW" sz="2400" dirty="0" smtClean="0">
                <a:solidFill>
                  <a:srgbClr val="FF3300"/>
                </a:solidFill>
              </a:rPr>
              <a:t>program counter,</a:t>
            </a:r>
            <a:r>
              <a:rPr lang="en-US" altLang="zh-TW" sz="2400" dirty="0" smtClean="0">
                <a:solidFill>
                  <a:srgbClr val="FFCC00"/>
                </a:solidFill>
              </a:rPr>
              <a:t> </a:t>
            </a:r>
            <a:r>
              <a:rPr lang="en-US" altLang="zh-TW" sz="2400" dirty="0" smtClean="0"/>
              <a:t>content of registers)</a:t>
            </a:r>
            <a:endParaRPr lang="en-US" altLang="zh-TW" sz="2400" dirty="0" smtClean="0">
              <a:solidFill>
                <a:srgbClr val="FFCC00"/>
              </a:solidFill>
            </a:endParaRP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3300"/>
                </a:solidFill>
              </a:rPr>
              <a:t>stack</a:t>
            </a:r>
            <a:r>
              <a:rPr lang="en-US" altLang="zh-TW" sz="2400" i="1" dirty="0" smtClean="0">
                <a:solidFill>
                  <a:srgbClr val="FFCC00"/>
                </a:solidFill>
              </a:rPr>
              <a:t> </a:t>
            </a:r>
            <a:r>
              <a:rPr lang="en-US" altLang="zh-TW" sz="2400" dirty="0" smtClean="0"/>
              <a:t>containing temporary data (e.g., parameters)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0000"/>
                </a:solidFill>
              </a:rPr>
              <a:t>heap</a:t>
            </a:r>
            <a:r>
              <a:rPr lang="en-US" altLang="zh-TW" sz="2400" dirty="0" smtClean="0">
                <a:solidFill>
                  <a:srgbClr val="FFCC00"/>
                </a:solidFill>
              </a:rPr>
              <a:t> </a:t>
            </a:r>
            <a:r>
              <a:rPr lang="en-US" altLang="zh-TW" sz="2400" dirty="0"/>
              <a:t>containing memory dynamically </a:t>
            </a:r>
            <a:r>
              <a:rPr lang="en-US" altLang="zh-TW" sz="2400" dirty="0" smtClean="0"/>
              <a:t>allocated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3300"/>
                </a:solidFill>
              </a:rPr>
              <a:t>data section</a:t>
            </a:r>
            <a:r>
              <a:rPr lang="en-US" altLang="zh-TW" sz="2400" dirty="0" smtClean="0">
                <a:solidFill>
                  <a:srgbClr val="FFCC00"/>
                </a:solidFill>
              </a:rPr>
              <a:t> </a:t>
            </a:r>
            <a:r>
              <a:rPr lang="en-US" altLang="zh-TW" sz="2400" dirty="0" smtClean="0"/>
              <a:t>containing global variables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a set of associated resources</a:t>
            </a:r>
          </a:p>
          <a:p>
            <a:pPr eaLnBrk="1" hangingPunct="1">
              <a:defRPr/>
            </a:pPr>
            <a:endParaRPr lang="en-US" altLang="zh-TW" sz="2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C6D5DC-1F00-4002-B648-EEF70519FBC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1267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126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BFDD71-0A4B-413D-B46B-6238BA67CB7C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Process in Memory</a:t>
            </a:r>
          </a:p>
        </p:txBody>
      </p:sp>
      <p:pic>
        <p:nvPicPr>
          <p:cNvPr id="1127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2" t="1192" r="27121" b="1192"/>
          <a:stretch>
            <a:fillRect/>
          </a:stretch>
        </p:blipFill>
        <p:spPr bwMode="auto">
          <a:xfrm>
            <a:off x="3568700" y="1782763"/>
            <a:ext cx="2522538" cy="403383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741C88-AC2D-4F42-A1BD-EFA0B1842357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33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F261B7-2EDD-4E5F-BA20-FA0861665EF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820738" y="0"/>
            <a:ext cx="7178675" cy="86518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Process Concept (2)</a:t>
            </a:r>
          </a:p>
        </p:txBody>
      </p:sp>
      <p:sp>
        <p:nvSpPr>
          <p:cNvPr id="182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3838" y="812800"/>
            <a:ext cx="8656637" cy="527367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program counter</a:t>
            </a:r>
            <a:r>
              <a:rPr lang="en-US" altLang="zh-TW" sz="2800" dirty="0" smtClean="0"/>
              <a:t>: 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next</a:t>
            </a:r>
            <a:r>
              <a:rPr lang="en-US" altLang="zh-TW" sz="2800" dirty="0" smtClean="0"/>
              <a:t> instruction to be executed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A program is a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passive</a:t>
            </a:r>
            <a:r>
              <a:rPr lang="en-US" altLang="zh-TW" sz="2800" dirty="0" smtClean="0"/>
              <a:t> entity but a process is an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active</a:t>
            </a:r>
            <a:r>
              <a:rPr lang="en-US" altLang="zh-TW" sz="2800" dirty="0" smtClean="0"/>
              <a:t> entity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Two processes may be associated with the same program, they are considered as</a:t>
            </a:r>
            <a:r>
              <a:rPr lang="en-US" altLang="zh-TW" sz="2800" dirty="0" smtClean="0">
                <a:solidFill>
                  <a:srgbClr val="FFCC00"/>
                </a:solidFill>
              </a:rPr>
              <a:t> </a:t>
            </a:r>
            <a:r>
              <a:rPr lang="en-US" altLang="zh-TW" sz="2800" dirty="0" smtClean="0"/>
              <a:t>separate execution sequences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They have the same text section, but their data section will vary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TW" sz="2000" dirty="0" smtClean="0"/>
              <a:t>e.g., several users may running the copies of the mail/editor</a:t>
            </a:r>
            <a:r>
              <a:rPr lang="en-US" altLang="zh-TW" sz="2000" dirty="0" smtClean="0">
                <a:solidFill>
                  <a:srgbClr val="FFCC00"/>
                </a:solidFill>
              </a:rPr>
              <a:t> </a:t>
            </a:r>
            <a:r>
              <a:rPr lang="en-US" altLang="zh-TW" sz="2000" dirty="0" smtClean="0"/>
              <a:t>program</a:t>
            </a:r>
          </a:p>
          <a:p>
            <a:pPr eaLnBrk="1" hangingPunct="1">
              <a:defRPr/>
            </a:pPr>
            <a:r>
              <a:rPr lang="en-US" altLang="zh-TW" sz="2800" dirty="0" smtClean="0"/>
              <a:t>A process may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spawn</a:t>
            </a:r>
            <a:r>
              <a:rPr lang="en-US" altLang="zh-TW" sz="2800" dirty="0" smtClean="0"/>
              <a:t> many processes as it runs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2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CAF081-10D9-4CB8-BF55-5FCB36A7263B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53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71CC0E-C7E4-4555-BF97-1B933795DF43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/>
          </a:p>
        </p:txBody>
      </p:sp>
      <p:sp>
        <p:nvSpPr>
          <p:cNvPr id="18329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5138" y="957263"/>
            <a:ext cx="8418512" cy="526097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sz="2800" dirty="0" smtClean="0"/>
              <a:t>Process </a:t>
            </a:r>
            <a:r>
              <a:rPr lang="en-US" altLang="zh-TW" sz="2800" b="1" i="1" dirty="0" smtClean="0">
                <a:solidFill>
                  <a:srgbClr val="FF3300"/>
                </a:solidFill>
              </a:rPr>
              <a:t>state</a:t>
            </a:r>
            <a:endParaRPr lang="en-US" altLang="zh-TW" sz="2800" b="1" dirty="0" smtClean="0">
              <a:solidFill>
                <a:srgbClr val="FF3300"/>
              </a:solidFill>
            </a:endParaRP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3300"/>
                </a:solidFill>
              </a:rPr>
              <a:t>new</a:t>
            </a:r>
            <a:r>
              <a:rPr lang="en-US" altLang="zh-TW" sz="2400" dirty="0" smtClean="0"/>
              <a:t>: the process is being created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3300"/>
                </a:solidFill>
              </a:rPr>
              <a:t>running</a:t>
            </a:r>
            <a:r>
              <a:rPr lang="en-US" altLang="zh-TW" sz="2400" dirty="0" smtClean="0"/>
              <a:t>: instructions are being executed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3300"/>
                </a:solidFill>
              </a:rPr>
              <a:t>waiting</a:t>
            </a:r>
            <a:r>
              <a:rPr lang="en-US" altLang="zh-TW" sz="2400" dirty="0" smtClean="0"/>
              <a:t>: the process is waiting for some event to occur (such as an I/O completion or reception of a signal)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3300"/>
                </a:solidFill>
              </a:rPr>
              <a:t>ready</a:t>
            </a:r>
            <a:r>
              <a:rPr lang="en-US" altLang="zh-TW" sz="2400" dirty="0" smtClean="0"/>
              <a:t>: The process is waiting to be assigned to a processor</a:t>
            </a:r>
          </a:p>
          <a:p>
            <a:pPr lvl="1" eaLnBrk="1" hangingPunct="1">
              <a:defRPr/>
            </a:pPr>
            <a:r>
              <a:rPr lang="en-US" altLang="zh-TW" sz="2400" dirty="0" smtClean="0">
                <a:solidFill>
                  <a:srgbClr val="FF3300"/>
                </a:solidFill>
              </a:rPr>
              <a:t>terminated</a:t>
            </a:r>
            <a:r>
              <a:rPr lang="en-US" altLang="zh-TW" sz="2400" dirty="0" smtClean="0"/>
              <a:t>: The process has finished execution</a:t>
            </a:r>
          </a:p>
          <a:p>
            <a:pPr eaLnBrk="1" hangingPunct="1">
              <a:defRPr/>
            </a:pPr>
            <a:r>
              <a:rPr lang="en-US" altLang="zh-TW" sz="2800" dirty="0" smtClean="0"/>
              <a:t>Only one process is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running</a:t>
            </a:r>
            <a:r>
              <a:rPr lang="en-US" altLang="zh-TW" sz="2800" dirty="0" smtClean="0"/>
              <a:t> on any processor at any instant. However, many processes may be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ready</a:t>
            </a:r>
            <a:r>
              <a:rPr lang="en-US" altLang="zh-TW" sz="2800" dirty="0" smtClean="0"/>
              <a:t> or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waiting</a:t>
            </a:r>
            <a:endParaRPr lang="en-US" altLang="zh-TW" sz="2800" dirty="0" smtClean="0"/>
          </a:p>
        </p:txBody>
      </p:sp>
      <p:sp>
        <p:nvSpPr>
          <p:cNvPr id="15366" name="Rectangle 3"/>
          <p:cNvSpPr>
            <a:spLocks noChangeArrowheads="1"/>
          </p:cNvSpPr>
          <p:nvPr/>
        </p:nvSpPr>
        <p:spPr bwMode="auto">
          <a:xfrm>
            <a:off x="673100" y="236538"/>
            <a:ext cx="31892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>
                <a:solidFill>
                  <a:srgbClr val="FF3300"/>
                </a:solidFill>
                <a:latin typeface="Book Antiqua" panose="02040602050305030304" pitchFamily="18" charset="0"/>
              </a:rPr>
              <a:t>Process State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3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3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3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3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3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3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3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3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3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3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3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3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3672DE-D378-4A7E-B3BB-53F24E0B9F5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7411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7412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1AC816-57B9-4593-A1E4-8737DC1D10BE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/>
          </a:p>
        </p:txBody>
      </p:sp>
      <p:sp>
        <p:nvSpPr>
          <p:cNvPr id="17413" name="Oval 1026"/>
          <p:cNvSpPr>
            <a:spLocks noChangeArrowheads="1"/>
          </p:cNvSpPr>
          <p:nvPr/>
        </p:nvSpPr>
        <p:spPr bwMode="auto">
          <a:xfrm>
            <a:off x="1309688" y="1828800"/>
            <a:ext cx="1517650" cy="766763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7414" name="Rectangle 1027"/>
          <p:cNvSpPr>
            <a:spLocks noChangeArrowheads="1"/>
          </p:cNvSpPr>
          <p:nvPr/>
        </p:nvSpPr>
        <p:spPr bwMode="auto">
          <a:xfrm>
            <a:off x="1733550" y="2046288"/>
            <a:ext cx="687388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new</a:t>
            </a:r>
          </a:p>
        </p:txBody>
      </p:sp>
      <p:sp>
        <p:nvSpPr>
          <p:cNvPr id="17415" name="Oval 1028"/>
          <p:cNvSpPr>
            <a:spLocks noChangeArrowheads="1"/>
          </p:cNvSpPr>
          <p:nvPr/>
        </p:nvSpPr>
        <p:spPr bwMode="auto">
          <a:xfrm>
            <a:off x="3165475" y="2727325"/>
            <a:ext cx="1530350" cy="121602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4325" name="Rectangle 1029"/>
          <p:cNvSpPr>
            <a:spLocks noChangeArrowheads="1"/>
          </p:cNvSpPr>
          <p:nvPr/>
        </p:nvSpPr>
        <p:spPr bwMode="auto">
          <a:xfrm>
            <a:off x="3425825" y="3140075"/>
            <a:ext cx="842963" cy="37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ready</a:t>
            </a:r>
          </a:p>
        </p:txBody>
      </p:sp>
      <p:sp>
        <p:nvSpPr>
          <p:cNvPr id="17417" name="Oval 1030"/>
          <p:cNvSpPr>
            <a:spLocks noChangeArrowheads="1"/>
          </p:cNvSpPr>
          <p:nvPr/>
        </p:nvSpPr>
        <p:spPr bwMode="auto">
          <a:xfrm>
            <a:off x="5349875" y="2725738"/>
            <a:ext cx="1543050" cy="122555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224422"/>
                    </a:gs>
                    <a:gs pos="50000">
                      <a:srgbClr val="336633"/>
                    </a:gs>
                    <a:gs pos="100000">
                      <a:srgbClr val="224422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4327" name="Rectangle 1031"/>
          <p:cNvSpPr>
            <a:spLocks noChangeArrowheads="1"/>
          </p:cNvSpPr>
          <p:nvPr/>
        </p:nvSpPr>
        <p:spPr bwMode="auto">
          <a:xfrm>
            <a:off x="5546725" y="3182938"/>
            <a:ext cx="1139825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running</a:t>
            </a:r>
          </a:p>
        </p:txBody>
      </p:sp>
      <p:sp>
        <p:nvSpPr>
          <p:cNvPr id="184328" name="Oval 1032"/>
          <p:cNvSpPr>
            <a:spLocks noChangeArrowheads="1"/>
          </p:cNvSpPr>
          <p:nvPr/>
        </p:nvSpPr>
        <p:spPr bwMode="auto">
          <a:xfrm>
            <a:off x="6524625" y="1646238"/>
            <a:ext cx="1833563" cy="823912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folHlink">
                        <a:gamma/>
                        <a:shade val="46275"/>
                        <a:invGamma/>
                      </a:schemeClr>
                    </a:gs>
                    <a:gs pos="50000">
                      <a:schemeClr val="folHlink"/>
                    </a:gs>
                    <a:gs pos="100000">
                      <a:schemeClr val="folHlink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TW" altLang="en-US"/>
          </a:p>
        </p:txBody>
      </p:sp>
      <p:sp>
        <p:nvSpPr>
          <p:cNvPr id="184329" name="Rectangle 1033"/>
          <p:cNvSpPr>
            <a:spLocks noChangeArrowheads="1"/>
          </p:cNvSpPr>
          <p:nvPr/>
        </p:nvSpPr>
        <p:spPr bwMode="auto">
          <a:xfrm>
            <a:off x="6583363" y="1878013"/>
            <a:ext cx="1462087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6600FF"/>
                </a:solidFill>
                <a:latin typeface="Book Antiqua" panose="02040602050305030304" pitchFamily="18" charset="0"/>
              </a:rPr>
              <a:t>terminated</a:t>
            </a:r>
          </a:p>
        </p:txBody>
      </p:sp>
      <p:sp>
        <p:nvSpPr>
          <p:cNvPr id="17421" name="Oval 1034"/>
          <p:cNvSpPr>
            <a:spLocks noChangeArrowheads="1"/>
          </p:cNvSpPr>
          <p:nvPr/>
        </p:nvSpPr>
        <p:spPr bwMode="auto">
          <a:xfrm>
            <a:off x="4071938" y="4489450"/>
            <a:ext cx="1620837" cy="1135063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002F"/>
                    </a:gs>
                    <a:gs pos="50000">
                      <a:srgbClr val="FF0066"/>
                    </a:gs>
                    <a:gs pos="100000">
                      <a:srgbClr val="76002F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4331" name="Rectangle 1035"/>
          <p:cNvSpPr>
            <a:spLocks noChangeArrowheads="1"/>
          </p:cNvSpPr>
          <p:nvPr/>
        </p:nvSpPr>
        <p:spPr bwMode="auto">
          <a:xfrm>
            <a:off x="4291013" y="4879975"/>
            <a:ext cx="1081087" cy="37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waiting</a:t>
            </a:r>
          </a:p>
        </p:txBody>
      </p:sp>
      <p:sp>
        <p:nvSpPr>
          <p:cNvPr id="184332" name="Arc 1036"/>
          <p:cNvSpPr>
            <a:spLocks/>
          </p:cNvSpPr>
          <p:nvPr/>
        </p:nvSpPr>
        <p:spPr bwMode="auto">
          <a:xfrm>
            <a:off x="4152900" y="2392363"/>
            <a:ext cx="1538288" cy="401637"/>
          </a:xfrm>
          <a:custGeom>
            <a:avLst/>
            <a:gdLst>
              <a:gd name="T0" fmla="*/ 0 w 43200"/>
              <a:gd name="T1" fmla="*/ 2147483646 h 22056"/>
              <a:gd name="T2" fmla="*/ 2147483646 w 43200"/>
              <a:gd name="T3" fmla="*/ 2147483646 h 22056"/>
              <a:gd name="T4" fmla="*/ 2147483646 w 43200"/>
              <a:gd name="T5" fmla="*/ 2147483646 h 220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2056" fill="none" extrusionOk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2"/>
                  <a:pt x="43198" y="21904"/>
                  <a:pt x="43195" y="22056"/>
                </a:cubicBezTo>
              </a:path>
              <a:path w="43200" h="22056" stroke="0" extrusionOk="0">
                <a:moveTo>
                  <a:pt x="0" y="21600"/>
                </a:move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752"/>
                  <a:pt x="43198" y="21904"/>
                  <a:pt x="43195" y="22056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8575" cap="rnd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3" name="Arc 1037"/>
          <p:cNvSpPr>
            <a:spLocks/>
          </p:cNvSpPr>
          <p:nvPr/>
        </p:nvSpPr>
        <p:spPr bwMode="auto">
          <a:xfrm>
            <a:off x="4270375" y="3846513"/>
            <a:ext cx="1381125" cy="268287"/>
          </a:xfrm>
          <a:custGeom>
            <a:avLst/>
            <a:gdLst>
              <a:gd name="T0" fmla="*/ 2147483646 w 43082"/>
              <a:gd name="T1" fmla="*/ 0 h 21600"/>
              <a:gd name="T2" fmla="*/ 0 w 43082"/>
              <a:gd name="T3" fmla="*/ 2147483646 h 21600"/>
              <a:gd name="T4" fmla="*/ 2147483646 w 43082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082" h="21600" fill="none" extrusionOk="0">
                <a:moveTo>
                  <a:pt x="43082" y="0"/>
                </a:moveTo>
                <a:cubicBezTo>
                  <a:pt x="43082" y="11929"/>
                  <a:pt x="33411" y="21600"/>
                  <a:pt x="21482" y="21600"/>
                </a:cubicBezTo>
                <a:cubicBezTo>
                  <a:pt x="10426" y="21600"/>
                  <a:pt x="1155" y="13252"/>
                  <a:pt x="0" y="2256"/>
                </a:cubicBezTo>
              </a:path>
              <a:path w="43082" h="21600" stroke="0" extrusionOk="0">
                <a:moveTo>
                  <a:pt x="43082" y="0"/>
                </a:moveTo>
                <a:cubicBezTo>
                  <a:pt x="43082" y="11929"/>
                  <a:pt x="33411" y="21600"/>
                  <a:pt x="21482" y="21600"/>
                </a:cubicBezTo>
                <a:cubicBezTo>
                  <a:pt x="10426" y="21600"/>
                  <a:pt x="1155" y="13252"/>
                  <a:pt x="0" y="2256"/>
                </a:cubicBezTo>
                <a:lnTo>
                  <a:pt x="21482" y="0"/>
                </a:lnTo>
                <a:lnTo>
                  <a:pt x="43082" y="0"/>
                </a:lnTo>
                <a:close/>
              </a:path>
            </a:pathLst>
          </a:custGeom>
          <a:noFill/>
          <a:ln w="28575" cap="rnd">
            <a:solidFill>
              <a:srgbClr val="FF99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4" name="Arc 1038"/>
          <p:cNvSpPr>
            <a:spLocks/>
          </p:cNvSpPr>
          <p:nvPr/>
        </p:nvSpPr>
        <p:spPr bwMode="auto">
          <a:xfrm>
            <a:off x="5741988" y="3938588"/>
            <a:ext cx="614362" cy="1089025"/>
          </a:xfrm>
          <a:custGeom>
            <a:avLst/>
            <a:gdLst>
              <a:gd name="T0" fmla="*/ 2147483646 w 23981"/>
              <a:gd name="T1" fmla="*/ 0 h 21600"/>
              <a:gd name="T2" fmla="*/ 0 w 23981"/>
              <a:gd name="T3" fmla="*/ 2147483646 h 21600"/>
              <a:gd name="T4" fmla="*/ 2147483646 w 23981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981" h="21600" fill="none" extrusionOk="0">
                <a:moveTo>
                  <a:pt x="23981" y="0"/>
                </a:moveTo>
                <a:cubicBezTo>
                  <a:pt x="23981" y="11929"/>
                  <a:pt x="14310" y="21600"/>
                  <a:pt x="2381" y="21600"/>
                </a:cubicBezTo>
                <a:cubicBezTo>
                  <a:pt x="1585" y="21600"/>
                  <a:pt x="790" y="21556"/>
                  <a:pt x="-1" y="21468"/>
                </a:cubicBezTo>
              </a:path>
              <a:path w="23981" h="21600" stroke="0" extrusionOk="0">
                <a:moveTo>
                  <a:pt x="23981" y="0"/>
                </a:moveTo>
                <a:cubicBezTo>
                  <a:pt x="23981" y="11929"/>
                  <a:pt x="14310" y="21600"/>
                  <a:pt x="2381" y="21600"/>
                </a:cubicBezTo>
                <a:cubicBezTo>
                  <a:pt x="1585" y="21600"/>
                  <a:pt x="790" y="21556"/>
                  <a:pt x="-1" y="21468"/>
                </a:cubicBezTo>
                <a:lnTo>
                  <a:pt x="2381" y="0"/>
                </a:lnTo>
                <a:lnTo>
                  <a:pt x="23981" y="0"/>
                </a:lnTo>
                <a:close/>
              </a:path>
            </a:pathLst>
          </a:custGeom>
          <a:noFill/>
          <a:ln w="28575" cap="rnd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5" name="Arc 1039"/>
          <p:cNvSpPr>
            <a:spLocks/>
          </p:cNvSpPr>
          <p:nvPr/>
        </p:nvSpPr>
        <p:spPr bwMode="auto">
          <a:xfrm>
            <a:off x="3363913" y="3811588"/>
            <a:ext cx="695325" cy="1104900"/>
          </a:xfrm>
          <a:custGeom>
            <a:avLst/>
            <a:gdLst>
              <a:gd name="T0" fmla="*/ 2147483646 w 24375"/>
              <a:gd name="T1" fmla="*/ 2147483646 h 24220"/>
              <a:gd name="T2" fmla="*/ 2147483646 w 24375"/>
              <a:gd name="T3" fmla="*/ 0 h 24220"/>
              <a:gd name="T4" fmla="*/ 2147483646 w 24375"/>
              <a:gd name="T5" fmla="*/ 2147483646 h 242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4375" h="24220" fill="none" extrusionOk="0">
                <a:moveTo>
                  <a:pt x="24375" y="24041"/>
                </a:moveTo>
                <a:cubicBezTo>
                  <a:pt x="23454" y="24160"/>
                  <a:pt x="22527" y="24219"/>
                  <a:pt x="21600" y="24220"/>
                </a:cubicBezTo>
                <a:cubicBezTo>
                  <a:pt x="9670" y="24220"/>
                  <a:pt x="0" y="14549"/>
                  <a:pt x="0" y="2620"/>
                </a:cubicBezTo>
                <a:cubicBezTo>
                  <a:pt x="-1" y="1744"/>
                  <a:pt x="53" y="869"/>
                  <a:pt x="159" y="0"/>
                </a:cubicBezTo>
              </a:path>
              <a:path w="24375" h="24220" stroke="0" extrusionOk="0">
                <a:moveTo>
                  <a:pt x="24375" y="24041"/>
                </a:moveTo>
                <a:cubicBezTo>
                  <a:pt x="23454" y="24160"/>
                  <a:pt x="22527" y="24219"/>
                  <a:pt x="21600" y="24220"/>
                </a:cubicBezTo>
                <a:cubicBezTo>
                  <a:pt x="9670" y="24220"/>
                  <a:pt x="0" y="14549"/>
                  <a:pt x="0" y="2620"/>
                </a:cubicBezTo>
                <a:cubicBezTo>
                  <a:pt x="-1" y="1744"/>
                  <a:pt x="53" y="869"/>
                  <a:pt x="159" y="0"/>
                </a:cubicBezTo>
                <a:lnTo>
                  <a:pt x="21600" y="2620"/>
                </a:lnTo>
                <a:lnTo>
                  <a:pt x="24375" y="24041"/>
                </a:lnTo>
                <a:close/>
              </a:path>
            </a:pathLst>
          </a:custGeom>
          <a:noFill/>
          <a:ln w="28575" cap="rnd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6" name="Arc 1040"/>
          <p:cNvSpPr>
            <a:spLocks/>
          </p:cNvSpPr>
          <p:nvPr/>
        </p:nvSpPr>
        <p:spPr bwMode="auto">
          <a:xfrm>
            <a:off x="6327775" y="2357438"/>
            <a:ext cx="565150" cy="369887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1"/>
                  <a:pt x="9637" y="29"/>
                  <a:pt x="21546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1"/>
                  <a:pt x="9637" y="29"/>
                  <a:pt x="21546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8575" cap="rnd">
            <a:solidFill>
              <a:srgbClr val="66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337" name="Rectangle 1041"/>
          <p:cNvSpPr>
            <a:spLocks noChangeArrowheads="1"/>
          </p:cNvSpPr>
          <p:nvPr/>
        </p:nvSpPr>
        <p:spPr bwMode="auto">
          <a:xfrm>
            <a:off x="2908300" y="2012950"/>
            <a:ext cx="12239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admitted</a:t>
            </a:r>
          </a:p>
        </p:txBody>
      </p:sp>
      <p:sp>
        <p:nvSpPr>
          <p:cNvPr id="184338" name="Rectangle 1042"/>
          <p:cNvSpPr>
            <a:spLocks noChangeArrowheads="1"/>
          </p:cNvSpPr>
          <p:nvPr/>
        </p:nvSpPr>
        <p:spPr bwMode="auto">
          <a:xfrm>
            <a:off x="4364038" y="1971675"/>
            <a:ext cx="12239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interrupt</a:t>
            </a:r>
          </a:p>
        </p:txBody>
      </p:sp>
      <p:sp>
        <p:nvSpPr>
          <p:cNvPr id="184339" name="Rectangle 1043"/>
          <p:cNvSpPr>
            <a:spLocks noChangeArrowheads="1"/>
          </p:cNvSpPr>
          <p:nvPr/>
        </p:nvSpPr>
        <p:spPr bwMode="auto">
          <a:xfrm>
            <a:off x="6659563" y="2571750"/>
            <a:ext cx="615950" cy="37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6600FF"/>
                </a:solidFill>
                <a:latin typeface="Book Antiqua" panose="02040602050305030304" pitchFamily="18" charset="0"/>
              </a:rPr>
              <a:t>exit</a:t>
            </a:r>
          </a:p>
        </p:txBody>
      </p:sp>
      <p:sp>
        <p:nvSpPr>
          <p:cNvPr id="184340" name="Rectangle 1044"/>
          <p:cNvSpPr>
            <a:spLocks noChangeArrowheads="1"/>
          </p:cNvSpPr>
          <p:nvPr/>
        </p:nvSpPr>
        <p:spPr bwMode="auto">
          <a:xfrm>
            <a:off x="3876675" y="4171950"/>
            <a:ext cx="23606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9900"/>
                </a:solidFill>
                <a:latin typeface="Book Antiqua" panose="02040602050305030304" pitchFamily="18" charset="0"/>
              </a:rPr>
              <a:t>scheduler</a:t>
            </a: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 </a:t>
            </a:r>
            <a:r>
              <a:rPr lang="en-US" altLang="zh-TW" sz="2000" b="1">
                <a:solidFill>
                  <a:srgbClr val="FF9900"/>
                </a:solidFill>
                <a:latin typeface="Book Antiqua" panose="02040602050305030304" pitchFamily="18" charset="0"/>
              </a:rPr>
              <a:t>dispatch</a:t>
            </a:r>
          </a:p>
        </p:txBody>
      </p:sp>
      <p:sp>
        <p:nvSpPr>
          <p:cNvPr id="184341" name="Rectangle 1045"/>
          <p:cNvSpPr>
            <a:spLocks noChangeArrowheads="1"/>
          </p:cNvSpPr>
          <p:nvPr/>
        </p:nvSpPr>
        <p:spPr bwMode="auto">
          <a:xfrm>
            <a:off x="6392863" y="4251325"/>
            <a:ext cx="2136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8000"/>
                </a:solidFill>
                <a:latin typeface="Book Antiqua" panose="02040602050305030304" pitchFamily="18" charset="0"/>
              </a:rPr>
              <a:t>I/O or event wait</a:t>
            </a:r>
          </a:p>
        </p:txBody>
      </p:sp>
      <p:sp>
        <p:nvSpPr>
          <p:cNvPr id="184342" name="Rectangle 1046"/>
          <p:cNvSpPr>
            <a:spLocks noChangeArrowheads="1"/>
          </p:cNvSpPr>
          <p:nvPr/>
        </p:nvSpPr>
        <p:spPr bwMode="auto">
          <a:xfrm>
            <a:off x="1430338" y="4200525"/>
            <a:ext cx="2254250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solidFill>
                  <a:srgbClr val="0000FF"/>
                </a:solidFill>
                <a:latin typeface="Book Antiqua" panose="02040602050305030304" pitchFamily="18" charset="0"/>
              </a:rPr>
              <a:t>        </a:t>
            </a: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I/O or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 event completion</a:t>
            </a:r>
          </a:p>
        </p:txBody>
      </p:sp>
      <p:sp>
        <p:nvSpPr>
          <p:cNvPr id="184343" name="Freeform 1047"/>
          <p:cNvSpPr>
            <a:spLocks/>
          </p:cNvSpPr>
          <p:nvPr/>
        </p:nvSpPr>
        <p:spPr bwMode="auto">
          <a:xfrm>
            <a:off x="2754313" y="2247900"/>
            <a:ext cx="658812" cy="641350"/>
          </a:xfrm>
          <a:custGeom>
            <a:avLst/>
            <a:gdLst>
              <a:gd name="T0" fmla="*/ 2147483646 w 467"/>
              <a:gd name="T1" fmla="*/ 2147483646 h 508"/>
              <a:gd name="T2" fmla="*/ 2147483646 w 467"/>
              <a:gd name="T3" fmla="*/ 2147483646 h 508"/>
              <a:gd name="T4" fmla="*/ 2147483646 w 467"/>
              <a:gd name="T5" fmla="*/ 2147483646 h 508"/>
              <a:gd name="T6" fmla="*/ 2147483646 w 467"/>
              <a:gd name="T7" fmla="*/ 2147483646 h 508"/>
              <a:gd name="T8" fmla="*/ 2147483646 w 467"/>
              <a:gd name="T9" fmla="*/ 2147483646 h 5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67" h="508">
                <a:moveTo>
                  <a:pt x="49" y="35"/>
                </a:moveTo>
                <a:cubicBezTo>
                  <a:pt x="143" y="98"/>
                  <a:pt x="0" y="0"/>
                  <a:pt x="104" y="81"/>
                </a:cubicBezTo>
                <a:cubicBezTo>
                  <a:pt x="173" y="135"/>
                  <a:pt x="250" y="173"/>
                  <a:pt x="304" y="244"/>
                </a:cubicBezTo>
                <a:cubicBezTo>
                  <a:pt x="340" y="292"/>
                  <a:pt x="386" y="354"/>
                  <a:pt x="413" y="408"/>
                </a:cubicBezTo>
                <a:cubicBezTo>
                  <a:pt x="430" y="443"/>
                  <a:pt x="439" y="480"/>
                  <a:pt x="467" y="508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435" name="Rectangle 1048"/>
          <p:cNvSpPr>
            <a:spLocks noChangeArrowheads="1"/>
          </p:cNvSpPr>
          <p:nvPr/>
        </p:nvSpPr>
        <p:spPr bwMode="auto">
          <a:xfrm>
            <a:off x="1620838" y="244475"/>
            <a:ext cx="7232650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chemeClr val="tx2"/>
                </a:solidFill>
              </a:rPr>
              <a:t>Diagram of Process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4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4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5" grpId="0"/>
      <p:bldP spid="184327" grpId="0"/>
      <p:bldP spid="184329" grpId="0"/>
      <p:bldP spid="184331" grpId="0"/>
      <p:bldP spid="184332" grpId="0" animBg="1"/>
      <p:bldP spid="184333" grpId="0" animBg="1"/>
      <p:bldP spid="184334" grpId="0" animBg="1"/>
      <p:bldP spid="184335" grpId="0" animBg="1"/>
      <p:bldP spid="184336" grpId="0" animBg="1"/>
      <p:bldP spid="184337" grpId="0"/>
      <p:bldP spid="184338" grpId="0"/>
      <p:bldP spid="184339" grpId="0"/>
      <p:bldP spid="184340" grpId="0"/>
      <p:bldP spid="184341" grpId="0"/>
      <p:bldP spid="184342" grpId="0"/>
      <p:bldP spid="1843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40C38F-D377-45C7-AA90-0FE2BB1C28C1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FC8B39-9346-4C4A-9AD5-525DD25FBFA6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/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68288" y="260350"/>
            <a:ext cx="7658100" cy="8636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 altLang="zh-TW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Process Control Block</a:t>
            </a:r>
            <a:r>
              <a:rPr lang="en-US" altLang="zh-TW" smtClean="0"/>
              <a:t> (</a:t>
            </a:r>
            <a:r>
              <a:rPr lang="en-US" altLang="zh-TW" b="1" smtClean="0">
                <a:solidFill>
                  <a:srgbClr val="FF3300"/>
                </a:solidFill>
              </a:rPr>
              <a:t>PCB</a:t>
            </a:r>
            <a:r>
              <a:rPr lang="en-US" altLang="zh-TW" smtClean="0"/>
              <a:t>)</a:t>
            </a:r>
            <a:endParaRPr lang="en-US" altLang="zh-TW" sz="6000" smtClean="0"/>
          </a:p>
        </p:txBody>
      </p:sp>
      <p:sp>
        <p:nvSpPr>
          <p:cNvPr id="185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3063" y="1171575"/>
            <a:ext cx="5575300" cy="512445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FFCC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</a:pPr>
            <a:r>
              <a:rPr lang="en-US" altLang="zh-TW" sz="2800" smtClean="0"/>
              <a:t>Each </a:t>
            </a:r>
            <a:r>
              <a:rPr lang="en-US" altLang="zh-TW" sz="2800" b="1" smtClean="0">
                <a:solidFill>
                  <a:srgbClr val="FF3300"/>
                </a:solidFill>
              </a:rPr>
              <a:t>process control block</a:t>
            </a:r>
            <a:r>
              <a:rPr lang="en-US" altLang="zh-TW" sz="2800" smtClean="0"/>
              <a:t> (</a:t>
            </a:r>
            <a:r>
              <a:rPr lang="en-US" altLang="zh-TW" sz="2800" b="1" smtClean="0">
                <a:solidFill>
                  <a:srgbClr val="FF3300"/>
                </a:solidFill>
              </a:rPr>
              <a:t>task control block</a:t>
            </a:r>
            <a:r>
              <a:rPr lang="en-US" altLang="zh-TW" sz="2800" smtClean="0"/>
              <a:t>) represents a process. It includes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process state (N, R, T, W, Run)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6600FF"/>
                </a:solidFill>
              </a:rPr>
              <a:t>program counter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8000"/>
                </a:solidFill>
              </a:rPr>
              <a:t>CPU registers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zh-TW" sz="2400" smtClean="0"/>
              <a:t>CPU scheduling information (e.g., priority)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00"/>
                </a:solidFill>
              </a:rPr>
              <a:t>memory-management information</a:t>
            </a:r>
          </a:p>
          <a:p>
            <a:pPr marL="685800" lvl="1" indent="-228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>
                <a:solidFill>
                  <a:srgbClr val="000000"/>
                </a:solidFill>
              </a:rPr>
              <a:t>	(e.g., base/limit register)</a:t>
            </a:r>
            <a:r>
              <a:rPr lang="en-US" altLang="zh-TW" sz="2400" smtClean="0"/>
              <a:t> 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zh-TW" sz="2400" smtClean="0"/>
              <a:t>accounting information</a:t>
            </a:r>
          </a:p>
          <a:p>
            <a:pPr marL="685800" lvl="1" indent="-228600" eaLnBrk="1" hangingPunct="1">
              <a:lnSpc>
                <a:spcPct val="90000"/>
              </a:lnSpc>
            </a:pPr>
            <a:r>
              <a:rPr lang="en-US" altLang="zh-TW" sz="2400" smtClean="0"/>
              <a:t>I/O status information</a:t>
            </a:r>
          </a:p>
          <a:p>
            <a:pPr marL="285750" indent="-285750" eaLnBrk="1" hangingPunct="1">
              <a:lnSpc>
                <a:spcPct val="90000"/>
              </a:lnSpc>
            </a:pPr>
            <a:endParaRPr lang="en-US" altLang="zh-TW" sz="2800" smtClean="0"/>
          </a:p>
        </p:txBody>
      </p:sp>
      <p:sp>
        <p:nvSpPr>
          <p:cNvPr id="19463" name="Rectangle 4"/>
          <p:cNvSpPr>
            <a:spLocks noChangeArrowheads="1"/>
          </p:cNvSpPr>
          <p:nvPr/>
        </p:nvSpPr>
        <p:spPr bwMode="auto">
          <a:xfrm>
            <a:off x="6324600" y="2079625"/>
            <a:ext cx="2481263" cy="41957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9464" name="Line 5"/>
          <p:cNvSpPr>
            <a:spLocks noChangeShapeType="1"/>
          </p:cNvSpPr>
          <p:nvPr/>
        </p:nvSpPr>
        <p:spPr bwMode="auto">
          <a:xfrm>
            <a:off x="6324600" y="2762250"/>
            <a:ext cx="2481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65" name="Line 6"/>
          <p:cNvSpPr>
            <a:spLocks noChangeShapeType="1"/>
          </p:cNvSpPr>
          <p:nvPr/>
        </p:nvSpPr>
        <p:spPr bwMode="auto">
          <a:xfrm>
            <a:off x="7583488" y="2079625"/>
            <a:ext cx="0" cy="676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66" name="Line 7"/>
          <p:cNvSpPr>
            <a:spLocks noChangeShapeType="1"/>
          </p:cNvSpPr>
          <p:nvPr/>
        </p:nvSpPr>
        <p:spPr bwMode="auto">
          <a:xfrm>
            <a:off x="6324600" y="3173413"/>
            <a:ext cx="2481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67" name="Line 8"/>
          <p:cNvSpPr>
            <a:spLocks noChangeShapeType="1"/>
          </p:cNvSpPr>
          <p:nvPr/>
        </p:nvSpPr>
        <p:spPr bwMode="auto">
          <a:xfrm>
            <a:off x="6324600" y="3598863"/>
            <a:ext cx="2481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68" name="Line 9"/>
          <p:cNvSpPr>
            <a:spLocks noChangeShapeType="1"/>
          </p:cNvSpPr>
          <p:nvPr/>
        </p:nvSpPr>
        <p:spPr bwMode="auto">
          <a:xfrm>
            <a:off x="6342063" y="4448175"/>
            <a:ext cx="2463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69" name="Line 10"/>
          <p:cNvSpPr>
            <a:spLocks noChangeShapeType="1"/>
          </p:cNvSpPr>
          <p:nvPr/>
        </p:nvSpPr>
        <p:spPr bwMode="auto">
          <a:xfrm>
            <a:off x="6324600" y="4976813"/>
            <a:ext cx="2481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70" name="Line 11"/>
          <p:cNvSpPr>
            <a:spLocks noChangeShapeType="1"/>
          </p:cNvSpPr>
          <p:nvPr/>
        </p:nvSpPr>
        <p:spPr bwMode="auto">
          <a:xfrm>
            <a:off x="6324600" y="5475288"/>
            <a:ext cx="24812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71" name="Rectangle 12"/>
          <p:cNvSpPr>
            <a:spLocks noChangeArrowheads="1"/>
          </p:cNvSpPr>
          <p:nvPr/>
        </p:nvSpPr>
        <p:spPr bwMode="auto">
          <a:xfrm>
            <a:off x="6400800" y="2805113"/>
            <a:ext cx="19081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process number</a:t>
            </a:r>
          </a:p>
        </p:txBody>
      </p:sp>
      <p:sp>
        <p:nvSpPr>
          <p:cNvPr id="19472" name="Rectangle 13"/>
          <p:cNvSpPr>
            <a:spLocks noChangeArrowheads="1"/>
          </p:cNvSpPr>
          <p:nvPr/>
        </p:nvSpPr>
        <p:spPr bwMode="auto">
          <a:xfrm>
            <a:off x="6437313" y="3214688"/>
            <a:ext cx="21066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6600FF"/>
                </a:solidFill>
                <a:latin typeface="Book Antiqua" panose="02040602050305030304" pitchFamily="18" charset="0"/>
              </a:rPr>
              <a:t>program counter</a:t>
            </a:r>
          </a:p>
        </p:txBody>
      </p:sp>
      <p:sp>
        <p:nvSpPr>
          <p:cNvPr id="19473" name="Rectangle 14"/>
          <p:cNvSpPr>
            <a:spLocks noChangeArrowheads="1"/>
          </p:cNvSpPr>
          <p:nvPr/>
        </p:nvSpPr>
        <p:spPr bwMode="auto">
          <a:xfrm>
            <a:off x="6781800" y="3846513"/>
            <a:ext cx="116681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8000"/>
                </a:solidFill>
                <a:latin typeface="Book Antiqua" panose="02040602050305030304" pitchFamily="18" charset="0"/>
              </a:rPr>
              <a:t>registers</a:t>
            </a:r>
          </a:p>
        </p:txBody>
      </p:sp>
      <p:sp>
        <p:nvSpPr>
          <p:cNvPr id="19474" name="Rectangle 15"/>
          <p:cNvSpPr>
            <a:spLocks noChangeArrowheads="1"/>
          </p:cNvSpPr>
          <p:nvPr/>
        </p:nvSpPr>
        <p:spPr bwMode="auto">
          <a:xfrm>
            <a:off x="6669088" y="4564063"/>
            <a:ext cx="1878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latin typeface="Book Antiqua" panose="02040602050305030304" pitchFamily="18" charset="0"/>
              </a:rPr>
              <a:t>memory limits</a:t>
            </a:r>
          </a:p>
        </p:txBody>
      </p:sp>
      <p:sp>
        <p:nvSpPr>
          <p:cNvPr id="19475" name="Rectangle 16"/>
          <p:cNvSpPr>
            <a:spLocks noChangeArrowheads="1"/>
          </p:cNvSpPr>
          <p:nvPr/>
        </p:nvSpPr>
        <p:spPr bwMode="auto">
          <a:xfrm>
            <a:off x="6634163" y="5029200"/>
            <a:ext cx="186213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list of open files</a:t>
            </a:r>
          </a:p>
        </p:txBody>
      </p:sp>
      <p:sp>
        <p:nvSpPr>
          <p:cNvPr id="19476" name="Rectangle 17"/>
          <p:cNvSpPr>
            <a:spLocks noChangeArrowheads="1"/>
          </p:cNvSpPr>
          <p:nvPr/>
        </p:nvSpPr>
        <p:spPr bwMode="auto">
          <a:xfrm>
            <a:off x="6383338" y="2262188"/>
            <a:ext cx="9699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pointer</a:t>
            </a:r>
          </a:p>
        </p:txBody>
      </p:sp>
      <p:sp>
        <p:nvSpPr>
          <p:cNvPr id="19477" name="Rectangle 18"/>
          <p:cNvSpPr>
            <a:spLocks noChangeArrowheads="1"/>
          </p:cNvSpPr>
          <p:nvPr/>
        </p:nvSpPr>
        <p:spPr bwMode="auto">
          <a:xfrm>
            <a:off x="7594600" y="2100263"/>
            <a:ext cx="10414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process</a:t>
            </a:r>
          </a:p>
        </p:txBody>
      </p:sp>
      <p:sp>
        <p:nvSpPr>
          <p:cNvPr id="19478" name="Rectangle 19"/>
          <p:cNvSpPr>
            <a:spLocks noChangeArrowheads="1"/>
          </p:cNvSpPr>
          <p:nvPr/>
        </p:nvSpPr>
        <p:spPr bwMode="auto">
          <a:xfrm>
            <a:off x="7704138" y="2379663"/>
            <a:ext cx="71596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B8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state</a:t>
            </a:r>
          </a:p>
        </p:txBody>
      </p:sp>
      <p:grpSp>
        <p:nvGrpSpPr>
          <p:cNvPr id="19479" name="Group 20"/>
          <p:cNvGrpSpPr>
            <a:grpSpLocks/>
          </p:cNvGrpSpPr>
          <p:nvPr/>
        </p:nvGrpSpPr>
        <p:grpSpPr bwMode="auto">
          <a:xfrm>
            <a:off x="7478713" y="5483225"/>
            <a:ext cx="288925" cy="784225"/>
            <a:chOff x="3936" y="3222"/>
            <a:chExt cx="144" cy="481"/>
          </a:xfrm>
        </p:grpSpPr>
        <p:sp>
          <p:nvSpPr>
            <p:cNvPr id="19482" name="Rectangle 21"/>
            <p:cNvSpPr>
              <a:spLocks noChangeArrowheads="1"/>
            </p:cNvSpPr>
            <p:nvPr/>
          </p:nvSpPr>
          <p:spPr bwMode="auto">
            <a:xfrm>
              <a:off x="3938" y="3222"/>
              <a:ext cx="138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0B8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zh-TW" altLang="en-US" sz="3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19483" name="Rectangle 22"/>
            <p:cNvSpPr>
              <a:spLocks noChangeArrowheads="1"/>
            </p:cNvSpPr>
            <p:nvPr/>
          </p:nvSpPr>
          <p:spPr bwMode="auto">
            <a:xfrm>
              <a:off x="3936" y="3309"/>
              <a:ext cx="138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0B8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zh-TW" altLang="en-US" sz="3000" b="1">
                  <a:latin typeface="Book Antiqua" panose="02040602050305030304" pitchFamily="18" charset="0"/>
                </a:rPr>
                <a:t>.</a:t>
              </a:r>
            </a:p>
          </p:txBody>
        </p:sp>
        <p:sp>
          <p:nvSpPr>
            <p:cNvPr id="19484" name="Rectangle 23"/>
            <p:cNvSpPr>
              <a:spLocks noChangeArrowheads="1"/>
            </p:cNvSpPr>
            <p:nvPr/>
          </p:nvSpPr>
          <p:spPr bwMode="auto">
            <a:xfrm>
              <a:off x="3942" y="3396"/>
              <a:ext cx="138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0B8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zh-TW" altLang="en-US" sz="3000" b="1">
                  <a:latin typeface="Book Antiqua" panose="02040602050305030304" pitchFamily="18" charset="0"/>
                </a:rPr>
                <a:t>.</a:t>
              </a:r>
            </a:p>
          </p:txBody>
        </p:sp>
      </p:grpSp>
      <p:sp>
        <p:nvSpPr>
          <p:cNvPr id="19480" name="Line 24"/>
          <p:cNvSpPr>
            <a:spLocks noChangeShapeType="1"/>
          </p:cNvSpPr>
          <p:nvPr/>
        </p:nvSpPr>
        <p:spPr bwMode="auto">
          <a:xfrm flipH="1">
            <a:off x="7151688" y="1490663"/>
            <a:ext cx="611187" cy="468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7366000" y="1150938"/>
            <a:ext cx="1365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>
                <a:latin typeface="Times New Roman" panose="02020603050405020304" pitchFamily="18" charset="0"/>
              </a:rPr>
              <a:t>to next PCB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7AA81B-1185-4F4C-AD5C-61527743023F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8C670F-548B-4803-8C6E-0A0634C4ABAE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/>
          </a:p>
        </p:txBody>
      </p:sp>
      <p:sp>
        <p:nvSpPr>
          <p:cNvPr id="21509" name="Rectangle 2"/>
          <p:cNvSpPr>
            <a:spLocks noChangeArrowheads="1"/>
          </p:cNvSpPr>
          <p:nvPr/>
        </p:nvSpPr>
        <p:spPr bwMode="auto">
          <a:xfrm>
            <a:off x="354013" y="261938"/>
            <a:ext cx="8789987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chemeClr val="tx2"/>
                </a:solidFill>
              </a:rPr>
              <a:t>CPU  Switching</a:t>
            </a:r>
          </a:p>
        </p:txBody>
      </p:sp>
      <p:sp>
        <p:nvSpPr>
          <p:cNvPr id="21510" name="Rectangle 3"/>
          <p:cNvSpPr>
            <a:spLocks noChangeArrowheads="1"/>
          </p:cNvSpPr>
          <p:nvPr/>
        </p:nvSpPr>
        <p:spPr bwMode="auto">
          <a:xfrm>
            <a:off x="2205038" y="19494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1" name="Rectangle 4"/>
          <p:cNvSpPr>
            <a:spLocks noChangeArrowheads="1"/>
          </p:cNvSpPr>
          <p:nvPr/>
        </p:nvSpPr>
        <p:spPr bwMode="auto">
          <a:xfrm>
            <a:off x="2214563" y="2101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2" name="Rectangle 5"/>
          <p:cNvSpPr>
            <a:spLocks noChangeArrowheads="1"/>
          </p:cNvSpPr>
          <p:nvPr/>
        </p:nvSpPr>
        <p:spPr bwMode="auto">
          <a:xfrm>
            <a:off x="2214563" y="2254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3" name="Rectangle 6"/>
          <p:cNvSpPr>
            <a:spLocks noChangeArrowheads="1"/>
          </p:cNvSpPr>
          <p:nvPr/>
        </p:nvSpPr>
        <p:spPr bwMode="auto">
          <a:xfrm>
            <a:off x="2214563" y="24066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4" name="Rectangle 7"/>
          <p:cNvSpPr>
            <a:spLocks noChangeArrowheads="1"/>
          </p:cNvSpPr>
          <p:nvPr/>
        </p:nvSpPr>
        <p:spPr bwMode="auto">
          <a:xfrm>
            <a:off x="2214563" y="25590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5" name="Rectangle 8"/>
          <p:cNvSpPr>
            <a:spLocks noChangeArrowheads="1"/>
          </p:cNvSpPr>
          <p:nvPr/>
        </p:nvSpPr>
        <p:spPr bwMode="auto">
          <a:xfrm>
            <a:off x="2214563" y="27114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6" name="Rectangle 9"/>
          <p:cNvSpPr>
            <a:spLocks noChangeArrowheads="1"/>
          </p:cNvSpPr>
          <p:nvPr/>
        </p:nvSpPr>
        <p:spPr bwMode="auto">
          <a:xfrm>
            <a:off x="2214563" y="2863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7" name="Rectangle 10"/>
          <p:cNvSpPr>
            <a:spLocks noChangeArrowheads="1"/>
          </p:cNvSpPr>
          <p:nvPr/>
        </p:nvSpPr>
        <p:spPr bwMode="auto">
          <a:xfrm>
            <a:off x="2214563" y="3016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8" name="Rectangle 11"/>
          <p:cNvSpPr>
            <a:spLocks noChangeArrowheads="1"/>
          </p:cNvSpPr>
          <p:nvPr/>
        </p:nvSpPr>
        <p:spPr bwMode="auto">
          <a:xfrm>
            <a:off x="2214563" y="31686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19" name="Rectangle 12"/>
          <p:cNvSpPr>
            <a:spLocks noChangeArrowheads="1"/>
          </p:cNvSpPr>
          <p:nvPr/>
        </p:nvSpPr>
        <p:spPr bwMode="auto">
          <a:xfrm>
            <a:off x="2214563" y="33210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0" name="Rectangle 13"/>
          <p:cNvSpPr>
            <a:spLocks noChangeArrowheads="1"/>
          </p:cNvSpPr>
          <p:nvPr/>
        </p:nvSpPr>
        <p:spPr bwMode="auto">
          <a:xfrm>
            <a:off x="2214563" y="34734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1" name="Rectangle 14"/>
          <p:cNvSpPr>
            <a:spLocks noChangeArrowheads="1"/>
          </p:cNvSpPr>
          <p:nvPr/>
        </p:nvSpPr>
        <p:spPr bwMode="auto">
          <a:xfrm>
            <a:off x="2214563" y="3625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2" name="Rectangle 15"/>
          <p:cNvSpPr>
            <a:spLocks noChangeArrowheads="1"/>
          </p:cNvSpPr>
          <p:nvPr/>
        </p:nvSpPr>
        <p:spPr bwMode="auto">
          <a:xfrm>
            <a:off x="2214563" y="3778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3" name="Rectangle 16"/>
          <p:cNvSpPr>
            <a:spLocks noChangeArrowheads="1"/>
          </p:cNvSpPr>
          <p:nvPr/>
        </p:nvSpPr>
        <p:spPr bwMode="auto">
          <a:xfrm>
            <a:off x="2214563" y="39306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4" name="Rectangle 17"/>
          <p:cNvSpPr>
            <a:spLocks noChangeArrowheads="1"/>
          </p:cNvSpPr>
          <p:nvPr/>
        </p:nvSpPr>
        <p:spPr bwMode="auto">
          <a:xfrm>
            <a:off x="2214563" y="40830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5" name="Rectangle 18"/>
          <p:cNvSpPr>
            <a:spLocks noChangeArrowheads="1"/>
          </p:cNvSpPr>
          <p:nvPr/>
        </p:nvSpPr>
        <p:spPr bwMode="auto">
          <a:xfrm>
            <a:off x="2214563" y="42354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6" name="Rectangle 19"/>
          <p:cNvSpPr>
            <a:spLocks noChangeArrowheads="1"/>
          </p:cNvSpPr>
          <p:nvPr/>
        </p:nvSpPr>
        <p:spPr bwMode="auto">
          <a:xfrm>
            <a:off x="2214563" y="4387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7" name="Rectangle 20"/>
          <p:cNvSpPr>
            <a:spLocks noChangeArrowheads="1"/>
          </p:cNvSpPr>
          <p:nvPr/>
        </p:nvSpPr>
        <p:spPr bwMode="auto">
          <a:xfrm>
            <a:off x="2214563" y="4540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8" name="Rectangle 21"/>
          <p:cNvSpPr>
            <a:spLocks noChangeArrowheads="1"/>
          </p:cNvSpPr>
          <p:nvPr/>
        </p:nvSpPr>
        <p:spPr bwMode="auto">
          <a:xfrm>
            <a:off x="2214563" y="46926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29" name="Rectangle 22"/>
          <p:cNvSpPr>
            <a:spLocks noChangeArrowheads="1"/>
          </p:cNvSpPr>
          <p:nvPr/>
        </p:nvSpPr>
        <p:spPr bwMode="auto">
          <a:xfrm>
            <a:off x="2214563" y="48450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30" name="Rectangle 23"/>
          <p:cNvSpPr>
            <a:spLocks noChangeArrowheads="1"/>
          </p:cNvSpPr>
          <p:nvPr/>
        </p:nvSpPr>
        <p:spPr bwMode="auto">
          <a:xfrm>
            <a:off x="2214563" y="49974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31" name="Rectangle 24"/>
          <p:cNvSpPr>
            <a:spLocks noChangeArrowheads="1"/>
          </p:cNvSpPr>
          <p:nvPr/>
        </p:nvSpPr>
        <p:spPr bwMode="auto">
          <a:xfrm>
            <a:off x="2214563" y="5149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32" name="Line 25"/>
          <p:cNvSpPr>
            <a:spLocks noChangeShapeType="1"/>
          </p:cNvSpPr>
          <p:nvPr/>
        </p:nvSpPr>
        <p:spPr bwMode="auto">
          <a:xfrm>
            <a:off x="2178050" y="2133600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3" name="AutoShape 26"/>
          <p:cNvSpPr>
            <a:spLocks noChangeArrowheads="1"/>
          </p:cNvSpPr>
          <p:nvPr/>
        </p:nvSpPr>
        <p:spPr bwMode="auto">
          <a:xfrm rot="16200000" flipH="1">
            <a:off x="2139950" y="1712913"/>
            <a:ext cx="444500" cy="368300"/>
          </a:xfrm>
          <a:prstGeom prst="rightArrow">
            <a:avLst>
              <a:gd name="adj1" fmla="val 50000"/>
              <a:gd name="adj2" fmla="val 60350"/>
            </a:avLst>
          </a:prstGeom>
          <a:solidFill>
            <a:srgbClr val="DCDCD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21534" name="AutoShape 27"/>
          <p:cNvSpPr>
            <a:spLocks noChangeArrowheads="1"/>
          </p:cNvSpPr>
          <p:nvPr/>
        </p:nvSpPr>
        <p:spPr bwMode="auto">
          <a:xfrm rot="16200000" flipH="1">
            <a:off x="2139950" y="5751513"/>
            <a:ext cx="444500" cy="368300"/>
          </a:xfrm>
          <a:prstGeom prst="rightArrow">
            <a:avLst>
              <a:gd name="adj1" fmla="val 50000"/>
              <a:gd name="adj2" fmla="val 60350"/>
            </a:avLst>
          </a:prstGeom>
          <a:solidFill>
            <a:srgbClr val="DADA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1535" name="Line 28"/>
          <p:cNvSpPr>
            <a:spLocks noChangeShapeType="1"/>
          </p:cNvSpPr>
          <p:nvPr/>
        </p:nvSpPr>
        <p:spPr bwMode="auto">
          <a:xfrm>
            <a:off x="2178050" y="5630863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36" name="Rectangle 29"/>
          <p:cNvSpPr>
            <a:spLocks noChangeArrowheads="1"/>
          </p:cNvSpPr>
          <p:nvPr/>
        </p:nvSpPr>
        <p:spPr bwMode="auto">
          <a:xfrm>
            <a:off x="6653213" y="2101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37" name="Rectangle 30"/>
          <p:cNvSpPr>
            <a:spLocks noChangeArrowheads="1"/>
          </p:cNvSpPr>
          <p:nvPr/>
        </p:nvSpPr>
        <p:spPr bwMode="auto">
          <a:xfrm>
            <a:off x="6653213" y="2254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38" name="Rectangle 31"/>
          <p:cNvSpPr>
            <a:spLocks noChangeArrowheads="1"/>
          </p:cNvSpPr>
          <p:nvPr/>
        </p:nvSpPr>
        <p:spPr bwMode="auto">
          <a:xfrm>
            <a:off x="6653213" y="24066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39" name="Rectangle 32"/>
          <p:cNvSpPr>
            <a:spLocks noChangeArrowheads="1"/>
          </p:cNvSpPr>
          <p:nvPr/>
        </p:nvSpPr>
        <p:spPr bwMode="auto">
          <a:xfrm>
            <a:off x="6653213" y="25590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0" name="Rectangle 33"/>
          <p:cNvSpPr>
            <a:spLocks noChangeArrowheads="1"/>
          </p:cNvSpPr>
          <p:nvPr/>
        </p:nvSpPr>
        <p:spPr bwMode="auto">
          <a:xfrm>
            <a:off x="6653213" y="27114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1" name="Rectangle 34"/>
          <p:cNvSpPr>
            <a:spLocks noChangeArrowheads="1"/>
          </p:cNvSpPr>
          <p:nvPr/>
        </p:nvSpPr>
        <p:spPr bwMode="auto">
          <a:xfrm>
            <a:off x="6653213" y="2863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2" name="Rectangle 35"/>
          <p:cNvSpPr>
            <a:spLocks noChangeArrowheads="1"/>
          </p:cNvSpPr>
          <p:nvPr/>
        </p:nvSpPr>
        <p:spPr bwMode="auto">
          <a:xfrm>
            <a:off x="6653213" y="3016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3" name="Rectangle 36"/>
          <p:cNvSpPr>
            <a:spLocks noChangeArrowheads="1"/>
          </p:cNvSpPr>
          <p:nvPr/>
        </p:nvSpPr>
        <p:spPr bwMode="auto">
          <a:xfrm>
            <a:off x="6653213" y="31686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4" name="Rectangle 37"/>
          <p:cNvSpPr>
            <a:spLocks noChangeArrowheads="1"/>
          </p:cNvSpPr>
          <p:nvPr/>
        </p:nvSpPr>
        <p:spPr bwMode="auto">
          <a:xfrm>
            <a:off x="6653213" y="44640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5" name="Rectangle 38"/>
          <p:cNvSpPr>
            <a:spLocks noChangeArrowheads="1"/>
          </p:cNvSpPr>
          <p:nvPr/>
        </p:nvSpPr>
        <p:spPr bwMode="auto">
          <a:xfrm>
            <a:off x="6653213" y="46164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6" name="Rectangle 39"/>
          <p:cNvSpPr>
            <a:spLocks noChangeArrowheads="1"/>
          </p:cNvSpPr>
          <p:nvPr/>
        </p:nvSpPr>
        <p:spPr bwMode="auto">
          <a:xfrm>
            <a:off x="6653213" y="47688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7" name="Rectangle 40"/>
          <p:cNvSpPr>
            <a:spLocks noChangeArrowheads="1"/>
          </p:cNvSpPr>
          <p:nvPr/>
        </p:nvSpPr>
        <p:spPr bwMode="auto">
          <a:xfrm>
            <a:off x="6653213" y="49212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8" name="Rectangle 41"/>
          <p:cNvSpPr>
            <a:spLocks noChangeArrowheads="1"/>
          </p:cNvSpPr>
          <p:nvPr/>
        </p:nvSpPr>
        <p:spPr bwMode="auto">
          <a:xfrm>
            <a:off x="6653213" y="50736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49" name="Rectangle 42"/>
          <p:cNvSpPr>
            <a:spLocks noChangeArrowheads="1"/>
          </p:cNvSpPr>
          <p:nvPr/>
        </p:nvSpPr>
        <p:spPr bwMode="auto">
          <a:xfrm>
            <a:off x="6653213" y="5226050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50" name="AutoShape 43"/>
          <p:cNvSpPr>
            <a:spLocks noChangeArrowheads="1"/>
          </p:cNvSpPr>
          <p:nvPr/>
        </p:nvSpPr>
        <p:spPr bwMode="auto">
          <a:xfrm rot="16200000" flipH="1">
            <a:off x="6362700" y="3971926"/>
            <a:ext cx="866775" cy="330200"/>
          </a:xfrm>
          <a:prstGeom prst="rightArrow">
            <a:avLst>
              <a:gd name="adj1" fmla="val 50000"/>
              <a:gd name="adj2" fmla="val 148227"/>
            </a:avLst>
          </a:prstGeom>
          <a:solidFill>
            <a:srgbClr val="DADADA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21551" name="Line 44"/>
          <p:cNvSpPr>
            <a:spLocks noChangeShapeType="1"/>
          </p:cNvSpPr>
          <p:nvPr/>
        </p:nvSpPr>
        <p:spPr bwMode="auto">
          <a:xfrm>
            <a:off x="6616700" y="3649663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52" name="Line 45"/>
          <p:cNvSpPr>
            <a:spLocks noChangeShapeType="1"/>
          </p:cNvSpPr>
          <p:nvPr/>
        </p:nvSpPr>
        <p:spPr bwMode="auto">
          <a:xfrm>
            <a:off x="6616700" y="4646613"/>
            <a:ext cx="368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6414" name="Rectangle 46"/>
          <p:cNvSpPr>
            <a:spLocks noChangeArrowheads="1"/>
          </p:cNvSpPr>
          <p:nvPr/>
        </p:nvSpPr>
        <p:spPr bwMode="auto">
          <a:xfrm>
            <a:off x="3333750" y="2236788"/>
            <a:ext cx="2890838" cy="428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6415" name="Rectangle 47"/>
          <p:cNvSpPr>
            <a:spLocks noChangeArrowheads="1"/>
          </p:cNvSpPr>
          <p:nvPr/>
        </p:nvSpPr>
        <p:spPr bwMode="auto">
          <a:xfrm>
            <a:off x="3533775" y="2287588"/>
            <a:ext cx="251618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save </a:t>
            </a:r>
            <a:r>
              <a:rPr lang="en-US" altLang="zh-TW" sz="2000" b="1">
                <a:latin typeface="Book Antiqua" panose="02040602050305030304" pitchFamily="18" charset="0"/>
              </a:rPr>
              <a:t>state into PCB0</a:t>
            </a:r>
          </a:p>
        </p:txBody>
      </p:sp>
      <p:sp>
        <p:nvSpPr>
          <p:cNvPr id="186416" name="Rectangle 48"/>
          <p:cNvSpPr>
            <a:spLocks noChangeArrowheads="1"/>
          </p:cNvSpPr>
          <p:nvPr/>
        </p:nvSpPr>
        <p:spPr bwMode="auto">
          <a:xfrm>
            <a:off x="3333750" y="3268663"/>
            <a:ext cx="2924175" cy="5000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6417" name="Rectangle 49"/>
          <p:cNvSpPr>
            <a:spLocks noChangeArrowheads="1"/>
          </p:cNvSpPr>
          <p:nvPr/>
        </p:nvSpPr>
        <p:spPr bwMode="auto">
          <a:xfrm>
            <a:off x="3414713" y="3354388"/>
            <a:ext cx="2840037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reload</a:t>
            </a:r>
            <a:r>
              <a:rPr lang="en-US" altLang="zh-TW" sz="2000" b="1">
                <a:latin typeface="Book Antiqua" panose="02040602050305030304" pitchFamily="18" charset="0"/>
              </a:rPr>
              <a:t> state from PCB1</a:t>
            </a:r>
          </a:p>
        </p:txBody>
      </p:sp>
      <p:sp>
        <p:nvSpPr>
          <p:cNvPr id="21557" name="Rectangle 50"/>
          <p:cNvSpPr>
            <a:spLocks noChangeArrowheads="1"/>
          </p:cNvSpPr>
          <p:nvPr/>
        </p:nvSpPr>
        <p:spPr bwMode="auto">
          <a:xfrm>
            <a:off x="4211638" y="2544763"/>
            <a:ext cx="244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58" name="Rectangle 51"/>
          <p:cNvSpPr>
            <a:spLocks noChangeArrowheads="1"/>
          </p:cNvSpPr>
          <p:nvPr/>
        </p:nvSpPr>
        <p:spPr bwMode="auto">
          <a:xfrm>
            <a:off x="4222750" y="2709863"/>
            <a:ext cx="244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186420" name="Rectangle 52"/>
          <p:cNvSpPr>
            <a:spLocks noChangeArrowheads="1"/>
          </p:cNvSpPr>
          <p:nvPr/>
        </p:nvSpPr>
        <p:spPr bwMode="auto">
          <a:xfrm>
            <a:off x="4222750" y="2862263"/>
            <a:ext cx="244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186421" name="Rectangle 53"/>
          <p:cNvSpPr>
            <a:spLocks noChangeArrowheads="1"/>
          </p:cNvSpPr>
          <p:nvPr/>
        </p:nvSpPr>
        <p:spPr bwMode="auto">
          <a:xfrm>
            <a:off x="3351213" y="4613275"/>
            <a:ext cx="2906712" cy="460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6422" name="Rectangle 54"/>
          <p:cNvSpPr>
            <a:spLocks noChangeArrowheads="1"/>
          </p:cNvSpPr>
          <p:nvPr/>
        </p:nvSpPr>
        <p:spPr bwMode="auto">
          <a:xfrm>
            <a:off x="3614738" y="4697413"/>
            <a:ext cx="2516187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save</a:t>
            </a:r>
            <a:r>
              <a:rPr lang="en-US" altLang="zh-TW" sz="2000" b="1">
                <a:latin typeface="Book Antiqua" panose="02040602050305030304" pitchFamily="18" charset="0"/>
              </a:rPr>
              <a:t> state into PCB1</a:t>
            </a:r>
          </a:p>
        </p:txBody>
      </p:sp>
      <p:sp>
        <p:nvSpPr>
          <p:cNvPr id="186423" name="Rectangle 55"/>
          <p:cNvSpPr>
            <a:spLocks noChangeArrowheads="1"/>
          </p:cNvSpPr>
          <p:nvPr/>
        </p:nvSpPr>
        <p:spPr bwMode="auto">
          <a:xfrm>
            <a:off x="3333750" y="5589588"/>
            <a:ext cx="2924175" cy="536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54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86424" name="Rectangle 56"/>
          <p:cNvSpPr>
            <a:spLocks noChangeArrowheads="1"/>
          </p:cNvSpPr>
          <p:nvPr/>
        </p:nvSpPr>
        <p:spPr bwMode="auto">
          <a:xfrm>
            <a:off x="3495675" y="5764213"/>
            <a:ext cx="284003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reload</a:t>
            </a:r>
            <a:r>
              <a:rPr lang="en-US" altLang="zh-TW" sz="2000" b="1">
                <a:latin typeface="Book Antiqua" panose="02040602050305030304" pitchFamily="18" charset="0"/>
              </a:rPr>
              <a:t> state from PCB0</a:t>
            </a:r>
          </a:p>
        </p:txBody>
      </p:sp>
      <p:sp>
        <p:nvSpPr>
          <p:cNvPr id="21564" name="Rectangle 57"/>
          <p:cNvSpPr>
            <a:spLocks noChangeArrowheads="1"/>
          </p:cNvSpPr>
          <p:nvPr/>
        </p:nvSpPr>
        <p:spPr bwMode="auto">
          <a:xfrm>
            <a:off x="4314825" y="4854575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186426" name="Rectangle 58"/>
          <p:cNvSpPr>
            <a:spLocks noChangeArrowheads="1"/>
          </p:cNvSpPr>
          <p:nvPr/>
        </p:nvSpPr>
        <p:spPr bwMode="auto">
          <a:xfrm>
            <a:off x="4314825" y="5006975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66" name="Rectangle 59"/>
          <p:cNvSpPr>
            <a:spLocks noChangeArrowheads="1"/>
          </p:cNvSpPr>
          <p:nvPr/>
        </p:nvSpPr>
        <p:spPr bwMode="auto">
          <a:xfrm>
            <a:off x="4314825" y="5159375"/>
            <a:ext cx="24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zh-TW" altLang="en-US" sz="2000" b="1">
                <a:latin typeface="Book Antiqua" panose="02040602050305030304" pitchFamily="18" charset="0"/>
              </a:rPr>
              <a:t>.</a:t>
            </a:r>
          </a:p>
        </p:txBody>
      </p:sp>
      <p:sp>
        <p:nvSpPr>
          <p:cNvPr id="21567" name="Line 60"/>
          <p:cNvSpPr>
            <a:spLocks noChangeShapeType="1"/>
          </p:cNvSpPr>
          <p:nvPr/>
        </p:nvSpPr>
        <p:spPr bwMode="auto">
          <a:xfrm flipV="1">
            <a:off x="2593975" y="1966913"/>
            <a:ext cx="957263" cy="166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68" name="Line 61"/>
          <p:cNvSpPr>
            <a:spLocks noChangeShapeType="1"/>
          </p:cNvSpPr>
          <p:nvPr/>
        </p:nvSpPr>
        <p:spPr bwMode="auto">
          <a:xfrm>
            <a:off x="3551238" y="1954213"/>
            <a:ext cx="815975" cy="12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69" name="Line 62"/>
          <p:cNvSpPr>
            <a:spLocks noChangeShapeType="1"/>
          </p:cNvSpPr>
          <p:nvPr/>
        </p:nvSpPr>
        <p:spPr bwMode="auto">
          <a:xfrm>
            <a:off x="4367213" y="1966913"/>
            <a:ext cx="0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0" name="Line 63"/>
          <p:cNvSpPr>
            <a:spLocks noChangeShapeType="1"/>
          </p:cNvSpPr>
          <p:nvPr/>
        </p:nvSpPr>
        <p:spPr bwMode="auto">
          <a:xfrm>
            <a:off x="4397375" y="3778250"/>
            <a:ext cx="14288" cy="2063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1" name="Line 64"/>
          <p:cNvSpPr>
            <a:spLocks noChangeShapeType="1"/>
          </p:cNvSpPr>
          <p:nvPr/>
        </p:nvSpPr>
        <p:spPr bwMode="auto">
          <a:xfrm flipV="1">
            <a:off x="4411663" y="3998913"/>
            <a:ext cx="1716087" cy="111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2" name="Line 65"/>
          <p:cNvSpPr>
            <a:spLocks noChangeShapeType="1"/>
          </p:cNvSpPr>
          <p:nvPr/>
        </p:nvSpPr>
        <p:spPr bwMode="auto">
          <a:xfrm flipV="1">
            <a:off x="6122988" y="3656013"/>
            <a:ext cx="431800" cy="3540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3" name="Line 66"/>
          <p:cNvSpPr>
            <a:spLocks noChangeShapeType="1"/>
          </p:cNvSpPr>
          <p:nvPr/>
        </p:nvSpPr>
        <p:spPr bwMode="auto">
          <a:xfrm flipH="1" flipV="1">
            <a:off x="6111875" y="4356100"/>
            <a:ext cx="439738" cy="2905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4" name="Line 67"/>
          <p:cNvSpPr>
            <a:spLocks noChangeShapeType="1"/>
          </p:cNvSpPr>
          <p:nvPr/>
        </p:nvSpPr>
        <p:spPr bwMode="auto">
          <a:xfrm flipH="1">
            <a:off x="4397375" y="4368800"/>
            <a:ext cx="1730375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5" name="Line 68"/>
          <p:cNvSpPr>
            <a:spLocks noChangeShapeType="1"/>
          </p:cNvSpPr>
          <p:nvPr/>
        </p:nvSpPr>
        <p:spPr bwMode="auto">
          <a:xfrm flipH="1">
            <a:off x="4397375" y="4381500"/>
            <a:ext cx="12700" cy="2317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6" name="Line 69"/>
          <p:cNvSpPr>
            <a:spLocks noChangeShapeType="1"/>
          </p:cNvSpPr>
          <p:nvPr/>
        </p:nvSpPr>
        <p:spPr bwMode="auto">
          <a:xfrm>
            <a:off x="4467225" y="6127750"/>
            <a:ext cx="0" cy="171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7" name="Line 70"/>
          <p:cNvSpPr>
            <a:spLocks noChangeShapeType="1"/>
          </p:cNvSpPr>
          <p:nvPr/>
        </p:nvSpPr>
        <p:spPr bwMode="auto">
          <a:xfrm flipH="1">
            <a:off x="3325813" y="6311900"/>
            <a:ext cx="11541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8" name="Line 71"/>
          <p:cNvSpPr>
            <a:spLocks noChangeShapeType="1"/>
          </p:cNvSpPr>
          <p:nvPr/>
        </p:nvSpPr>
        <p:spPr bwMode="auto">
          <a:xfrm flipH="1" flipV="1">
            <a:off x="2568575" y="5627688"/>
            <a:ext cx="782638" cy="696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579" name="Rectangle 72"/>
          <p:cNvSpPr>
            <a:spLocks noChangeArrowheads="1"/>
          </p:cNvSpPr>
          <p:nvPr/>
        </p:nvSpPr>
        <p:spPr bwMode="auto">
          <a:xfrm>
            <a:off x="2419350" y="3967163"/>
            <a:ext cx="5746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idle</a:t>
            </a:r>
          </a:p>
        </p:txBody>
      </p:sp>
      <p:sp>
        <p:nvSpPr>
          <p:cNvPr id="21580" name="Rectangle 73"/>
          <p:cNvSpPr>
            <a:spLocks noChangeArrowheads="1"/>
          </p:cNvSpPr>
          <p:nvPr/>
        </p:nvSpPr>
        <p:spPr bwMode="auto">
          <a:xfrm>
            <a:off x="6900863" y="2876550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idle</a:t>
            </a:r>
          </a:p>
        </p:txBody>
      </p:sp>
      <p:sp>
        <p:nvSpPr>
          <p:cNvPr id="21581" name="Rectangle 74"/>
          <p:cNvSpPr>
            <a:spLocks noChangeArrowheads="1"/>
          </p:cNvSpPr>
          <p:nvPr/>
        </p:nvSpPr>
        <p:spPr bwMode="auto">
          <a:xfrm>
            <a:off x="6924675" y="5057775"/>
            <a:ext cx="574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idle</a:t>
            </a:r>
          </a:p>
        </p:txBody>
      </p:sp>
      <p:sp>
        <p:nvSpPr>
          <p:cNvPr id="21582" name="Rectangle 75"/>
          <p:cNvSpPr>
            <a:spLocks noChangeArrowheads="1"/>
          </p:cNvSpPr>
          <p:nvPr/>
        </p:nvSpPr>
        <p:spPr bwMode="auto">
          <a:xfrm>
            <a:off x="6977063" y="3867150"/>
            <a:ext cx="12954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executing</a:t>
            </a:r>
          </a:p>
        </p:txBody>
      </p:sp>
      <p:sp>
        <p:nvSpPr>
          <p:cNvPr id="21583" name="Rectangle 76"/>
          <p:cNvSpPr>
            <a:spLocks noChangeArrowheads="1"/>
          </p:cNvSpPr>
          <p:nvPr/>
        </p:nvSpPr>
        <p:spPr bwMode="auto">
          <a:xfrm>
            <a:off x="1020763" y="5680075"/>
            <a:ext cx="1308100" cy="37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executing</a:t>
            </a:r>
          </a:p>
        </p:txBody>
      </p:sp>
      <p:sp>
        <p:nvSpPr>
          <p:cNvPr id="21584" name="Rectangle 77"/>
          <p:cNvSpPr>
            <a:spLocks noChangeArrowheads="1"/>
          </p:cNvSpPr>
          <p:nvPr/>
        </p:nvSpPr>
        <p:spPr bwMode="auto">
          <a:xfrm>
            <a:off x="1028700" y="1676400"/>
            <a:ext cx="12954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executing</a:t>
            </a:r>
          </a:p>
        </p:txBody>
      </p:sp>
      <p:sp>
        <p:nvSpPr>
          <p:cNvPr id="186446" name="Rectangle 78"/>
          <p:cNvSpPr>
            <a:spLocks noChangeArrowheads="1"/>
          </p:cNvSpPr>
          <p:nvPr/>
        </p:nvSpPr>
        <p:spPr bwMode="auto">
          <a:xfrm>
            <a:off x="3319463" y="4010025"/>
            <a:ext cx="286543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0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interrupt or system call</a:t>
            </a:r>
          </a:p>
        </p:txBody>
      </p:sp>
      <p:sp>
        <p:nvSpPr>
          <p:cNvPr id="186447" name="Rectangle 79"/>
          <p:cNvSpPr>
            <a:spLocks noChangeArrowheads="1"/>
          </p:cNvSpPr>
          <p:nvPr/>
        </p:nvSpPr>
        <p:spPr bwMode="auto">
          <a:xfrm>
            <a:off x="1995488" y="1098550"/>
            <a:ext cx="53292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TW" altLang="en-US"/>
          </a:p>
        </p:txBody>
      </p:sp>
      <p:sp>
        <p:nvSpPr>
          <p:cNvPr id="21587" name="Rectangle 80"/>
          <p:cNvSpPr>
            <a:spLocks noChangeArrowheads="1"/>
          </p:cNvSpPr>
          <p:nvPr/>
        </p:nvSpPr>
        <p:spPr bwMode="auto">
          <a:xfrm>
            <a:off x="1239838" y="928688"/>
            <a:ext cx="6827837" cy="363537"/>
          </a:xfrm>
          <a:prstGeom prst="rect">
            <a:avLst/>
          </a:prstGeom>
          <a:solidFill>
            <a:srgbClr val="DADAD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process P0                   operating system             process P1  </a:t>
            </a:r>
          </a:p>
        </p:txBody>
      </p:sp>
      <p:sp>
        <p:nvSpPr>
          <p:cNvPr id="186449" name="Rectangle 81"/>
          <p:cNvSpPr>
            <a:spLocks noChangeArrowheads="1"/>
          </p:cNvSpPr>
          <p:nvPr/>
        </p:nvSpPr>
        <p:spPr bwMode="auto">
          <a:xfrm>
            <a:off x="3022600" y="1503363"/>
            <a:ext cx="2865438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  <a:defRPr/>
            </a:pPr>
            <a:r>
              <a:rPr lang="en-US" altLang="zh-TW" sz="20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</a:rPr>
              <a:t>interrupt or system call</a:t>
            </a:r>
          </a:p>
        </p:txBody>
      </p:sp>
      <p:sp>
        <p:nvSpPr>
          <p:cNvPr id="2" name="動作按鈕: 起點 1">
            <a:hlinkClick r:id="rId4" action="ppaction://hlinksldjump" highlightClick="1"/>
          </p:cNvPr>
          <p:cNvSpPr/>
          <p:nvPr/>
        </p:nvSpPr>
        <p:spPr bwMode="auto">
          <a:xfrm>
            <a:off x="8615680" y="2544763"/>
            <a:ext cx="467996" cy="471487"/>
          </a:xfrm>
          <a:prstGeom prst="actionButtonBeginning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8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8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8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8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8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8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86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414" grpId="0" animBg="1"/>
      <p:bldP spid="186415" grpId="0"/>
      <p:bldP spid="186416" grpId="0" animBg="1"/>
      <p:bldP spid="186417" grpId="0"/>
      <p:bldP spid="186420" grpId="0"/>
      <p:bldP spid="186421" grpId="0" animBg="1"/>
      <p:bldP spid="186422" grpId="0"/>
      <p:bldP spid="186423" grpId="0" animBg="1"/>
      <p:bldP spid="186424" grpId="0"/>
      <p:bldP spid="186426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244493-3158-47E1-9607-91435677381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62A569-60AC-4F08-885C-E1874439E4E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/>
          </a:p>
        </p:txBody>
      </p:sp>
      <p:sp>
        <p:nvSpPr>
          <p:cNvPr id="18739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74675" y="1109663"/>
            <a:ext cx="8194675" cy="513715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smtClean="0"/>
              <a:t>Sometimes is called a</a:t>
            </a:r>
            <a:r>
              <a:rPr lang="en-US" altLang="zh-TW" sz="2600" smtClean="0">
                <a:solidFill>
                  <a:srgbClr val="FFCC00"/>
                </a:solidFill>
              </a:rPr>
              <a:t> </a:t>
            </a: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lightweight process</a:t>
            </a:r>
            <a:r>
              <a:rPr lang="en-US" altLang="zh-TW" sz="2600" smtClean="0"/>
              <a:t>: is a basic unit of CPU utilization; it comprises a </a:t>
            </a:r>
            <a:r>
              <a:rPr lang="en-US" altLang="zh-TW" sz="2600" smtClean="0">
                <a:solidFill>
                  <a:srgbClr val="FF3300"/>
                </a:solidFill>
              </a:rPr>
              <a:t>thread ID</a:t>
            </a:r>
            <a:r>
              <a:rPr lang="en-US" altLang="zh-TW" sz="2600" smtClean="0"/>
              <a:t>, a </a:t>
            </a:r>
            <a:r>
              <a:rPr lang="en-US" altLang="zh-TW" sz="2600" smtClean="0">
                <a:solidFill>
                  <a:srgbClr val="FF3300"/>
                </a:solidFill>
              </a:rPr>
              <a:t>program counter</a:t>
            </a:r>
            <a:r>
              <a:rPr lang="en-US" altLang="zh-TW" sz="2600" smtClean="0"/>
              <a:t>, a </a:t>
            </a:r>
            <a:r>
              <a:rPr lang="en-US" altLang="zh-TW" sz="2600" smtClean="0">
                <a:solidFill>
                  <a:srgbClr val="FF3300"/>
                </a:solidFill>
              </a:rPr>
              <a:t>register set</a:t>
            </a:r>
            <a:r>
              <a:rPr lang="en-US" altLang="zh-TW" sz="2600" smtClean="0"/>
              <a:t>, and a </a:t>
            </a:r>
            <a:r>
              <a:rPr lang="en-US" altLang="zh-TW" sz="2600" smtClean="0">
                <a:solidFill>
                  <a:srgbClr val="FF3300"/>
                </a:solidFill>
              </a:rPr>
              <a:t>stack</a:t>
            </a:r>
            <a:endParaRPr lang="en-US" altLang="zh-TW" sz="2600" smtClean="0"/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smtClean="0"/>
              <a:t>It shares with other threads </a:t>
            </a:r>
            <a:r>
              <a:rPr lang="en-US" altLang="zh-TW" sz="2600" smtClean="0">
                <a:solidFill>
                  <a:srgbClr val="FF3300"/>
                </a:solidFill>
              </a:rPr>
              <a:t>belonging to the same process</a:t>
            </a:r>
            <a:r>
              <a:rPr lang="en-US" altLang="zh-TW" sz="2600" smtClean="0"/>
              <a:t> its code section, data section, and other OS resources, such as open files and signals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200" smtClean="0"/>
              <a:t> A web browser might have one thread display images or text while another thread retrieves data from the network</a:t>
            </a:r>
          </a:p>
          <a:p>
            <a:pPr marL="285750" indent="-285750"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600" smtClean="0"/>
              <a:t>Modern OS has extend the process concept to </a:t>
            </a:r>
            <a:r>
              <a:rPr lang="en-US" altLang="zh-TW" sz="2600" smtClean="0">
                <a:solidFill>
                  <a:srgbClr val="FF3300"/>
                </a:solidFill>
              </a:rPr>
              <a:t>allow a process to have multiple threads of execution</a:t>
            </a:r>
            <a:endParaRPr lang="en-US" altLang="zh-TW" sz="2600" smtClean="0"/>
          </a:p>
        </p:txBody>
      </p:sp>
      <p:sp>
        <p:nvSpPr>
          <p:cNvPr id="23558" name="Rectangle 3"/>
          <p:cNvSpPr>
            <a:spLocks noChangeArrowheads="1"/>
          </p:cNvSpPr>
          <p:nvPr/>
        </p:nvSpPr>
        <p:spPr bwMode="auto">
          <a:xfrm>
            <a:off x="3317875" y="225425"/>
            <a:ext cx="21717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 b="1" i="1">
                <a:solidFill>
                  <a:srgbClr val="FF0066"/>
                </a:solidFill>
                <a:latin typeface="Book Antiqua" panose="02040602050305030304" pitchFamily="18" charset="0"/>
              </a:rPr>
              <a:t>Threads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7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7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92100" y="206375"/>
            <a:ext cx="8229600" cy="576263"/>
          </a:xfrm>
        </p:spPr>
        <p:txBody>
          <a:bodyPr/>
          <a:lstStyle/>
          <a:p>
            <a:pPr algn="ctr"/>
            <a:r>
              <a:rPr lang="en-US" altLang="en-US" sz="36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Process Representation in Linux</a:t>
            </a:r>
            <a:endParaRPr lang="en-US" altLang="en-US" smtClean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25603" name="Picture 3" descr="C:\Users\as668\Desktop\in-3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3886200"/>
            <a:ext cx="58658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03188" y="923925"/>
            <a:ext cx="8932862" cy="4768850"/>
          </a:xfrm>
        </p:spPr>
        <p:txBody>
          <a:bodyPr/>
          <a:lstStyle/>
          <a:p>
            <a:pPr>
              <a:buFont typeface="Monotype Sorts"/>
              <a:buNone/>
            </a:pP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Represented by the C structure </a:t>
            </a: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task_struct</a:t>
            </a:r>
          </a:p>
          <a:p>
            <a:pPr>
              <a:buFont typeface="Monotype Sorts"/>
              <a:buNone/>
            </a:pP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/>
            </a:r>
            <a:b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</a:b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pid </a:t>
            </a:r>
            <a:r>
              <a:rPr lang="en-US" altLang="en-US" sz="1800" b="1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t_pid</a:t>
            </a: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; /* process identifier */ </a:t>
            </a:r>
            <a:b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</a:b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long </a:t>
            </a:r>
            <a:r>
              <a:rPr lang="en-US" altLang="en-US" sz="1800" b="1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state</a:t>
            </a: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; /* state of the process */ </a:t>
            </a:r>
            <a:b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</a:b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unsigned int </a:t>
            </a:r>
            <a:r>
              <a:rPr lang="en-US" altLang="en-US" sz="1800" b="1" smtClean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time_slice</a:t>
            </a: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 /* scheduling information */ </a:t>
            </a:r>
            <a:b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</a:b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struct task_struct *</a:t>
            </a:r>
            <a:r>
              <a:rPr lang="en-US" altLang="en-US" sz="180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parent</a:t>
            </a:r>
            <a:r>
              <a:rPr lang="en-US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; /* this process</a:t>
            </a:r>
            <a:r>
              <a:rPr lang="ja-JP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’</a:t>
            </a: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 parent */ </a:t>
            </a:r>
            <a:b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</a:b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struct list_head </a:t>
            </a:r>
            <a:r>
              <a:rPr lang="en-US" altLang="ja-JP" sz="180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children</a:t>
            </a: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; /* this process</a:t>
            </a:r>
            <a:r>
              <a:rPr lang="ja-JP" altLang="en-US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’</a:t>
            </a: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 children */ </a:t>
            </a:r>
            <a:b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</a:b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struct files_struct *</a:t>
            </a:r>
            <a:r>
              <a:rPr lang="en-US" altLang="ja-JP" sz="1800" smtClean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files</a:t>
            </a: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; /* list of open files */ </a:t>
            </a:r>
            <a:b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</a:b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struct mm_struct *</a:t>
            </a:r>
            <a:r>
              <a:rPr lang="en-US" altLang="ja-JP" sz="1800" smtClean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mm</a:t>
            </a:r>
            <a:r>
              <a:rPr lang="en-US" altLang="ja-JP" sz="1800" smtClean="0">
                <a:latin typeface="Adobe Gothic Std B" panose="020B0800000000000000" pitchFamily="34" charset="-128"/>
                <a:ea typeface="Adobe Gothic Std B" panose="020B0800000000000000" pitchFamily="34" charset="-128"/>
                <a:cs typeface="Courier New" panose="02070309020205020404" pitchFamily="49" charset="0"/>
              </a:rPr>
              <a:t>; /* address space of this process */</a:t>
            </a:r>
            <a:endParaRPr lang="en-US" altLang="en-US" sz="1400" smtClean="0">
              <a:latin typeface="Adobe Gothic Std B" panose="020B0800000000000000" pitchFamily="34" charset="-128"/>
              <a:ea typeface="Adobe Gothic Std B" panose="020B08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25605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1A32DE-416E-41E3-AB8F-299FEADC49F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25606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25607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3482AC-235F-4B0D-AC37-413A1518B1EA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51E534-B6E9-4C11-8FF8-FBA4B1C82D00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BE1F9A-5EE8-40E6-B84B-0DC29B651BEF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809625" y="336550"/>
            <a:ext cx="7253288" cy="7651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Process Scheduling</a:t>
            </a:r>
          </a:p>
        </p:txBody>
      </p:sp>
      <p:sp>
        <p:nvSpPr>
          <p:cNvPr id="1884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74650" y="1379538"/>
            <a:ext cx="8394700" cy="458152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defRPr/>
            </a:pPr>
            <a:r>
              <a:rPr lang="en-US" altLang="zh-TW" sz="2800" dirty="0" smtClean="0"/>
              <a:t>Objective of 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multiprogramming</a:t>
            </a:r>
            <a:r>
              <a:rPr lang="en-US" altLang="zh-TW" sz="2800" dirty="0" smtClean="0"/>
              <a:t>: CPU runs process at all times to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maximize CPU utilization</a:t>
            </a:r>
            <a:endParaRPr lang="en-US" altLang="zh-TW" sz="2800" dirty="0" smtClean="0"/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Objective of </a:t>
            </a:r>
            <a:r>
              <a:rPr lang="en-US" altLang="zh-TW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time sharing</a:t>
            </a:r>
            <a:r>
              <a:rPr lang="en-US" altLang="zh-TW" sz="2800" dirty="0" smtClean="0"/>
              <a:t>: switch CPU frequently such that users can</a:t>
            </a:r>
            <a:r>
              <a:rPr lang="en-US" altLang="zh-TW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TW" sz="2800" dirty="0" smtClean="0">
                <a:solidFill>
                  <a:srgbClr val="FF3300"/>
                </a:solidFill>
              </a:rPr>
              <a:t>interact </a:t>
            </a:r>
            <a:r>
              <a:rPr lang="en-US" altLang="zh-TW" sz="2800" dirty="0" smtClean="0"/>
              <a:t>with each program while it is running</a:t>
            </a:r>
          </a:p>
          <a:p>
            <a:pPr eaLnBrk="1" hangingPunct="1">
              <a:spcBef>
                <a:spcPct val="60000"/>
              </a:spcBef>
              <a:defRPr/>
            </a:pPr>
            <a:r>
              <a:rPr lang="en-US" altLang="zh-TW" sz="2800" dirty="0" smtClean="0"/>
              <a:t>For a </a:t>
            </a:r>
            <a:r>
              <a:rPr lang="en-US" altLang="zh-TW" sz="2800" dirty="0" err="1" smtClean="0"/>
              <a:t>uni</a:t>
            </a:r>
            <a:r>
              <a:rPr lang="en-US" altLang="zh-TW" sz="2800" dirty="0" smtClean="0"/>
              <a:t>-processor system, there is only one running process. The rest should wait until CPU free and is rescheduled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B426F5-7BE0-401F-BB3C-F2A742B57CDC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D9FD60-4070-40C7-9E67-71044122D6D4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65100"/>
            <a:ext cx="7216775" cy="67627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Scheduling Queues</a:t>
            </a:r>
          </a:p>
        </p:txBody>
      </p:sp>
      <p:sp>
        <p:nvSpPr>
          <p:cNvPr id="1894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1625" y="930275"/>
            <a:ext cx="8626475" cy="5541963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mtClean="0"/>
              <a:t>Scheduling queues</a:t>
            </a:r>
            <a:endParaRPr lang="en-US" altLang="zh-TW" i="1" smtClean="0">
              <a:solidFill>
                <a:srgbClr val="FFCC00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queue</a:t>
            </a:r>
            <a:r>
              <a:rPr lang="en-US" altLang="zh-TW" smtClean="0"/>
              <a:t>: containing all processes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ready queue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mtClean="0"/>
              <a:t>usually, stored as a linked list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device queues</a:t>
            </a:r>
            <a:r>
              <a:rPr lang="en-US" altLang="zh-TW" smtClean="0"/>
              <a:t>: each containing processes waiting for it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Queuing diagram</a:t>
            </a:r>
            <a:r>
              <a:rPr lang="en-US" altLang="zh-TW" smtClean="0"/>
              <a:t>: a common representation for process scheduling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/>
              <a:t>rectangle: queue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/>
              <a:t>circle: server for a queue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mtClean="0"/>
              <a:t>arrow: flow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smtClean="0"/>
          </a:p>
          <a:p>
            <a:pPr eaLnBrk="1" hangingPunct="1">
              <a:lnSpc>
                <a:spcPct val="90000"/>
              </a:lnSpc>
              <a:defRPr/>
            </a:pPr>
            <a:endParaRPr lang="en-US" altLang="zh-TW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EA9D63-6747-4C41-B52E-7741628353BC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7DE9C8-AE03-4AAB-ABD7-808432C584BC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/>
          </a:p>
        </p:txBody>
      </p:sp>
      <p:sp>
        <p:nvSpPr>
          <p:cNvPr id="30725" name="Line 2"/>
          <p:cNvSpPr>
            <a:spLocks noChangeShapeType="1"/>
          </p:cNvSpPr>
          <p:nvPr/>
        </p:nvSpPr>
        <p:spPr bwMode="auto">
          <a:xfrm>
            <a:off x="3609975" y="1106488"/>
            <a:ext cx="2401888" cy="4016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30726" name="Group 3"/>
          <p:cNvGrpSpPr>
            <a:grpSpLocks/>
          </p:cNvGrpSpPr>
          <p:nvPr/>
        </p:nvGrpSpPr>
        <p:grpSpPr bwMode="auto">
          <a:xfrm>
            <a:off x="6853238" y="700088"/>
            <a:ext cx="387350" cy="328612"/>
            <a:chOff x="3451" y="1260"/>
            <a:chExt cx="244" cy="207"/>
          </a:xfrm>
        </p:grpSpPr>
        <p:sp>
          <p:nvSpPr>
            <p:cNvPr id="30815" name="Line 4"/>
            <p:cNvSpPr>
              <a:spLocks noChangeShapeType="1"/>
            </p:cNvSpPr>
            <p:nvPr/>
          </p:nvSpPr>
          <p:spPr bwMode="auto">
            <a:xfrm>
              <a:off x="3451" y="1260"/>
              <a:ext cx="1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16" name="Line 5"/>
            <p:cNvSpPr>
              <a:spLocks noChangeShapeType="1"/>
            </p:cNvSpPr>
            <p:nvPr/>
          </p:nvSpPr>
          <p:spPr bwMode="auto">
            <a:xfrm>
              <a:off x="3582" y="126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17" name="Line 6"/>
            <p:cNvSpPr>
              <a:spLocks noChangeShapeType="1"/>
            </p:cNvSpPr>
            <p:nvPr/>
          </p:nvSpPr>
          <p:spPr bwMode="auto">
            <a:xfrm>
              <a:off x="3469" y="1395"/>
              <a:ext cx="2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18" name="Line 7"/>
            <p:cNvSpPr>
              <a:spLocks noChangeShapeType="1"/>
            </p:cNvSpPr>
            <p:nvPr/>
          </p:nvSpPr>
          <p:spPr bwMode="auto">
            <a:xfrm>
              <a:off x="3532" y="1431"/>
              <a:ext cx="1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19" name="Line 8"/>
            <p:cNvSpPr>
              <a:spLocks noChangeShapeType="1"/>
            </p:cNvSpPr>
            <p:nvPr/>
          </p:nvSpPr>
          <p:spPr bwMode="auto">
            <a:xfrm>
              <a:off x="3577" y="1467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90473" name="Rectangle 9"/>
          <p:cNvSpPr>
            <a:spLocks noChangeArrowheads="1"/>
          </p:cNvSpPr>
          <p:nvPr/>
        </p:nvSpPr>
        <p:spPr bwMode="auto">
          <a:xfrm>
            <a:off x="2695575" y="606425"/>
            <a:ext cx="941388" cy="676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TW" altLang="en-US"/>
          </a:p>
        </p:txBody>
      </p:sp>
      <p:sp>
        <p:nvSpPr>
          <p:cNvPr id="30728" name="Line 10"/>
          <p:cNvSpPr>
            <a:spLocks noChangeShapeType="1"/>
          </p:cNvSpPr>
          <p:nvPr/>
        </p:nvSpPr>
        <p:spPr bwMode="auto">
          <a:xfrm>
            <a:off x="2709863" y="914400"/>
            <a:ext cx="927100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29" name="Rectangle 11"/>
          <p:cNvSpPr>
            <a:spLocks noChangeArrowheads="1"/>
          </p:cNvSpPr>
          <p:nvPr/>
        </p:nvSpPr>
        <p:spPr bwMode="auto">
          <a:xfrm>
            <a:off x="2841625" y="633413"/>
            <a:ext cx="703263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head</a:t>
            </a:r>
          </a:p>
        </p:txBody>
      </p:sp>
      <p:sp>
        <p:nvSpPr>
          <p:cNvPr id="30730" name="Rectangle 12"/>
          <p:cNvSpPr>
            <a:spLocks noChangeArrowheads="1"/>
          </p:cNvSpPr>
          <p:nvPr/>
        </p:nvSpPr>
        <p:spPr bwMode="auto">
          <a:xfrm>
            <a:off x="2884488" y="947738"/>
            <a:ext cx="5318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tail</a:t>
            </a:r>
          </a:p>
        </p:txBody>
      </p:sp>
      <p:grpSp>
        <p:nvGrpSpPr>
          <p:cNvPr id="30731" name="Group 13"/>
          <p:cNvGrpSpPr>
            <a:grpSpLocks/>
          </p:cNvGrpSpPr>
          <p:nvPr/>
        </p:nvGrpSpPr>
        <p:grpSpPr bwMode="auto">
          <a:xfrm>
            <a:off x="1727200" y="630238"/>
            <a:ext cx="830263" cy="598487"/>
            <a:chOff x="357" y="1227"/>
            <a:chExt cx="523" cy="366"/>
          </a:xfrm>
        </p:grpSpPr>
        <p:sp>
          <p:nvSpPr>
            <p:cNvPr id="30813" name="Rectangle 14"/>
            <p:cNvSpPr>
              <a:spLocks noChangeArrowheads="1"/>
            </p:cNvSpPr>
            <p:nvPr/>
          </p:nvSpPr>
          <p:spPr bwMode="auto">
            <a:xfrm>
              <a:off x="366" y="1227"/>
              <a:ext cx="505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ready</a:t>
              </a:r>
            </a:p>
          </p:txBody>
        </p:sp>
        <p:sp>
          <p:nvSpPr>
            <p:cNvPr id="30814" name="Rectangle 15"/>
            <p:cNvSpPr>
              <a:spLocks noChangeArrowheads="1"/>
            </p:cNvSpPr>
            <p:nvPr/>
          </p:nvSpPr>
          <p:spPr bwMode="auto">
            <a:xfrm>
              <a:off x="357" y="1371"/>
              <a:ext cx="523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queue</a:t>
              </a:r>
            </a:p>
          </p:txBody>
        </p:sp>
      </p:grpSp>
      <p:sp>
        <p:nvSpPr>
          <p:cNvPr id="30732" name="Rectangle 16"/>
          <p:cNvSpPr>
            <a:spLocks noChangeArrowheads="1"/>
          </p:cNvSpPr>
          <p:nvPr/>
        </p:nvSpPr>
        <p:spPr bwMode="auto">
          <a:xfrm>
            <a:off x="4467225" y="592138"/>
            <a:ext cx="801688" cy="1058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3" name="Line 17"/>
          <p:cNvSpPr>
            <a:spLocks noChangeShapeType="1"/>
          </p:cNvSpPr>
          <p:nvPr/>
        </p:nvSpPr>
        <p:spPr bwMode="auto">
          <a:xfrm>
            <a:off x="4467225" y="857250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4" name="Line 18"/>
          <p:cNvSpPr>
            <a:spLocks noChangeShapeType="1"/>
          </p:cNvSpPr>
          <p:nvPr/>
        </p:nvSpPr>
        <p:spPr bwMode="auto">
          <a:xfrm>
            <a:off x="4467225" y="1114425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5" name="Rectangle 19"/>
          <p:cNvSpPr>
            <a:spLocks noChangeArrowheads="1"/>
          </p:cNvSpPr>
          <p:nvPr/>
        </p:nvSpPr>
        <p:spPr bwMode="auto">
          <a:xfrm>
            <a:off x="4484688" y="854075"/>
            <a:ext cx="835025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400" b="1">
                <a:latin typeface="Book Antiqua" panose="02040602050305030304" pitchFamily="18" charset="0"/>
              </a:rPr>
              <a:t>registers</a:t>
            </a:r>
          </a:p>
        </p:txBody>
      </p:sp>
      <p:sp>
        <p:nvSpPr>
          <p:cNvPr id="30736" name="Line 20"/>
          <p:cNvSpPr>
            <a:spLocks noChangeShapeType="1"/>
          </p:cNvSpPr>
          <p:nvPr/>
        </p:nvSpPr>
        <p:spPr bwMode="auto">
          <a:xfrm>
            <a:off x="3552825" y="757238"/>
            <a:ext cx="88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7" name="Rectangle 21"/>
          <p:cNvSpPr>
            <a:spLocks noChangeArrowheads="1"/>
          </p:cNvSpPr>
          <p:nvPr/>
        </p:nvSpPr>
        <p:spPr bwMode="auto">
          <a:xfrm>
            <a:off x="6019800" y="587375"/>
            <a:ext cx="801688" cy="1058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38" name="Line 22"/>
          <p:cNvSpPr>
            <a:spLocks noChangeShapeType="1"/>
          </p:cNvSpPr>
          <p:nvPr/>
        </p:nvSpPr>
        <p:spPr bwMode="auto">
          <a:xfrm>
            <a:off x="6019800" y="852488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39" name="Line 23"/>
          <p:cNvSpPr>
            <a:spLocks noChangeShapeType="1"/>
          </p:cNvSpPr>
          <p:nvPr/>
        </p:nvSpPr>
        <p:spPr bwMode="auto">
          <a:xfrm>
            <a:off x="6019800" y="1109663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40" name="Rectangle 24"/>
          <p:cNvSpPr>
            <a:spLocks noChangeArrowheads="1"/>
          </p:cNvSpPr>
          <p:nvPr/>
        </p:nvSpPr>
        <p:spPr bwMode="auto">
          <a:xfrm>
            <a:off x="6037263" y="849313"/>
            <a:ext cx="835025" cy="28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400" b="1">
                <a:latin typeface="Book Antiqua" panose="02040602050305030304" pitchFamily="18" charset="0"/>
              </a:rPr>
              <a:t>registers</a:t>
            </a:r>
          </a:p>
        </p:txBody>
      </p:sp>
      <p:sp>
        <p:nvSpPr>
          <p:cNvPr id="30741" name="Line 25"/>
          <p:cNvSpPr>
            <a:spLocks noChangeShapeType="1"/>
          </p:cNvSpPr>
          <p:nvPr/>
        </p:nvSpPr>
        <p:spPr bwMode="auto">
          <a:xfrm>
            <a:off x="5105400" y="752475"/>
            <a:ext cx="88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42" name="Rectangle 26"/>
          <p:cNvSpPr>
            <a:spLocks noChangeArrowheads="1"/>
          </p:cNvSpPr>
          <p:nvPr/>
        </p:nvSpPr>
        <p:spPr bwMode="auto">
          <a:xfrm>
            <a:off x="4498975" y="284163"/>
            <a:ext cx="701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PCB</a:t>
            </a:r>
            <a:r>
              <a:rPr lang="en-US" altLang="zh-TW" sz="1000" b="1">
                <a:solidFill>
                  <a:srgbClr val="FF3300"/>
                </a:solidFill>
                <a:latin typeface="Book Antiqua" panose="02040602050305030304" pitchFamily="18" charset="0"/>
              </a:rPr>
              <a:t>7</a:t>
            </a:r>
          </a:p>
        </p:txBody>
      </p:sp>
      <p:sp>
        <p:nvSpPr>
          <p:cNvPr id="30743" name="Rectangle 27"/>
          <p:cNvSpPr>
            <a:spLocks noChangeArrowheads="1"/>
          </p:cNvSpPr>
          <p:nvPr/>
        </p:nvSpPr>
        <p:spPr bwMode="auto">
          <a:xfrm>
            <a:off x="6037263" y="293688"/>
            <a:ext cx="701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PCB</a:t>
            </a:r>
            <a:r>
              <a:rPr lang="en-US" altLang="zh-TW" sz="1000" b="1">
                <a:solidFill>
                  <a:srgbClr val="FF3300"/>
                </a:solidFill>
                <a:latin typeface="Book Antiqua" panose="02040602050305030304" pitchFamily="18" charset="0"/>
              </a:rPr>
              <a:t>2</a:t>
            </a:r>
          </a:p>
        </p:txBody>
      </p:sp>
      <p:sp>
        <p:nvSpPr>
          <p:cNvPr id="30744" name="Line 28"/>
          <p:cNvSpPr>
            <a:spLocks noChangeShapeType="1"/>
          </p:cNvSpPr>
          <p:nvPr/>
        </p:nvSpPr>
        <p:spPr bwMode="auto">
          <a:xfrm>
            <a:off x="3619500" y="3559175"/>
            <a:ext cx="3944938" cy="344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30745" name="Group 29"/>
          <p:cNvGrpSpPr>
            <a:grpSpLocks/>
          </p:cNvGrpSpPr>
          <p:nvPr/>
        </p:nvGrpSpPr>
        <p:grpSpPr bwMode="auto">
          <a:xfrm>
            <a:off x="8420100" y="3152775"/>
            <a:ext cx="387350" cy="328613"/>
            <a:chOff x="4438" y="2805"/>
            <a:chExt cx="244" cy="207"/>
          </a:xfrm>
        </p:grpSpPr>
        <p:sp>
          <p:nvSpPr>
            <p:cNvPr id="30808" name="Line 30"/>
            <p:cNvSpPr>
              <a:spLocks noChangeShapeType="1"/>
            </p:cNvSpPr>
            <p:nvPr/>
          </p:nvSpPr>
          <p:spPr bwMode="auto">
            <a:xfrm>
              <a:off x="4438" y="2805"/>
              <a:ext cx="1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9" name="Line 31"/>
            <p:cNvSpPr>
              <a:spLocks noChangeShapeType="1"/>
            </p:cNvSpPr>
            <p:nvPr/>
          </p:nvSpPr>
          <p:spPr bwMode="auto">
            <a:xfrm>
              <a:off x="4569" y="2809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10" name="Line 32"/>
            <p:cNvSpPr>
              <a:spLocks noChangeShapeType="1"/>
            </p:cNvSpPr>
            <p:nvPr/>
          </p:nvSpPr>
          <p:spPr bwMode="auto">
            <a:xfrm>
              <a:off x="4456" y="2940"/>
              <a:ext cx="2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11" name="Line 33"/>
            <p:cNvSpPr>
              <a:spLocks noChangeShapeType="1"/>
            </p:cNvSpPr>
            <p:nvPr/>
          </p:nvSpPr>
          <p:spPr bwMode="auto">
            <a:xfrm>
              <a:off x="4519" y="2976"/>
              <a:ext cx="1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12" name="Line 34"/>
            <p:cNvSpPr>
              <a:spLocks noChangeShapeType="1"/>
            </p:cNvSpPr>
            <p:nvPr/>
          </p:nvSpPr>
          <p:spPr bwMode="auto">
            <a:xfrm>
              <a:off x="4564" y="3012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90499" name="Rectangle 35"/>
          <p:cNvSpPr>
            <a:spLocks noChangeArrowheads="1"/>
          </p:cNvSpPr>
          <p:nvPr/>
        </p:nvSpPr>
        <p:spPr bwMode="auto">
          <a:xfrm>
            <a:off x="2687638" y="3078163"/>
            <a:ext cx="942975" cy="695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TW" altLang="en-US"/>
          </a:p>
        </p:txBody>
      </p:sp>
      <p:sp>
        <p:nvSpPr>
          <p:cNvPr id="30747" name="Line 36"/>
          <p:cNvSpPr>
            <a:spLocks noChangeShapeType="1"/>
          </p:cNvSpPr>
          <p:nvPr/>
        </p:nvSpPr>
        <p:spPr bwMode="auto">
          <a:xfrm>
            <a:off x="2719388" y="3367088"/>
            <a:ext cx="944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48" name="Rectangle 37"/>
          <p:cNvSpPr>
            <a:spLocks noChangeArrowheads="1"/>
          </p:cNvSpPr>
          <p:nvPr/>
        </p:nvSpPr>
        <p:spPr bwMode="auto">
          <a:xfrm>
            <a:off x="2851150" y="3086100"/>
            <a:ext cx="7032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head</a:t>
            </a:r>
          </a:p>
        </p:txBody>
      </p:sp>
      <p:sp>
        <p:nvSpPr>
          <p:cNvPr id="30749" name="Rectangle 38"/>
          <p:cNvSpPr>
            <a:spLocks noChangeArrowheads="1"/>
          </p:cNvSpPr>
          <p:nvPr/>
        </p:nvSpPr>
        <p:spPr bwMode="auto">
          <a:xfrm>
            <a:off x="2894013" y="3400425"/>
            <a:ext cx="5318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tail</a:t>
            </a:r>
          </a:p>
        </p:txBody>
      </p:sp>
      <p:sp>
        <p:nvSpPr>
          <p:cNvPr id="30750" name="Rectangle 39"/>
          <p:cNvSpPr>
            <a:spLocks noChangeArrowheads="1"/>
          </p:cNvSpPr>
          <p:nvPr/>
        </p:nvSpPr>
        <p:spPr bwMode="auto">
          <a:xfrm>
            <a:off x="1751013" y="3082925"/>
            <a:ext cx="6953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disk </a:t>
            </a:r>
          </a:p>
        </p:txBody>
      </p:sp>
      <p:sp>
        <p:nvSpPr>
          <p:cNvPr id="30751" name="Rectangle 40"/>
          <p:cNvSpPr>
            <a:spLocks noChangeArrowheads="1"/>
          </p:cNvSpPr>
          <p:nvPr/>
        </p:nvSpPr>
        <p:spPr bwMode="auto">
          <a:xfrm>
            <a:off x="1736725" y="3311525"/>
            <a:ext cx="87312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unit 0</a:t>
            </a:r>
          </a:p>
        </p:txBody>
      </p:sp>
      <p:sp>
        <p:nvSpPr>
          <p:cNvPr id="30752" name="Rectangle 41"/>
          <p:cNvSpPr>
            <a:spLocks noChangeArrowheads="1"/>
          </p:cNvSpPr>
          <p:nvPr/>
        </p:nvSpPr>
        <p:spPr bwMode="auto">
          <a:xfrm>
            <a:off x="4476750" y="3044825"/>
            <a:ext cx="801688" cy="1058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53" name="Line 42"/>
          <p:cNvSpPr>
            <a:spLocks noChangeShapeType="1"/>
          </p:cNvSpPr>
          <p:nvPr/>
        </p:nvSpPr>
        <p:spPr bwMode="auto">
          <a:xfrm>
            <a:off x="4476750" y="3309938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4" name="Line 43"/>
          <p:cNvSpPr>
            <a:spLocks noChangeShapeType="1"/>
          </p:cNvSpPr>
          <p:nvPr/>
        </p:nvSpPr>
        <p:spPr bwMode="auto">
          <a:xfrm>
            <a:off x="4476750" y="3567113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5" name="Rectangle 44"/>
          <p:cNvSpPr>
            <a:spLocks noChangeArrowheads="1"/>
          </p:cNvSpPr>
          <p:nvPr/>
        </p:nvSpPr>
        <p:spPr bwMode="auto">
          <a:xfrm>
            <a:off x="4494213" y="3306763"/>
            <a:ext cx="835025" cy="28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400" b="1">
                <a:latin typeface="Book Antiqua" panose="02040602050305030304" pitchFamily="18" charset="0"/>
              </a:rPr>
              <a:t>registers</a:t>
            </a:r>
          </a:p>
        </p:txBody>
      </p:sp>
      <p:sp>
        <p:nvSpPr>
          <p:cNvPr id="30756" name="Line 45"/>
          <p:cNvSpPr>
            <a:spLocks noChangeShapeType="1"/>
          </p:cNvSpPr>
          <p:nvPr/>
        </p:nvSpPr>
        <p:spPr bwMode="auto">
          <a:xfrm>
            <a:off x="3562350" y="3209925"/>
            <a:ext cx="88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7" name="Rectangle 46"/>
          <p:cNvSpPr>
            <a:spLocks noChangeArrowheads="1"/>
          </p:cNvSpPr>
          <p:nvPr/>
        </p:nvSpPr>
        <p:spPr bwMode="auto">
          <a:xfrm>
            <a:off x="6029325" y="3040063"/>
            <a:ext cx="801688" cy="1058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58" name="Line 47"/>
          <p:cNvSpPr>
            <a:spLocks noChangeShapeType="1"/>
          </p:cNvSpPr>
          <p:nvPr/>
        </p:nvSpPr>
        <p:spPr bwMode="auto">
          <a:xfrm>
            <a:off x="6029325" y="3305175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59" name="Line 48"/>
          <p:cNvSpPr>
            <a:spLocks noChangeShapeType="1"/>
          </p:cNvSpPr>
          <p:nvPr/>
        </p:nvSpPr>
        <p:spPr bwMode="auto">
          <a:xfrm>
            <a:off x="6029325" y="3562350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0" name="Rectangle 49"/>
          <p:cNvSpPr>
            <a:spLocks noChangeArrowheads="1"/>
          </p:cNvSpPr>
          <p:nvPr/>
        </p:nvSpPr>
        <p:spPr bwMode="auto">
          <a:xfrm>
            <a:off x="6046788" y="3302000"/>
            <a:ext cx="835025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400" b="1">
                <a:latin typeface="Book Antiqua" panose="02040602050305030304" pitchFamily="18" charset="0"/>
              </a:rPr>
              <a:t>registers</a:t>
            </a:r>
          </a:p>
        </p:txBody>
      </p:sp>
      <p:sp>
        <p:nvSpPr>
          <p:cNvPr id="30761" name="Line 50"/>
          <p:cNvSpPr>
            <a:spLocks noChangeShapeType="1"/>
          </p:cNvSpPr>
          <p:nvPr/>
        </p:nvSpPr>
        <p:spPr bwMode="auto">
          <a:xfrm>
            <a:off x="5114925" y="3205163"/>
            <a:ext cx="88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2" name="Rectangle 51"/>
          <p:cNvSpPr>
            <a:spLocks noChangeArrowheads="1"/>
          </p:cNvSpPr>
          <p:nvPr/>
        </p:nvSpPr>
        <p:spPr bwMode="auto">
          <a:xfrm>
            <a:off x="4508500" y="2736850"/>
            <a:ext cx="701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PCB</a:t>
            </a:r>
            <a:r>
              <a:rPr lang="en-US" altLang="zh-TW" sz="1000" b="1">
                <a:solidFill>
                  <a:srgbClr val="FF3300"/>
                </a:solidFill>
                <a:latin typeface="Book Antiqua" panose="02040602050305030304" pitchFamily="18" charset="0"/>
              </a:rPr>
              <a:t>3</a:t>
            </a:r>
          </a:p>
        </p:txBody>
      </p:sp>
      <p:sp>
        <p:nvSpPr>
          <p:cNvPr id="30763" name="Rectangle 52"/>
          <p:cNvSpPr>
            <a:spLocks noChangeArrowheads="1"/>
          </p:cNvSpPr>
          <p:nvPr/>
        </p:nvSpPr>
        <p:spPr bwMode="auto">
          <a:xfrm>
            <a:off x="6046788" y="2746375"/>
            <a:ext cx="7651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PCB</a:t>
            </a:r>
            <a:r>
              <a:rPr lang="en-US" altLang="zh-TW" sz="1000" b="1">
                <a:solidFill>
                  <a:srgbClr val="FF3300"/>
                </a:solidFill>
                <a:latin typeface="Book Antiqua" panose="02040602050305030304" pitchFamily="18" charset="0"/>
              </a:rPr>
              <a:t>14</a:t>
            </a:r>
          </a:p>
        </p:txBody>
      </p:sp>
      <p:sp>
        <p:nvSpPr>
          <p:cNvPr id="30764" name="Rectangle 53"/>
          <p:cNvSpPr>
            <a:spLocks noChangeArrowheads="1"/>
          </p:cNvSpPr>
          <p:nvPr/>
        </p:nvSpPr>
        <p:spPr bwMode="auto">
          <a:xfrm>
            <a:off x="7581900" y="3021013"/>
            <a:ext cx="801688" cy="1058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5E2F00"/>
                    </a:gs>
                    <a:gs pos="50000">
                      <a:srgbClr val="CC6600"/>
                    </a:gs>
                    <a:gs pos="100000">
                      <a:srgbClr val="5E2F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0765" name="Line 54"/>
          <p:cNvSpPr>
            <a:spLocks noChangeShapeType="1"/>
          </p:cNvSpPr>
          <p:nvPr/>
        </p:nvSpPr>
        <p:spPr bwMode="auto">
          <a:xfrm>
            <a:off x="7581900" y="3286125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6" name="Line 55"/>
          <p:cNvSpPr>
            <a:spLocks noChangeShapeType="1"/>
          </p:cNvSpPr>
          <p:nvPr/>
        </p:nvSpPr>
        <p:spPr bwMode="auto">
          <a:xfrm>
            <a:off x="7581900" y="3543300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7" name="Rectangle 56"/>
          <p:cNvSpPr>
            <a:spLocks noChangeArrowheads="1"/>
          </p:cNvSpPr>
          <p:nvPr/>
        </p:nvSpPr>
        <p:spPr bwMode="auto">
          <a:xfrm>
            <a:off x="7599363" y="3282950"/>
            <a:ext cx="835025" cy="280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400" b="1">
                <a:latin typeface="Book Antiqua" panose="02040602050305030304" pitchFamily="18" charset="0"/>
              </a:rPr>
              <a:t>registers</a:t>
            </a:r>
          </a:p>
        </p:txBody>
      </p:sp>
      <p:sp>
        <p:nvSpPr>
          <p:cNvPr id="30768" name="Line 57"/>
          <p:cNvSpPr>
            <a:spLocks noChangeShapeType="1"/>
          </p:cNvSpPr>
          <p:nvPr/>
        </p:nvSpPr>
        <p:spPr bwMode="auto">
          <a:xfrm>
            <a:off x="6667500" y="3186113"/>
            <a:ext cx="88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69" name="Rectangle 58"/>
          <p:cNvSpPr>
            <a:spLocks noChangeArrowheads="1"/>
          </p:cNvSpPr>
          <p:nvPr/>
        </p:nvSpPr>
        <p:spPr bwMode="auto">
          <a:xfrm>
            <a:off x="7599363" y="2727325"/>
            <a:ext cx="701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PCB</a:t>
            </a:r>
            <a:r>
              <a:rPr lang="en-US" altLang="zh-TW" sz="1000" b="1">
                <a:solidFill>
                  <a:srgbClr val="FF3300"/>
                </a:solidFill>
                <a:latin typeface="Book Antiqua" panose="02040602050305030304" pitchFamily="18" charset="0"/>
              </a:rPr>
              <a:t>8</a:t>
            </a:r>
          </a:p>
        </p:txBody>
      </p:sp>
      <p:sp>
        <p:nvSpPr>
          <p:cNvPr id="190523" name="Rectangle 59"/>
          <p:cNvSpPr>
            <a:spLocks noChangeArrowheads="1"/>
          </p:cNvSpPr>
          <p:nvPr/>
        </p:nvSpPr>
        <p:spPr bwMode="auto">
          <a:xfrm>
            <a:off x="2743200" y="4494213"/>
            <a:ext cx="977900" cy="7477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TW" altLang="en-US"/>
          </a:p>
        </p:txBody>
      </p:sp>
      <p:sp>
        <p:nvSpPr>
          <p:cNvPr id="30771" name="Line 60"/>
          <p:cNvSpPr>
            <a:spLocks noChangeShapeType="1"/>
          </p:cNvSpPr>
          <p:nvPr/>
        </p:nvSpPr>
        <p:spPr bwMode="auto">
          <a:xfrm>
            <a:off x="2757488" y="4802188"/>
            <a:ext cx="944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72" name="Rectangle 61"/>
          <p:cNvSpPr>
            <a:spLocks noChangeArrowheads="1"/>
          </p:cNvSpPr>
          <p:nvPr/>
        </p:nvSpPr>
        <p:spPr bwMode="auto">
          <a:xfrm>
            <a:off x="2889250" y="4521200"/>
            <a:ext cx="7032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head</a:t>
            </a:r>
          </a:p>
        </p:txBody>
      </p:sp>
      <p:sp>
        <p:nvSpPr>
          <p:cNvPr id="30773" name="Rectangle 62"/>
          <p:cNvSpPr>
            <a:spLocks noChangeArrowheads="1"/>
          </p:cNvSpPr>
          <p:nvPr/>
        </p:nvSpPr>
        <p:spPr bwMode="auto">
          <a:xfrm>
            <a:off x="2932113" y="4835525"/>
            <a:ext cx="5318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tail</a:t>
            </a:r>
          </a:p>
        </p:txBody>
      </p:sp>
      <p:sp>
        <p:nvSpPr>
          <p:cNvPr id="30774" name="Rectangle 63"/>
          <p:cNvSpPr>
            <a:spLocks noChangeArrowheads="1"/>
          </p:cNvSpPr>
          <p:nvPr/>
        </p:nvSpPr>
        <p:spPr bwMode="auto">
          <a:xfrm>
            <a:off x="1574800" y="4518025"/>
            <a:ext cx="11731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terminal </a:t>
            </a:r>
          </a:p>
        </p:txBody>
      </p:sp>
      <p:sp>
        <p:nvSpPr>
          <p:cNvPr id="30775" name="Rectangle 64"/>
          <p:cNvSpPr>
            <a:spLocks noChangeArrowheads="1"/>
          </p:cNvSpPr>
          <p:nvPr/>
        </p:nvSpPr>
        <p:spPr bwMode="auto">
          <a:xfrm>
            <a:off x="1774825" y="4746625"/>
            <a:ext cx="9525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unit 0</a:t>
            </a:r>
          </a:p>
        </p:txBody>
      </p:sp>
      <p:sp>
        <p:nvSpPr>
          <p:cNvPr id="190529" name="Rectangle 65"/>
          <p:cNvSpPr>
            <a:spLocks noChangeArrowheads="1"/>
          </p:cNvSpPr>
          <p:nvPr/>
        </p:nvSpPr>
        <p:spPr bwMode="auto">
          <a:xfrm>
            <a:off x="4514850" y="4479925"/>
            <a:ext cx="801688" cy="1058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folHlink">
                        <a:gamma/>
                        <a:shade val="46275"/>
                        <a:invGamma/>
                      </a:schemeClr>
                    </a:gs>
                    <a:gs pos="50000">
                      <a:schemeClr val="folHlink"/>
                    </a:gs>
                    <a:gs pos="100000">
                      <a:schemeClr val="folHlink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TW" altLang="en-US"/>
          </a:p>
        </p:txBody>
      </p:sp>
      <p:sp>
        <p:nvSpPr>
          <p:cNvPr id="30777" name="Line 66"/>
          <p:cNvSpPr>
            <a:spLocks noChangeShapeType="1"/>
          </p:cNvSpPr>
          <p:nvPr/>
        </p:nvSpPr>
        <p:spPr bwMode="auto">
          <a:xfrm>
            <a:off x="4514850" y="4745038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78" name="Line 67"/>
          <p:cNvSpPr>
            <a:spLocks noChangeShapeType="1"/>
          </p:cNvSpPr>
          <p:nvPr/>
        </p:nvSpPr>
        <p:spPr bwMode="auto">
          <a:xfrm>
            <a:off x="4514850" y="5002213"/>
            <a:ext cx="801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79" name="Rectangle 68"/>
          <p:cNvSpPr>
            <a:spLocks noChangeArrowheads="1"/>
          </p:cNvSpPr>
          <p:nvPr/>
        </p:nvSpPr>
        <p:spPr bwMode="auto">
          <a:xfrm>
            <a:off x="4532313" y="4741863"/>
            <a:ext cx="835025" cy="28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400" b="1">
                <a:latin typeface="Book Antiqua" panose="02040602050305030304" pitchFamily="18" charset="0"/>
              </a:rPr>
              <a:t>registers</a:t>
            </a:r>
          </a:p>
        </p:txBody>
      </p:sp>
      <p:sp>
        <p:nvSpPr>
          <p:cNvPr id="30780" name="Line 69"/>
          <p:cNvSpPr>
            <a:spLocks noChangeShapeType="1"/>
          </p:cNvSpPr>
          <p:nvPr/>
        </p:nvSpPr>
        <p:spPr bwMode="auto">
          <a:xfrm>
            <a:off x="3600450" y="4645025"/>
            <a:ext cx="887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81" name="Rectangle 70"/>
          <p:cNvSpPr>
            <a:spLocks noChangeArrowheads="1"/>
          </p:cNvSpPr>
          <p:nvPr/>
        </p:nvSpPr>
        <p:spPr bwMode="auto">
          <a:xfrm>
            <a:off x="4546600" y="4214813"/>
            <a:ext cx="7016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PCB</a:t>
            </a:r>
            <a:r>
              <a:rPr lang="en-US" altLang="zh-TW" sz="1000" b="1">
                <a:solidFill>
                  <a:srgbClr val="FF3300"/>
                </a:solidFill>
                <a:latin typeface="Book Antiqua" panose="02040602050305030304" pitchFamily="18" charset="0"/>
              </a:rPr>
              <a:t>6</a:t>
            </a:r>
          </a:p>
        </p:txBody>
      </p:sp>
      <p:sp>
        <p:nvSpPr>
          <p:cNvPr id="30782" name="Line 71"/>
          <p:cNvSpPr>
            <a:spLocks noChangeShapeType="1"/>
          </p:cNvSpPr>
          <p:nvPr/>
        </p:nvSpPr>
        <p:spPr bwMode="auto">
          <a:xfrm flipV="1">
            <a:off x="3595688" y="4779963"/>
            <a:ext cx="858837" cy="198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0536" name="Rectangle 72"/>
          <p:cNvSpPr>
            <a:spLocks noChangeArrowheads="1"/>
          </p:cNvSpPr>
          <p:nvPr/>
        </p:nvSpPr>
        <p:spPr bwMode="auto">
          <a:xfrm>
            <a:off x="2686050" y="1811338"/>
            <a:ext cx="941388" cy="6953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TW" altLang="en-US"/>
          </a:p>
        </p:txBody>
      </p:sp>
      <p:sp>
        <p:nvSpPr>
          <p:cNvPr id="30784" name="Line 73"/>
          <p:cNvSpPr>
            <a:spLocks noChangeShapeType="1"/>
          </p:cNvSpPr>
          <p:nvPr/>
        </p:nvSpPr>
        <p:spPr bwMode="auto">
          <a:xfrm>
            <a:off x="2700338" y="2119313"/>
            <a:ext cx="9445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0785" name="Rectangle 74"/>
          <p:cNvSpPr>
            <a:spLocks noChangeArrowheads="1"/>
          </p:cNvSpPr>
          <p:nvPr/>
        </p:nvSpPr>
        <p:spPr bwMode="auto">
          <a:xfrm>
            <a:off x="2832100" y="1838325"/>
            <a:ext cx="70326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head</a:t>
            </a:r>
          </a:p>
        </p:txBody>
      </p:sp>
      <p:sp>
        <p:nvSpPr>
          <p:cNvPr id="30786" name="Rectangle 75"/>
          <p:cNvSpPr>
            <a:spLocks noChangeArrowheads="1"/>
          </p:cNvSpPr>
          <p:nvPr/>
        </p:nvSpPr>
        <p:spPr bwMode="auto">
          <a:xfrm>
            <a:off x="2874963" y="2152650"/>
            <a:ext cx="5318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tail</a:t>
            </a:r>
          </a:p>
        </p:txBody>
      </p:sp>
      <p:sp>
        <p:nvSpPr>
          <p:cNvPr id="30787" name="Rectangle 76"/>
          <p:cNvSpPr>
            <a:spLocks noChangeArrowheads="1"/>
          </p:cNvSpPr>
          <p:nvPr/>
        </p:nvSpPr>
        <p:spPr bwMode="auto">
          <a:xfrm>
            <a:off x="1374775" y="1792288"/>
            <a:ext cx="12382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Times New Roman" panose="02020603050405020304" pitchFamily="18" charset="0"/>
              </a:rPr>
              <a:t>mag tape </a:t>
            </a:r>
          </a:p>
        </p:txBody>
      </p:sp>
      <p:sp>
        <p:nvSpPr>
          <p:cNvPr id="30788" name="Rectangle 77"/>
          <p:cNvSpPr>
            <a:spLocks noChangeArrowheads="1"/>
          </p:cNvSpPr>
          <p:nvPr/>
        </p:nvSpPr>
        <p:spPr bwMode="auto">
          <a:xfrm>
            <a:off x="1717675" y="2063750"/>
            <a:ext cx="917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unit 1</a:t>
            </a:r>
          </a:p>
        </p:txBody>
      </p:sp>
      <p:grpSp>
        <p:nvGrpSpPr>
          <p:cNvPr id="30789" name="Group 78"/>
          <p:cNvGrpSpPr>
            <a:grpSpLocks/>
          </p:cNvGrpSpPr>
          <p:nvPr/>
        </p:nvGrpSpPr>
        <p:grpSpPr bwMode="auto">
          <a:xfrm>
            <a:off x="3671888" y="2347913"/>
            <a:ext cx="387350" cy="328612"/>
            <a:chOff x="1447" y="2298"/>
            <a:chExt cx="244" cy="207"/>
          </a:xfrm>
        </p:grpSpPr>
        <p:sp>
          <p:nvSpPr>
            <p:cNvPr id="30803" name="Line 79"/>
            <p:cNvSpPr>
              <a:spLocks noChangeShapeType="1"/>
            </p:cNvSpPr>
            <p:nvPr/>
          </p:nvSpPr>
          <p:spPr bwMode="auto">
            <a:xfrm>
              <a:off x="1447" y="2298"/>
              <a:ext cx="1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4" name="Line 80"/>
            <p:cNvSpPr>
              <a:spLocks noChangeShapeType="1"/>
            </p:cNvSpPr>
            <p:nvPr/>
          </p:nvSpPr>
          <p:spPr bwMode="auto">
            <a:xfrm>
              <a:off x="1578" y="2302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5" name="Line 81"/>
            <p:cNvSpPr>
              <a:spLocks noChangeShapeType="1"/>
            </p:cNvSpPr>
            <p:nvPr/>
          </p:nvSpPr>
          <p:spPr bwMode="auto">
            <a:xfrm>
              <a:off x="1465" y="2433"/>
              <a:ext cx="2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6" name="Line 82"/>
            <p:cNvSpPr>
              <a:spLocks noChangeShapeType="1"/>
            </p:cNvSpPr>
            <p:nvPr/>
          </p:nvSpPr>
          <p:spPr bwMode="auto">
            <a:xfrm>
              <a:off x="1528" y="2469"/>
              <a:ext cx="1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7" name="Line 83"/>
            <p:cNvSpPr>
              <a:spLocks noChangeShapeType="1"/>
            </p:cNvSpPr>
            <p:nvPr/>
          </p:nvSpPr>
          <p:spPr bwMode="auto">
            <a:xfrm>
              <a:off x="1573" y="2505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0790" name="Group 84"/>
          <p:cNvGrpSpPr>
            <a:grpSpLocks/>
          </p:cNvGrpSpPr>
          <p:nvPr/>
        </p:nvGrpSpPr>
        <p:grpSpPr bwMode="auto">
          <a:xfrm>
            <a:off x="3667125" y="1885950"/>
            <a:ext cx="387350" cy="328613"/>
            <a:chOff x="1444" y="2007"/>
            <a:chExt cx="244" cy="207"/>
          </a:xfrm>
        </p:grpSpPr>
        <p:sp>
          <p:nvSpPr>
            <p:cNvPr id="30798" name="Line 85"/>
            <p:cNvSpPr>
              <a:spLocks noChangeShapeType="1"/>
            </p:cNvSpPr>
            <p:nvPr/>
          </p:nvSpPr>
          <p:spPr bwMode="auto">
            <a:xfrm>
              <a:off x="1444" y="2007"/>
              <a:ext cx="1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799" name="Line 86"/>
            <p:cNvSpPr>
              <a:spLocks noChangeShapeType="1"/>
            </p:cNvSpPr>
            <p:nvPr/>
          </p:nvSpPr>
          <p:spPr bwMode="auto">
            <a:xfrm>
              <a:off x="1575" y="2011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0" name="Line 87"/>
            <p:cNvSpPr>
              <a:spLocks noChangeShapeType="1"/>
            </p:cNvSpPr>
            <p:nvPr/>
          </p:nvSpPr>
          <p:spPr bwMode="auto">
            <a:xfrm>
              <a:off x="1462" y="2142"/>
              <a:ext cx="2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1" name="Line 88"/>
            <p:cNvSpPr>
              <a:spLocks noChangeShapeType="1"/>
            </p:cNvSpPr>
            <p:nvPr/>
          </p:nvSpPr>
          <p:spPr bwMode="auto">
            <a:xfrm>
              <a:off x="1525" y="2178"/>
              <a:ext cx="1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802" name="Line 89"/>
            <p:cNvSpPr>
              <a:spLocks noChangeShapeType="1"/>
            </p:cNvSpPr>
            <p:nvPr/>
          </p:nvSpPr>
          <p:spPr bwMode="auto">
            <a:xfrm>
              <a:off x="1570" y="2214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0791" name="Group 90"/>
          <p:cNvGrpSpPr>
            <a:grpSpLocks/>
          </p:cNvGrpSpPr>
          <p:nvPr/>
        </p:nvGrpSpPr>
        <p:grpSpPr bwMode="auto">
          <a:xfrm>
            <a:off x="5357813" y="4576763"/>
            <a:ext cx="387350" cy="328612"/>
            <a:chOff x="2509" y="3702"/>
            <a:chExt cx="244" cy="207"/>
          </a:xfrm>
        </p:grpSpPr>
        <p:sp>
          <p:nvSpPr>
            <p:cNvPr id="30793" name="Line 91"/>
            <p:cNvSpPr>
              <a:spLocks noChangeShapeType="1"/>
            </p:cNvSpPr>
            <p:nvPr/>
          </p:nvSpPr>
          <p:spPr bwMode="auto">
            <a:xfrm>
              <a:off x="2509" y="3702"/>
              <a:ext cx="1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794" name="Line 92"/>
            <p:cNvSpPr>
              <a:spLocks noChangeShapeType="1"/>
            </p:cNvSpPr>
            <p:nvPr/>
          </p:nvSpPr>
          <p:spPr bwMode="auto">
            <a:xfrm>
              <a:off x="2640" y="3706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795" name="Line 93"/>
            <p:cNvSpPr>
              <a:spLocks noChangeShapeType="1"/>
            </p:cNvSpPr>
            <p:nvPr/>
          </p:nvSpPr>
          <p:spPr bwMode="auto">
            <a:xfrm>
              <a:off x="2527" y="3837"/>
              <a:ext cx="2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796" name="Line 94"/>
            <p:cNvSpPr>
              <a:spLocks noChangeShapeType="1"/>
            </p:cNvSpPr>
            <p:nvPr/>
          </p:nvSpPr>
          <p:spPr bwMode="auto">
            <a:xfrm>
              <a:off x="2590" y="3873"/>
              <a:ext cx="1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0797" name="Line 95"/>
            <p:cNvSpPr>
              <a:spLocks noChangeShapeType="1"/>
            </p:cNvSpPr>
            <p:nvPr/>
          </p:nvSpPr>
          <p:spPr bwMode="auto">
            <a:xfrm>
              <a:off x="2635" y="3909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0792" name="Text Box 96"/>
          <p:cNvSpPr txBox="1">
            <a:spLocks noChangeArrowheads="1"/>
          </p:cNvSpPr>
          <p:nvPr/>
        </p:nvSpPr>
        <p:spPr bwMode="auto">
          <a:xfrm>
            <a:off x="1435100" y="5753100"/>
            <a:ext cx="68024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latin typeface="Book Antiqua" panose="02040602050305030304" pitchFamily="18" charset="0"/>
              </a:rPr>
              <a:t>Ready queue and various I/O device queues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E599E9-22B4-4055-A0DB-94F0309F4C21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551811-7143-4FBE-A16F-FBBC9403687F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/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title"/>
          </p:nvPr>
        </p:nvSpPr>
        <p:spPr>
          <a:xfrm>
            <a:off x="280988" y="290513"/>
            <a:ext cx="8305800" cy="9271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/>
            <a:r>
              <a:rPr lang="en-US" altLang="zh-TW" sz="3600" smtClean="0"/>
              <a:t>Queuing-diagram Representation </a:t>
            </a:r>
            <a:br>
              <a:rPr lang="en-US" altLang="zh-TW" sz="3600" smtClean="0"/>
            </a:br>
            <a:r>
              <a:rPr lang="en-US" altLang="zh-TW" sz="3600" smtClean="0"/>
              <a:t>of Process Scheduling</a:t>
            </a:r>
          </a:p>
        </p:txBody>
      </p:sp>
      <p:sp>
        <p:nvSpPr>
          <p:cNvPr id="32774" name="Rectangle 4"/>
          <p:cNvSpPr>
            <a:spLocks noChangeArrowheads="1"/>
          </p:cNvSpPr>
          <p:nvPr/>
        </p:nvSpPr>
        <p:spPr bwMode="auto">
          <a:xfrm>
            <a:off x="1684338" y="1744663"/>
            <a:ext cx="1716087" cy="4016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32775" name="Rectangle 5"/>
          <p:cNvSpPr>
            <a:spLocks noChangeArrowheads="1"/>
          </p:cNvSpPr>
          <p:nvPr/>
        </p:nvSpPr>
        <p:spPr bwMode="auto">
          <a:xfrm>
            <a:off x="1873250" y="1800225"/>
            <a:ext cx="15144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ready queue</a:t>
            </a:r>
          </a:p>
        </p:txBody>
      </p:sp>
      <p:sp>
        <p:nvSpPr>
          <p:cNvPr id="32776" name="Rectangle 7"/>
          <p:cNvSpPr>
            <a:spLocks noChangeArrowheads="1"/>
          </p:cNvSpPr>
          <p:nvPr/>
        </p:nvSpPr>
        <p:spPr bwMode="auto">
          <a:xfrm>
            <a:off x="3254375" y="2665413"/>
            <a:ext cx="1362075" cy="376237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8000"/>
                </a:solidFill>
                <a:latin typeface="Book Antiqua" panose="02040602050305030304" pitchFamily="18" charset="0"/>
              </a:rPr>
              <a:t>I/O queue</a:t>
            </a:r>
          </a:p>
        </p:txBody>
      </p:sp>
      <p:sp>
        <p:nvSpPr>
          <p:cNvPr id="191497" name="Rectangle 9"/>
          <p:cNvSpPr>
            <a:spLocks noChangeArrowheads="1"/>
          </p:cNvSpPr>
          <p:nvPr/>
        </p:nvSpPr>
        <p:spPr bwMode="auto">
          <a:xfrm>
            <a:off x="5392738" y="2654300"/>
            <a:ext cx="1489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8000"/>
                </a:solidFill>
                <a:latin typeface="Book Antiqua" panose="02040602050305030304" pitchFamily="18" charset="0"/>
              </a:rPr>
              <a:t>I/O request</a:t>
            </a:r>
          </a:p>
        </p:txBody>
      </p:sp>
      <p:sp>
        <p:nvSpPr>
          <p:cNvPr id="191498" name="Oval 10"/>
          <p:cNvSpPr>
            <a:spLocks noChangeArrowheads="1"/>
          </p:cNvSpPr>
          <p:nvPr/>
        </p:nvSpPr>
        <p:spPr bwMode="auto">
          <a:xfrm>
            <a:off x="2041525" y="2601913"/>
            <a:ext cx="587375" cy="515937"/>
          </a:xfrm>
          <a:prstGeom prst="ellipse">
            <a:avLst/>
          </a:prstGeom>
          <a:noFill/>
          <a:ln w="12700">
            <a:solidFill>
              <a:srgbClr val="008000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bg2">
                        <a:gamma/>
                        <a:shade val="46275"/>
                        <a:invGamma/>
                      </a:schemeClr>
                    </a:gs>
                    <a:gs pos="50000">
                      <a:schemeClr val="bg2"/>
                    </a:gs>
                    <a:gs pos="100000">
                      <a:schemeClr val="bg2">
                        <a:gamma/>
                        <a:shade val="46275"/>
                        <a:invGamma/>
                      </a:schemeClr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/>
          <a:p>
            <a:pPr algn="ctr" eaLnBrk="1" hangingPunct="1">
              <a:defRPr/>
            </a:pPr>
            <a:endParaRPr lang="zh-TW" altLang="en-US">
              <a:solidFill>
                <a:srgbClr val="008000"/>
              </a:solidFill>
            </a:endParaRPr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2101850" y="2728913"/>
            <a:ext cx="56515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8000"/>
                </a:solidFill>
                <a:latin typeface="Book Antiqua" panose="02040602050305030304" pitchFamily="18" charset="0"/>
              </a:rPr>
              <a:t>I/O</a:t>
            </a:r>
          </a:p>
        </p:txBody>
      </p:sp>
      <p:sp>
        <p:nvSpPr>
          <p:cNvPr id="32780" name="Oval 12"/>
          <p:cNvSpPr>
            <a:spLocks noChangeArrowheads="1"/>
          </p:cNvSpPr>
          <p:nvPr/>
        </p:nvSpPr>
        <p:spPr bwMode="auto">
          <a:xfrm>
            <a:off x="5880100" y="1654175"/>
            <a:ext cx="587375" cy="5159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765E00"/>
                    </a:gs>
                    <a:gs pos="50000">
                      <a:srgbClr val="FFCC00"/>
                    </a:gs>
                    <a:gs pos="100000">
                      <a:srgbClr val="765E00"/>
                    </a:gs>
                  </a:gsLst>
                  <a:lin ang="2700000" scaled="1"/>
                </a:gra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TW" altLang="en-US" sz="2000" b="1">
              <a:latin typeface="Book Antiqua" panose="02040602050305030304" pitchFamily="18" charset="0"/>
            </a:endParaRPr>
          </a:p>
        </p:txBody>
      </p:sp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5883275" y="1781175"/>
            <a:ext cx="70485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latin typeface="Book Antiqua" panose="02040602050305030304" pitchFamily="18" charset="0"/>
              </a:rPr>
              <a:t>CPU</a:t>
            </a:r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3419475" y="1938338"/>
            <a:ext cx="2446338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V="1">
            <a:off x="6462713" y="1793875"/>
            <a:ext cx="1538287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4" name="Line 16"/>
          <p:cNvSpPr>
            <a:spLocks noChangeShapeType="1"/>
          </p:cNvSpPr>
          <p:nvPr/>
        </p:nvSpPr>
        <p:spPr bwMode="auto">
          <a:xfrm>
            <a:off x="6491288" y="2009775"/>
            <a:ext cx="903287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5" name="Line 17"/>
          <p:cNvSpPr>
            <a:spLocks noChangeShapeType="1"/>
          </p:cNvSpPr>
          <p:nvPr/>
        </p:nvSpPr>
        <p:spPr bwMode="auto">
          <a:xfrm>
            <a:off x="7407275" y="2022475"/>
            <a:ext cx="15875" cy="35782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6" name="Line 18"/>
          <p:cNvSpPr>
            <a:spLocks noChangeShapeType="1"/>
          </p:cNvSpPr>
          <p:nvPr/>
        </p:nvSpPr>
        <p:spPr bwMode="auto">
          <a:xfrm flipH="1">
            <a:off x="6894513" y="2881313"/>
            <a:ext cx="525462" cy="158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7" name="Line 19"/>
          <p:cNvSpPr>
            <a:spLocks noChangeShapeType="1"/>
          </p:cNvSpPr>
          <p:nvPr/>
        </p:nvSpPr>
        <p:spPr bwMode="auto">
          <a:xfrm flipH="1">
            <a:off x="4575175" y="2852738"/>
            <a:ext cx="796925" cy="158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 flipH="1">
            <a:off x="2622550" y="2838450"/>
            <a:ext cx="625475" cy="158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89" name="Line 21"/>
          <p:cNvSpPr>
            <a:spLocks noChangeShapeType="1"/>
          </p:cNvSpPr>
          <p:nvPr/>
        </p:nvSpPr>
        <p:spPr bwMode="auto">
          <a:xfrm>
            <a:off x="935038" y="2036763"/>
            <a:ext cx="17462" cy="35702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1512" name="Rectangle 24"/>
          <p:cNvSpPr>
            <a:spLocks noChangeArrowheads="1"/>
          </p:cNvSpPr>
          <p:nvPr/>
        </p:nvSpPr>
        <p:spPr bwMode="auto">
          <a:xfrm>
            <a:off x="4611688" y="3911600"/>
            <a:ext cx="2224087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66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6600FF"/>
                </a:solidFill>
                <a:latin typeface="Book Antiqua" panose="02040602050305030304" pitchFamily="18" charset="0"/>
              </a:rPr>
              <a:t>time slice expired</a:t>
            </a:r>
          </a:p>
        </p:txBody>
      </p:sp>
      <p:sp>
        <p:nvSpPr>
          <p:cNvPr id="191514" name="Rectangle 26"/>
          <p:cNvSpPr>
            <a:spLocks noChangeArrowheads="1"/>
          </p:cNvSpPr>
          <p:nvPr/>
        </p:nvSpPr>
        <p:spPr bwMode="auto">
          <a:xfrm>
            <a:off x="5289550" y="4689475"/>
            <a:ext cx="1387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fork a child</a:t>
            </a:r>
          </a:p>
        </p:txBody>
      </p:sp>
      <p:sp>
        <p:nvSpPr>
          <p:cNvPr id="32792" name="Rectangle 27"/>
          <p:cNvSpPr>
            <a:spLocks noChangeArrowheads="1"/>
          </p:cNvSpPr>
          <p:nvPr/>
        </p:nvSpPr>
        <p:spPr bwMode="auto">
          <a:xfrm>
            <a:off x="4911725" y="5391150"/>
            <a:ext cx="1985963" cy="384175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470540"/>
                    </a:gs>
                    <a:gs pos="50000">
                      <a:srgbClr val="990B8A"/>
                    </a:gs>
                    <a:gs pos="100000">
                      <a:srgbClr val="470540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191516" name="Rectangle 28"/>
          <p:cNvSpPr>
            <a:spLocks noChangeArrowheads="1"/>
          </p:cNvSpPr>
          <p:nvPr/>
        </p:nvSpPr>
        <p:spPr bwMode="auto">
          <a:xfrm>
            <a:off x="5008563" y="5389563"/>
            <a:ext cx="22209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wait for an INT</a:t>
            </a:r>
          </a:p>
        </p:txBody>
      </p:sp>
      <p:sp>
        <p:nvSpPr>
          <p:cNvPr id="32794" name="Rectangle 31"/>
          <p:cNvSpPr>
            <a:spLocks noChangeArrowheads="1"/>
          </p:cNvSpPr>
          <p:nvPr/>
        </p:nvSpPr>
        <p:spPr bwMode="auto">
          <a:xfrm>
            <a:off x="3465513" y="4611688"/>
            <a:ext cx="1166812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60000"/>
              </a:lnSpc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Child</a:t>
            </a:r>
          </a:p>
          <a:p>
            <a:pPr>
              <a:lnSpc>
                <a:spcPct val="60000"/>
              </a:lnSpc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executes</a:t>
            </a:r>
          </a:p>
        </p:txBody>
      </p:sp>
      <p:sp>
        <p:nvSpPr>
          <p:cNvPr id="32795" name="Rectangle 34"/>
          <p:cNvSpPr>
            <a:spLocks noChangeArrowheads="1"/>
          </p:cNvSpPr>
          <p:nvPr/>
        </p:nvSpPr>
        <p:spPr bwMode="auto">
          <a:xfrm>
            <a:off x="1595438" y="4627563"/>
            <a:ext cx="1285875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Child</a:t>
            </a:r>
          </a:p>
          <a:p>
            <a:pPr>
              <a:lnSpc>
                <a:spcPct val="60000"/>
              </a:lnSpc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1800" b="1">
                <a:solidFill>
                  <a:srgbClr val="FF3300"/>
                </a:solidFill>
                <a:latin typeface="Book Antiqua" panose="02040602050305030304" pitchFamily="18" charset="0"/>
              </a:rPr>
              <a:t>terminates</a:t>
            </a:r>
          </a:p>
        </p:txBody>
      </p:sp>
      <p:sp>
        <p:nvSpPr>
          <p:cNvPr id="32796" name="Rectangle 36"/>
          <p:cNvSpPr>
            <a:spLocks noChangeArrowheads="1"/>
          </p:cNvSpPr>
          <p:nvPr/>
        </p:nvSpPr>
        <p:spPr bwMode="auto">
          <a:xfrm>
            <a:off x="3273425" y="5373688"/>
            <a:ext cx="12382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60000"/>
              </a:lnSpc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Interrupt</a:t>
            </a:r>
          </a:p>
          <a:p>
            <a:pPr>
              <a:lnSpc>
                <a:spcPct val="60000"/>
              </a:lnSpc>
              <a:spcBef>
                <a:spcPct val="0"/>
              </a:spcBef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Book Antiqua" panose="02040602050305030304" pitchFamily="18" charset="0"/>
              </a:rPr>
              <a:t>occurs</a:t>
            </a:r>
          </a:p>
        </p:txBody>
      </p:sp>
      <p:sp>
        <p:nvSpPr>
          <p:cNvPr id="32797" name="Line 38"/>
          <p:cNvSpPr>
            <a:spLocks noChangeShapeType="1"/>
          </p:cNvSpPr>
          <p:nvPr/>
        </p:nvSpPr>
        <p:spPr bwMode="auto">
          <a:xfrm flipH="1">
            <a:off x="6886575" y="5608638"/>
            <a:ext cx="541338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98" name="Line 39"/>
          <p:cNvSpPr>
            <a:spLocks noChangeShapeType="1"/>
          </p:cNvSpPr>
          <p:nvPr/>
        </p:nvSpPr>
        <p:spPr bwMode="auto">
          <a:xfrm flipH="1">
            <a:off x="6689725" y="4829175"/>
            <a:ext cx="728663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799" name="Line 40"/>
          <p:cNvSpPr>
            <a:spLocks noChangeShapeType="1"/>
          </p:cNvSpPr>
          <p:nvPr/>
        </p:nvSpPr>
        <p:spPr bwMode="auto">
          <a:xfrm flipH="1">
            <a:off x="6872288" y="4122738"/>
            <a:ext cx="496887" cy="0"/>
          </a:xfrm>
          <a:prstGeom prst="line">
            <a:avLst/>
          </a:prstGeom>
          <a:noFill/>
          <a:ln w="25400">
            <a:solidFill>
              <a:srgbClr val="66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0" name="Line 41"/>
          <p:cNvSpPr>
            <a:spLocks noChangeShapeType="1"/>
          </p:cNvSpPr>
          <p:nvPr/>
        </p:nvSpPr>
        <p:spPr bwMode="auto">
          <a:xfrm flipH="1">
            <a:off x="4486275" y="4837113"/>
            <a:ext cx="855663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1" name="Line 42"/>
          <p:cNvSpPr>
            <a:spLocks noChangeShapeType="1"/>
          </p:cNvSpPr>
          <p:nvPr/>
        </p:nvSpPr>
        <p:spPr bwMode="auto">
          <a:xfrm flipH="1" flipV="1">
            <a:off x="2800350" y="4851400"/>
            <a:ext cx="606425" cy="635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2" name="Line 43"/>
          <p:cNvSpPr>
            <a:spLocks noChangeShapeType="1"/>
          </p:cNvSpPr>
          <p:nvPr/>
        </p:nvSpPr>
        <p:spPr bwMode="auto">
          <a:xfrm flipH="1">
            <a:off x="4471988" y="5565775"/>
            <a:ext cx="4953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3" name="Line 44"/>
          <p:cNvSpPr>
            <a:spLocks noChangeShapeType="1"/>
          </p:cNvSpPr>
          <p:nvPr/>
        </p:nvSpPr>
        <p:spPr bwMode="auto">
          <a:xfrm>
            <a:off x="947738" y="5594350"/>
            <a:ext cx="2295525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4" name="Line 45"/>
          <p:cNvSpPr>
            <a:spLocks noChangeShapeType="1"/>
          </p:cNvSpPr>
          <p:nvPr/>
        </p:nvSpPr>
        <p:spPr bwMode="auto">
          <a:xfrm>
            <a:off x="955675" y="4865688"/>
            <a:ext cx="7112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5" name="Line 46"/>
          <p:cNvSpPr>
            <a:spLocks noChangeShapeType="1"/>
          </p:cNvSpPr>
          <p:nvPr/>
        </p:nvSpPr>
        <p:spPr bwMode="auto">
          <a:xfrm flipH="1">
            <a:off x="930275" y="4108450"/>
            <a:ext cx="3681413" cy="0"/>
          </a:xfrm>
          <a:prstGeom prst="line">
            <a:avLst/>
          </a:prstGeom>
          <a:noFill/>
          <a:ln w="25400">
            <a:solidFill>
              <a:srgbClr val="66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6" name="Line 47"/>
          <p:cNvSpPr>
            <a:spLocks noChangeShapeType="1"/>
          </p:cNvSpPr>
          <p:nvPr/>
        </p:nvSpPr>
        <p:spPr bwMode="auto">
          <a:xfrm flipH="1">
            <a:off x="922338" y="2852738"/>
            <a:ext cx="1125537" cy="158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7" name="Line 48"/>
          <p:cNvSpPr>
            <a:spLocks noChangeShapeType="1"/>
          </p:cNvSpPr>
          <p:nvPr/>
        </p:nvSpPr>
        <p:spPr bwMode="auto">
          <a:xfrm>
            <a:off x="933450" y="2024063"/>
            <a:ext cx="731838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8" name="Line 49"/>
          <p:cNvSpPr>
            <a:spLocks noChangeShapeType="1"/>
          </p:cNvSpPr>
          <p:nvPr/>
        </p:nvSpPr>
        <p:spPr bwMode="auto">
          <a:xfrm>
            <a:off x="469900" y="1838325"/>
            <a:ext cx="1195388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2809" name="Oval 51"/>
          <p:cNvSpPr>
            <a:spLocks noChangeArrowheads="1"/>
          </p:cNvSpPr>
          <p:nvPr/>
        </p:nvSpPr>
        <p:spPr bwMode="auto">
          <a:xfrm>
            <a:off x="3462338" y="4456113"/>
            <a:ext cx="928687" cy="725487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7" grpId="0"/>
      <p:bldP spid="191512" grpId="0"/>
      <p:bldP spid="191514" grpId="0"/>
      <p:bldP spid="1915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458B30-3854-4791-BED0-34AECABF5F1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6DF8F6-453D-46D4-8C11-E47F6396E4D8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657225" y="261938"/>
            <a:ext cx="7467600" cy="7112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Schedulers (1)</a:t>
            </a:r>
            <a:endParaRPr lang="en-US" altLang="zh-TW" sz="6000" smtClean="0"/>
          </a:p>
        </p:txBody>
      </p:sp>
      <p:sp>
        <p:nvSpPr>
          <p:cNvPr id="1925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9425" y="1158875"/>
            <a:ext cx="8167688" cy="5146675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Long-term Scheduler</a:t>
            </a:r>
            <a:r>
              <a:rPr lang="en-US" altLang="zh-TW" sz="2600" smtClean="0"/>
              <a:t> (</a:t>
            </a: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job Scheduler</a:t>
            </a:r>
            <a:r>
              <a:rPr lang="en-US" altLang="zh-TW" sz="2600" smtClean="0"/>
              <a:t>): selecting processes from the job pool and loads them into memory for execution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600" smtClean="0"/>
              <a:t>Execute less frequently (e.g., </a:t>
            </a:r>
            <a:r>
              <a:rPr lang="en-US" altLang="zh-TW" sz="2600" b="1" smtClean="0">
                <a:solidFill>
                  <a:schemeClr val="tx2"/>
                </a:solidFill>
              </a:rPr>
              <a:t>once several minutes</a:t>
            </a:r>
            <a:r>
              <a:rPr lang="en-US" altLang="zh-TW" sz="2600" smtClean="0"/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600" smtClean="0"/>
              <a:t>Control the </a:t>
            </a: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degree of multiprogramming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600" smtClean="0"/>
              <a:t>Select a good </a:t>
            </a: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process mix</a:t>
            </a:r>
            <a:r>
              <a:rPr lang="en-US" altLang="zh-TW" sz="2600" i="1" smtClean="0"/>
              <a:t> </a:t>
            </a:r>
            <a:r>
              <a:rPr lang="en-US" altLang="zh-TW" sz="2600" smtClean="0"/>
              <a:t>of </a:t>
            </a: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I/O-bound</a:t>
            </a:r>
            <a:r>
              <a:rPr lang="en-US" altLang="zh-TW" sz="2600" smtClean="0">
                <a:solidFill>
                  <a:srgbClr val="FFCC00"/>
                </a:solidFill>
              </a:rPr>
              <a:t> </a:t>
            </a: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processes</a:t>
            </a:r>
            <a:r>
              <a:rPr lang="en-US" altLang="zh-TW" sz="2600" smtClean="0">
                <a:solidFill>
                  <a:srgbClr val="FFCC00"/>
                </a:solidFill>
              </a:rPr>
              <a:t> </a:t>
            </a:r>
            <a:r>
              <a:rPr lang="en-US" altLang="zh-TW" sz="2600" smtClean="0"/>
              <a:t>and </a:t>
            </a:r>
            <a:r>
              <a:rPr lang="en-US" altLang="zh-TW" sz="26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CPU-bound processes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zh-TW" sz="2600" smtClean="0"/>
              <a:t>Some systems, such as time-sharing system, do not have. Their multiprogramming degree are controlled by hardware limitation (e.g., # of terminals) or on the self-adjusting nature of users</a:t>
            </a:r>
            <a:endParaRPr lang="en-US" altLang="zh-TW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EBE953-4F5A-4FD5-B091-337F82062D6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86F8B2-8A1D-4C7B-B073-78AFC6887A31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/>
          </a:p>
        </p:txBody>
      </p: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563563" y="392113"/>
            <a:ext cx="8045450" cy="1065212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 altLang="zh-TW" smtClean="0"/>
              <a:t>Schedulers (2): </a:t>
            </a:r>
            <a:r>
              <a:rPr lang="en-US" altLang="zh-TW" sz="3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Short-term scheduler</a:t>
            </a:r>
            <a:r>
              <a:rPr lang="en-US" altLang="zh-TW" sz="3200" smtClean="0"/>
              <a:t> </a:t>
            </a:r>
            <a:r>
              <a:rPr lang="en-US" altLang="zh-TW" sz="3200" smtClean="0">
                <a:solidFill>
                  <a:srgbClr val="FF3300"/>
                </a:solidFill>
              </a:rPr>
              <a:t>(</a:t>
            </a:r>
            <a:r>
              <a:rPr lang="en-US" altLang="zh-TW" sz="3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CPU scheduler</a:t>
            </a:r>
            <a:r>
              <a:rPr lang="en-US" altLang="zh-TW" sz="3200" smtClean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1935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5450" y="1549400"/>
            <a:ext cx="8372475" cy="31115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smtClean="0">
                <a:solidFill>
                  <a:srgbClr val="FF3300"/>
                </a:solidFill>
              </a:rPr>
              <a:t>selecting</a:t>
            </a:r>
            <a:r>
              <a:rPr lang="en-US" altLang="zh-TW" sz="2800" smtClean="0"/>
              <a:t> one of  the ready processes, and allocates the CPU to it. </a:t>
            </a:r>
          </a:p>
          <a:p>
            <a:pPr lvl="1" eaLnBrk="1" hangingPunct="1"/>
            <a:r>
              <a:rPr lang="en-US" altLang="zh-TW" sz="2400" smtClean="0"/>
              <a:t>Execute quite frequently (e.g., </a:t>
            </a:r>
            <a:r>
              <a:rPr lang="en-US" altLang="zh-TW" sz="2400" b="1" smtClean="0">
                <a:solidFill>
                  <a:schemeClr val="tx2"/>
                </a:solidFill>
              </a:rPr>
              <a:t>once per 100ms</a:t>
            </a:r>
            <a:r>
              <a:rPr lang="en-US" altLang="zh-TW" sz="2400" smtClean="0"/>
              <a:t>)</a:t>
            </a:r>
          </a:p>
          <a:p>
            <a:pPr lvl="1" eaLnBrk="1" hangingPunct="1"/>
            <a:r>
              <a:rPr lang="en-US" altLang="zh-TW" sz="2400" smtClean="0"/>
              <a:t>must be very fast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mtClean="0"/>
              <a:t>   e.g., if it takes 10 ms, then 10/(100+10) percent of CPU is wasted.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800" smtClean="0"/>
          </a:p>
        </p:txBody>
      </p:sp>
      <p:grpSp>
        <p:nvGrpSpPr>
          <p:cNvPr id="36871" name="Group 4"/>
          <p:cNvGrpSpPr>
            <a:grpSpLocks/>
          </p:cNvGrpSpPr>
          <p:nvPr/>
        </p:nvGrpSpPr>
        <p:grpSpPr bwMode="auto">
          <a:xfrm>
            <a:off x="1169988" y="4133850"/>
            <a:ext cx="6937375" cy="1844675"/>
            <a:chOff x="771" y="2545"/>
            <a:chExt cx="4370" cy="1162"/>
          </a:xfrm>
        </p:grpSpPr>
        <p:sp>
          <p:nvSpPr>
            <p:cNvPr id="36872" name="Rectangle 5"/>
            <p:cNvSpPr>
              <a:spLocks noChangeArrowheads="1"/>
            </p:cNvSpPr>
            <p:nvPr/>
          </p:nvSpPr>
          <p:spPr bwMode="auto">
            <a:xfrm>
              <a:off x="1536" y="2842"/>
              <a:ext cx="1081" cy="25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2700000" scaled="1"/>
                  </a:gra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73" name="Rectangle 6"/>
            <p:cNvSpPr>
              <a:spLocks noChangeArrowheads="1"/>
            </p:cNvSpPr>
            <p:nvPr/>
          </p:nvSpPr>
          <p:spPr bwMode="auto">
            <a:xfrm>
              <a:off x="1655" y="2877"/>
              <a:ext cx="101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ready queue</a:t>
              </a:r>
            </a:p>
          </p:txBody>
        </p:sp>
        <p:sp>
          <p:nvSpPr>
            <p:cNvPr id="36874" name="Rectangle 7"/>
            <p:cNvSpPr>
              <a:spLocks noChangeArrowheads="1"/>
            </p:cNvSpPr>
            <p:nvPr/>
          </p:nvSpPr>
          <p:spPr bwMode="auto">
            <a:xfrm>
              <a:off x="2514" y="3391"/>
              <a:ext cx="1126" cy="2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2700000" scaled="1"/>
                  </a:gra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6875" name="Rectangle 8"/>
            <p:cNvSpPr>
              <a:spLocks noChangeArrowheads="1"/>
            </p:cNvSpPr>
            <p:nvPr/>
          </p:nvSpPr>
          <p:spPr bwMode="auto">
            <a:xfrm>
              <a:off x="2638" y="3448"/>
              <a:ext cx="1027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I/O queue(s)</a:t>
              </a:r>
            </a:p>
          </p:txBody>
        </p:sp>
        <p:sp>
          <p:nvSpPr>
            <p:cNvPr id="193545" name="Oval 9"/>
            <p:cNvSpPr>
              <a:spLocks noChangeArrowheads="1"/>
            </p:cNvSpPr>
            <p:nvPr/>
          </p:nvSpPr>
          <p:spPr bwMode="auto">
            <a:xfrm>
              <a:off x="1761" y="3382"/>
              <a:ext cx="370" cy="3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chemeClr val="bg2">
                          <a:gamma/>
                          <a:shade val="46275"/>
                          <a:invGamma/>
                        </a:schemeClr>
                      </a:gs>
                      <a:gs pos="50000">
                        <a:schemeClr val="bg2"/>
                      </a:gs>
                      <a:gs pos="100000">
                        <a:schemeClr val="bg2">
                          <a:gamma/>
                          <a:shade val="46275"/>
                          <a:invGamma/>
                        </a:schemeClr>
                      </a:gs>
                    </a:gsLst>
                    <a:lin ang="2700000" scaled="1"/>
                  </a:gradFill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/>
            </a:p>
          </p:txBody>
        </p:sp>
        <p:sp>
          <p:nvSpPr>
            <p:cNvPr id="36877" name="Rectangle 10"/>
            <p:cNvSpPr>
              <a:spLocks noChangeArrowheads="1"/>
            </p:cNvSpPr>
            <p:nvPr/>
          </p:nvSpPr>
          <p:spPr bwMode="auto">
            <a:xfrm>
              <a:off x="1799" y="3462"/>
              <a:ext cx="35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I/O</a:t>
              </a:r>
            </a:p>
          </p:txBody>
        </p:sp>
        <p:sp>
          <p:nvSpPr>
            <p:cNvPr id="36878" name="Oval 11"/>
            <p:cNvSpPr>
              <a:spLocks noChangeArrowheads="1"/>
            </p:cNvSpPr>
            <p:nvPr/>
          </p:nvSpPr>
          <p:spPr bwMode="auto">
            <a:xfrm>
              <a:off x="4179" y="2785"/>
              <a:ext cx="370" cy="32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765E00"/>
                      </a:gs>
                      <a:gs pos="5000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000" b="1">
                <a:latin typeface="Book Antiqua" panose="02040602050305030304" pitchFamily="18" charset="0"/>
              </a:endParaRPr>
            </a:p>
          </p:txBody>
        </p:sp>
        <p:sp>
          <p:nvSpPr>
            <p:cNvPr id="36879" name="Rectangle 12"/>
            <p:cNvSpPr>
              <a:spLocks noChangeArrowheads="1"/>
            </p:cNvSpPr>
            <p:nvPr/>
          </p:nvSpPr>
          <p:spPr bwMode="auto">
            <a:xfrm>
              <a:off x="4181" y="2865"/>
              <a:ext cx="45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CPU</a:t>
              </a:r>
            </a:p>
          </p:txBody>
        </p:sp>
        <p:sp>
          <p:nvSpPr>
            <p:cNvPr id="36880" name="Line 13"/>
            <p:cNvSpPr>
              <a:spLocks noChangeShapeType="1"/>
            </p:cNvSpPr>
            <p:nvPr/>
          </p:nvSpPr>
          <p:spPr bwMode="auto">
            <a:xfrm>
              <a:off x="2629" y="2964"/>
              <a:ext cx="154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1" name="Line 14"/>
            <p:cNvSpPr>
              <a:spLocks noChangeShapeType="1"/>
            </p:cNvSpPr>
            <p:nvPr/>
          </p:nvSpPr>
          <p:spPr bwMode="auto">
            <a:xfrm>
              <a:off x="4564" y="3009"/>
              <a:ext cx="56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2" name="Line 15"/>
            <p:cNvSpPr>
              <a:spLocks noChangeShapeType="1"/>
            </p:cNvSpPr>
            <p:nvPr/>
          </p:nvSpPr>
          <p:spPr bwMode="auto">
            <a:xfrm flipH="1">
              <a:off x="5140" y="3017"/>
              <a:ext cx="1" cy="5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3" name="Line 16"/>
            <p:cNvSpPr>
              <a:spLocks noChangeShapeType="1"/>
            </p:cNvSpPr>
            <p:nvPr/>
          </p:nvSpPr>
          <p:spPr bwMode="auto">
            <a:xfrm flipH="1">
              <a:off x="3685" y="3540"/>
              <a:ext cx="1452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4" name="Line 17"/>
            <p:cNvSpPr>
              <a:spLocks noChangeShapeType="1"/>
            </p:cNvSpPr>
            <p:nvPr/>
          </p:nvSpPr>
          <p:spPr bwMode="auto">
            <a:xfrm flipH="1">
              <a:off x="2127" y="3531"/>
              <a:ext cx="39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5" name="Line 18"/>
            <p:cNvSpPr>
              <a:spLocks noChangeShapeType="1"/>
            </p:cNvSpPr>
            <p:nvPr/>
          </p:nvSpPr>
          <p:spPr bwMode="auto">
            <a:xfrm>
              <a:off x="1064" y="3026"/>
              <a:ext cx="0" cy="5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6" name="Line 19"/>
            <p:cNvSpPr>
              <a:spLocks noChangeShapeType="1"/>
            </p:cNvSpPr>
            <p:nvPr/>
          </p:nvSpPr>
          <p:spPr bwMode="auto">
            <a:xfrm flipH="1">
              <a:off x="1056" y="3540"/>
              <a:ext cx="70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7" name="Line 20"/>
            <p:cNvSpPr>
              <a:spLocks noChangeShapeType="1"/>
            </p:cNvSpPr>
            <p:nvPr/>
          </p:nvSpPr>
          <p:spPr bwMode="auto">
            <a:xfrm>
              <a:off x="1063" y="3018"/>
              <a:ext cx="461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8" name="Line 21"/>
            <p:cNvSpPr>
              <a:spLocks noChangeShapeType="1"/>
            </p:cNvSpPr>
            <p:nvPr/>
          </p:nvSpPr>
          <p:spPr bwMode="auto">
            <a:xfrm>
              <a:off x="771" y="2901"/>
              <a:ext cx="753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6889" name="Text Box 22"/>
            <p:cNvSpPr txBox="1">
              <a:spLocks noChangeArrowheads="1"/>
            </p:cNvSpPr>
            <p:nvPr/>
          </p:nvSpPr>
          <p:spPr bwMode="auto">
            <a:xfrm>
              <a:off x="3038" y="2625"/>
              <a:ext cx="8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solidFill>
                    <a:srgbClr val="FF3300"/>
                  </a:solidFill>
                  <a:latin typeface="Book Antiqua" panose="02040602050305030304" pitchFamily="18" charset="0"/>
                </a:rPr>
                <a:t>short-term</a:t>
              </a:r>
            </a:p>
          </p:txBody>
        </p:sp>
        <p:sp>
          <p:nvSpPr>
            <p:cNvPr id="36890" name="Text Box 23"/>
            <p:cNvSpPr txBox="1">
              <a:spLocks noChangeArrowheads="1"/>
            </p:cNvSpPr>
            <p:nvPr/>
          </p:nvSpPr>
          <p:spPr bwMode="auto">
            <a:xfrm>
              <a:off x="825" y="2545"/>
              <a:ext cx="83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>
                  <a:solidFill>
                    <a:srgbClr val="FF3300"/>
                  </a:solidFill>
                  <a:latin typeface="Book Antiqua" panose="02040602050305030304" pitchFamily="18" charset="0"/>
                </a:rPr>
                <a:t>long-term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304AD3-CA9F-4FBD-863D-B5196D31A46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67E089-8077-40DB-9B21-F72FA3F064C2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/>
          </a:p>
        </p:txBody>
      </p:sp>
      <p:sp>
        <p:nvSpPr>
          <p:cNvPr id="1945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46063" y="392113"/>
            <a:ext cx="8605837" cy="1065212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>
              <a:defRPr/>
            </a:pPr>
            <a:r>
              <a:rPr lang="en-US" altLang="zh-TW" smtClean="0"/>
              <a:t>Schedulers (3): </a:t>
            </a:r>
            <a:r>
              <a:rPr lang="en-US" altLang="zh-TW" sz="3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Medium-term Scheduler</a:t>
            </a:r>
            <a:r>
              <a:rPr lang="en-US" altLang="zh-TW" sz="3200" smtClean="0">
                <a:solidFill>
                  <a:srgbClr val="FFCC00"/>
                </a:solidFill>
              </a:rPr>
              <a:t> </a:t>
            </a:r>
            <a:r>
              <a:rPr lang="en-US" altLang="zh-TW" sz="3200" smtClean="0">
                <a:solidFill>
                  <a:srgbClr val="FF3300"/>
                </a:solidFill>
              </a:rPr>
              <a:t>(</a:t>
            </a:r>
            <a:r>
              <a:rPr lang="en-US" altLang="zh-TW" sz="32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Swapping</a:t>
            </a:r>
            <a:r>
              <a:rPr lang="en-US" altLang="zh-TW" sz="3200" smtClean="0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194563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25450" y="1549400"/>
            <a:ext cx="8110538" cy="2027238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zh-TW" sz="2800" b="1" smtClean="0">
                <a:solidFill>
                  <a:srgbClr val="FF3300"/>
                </a:solidFill>
              </a:rPr>
              <a:t>swap out</a:t>
            </a:r>
            <a:r>
              <a:rPr lang="en-US" altLang="zh-TW" sz="2800" smtClean="0"/>
              <a:t>: removing processes from memory to reduce the degree of multiprogramming.</a:t>
            </a:r>
            <a:endParaRPr lang="en-US" altLang="zh-TW" b="1" smtClean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zh-TW" sz="2800" b="1" smtClean="0">
                <a:solidFill>
                  <a:srgbClr val="FF3300"/>
                </a:solidFill>
              </a:rPr>
              <a:t>swap in</a:t>
            </a:r>
            <a:r>
              <a:rPr lang="en-US" altLang="zh-TW" sz="2800" smtClean="0"/>
              <a:t>: reintroducing swap-out processes into memory</a:t>
            </a:r>
            <a:endParaRPr lang="en-US" altLang="zh-TW" sz="2800" i="1" smtClean="0">
              <a:solidFill>
                <a:srgbClr val="FFCC00"/>
              </a:solidFill>
            </a:endParaRPr>
          </a:p>
        </p:txBody>
      </p:sp>
      <p:grpSp>
        <p:nvGrpSpPr>
          <p:cNvPr id="38919" name="Group 1028"/>
          <p:cNvGrpSpPr>
            <a:grpSpLocks/>
          </p:cNvGrpSpPr>
          <p:nvPr/>
        </p:nvGrpSpPr>
        <p:grpSpPr bwMode="auto">
          <a:xfrm>
            <a:off x="503238" y="3454400"/>
            <a:ext cx="7605712" cy="2936875"/>
            <a:chOff x="317" y="2105"/>
            <a:chExt cx="4791" cy="1921"/>
          </a:xfrm>
        </p:grpSpPr>
        <p:sp>
          <p:nvSpPr>
            <p:cNvPr id="38921" name="Rectangle 1029"/>
            <p:cNvSpPr>
              <a:spLocks noChangeArrowheads="1"/>
            </p:cNvSpPr>
            <p:nvPr/>
          </p:nvSpPr>
          <p:spPr bwMode="auto">
            <a:xfrm>
              <a:off x="680" y="2399"/>
              <a:ext cx="4301" cy="70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22" name="Rectangle 1030"/>
            <p:cNvSpPr>
              <a:spLocks noChangeArrowheads="1"/>
            </p:cNvSpPr>
            <p:nvPr/>
          </p:nvSpPr>
          <p:spPr bwMode="auto">
            <a:xfrm>
              <a:off x="1841" y="3220"/>
              <a:ext cx="1289" cy="28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182F18"/>
                      </a:gs>
                      <a:gs pos="50000">
                        <a:srgbClr val="336633"/>
                      </a:gs>
                      <a:gs pos="100000">
                        <a:srgbClr val="182F18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23" name="Rectangle 1031"/>
            <p:cNvSpPr>
              <a:spLocks noChangeArrowheads="1"/>
            </p:cNvSpPr>
            <p:nvPr/>
          </p:nvSpPr>
          <p:spPr bwMode="auto">
            <a:xfrm>
              <a:off x="1983" y="3289"/>
              <a:ext cx="1017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ready queue</a:t>
              </a:r>
            </a:p>
          </p:txBody>
        </p:sp>
        <p:sp>
          <p:nvSpPr>
            <p:cNvPr id="38924" name="Rectangle 1032"/>
            <p:cNvSpPr>
              <a:spLocks noChangeArrowheads="1"/>
            </p:cNvSpPr>
            <p:nvPr/>
          </p:nvSpPr>
          <p:spPr bwMode="auto">
            <a:xfrm>
              <a:off x="3443" y="3739"/>
              <a:ext cx="1290" cy="25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8F0039"/>
                      </a:gs>
                      <a:gs pos="50000">
                        <a:srgbClr val="FF0066"/>
                      </a:gs>
                      <a:gs pos="100000">
                        <a:srgbClr val="8F0039"/>
                      </a:gs>
                    </a:gsLst>
                    <a:lin ang="2700000" scaled="1"/>
                  </a:gra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25" name="Rectangle 1033"/>
            <p:cNvSpPr>
              <a:spLocks noChangeArrowheads="1"/>
            </p:cNvSpPr>
            <p:nvPr/>
          </p:nvSpPr>
          <p:spPr bwMode="auto">
            <a:xfrm>
              <a:off x="3650" y="3753"/>
              <a:ext cx="95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I/O waiting</a:t>
              </a:r>
            </a:p>
          </p:txBody>
        </p:sp>
        <p:sp>
          <p:nvSpPr>
            <p:cNvPr id="38926" name="Oval 1034"/>
            <p:cNvSpPr>
              <a:spLocks noChangeArrowheads="1"/>
            </p:cNvSpPr>
            <p:nvPr/>
          </p:nvSpPr>
          <p:spPr bwMode="auto">
            <a:xfrm>
              <a:off x="2109" y="3722"/>
              <a:ext cx="441" cy="27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5E2F00"/>
                      </a:gs>
                      <a:gs pos="50000">
                        <a:srgbClr val="CC6600"/>
                      </a:gs>
                      <a:gs pos="100000">
                        <a:srgbClr val="5E2F00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27" name="Rectangle 1035"/>
            <p:cNvSpPr>
              <a:spLocks noChangeArrowheads="1"/>
            </p:cNvSpPr>
            <p:nvPr/>
          </p:nvSpPr>
          <p:spPr bwMode="auto">
            <a:xfrm>
              <a:off x="2154" y="3788"/>
              <a:ext cx="35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I/O</a:t>
              </a:r>
            </a:p>
          </p:txBody>
        </p:sp>
        <p:sp>
          <p:nvSpPr>
            <p:cNvPr id="38928" name="Oval 1036"/>
            <p:cNvSpPr>
              <a:spLocks noChangeArrowheads="1"/>
            </p:cNvSpPr>
            <p:nvPr/>
          </p:nvSpPr>
          <p:spPr bwMode="auto">
            <a:xfrm>
              <a:off x="3951" y="3218"/>
              <a:ext cx="442" cy="27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29" name="Rectangle 1037"/>
            <p:cNvSpPr>
              <a:spLocks noChangeArrowheads="1"/>
            </p:cNvSpPr>
            <p:nvPr/>
          </p:nvSpPr>
          <p:spPr bwMode="auto">
            <a:xfrm>
              <a:off x="3953" y="3285"/>
              <a:ext cx="452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CPU</a:t>
              </a:r>
              <a:endParaRPr lang="en-US" altLang="zh-TW" sz="2000" b="1">
                <a:solidFill>
                  <a:srgbClr val="000000"/>
                </a:solidFill>
                <a:latin typeface="Book Antiqua" panose="02040602050305030304" pitchFamily="18" charset="0"/>
              </a:endParaRPr>
            </a:p>
          </p:txBody>
        </p:sp>
        <p:sp>
          <p:nvSpPr>
            <p:cNvPr id="38930" name="Line 1038"/>
            <p:cNvSpPr>
              <a:spLocks noChangeShapeType="1"/>
            </p:cNvSpPr>
            <p:nvPr/>
          </p:nvSpPr>
          <p:spPr bwMode="auto">
            <a:xfrm>
              <a:off x="3144" y="3369"/>
              <a:ext cx="79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1" name="Line 1039"/>
            <p:cNvSpPr>
              <a:spLocks noChangeShapeType="1"/>
            </p:cNvSpPr>
            <p:nvPr/>
          </p:nvSpPr>
          <p:spPr bwMode="auto">
            <a:xfrm>
              <a:off x="4411" y="3407"/>
              <a:ext cx="6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2" name="Line 1040"/>
            <p:cNvSpPr>
              <a:spLocks noChangeShapeType="1"/>
            </p:cNvSpPr>
            <p:nvPr/>
          </p:nvSpPr>
          <p:spPr bwMode="auto">
            <a:xfrm>
              <a:off x="5099" y="3414"/>
              <a:ext cx="0" cy="44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3" name="Line 1041"/>
            <p:cNvSpPr>
              <a:spLocks noChangeShapeType="1"/>
            </p:cNvSpPr>
            <p:nvPr/>
          </p:nvSpPr>
          <p:spPr bwMode="auto">
            <a:xfrm flipH="1">
              <a:off x="4714" y="3870"/>
              <a:ext cx="3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4" name="Line 1042"/>
            <p:cNvSpPr>
              <a:spLocks noChangeShapeType="1"/>
            </p:cNvSpPr>
            <p:nvPr/>
          </p:nvSpPr>
          <p:spPr bwMode="auto">
            <a:xfrm flipH="1">
              <a:off x="2545" y="3870"/>
              <a:ext cx="8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5" name="Line 1043"/>
            <p:cNvSpPr>
              <a:spLocks noChangeShapeType="1"/>
            </p:cNvSpPr>
            <p:nvPr/>
          </p:nvSpPr>
          <p:spPr bwMode="auto">
            <a:xfrm>
              <a:off x="1278" y="3444"/>
              <a:ext cx="0" cy="4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6" name="Line 1044"/>
            <p:cNvSpPr>
              <a:spLocks noChangeShapeType="1"/>
            </p:cNvSpPr>
            <p:nvPr/>
          </p:nvSpPr>
          <p:spPr bwMode="auto">
            <a:xfrm flipH="1">
              <a:off x="1268" y="3855"/>
              <a:ext cx="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7" name="Line 1045"/>
            <p:cNvSpPr>
              <a:spLocks noChangeShapeType="1"/>
            </p:cNvSpPr>
            <p:nvPr/>
          </p:nvSpPr>
          <p:spPr bwMode="auto">
            <a:xfrm>
              <a:off x="1277" y="3445"/>
              <a:ext cx="5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8" name="Line 1046"/>
            <p:cNvSpPr>
              <a:spLocks noChangeShapeType="1"/>
            </p:cNvSpPr>
            <p:nvPr/>
          </p:nvSpPr>
          <p:spPr bwMode="auto">
            <a:xfrm>
              <a:off x="317" y="3361"/>
              <a:ext cx="15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39" name="Rectangle 1047"/>
            <p:cNvSpPr>
              <a:spLocks noChangeArrowheads="1"/>
            </p:cNvSpPr>
            <p:nvPr/>
          </p:nvSpPr>
          <p:spPr bwMode="auto">
            <a:xfrm>
              <a:off x="1826" y="2633"/>
              <a:ext cx="2104" cy="36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folHlink"/>
              </a:outerShdw>
            </a:effectLst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5400000" scaled="1"/>
                  </a:gra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38940" name="Rectangle 1048"/>
            <p:cNvSpPr>
              <a:spLocks noChangeArrowheads="1"/>
            </p:cNvSpPr>
            <p:nvPr/>
          </p:nvSpPr>
          <p:spPr bwMode="auto">
            <a:xfrm>
              <a:off x="2092" y="2687"/>
              <a:ext cx="1415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partially executed</a:t>
              </a:r>
            </a:p>
          </p:txBody>
        </p:sp>
        <p:sp>
          <p:nvSpPr>
            <p:cNvPr id="38941" name="Rectangle 1049"/>
            <p:cNvSpPr>
              <a:spLocks noChangeArrowheads="1"/>
            </p:cNvSpPr>
            <p:nvPr/>
          </p:nvSpPr>
          <p:spPr bwMode="auto">
            <a:xfrm>
              <a:off x="1943" y="2812"/>
              <a:ext cx="1798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swapped-out processes</a:t>
              </a:r>
            </a:p>
          </p:txBody>
        </p:sp>
        <p:sp>
          <p:nvSpPr>
            <p:cNvPr id="38942" name="Line 1050"/>
            <p:cNvSpPr>
              <a:spLocks noChangeShapeType="1"/>
            </p:cNvSpPr>
            <p:nvPr/>
          </p:nvSpPr>
          <p:spPr bwMode="auto">
            <a:xfrm>
              <a:off x="4378" y="3270"/>
              <a:ext cx="3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3" name="Line 1051"/>
            <p:cNvSpPr>
              <a:spLocks noChangeShapeType="1"/>
            </p:cNvSpPr>
            <p:nvPr/>
          </p:nvSpPr>
          <p:spPr bwMode="auto">
            <a:xfrm flipV="1">
              <a:off x="4766" y="2777"/>
              <a:ext cx="0" cy="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4" name="Line 1052"/>
            <p:cNvSpPr>
              <a:spLocks noChangeShapeType="1"/>
            </p:cNvSpPr>
            <p:nvPr/>
          </p:nvSpPr>
          <p:spPr bwMode="auto">
            <a:xfrm flipH="1">
              <a:off x="3672" y="2784"/>
              <a:ext cx="11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5" name="Line 1053"/>
            <p:cNvSpPr>
              <a:spLocks noChangeShapeType="1"/>
            </p:cNvSpPr>
            <p:nvPr/>
          </p:nvSpPr>
          <p:spPr bwMode="auto">
            <a:xfrm flipH="1">
              <a:off x="978" y="2792"/>
              <a:ext cx="8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6" name="Line 1054"/>
            <p:cNvSpPr>
              <a:spLocks noChangeShapeType="1"/>
            </p:cNvSpPr>
            <p:nvPr/>
          </p:nvSpPr>
          <p:spPr bwMode="auto">
            <a:xfrm>
              <a:off x="988" y="2798"/>
              <a:ext cx="0" cy="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7" name="Line 1055"/>
            <p:cNvSpPr>
              <a:spLocks noChangeShapeType="1"/>
            </p:cNvSpPr>
            <p:nvPr/>
          </p:nvSpPr>
          <p:spPr bwMode="auto">
            <a:xfrm>
              <a:off x="997" y="3278"/>
              <a:ext cx="8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8948" name="Rectangle 1056"/>
            <p:cNvSpPr>
              <a:spLocks noChangeArrowheads="1"/>
            </p:cNvSpPr>
            <p:nvPr/>
          </p:nvSpPr>
          <p:spPr bwMode="auto">
            <a:xfrm>
              <a:off x="913" y="2506"/>
              <a:ext cx="727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swap in </a:t>
              </a:r>
            </a:p>
          </p:txBody>
        </p:sp>
        <p:sp>
          <p:nvSpPr>
            <p:cNvPr id="38949" name="Rectangle 1057"/>
            <p:cNvSpPr>
              <a:spLocks noChangeArrowheads="1"/>
            </p:cNvSpPr>
            <p:nvPr/>
          </p:nvSpPr>
          <p:spPr bwMode="auto">
            <a:xfrm>
              <a:off x="4132" y="2487"/>
              <a:ext cx="81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swap out </a:t>
              </a:r>
            </a:p>
          </p:txBody>
        </p:sp>
        <p:sp>
          <p:nvSpPr>
            <p:cNvPr id="38950" name="Line 1058"/>
            <p:cNvSpPr>
              <a:spLocks noChangeShapeType="1"/>
            </p:cNvSpPr>
            <p:nvPr/>
          </p:nvSpPr>
          <p:spPr bwMode="auto">
            <a:xfrm flipH="1">
              <a:off x="3792" y="2105"/>
              <a:ext cx="849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8920" name="Text Box 1059"/>
          <p:cNvSpPr txBox="1">
            <a:spLocks noChangeArrowheads="1"/>
          </p:cNvSpPr>
          <p:nvPr/>
        </p:nvSpPr>
        <p:spPr bwMode="auto">
          <a:xfrm>
            <a:off x="7148513" y="3227388"/>
            <a:ext cx="19954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medium-term</a:t>
            </a:r>
            <a:endParaRPr lang="zh-TW" altLang="en-US" sz="24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F9612-FFFF-426A-9A2E-6F22D042EBEA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E04746-8CCE-4670-AEE4-C18A9B7AC486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TW" sz="1400"/>
          </a:p>
        </p:txBody>
      </p:sp>
      <p:sp>
        <p:nvSpPr>
          <p:cNvPr id="4096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57225" y="261938"/>
            <a:ext cx="7467600" cy="7112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Schedulers (4)</a:t>
            </a:r>
            <a:endParaRPr lang="en-US" altLang="zh-TW" sz="6000" smtClean="0"/>
          </a:p>
        </p:txBody>
      </p:sp>
      <p:sp>
        <p:nvSpPr>
          <p:cNvPr id="19558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79425" y="1158875"/>
            <a:ext cx="8296275" cy="5303838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b="1" smtClean="0">
                <a:solidFill>
                  <a:srgbClr val="FF3300"/>
                </a:solidFill>
              </a:rPr>
              <a:t>context switch</a:t>
            </a:r>
            <a:r>
              <a:rPr lang="en-US" altLang="zh-TW" smtClean="0"/>
              <a:t>: saving the state of the old process and loading the saved state of the new process</a:t>
            </a:r>
            <a:r>
              <a:rPr lang="en-US" altLang="zh-TW" sz="2800" smtClean="0"/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smtClean="0"/>
              <a:t>This is a pure </a:t>
            </a:r>
            <a:r>
              <a:rPr lang="en-US" altLang="zh-TW" sz="24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overhead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smtClean="0"/>
              <a:t>switch time (about 1~1000 ms) depends on</a:t>
            </a:r>
            <a:endParaRPr lang="en-US" altLang="zh-TW" smtClean="0"/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800" smtClean="0"/>
              <a:t>memory speed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800" smtClean="0"/>
              <a:t>number of registers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800" smtClean="0"/>
              <a:t>existence of special instructions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smtClean="0"/>
              <a:t>e.g., a single instruction to save/load all registers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800" smtClean="0"/>
              <a:t>hardware support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smtClean="0"/>
              <a:t>e.g., multiple sets of registers</a:t>
            </a:r>
            <a:r>
              <a:rPr lang="en-US" altLang="zh-TW" smtClean="0"/>
              <a:t> </a:t>
            </a:r>
          </a:p>
        </p:txBody>
      </p:sp>
      <p:sp>
        <p:nvSpPr>
          <p:cNvPr id="2" name="動作按鈕: 終點 1">
            <a:hlinkClick r:id="rId4" action="ppaction://hlinksldjump" highlightClick="1"/>
          </p:cNvPr>
          <p:cNvSpPr/>
          <p:nvPr/>
        </p:nvSpPr>
        <p:spPr bwMode="auto">
          <a:xfrm>
            <a:off x="7543800" y="2418080"/>
            <a:ext cx="467360" cy="487680"/>
          </a:xfrm>
          <a:prstGeom prst="actionButtonEn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A83D85-C096-430F-996F-592259CE46F6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97AFF6-F82A-4ABA-B2F5-C2F5E7594773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TW" sz="140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17563"/>
          </a:xfrm>
        </p:spPr>
        <p:txBody>
          <a:bodyPr/>
          <a:lstStyle/>
          <a:p>
            <a:pPr eaLnBrk="1" hangingPunct="1"/>
            <a:r>
              <a:rPr lang="en-US" altLang="zh-TW" smtClean="0"/>
              <a:t>Schedulers (5)</a:t>
            </a:r>
          </a:p>
        </p:txBody>
      </p:sp>
      <p:sp>
        <p:nvSpPr>
          <p:cNvPr id="268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1150" y="1190625"/>
            <a:ext cx="8523288" cy="5343525"/>
          </a:xfrm>
        </p:spPr>
        <p:txBody>
          <a:bodyPr/>
          <a:lstStyle/>
          <a:p>
            <a:pPr eaLnBrk="1" hangingPunct="1"/>
            <a:r>
              <a:rPr lang="en-US" altLang="zh-TW" sz="2400" smtClean="0"/>
              <a:t>Short-term scheduler is invoked very frequently (milliseconds) </a:t>
            </a:r>
            <a:r>
              <a:rPr lang="en-US" altLang="zh-TW" sz="2400" smtClean="0">
                <a:sym typeface="Symbol" panose="05050102010706020507" pitchFamily="18" charset="2"/>
              </a:rPr>
              <a:t> (must be fast)</a:t>
            </a:r>
          </a:p>
          <a:p>
            <a:pPr eaLnBrk="1" hangingPunct="1"/>
            <a:r>
              <a:rPr lang="en-US" altLang="zh-TW" sz="2400" smtClean="0">
                <a:sym typeface="Symbol" panose="05050102010706020507" pitchFamily="18" charset="2"/>
              </a:rPr>
              <a:t>Long-term scheduler is invoked very infrequently (seconds, minutes)  (may be slow)</a:t>
            </a:r>
          </a:p>
          <a:p>
            <a:pPr eaLnBrk="1" hangingPunct="1"/>
            <a:r>
              <a:rPr lang="en-US" altLang="zh-TW" sz="2400" smtClean="0">
                <a:sym typeface="Symbol" panose="05050102010706020507" pitchFamily="18" charset="2"/>
              </a:rPr>
              <a:t>The long-term scheduler controls the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degree of multiprogramming</a:t>
            </a:r>
          </a:p>
          <a:p>
            <a:pPr eaLnBrk="1" hangingPunct="1"/>
            <a:r>
              <a:rPr lang="en-US" altLang="zh-TW" sz="2400" smtClean="0">
                <a:sym typeface="Symbol" panose="05050102010706020507" pitchFamily="18" charset="2"/>
              </a:rPr>
              <a:t>Processes can be described as either:</a:t>
            </a:r>
          </a:p>
          <a:p>
            <a:pPr lvl="1" eaLnBrk="1" hangingPunct="1"/>
            <a:r>
              <a:rPr lang="en-US" altLang="zh-TW" sz="2000" b="1" smtClean="0">
                <a:solidFill>
                  <a:srgbClr val="FF0000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zh-TW" sz="2000" smtClean="0">
                <a:sym typeface="Symbol" panose="05050102010706020507" pitchFamily="18" charset="2"/>
              </a:rPr>
              <a:t> </a:t>
            </a:r>
            <a:r>
              <a:rPr lang="en-US" altLang="zh-TW" sz="2000" smtClean="0">
                <a:latin typeface="Helvetica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TW" sz="2000" smtClean="0">
                <a:sym typeface="Symbol" panose="05050102010706020507" pitchFamily="18" charset="2"/>
              </a:rPr>
              <a:t> spends more time doing I/O than computations, many short CPU bursts</a:t>
            </a:r>
          </a:p>
          <a:p>
            <a:pPr lvl="1" eaLnBrk="1" hangingPunct="1"/>
            <a:r>
              <a:rPr lang="en-US" altLang="zh-TW" sz="2000" b="1" smtClean="0">
                <a:solidFill>
                  <a:srgbClr val="FF0000"/>
                </a:solidFill>
                <a:sym typeface="Symbol" panose="05050102010706020507" pitchFamily="18" charset="2"/>
              </a:rPr>
              <a:t>CPU-bound process</a:t>
            </a:r>
            <a:r>
              <a:rPr lang="en-US" altLang="zh-TW" sz="2000" smtClean="0">
                <a:sym typeface="Symbol" panose="05050102010706020507" pitchFamily="18" charset="2"/>
              </a:rPr>
              <a:t> </a:t>
            </a:r>
            <a:r>
              <a:rPr lang="en-US" altLang="zh-TW" sz="2000" smtClean="0">
                <a:latin typeface="Helvetica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TW" sz="2000" smtClean="0">
                <a:sym typeface="Symbol" panose="05050102010706020507" pitchFamily="18" charset="2"/>
              </a:rPr>
              <a:t> spends more time doing computations; few very long CPU bursts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8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8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8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rgbClr val="FF0000"/>
                </a:solidFill>
              </a:rPr>
              <a:t>Multitasking in Mobile Systems</a:t>
            </a:r>
          </a:p>
        </p:txBody>
      </p:sp>
      <p:sp>
        <p:nvSpPr>
          <p:cNvPr id="22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39725" y="709613"/>
            <a:ext cx="8558213" cy="41910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smtClean="0"/>
              <a:t>Some mobile systems (e.g., early version of iOS)  allow only one process to run, others suspended</a:t>
            </a:r>
          </a:p>
          <a:p>
            <a:pPr>
              <a:spcBef>
                <a:spcPts val="1200"/>
              </a:spcBef>
            </a:pPr>
            <a:r>
              <a:rPr lang="en-US" altLang="en-US" sz="2400" smtClean="0"/>
              <a:t>Beginning with iOS 4, provides a limited form of multitasking for user applications </a:t>
            </a:r>
          </a:p>
          <a:p>
            <a:pPr lvl="1">
              <a:spcBef>
                <a:spcPts val="1200"/>
              </a:spcBef>
            </a:pPr>
            <a:r>
              <a:rPr lang="en-US" altLang="en-US" sz="2000" smtClean="0"/>
              <a:t>Single </a:t>
            </a:r>
            <a:r>
              <a:rPr lang="en-US" altLang="en-US" sz="2000" b="1" smtClean="0">
                <a:solidFill>
                  <a:srgbClr val="3366FF"/>
                </a:solidFill>
              </a:rPr>
              <a:t>foreground</a:t>
            </a:r>
            <a:r>
              <a:rPr lang="en-US" altLang="en-US" sz="2000" smtClean="0"/>
              <a:t> process- controlled via user interface</a:t>
            </a:r>
          </a:p>
          <a:p>
            <a:pPr lvl="1">
              <a:spcBef>
                <a:spcPts val="1200"/>
              </a:spcBef>
            </a:pPr>
            <a:r>
              <a:rPr lang="en-US" altLang="en-US" sz="2000" smtClean="0"/>
              <a:t>Multiple </a:t>
            </a:r>
            <a:r>
              <a:rPr lang="en-US" altLang="en-US" sz="2000" b="1" smtClean="0">
                <a:solidFill>
                  <a:srgbClr val="3366FF"/>
                </a:solidFill>
              </a:rPr>
              <a:t>background</a:t>
            </a:r>
            <a:r>
              <a:rPr lang="en-US" altLang="en-US" sz="2000" smtClean="0"/>
              <a:t> processes– in memory, running, but not occupy the display screen, and with limited number of application types, including applications:</a:t>
            </a:r>
          </a:p>
          <a:p>
            <a:pPr lvl="1">
              <a:spcBef>
                <a:spcPts val="1200"/>
              </a:spcBef>
            </a:pPr>
            <a:r>
              <a:rPr lang="en-US" altLang="en-US" sz="2000" smtClean="0"/>
              <a:t>Limits include single, short task, receiving notification of events, specific long-running tasks like audio playback</a:t>
            </a:r>
          </a:p>
        </p:txBody>
      </p:sp>
      <p:sp>
        <p:nvSpPr>
          <p:cNvPr id="45060" name="矩形 1"/>
          <p:cNvSpPr>
            <a:spLocks noChangeArrowheads="1"/>
          </p:cNvSpPr>
          <p:nvPr/>
        </p:nvSpPr>
        <p:spPr bwMode="auto">
          <a:xfrm>
            <a:off x="822325" y="4997450"/>
            <a:ext cx="7469188" cy="460375"/>
          </a:xfrm>
          <a:prstGeom prst="rect">
            <a:avLst/>
          </a:prstGeom>
          <a:noFill/>
          <a:ln w="19050">
            <a:solidFill>
              <a:srgbClr val="66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due to battery life and memory use concerns</a:t>
            </a:r>
            <a:endParaRPr lang="zh-TW" altLang="en-US" sz="2400"/>
          </a:p>
        </p:txBody>
      </p:sp>
      <p:sp>
        <p:nvSpPr>
          <p:cNvPr id="45061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175194-0997-440A-8AD6-A145DFD25CAC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45062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45063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F69895-9BCA-40AF-9F79-87AC36A8F901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mtClean="0">
                <a:solidFill>
                  <a:srgbClr val="FF0000"/>
                </a:solidFill>
              </a:rPr>
              <a:t>Multitasking in Mobile Systems</a:t>
            </a:r>
          </a:p>
        </p:txBody>
      </p:sp>
      <p:sp>
        <p:nvSpPr>
          <p:cNvPr id="22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7175" y="709613"/>
            <a:ext cx="8558213" cy="5608637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smtClean="0"/>
              <a:t>Android does not place such constraints on the types of applications that can run in the background.</a:t>
            </a:r>
          </a:p>
          <a:p>
            <a:pPr>
              <a:spcBef>
                <a:spcPts val="1200"/>
              </a:spcBef>
            </a:pPr>
            <a:r>
              <a:rPr lang="en-US" altLang="en-US" sz="2400" smtClean="0"/>
              <a:t>If an application requires processing while in the background, the application must use a </a:t>
            </a:r>
            <a:r>
              <a:rPr lang="en-US" altLang="en-US" sz="2400" smtClean="0">
                <a:solidFill>
                  <a:srgbClr val="0000FF"/>
                </a:solidFill>
              </a:rPr>
              <a:t>service</a:t>
            </a:r>
            <a:r>
              <a:rPr lang="en-US" altLang="en-US" sz="2400" smtClean="0"/>
              <a:t>, a separate application component that runs on behalf of the background process</a:t>
            </a:r>
          </a:p>
          <a:p>
            <a:pPr lvl="1">
              <a:spcBef>
                <a:spcPts val="1200"/>
              </a:spcBef>
            </a:pPr>
            <a:r>
              <a:rPr lang="en-US" altLang="en-US" sz="2200" smtClean="0">
                <a:solidFill>
                  <a:srgbClr val="0000FF"/>
                </a:solidFill>
              </a:rPr>
              <a:t>Background process uses a </a:t>
            </a:r>
            <a:r>
              <a:rPr lang="en-US" altLang="en-US" sz="2200" b="1" smtClean="0">
                <a:solidFill>
                  <a:srgbClr val="0000FF"/>
                </a:solidFill>
              </a:rPr>
              <a:t>service</a:t>
            </a:r>
            <a:r>
              <a:rPr lang="en-US" altLang="en-US" sz="2200" smtClean="0">
                <a:solidFill>
                  <a:srgbClr val="0000FF"/>
                </a:solidFill>
              </a:rPr>
              <a:t> to perform tasks</a:t>
            </a:r>
          </a:p>
          <a:p>
            <a:pPr lvl="1">
              <a:spcBef>
                <a:spcPts val="1200"/>
              </a:spcBef>
            </a:pPr>
            <a:r>
              <a:rPr lang="en-US" altLang="en-US" sz="2200" smtClean="0">
                <a:solidFill>
                  <a:srgbClr val="0000FF"/>
                </a:solidFill>
              </a:rPr>
              <a:t>Service can keep running even if background process is suspended</a:t>
            </a:r>
          </a:p>
          <a:p>
            <a:pPr lvl="1">
              <a:spcBef>
                <a:spcPts val="1200"/>
              </a:spcBef>
            </a:pPr>
            <a:r>
              <a:rPr lang="en-US" altLang="en-US" sz="2200" smtClean="0">
                <a:solidFill>
                  <a:srgbClr val="0000FF"/>
                </a:solidFill>
              </a:rPr>
              <a:t>Service has no user interface, small memory use (footprint).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en-US" altLang="en-US" sz="2400" smtClean="0"/>
              <a:t>Consider a streaming audio application: if the application moves to the background, the service continues to send audio files to the audio device driver on behalf of the background application.</a:t>
            </a:r>
          </a:p>
        </p:txBody>
      </p:sp>
      <p:sp>
        <p:nvSpPr>
          <p:cNvPr id="4710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4390BF-387E-4810-A008-08521000F3AF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4710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471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339C00-11F8-4B0D-9386-15B79B12CA2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951890-44E2-466D-9767-9925106F5905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DE21F6-9BF7-42F7-8478-D70E72D4FB04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TW" sz="140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5025"/>
          </a:xfrm>
        </p:spPr>
        <p:txBody>
          <a:bodyPr/>
          <a:lstStyle/>
          <a:p>
            <a:pPr eaLnBrk="1" hangingPunct="1"/>
            <a:r>
              <a:rPr lang="en-US" altLang="zh-TW" smtClean="0"/>
              <a:t>Process Creation (1)</a:t>
            </a:r>
          </a:p>
        </p:txBody>
      </p:sp>
      <p:sp>
        <p:nvSpPr>
          <p:cNvPr id="140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9263" y="1149350"/>
            <a:ext cx="8183562" cy="4711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Parent process create children processes, which, in turn create other processes,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forming a tree of processes</a:t>
            </a:r>
            <a:endParaRPr lang="en-US" altLang="zh-TW" sz="2800" dirty="0" smtClean="0"/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sz="2800" dirty="0" smtClean="0"/>
              <a:t>Resource sharing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Parent and children share all resources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Children share subset of parent</a:t>
            </a:r>
            <a:r>
              <a:rPr lang="en-US" altLang="zh-TW" sz="2400" dirty="0" smtClean="0">
                <a:latin typeface="Helvetica"/>
              </a:rPr>
              <a:t>’</a:t>
            </a:r>
            <a:r>
              <a:rPr lang="en-US" altLang="zh-TW" sz="2400" dirty="0" smtClean="0"/>
              <a:t>s resources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Parent and child share no resources, the child ask new one from OS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sz="2800" dirty="0" smtClean="0"/>
              <a:t>Two possibilities of execution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Parent and children </a:t>
            </a:r>
            <a:r>
              <a:rPr lang="en-US" altLang="zh-TW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execute concurrently</a:t>
            </a:r>
            <a:endParaRPr lang="en-US" altLang="zh-TW" sz="2400" dirty="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 smtClean="0"/>
              <a:t>Parent </a:t>
            </a:r>
            <a:r>
              <a:rPr lang="en-US" altLang="zh-TW" sz="24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waits until children terminate</a:t>
            </a:r>
            <a:endParaRPr lang="en-US" altLang="zh-TW" sz="2400" dirty="0" smtClean="0"/>
          </a:p>
          <a:p>
            <a:pPr eaLnBrk="1" hangingPunct="1">
              <a:lnSpc>
                <a:spcPct val="90000"/>
              </a:lnSpc>
              <a:defRPr/>
            </a:pPr>
            <a:endParaRPr lang="zh-TW" altLang="en-US" sz="2800" dirty="0" smtClean="0"/>
          </a:p>
        </p:txBody>
      </p:sp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513" y="4156075"/>
            <a:ext cx="2968625" cy="106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160" name="動作按鈕: 終點 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1788" y="1952625"/>
            <a:ext cx="411162" cy="411163"/>
          </a:xfrm>
          <a:prstGeom prst="actionButtonEnd">
            <a:avLst/>
          </a:prstGeom>
          <a:solidFill>
            <a:schemeClr val="accent1"/>
          </a:solidFill>
          <a:ln w="9525" algn="ctr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455BB0-C6DA-45AD-9C59-163634A3C1A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512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512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A8E941-139D-4C9C-97B7-4AC2C83BC2D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TW" sz="140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601663" y="125413"/>
            <a:ext cx="7772400" cy="985837"/>
          </a:xfrm>
        </p:spPr>
        <p:txBody>
          <a:bodyPr/>
          <a:lstStyle/>
          <a:p>
            <a:pPr eaLnBrk="1" hangingPunct="1"/>
            <a:r>
              <a:rPr lang="en-US" altLang="zh-TW" smtClean="0"/>
              <a:t>Process Creation (2)</a:t>
            </a:r>
          </a:p>
        </p:txBody>
      </p:sp>
      <p:sp>
        <p:nvSpPr>
          <p:cNvPr id="141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04813" y="1228725"/>
            <a:ext cx="8374062" cy="49577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/>
              <a:t>Two possibilities of address space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Child duplicate of parent</a:t>
            </a:r>
            <a:r>
              <a:rPr lang="en-US" altLang="zh-TW" dirty="0" smtClean="0"/>
              <a:t>, communication via sharing variables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Child has a program loaded into it</a:t>
            </a:r>
            <a:r>
              <a:rPr lang="en-US" altLang="zh-TW" dirty="0" smtClean="0"/>
              <a:t>, communication via message passing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dirty="0" smtClean="0"/>
              <a:t>UNIX examples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b="1" dirty="0" smtClean="0">
                <a:solidFill>
                  <a:srgbClr val="FF3300"/>
                </a:solidFill>
              </a:rPr>
              <a:t>fork</a:t>
            </a:r>
            <a:r>
              <a:rPr lang="en-US" altLang="zh-TW" dirty="0" smtClean="0"/>
              <a:t> system call creates new process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b="1" dirty="0" smtClean="0">
                <a:solidFill>
                  <a:srgbClr val="FF3300"/>
                </a:solidFill>
              </a:rPr>
              <a:t>exec</a:t>
            </a:r>
            <a:r>
              <a:rPr lang="en-US" altLang="zh-TW" dirty="0" smtClean="0"/>
              <a:t> system call used after a </a:t>
            </a:r>
            <a:r>
              <a:rPr lang="en-US" altLang="zh-TW" b="1" dirty="0" smtClean="0">
                <a:solidFill>
                  <a:srgbClr val="FF3300"/>
                </a:solidFill>
              </a:rPr>
              <a:t>fork</a:t>
            </a:r>
            <a:r>
              <a:rPr lang="en-US" altLang="zh-TW" dirty="0" smtClean="0"/>
              <a:t> to replace the process</a:t>
            </a:r>
            <a:r>
              <a:rPr lang="en-US" altLang="zh-TW" dirty="0" smtClean="0">
                <a:latin typeface="Helvetica"/>
              </a:rPr>
              <a:t>’</a:t>
            </a:r>
            <a:r>
              <a:rPr lang="en-US" altLang="zh-TW" dirty="0" smtClean="0"/>
              <a:t> memory space with a new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489E03-641B-4493-8D9E-61EA3808E572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532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532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F6B989-9459-4BB5-AF8C-BF69E2523AA5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TW" sz="140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404813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Forking Separate Process</a:t>
            </a:r>
            <a:endParaRPr lang="en-US" altLang="zh-TW" smtClean="0"/>
          </a:p>
        </p:txBody>
      </p:sp>
      <p:sp>
        <p:nvSpPr>
          <p:cNvPr id="272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49550" y="731838"/>
            <a:ext cx="5878513" cy="561498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int main()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Pid_t  pid;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/* fork another process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pid = fork();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if (pid &lt; 0) { /* error occurred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	fprintf(stderr, "Fork Failed");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	exit(-1);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else if (pid == 0) { /* child process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	execlp("/bin/ls", "ls", NULL);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else { /* parent process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/* parent will wait for the child to complete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	wait (NULL);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	printf ("Child Complete");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	exit(0);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kumimoji="0" lang="en-US" altLang="zh-TW" sz="2000" smtClean="0">
                <a:latin typeface="Monaco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2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2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2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2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2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2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2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2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23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23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23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23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23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23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ED72F0-0593-4C28-AD41-5A9112F4D37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5529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5530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F5C958-C60B-4B51-8FB4-C102E8BD64BA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TW" sz="140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04863"/>
          </a:xfrm>
        </p:spPr>
        <p:txBody>
          <a:bodyPr/>
          <a:lstStyle/>
          <a:p>
            <a:pPr eaLnBrk="1" hangingPunct="1"/>
            <a:r>
              <a:rPr lang="en-US" altLang="zh-TW" smtClean="0"/>
              <a:t>A Tree of Processes in Linux</a:t>
            </a:r>
          </a:p>
        </p:txBody>
      </p:sp>
      <p:pic>
        <p:nvPicPr>
          <p:cNvPr id="55302" name="Picture 1" descr="3_08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1835150"/>
            <a:ext cx="7061200" cy="374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3" name="動作按鈕: 起點 1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013700" y="2003425"/>
            <a:ext cx="390525" cy="411163"/>
          </a:xfrm>
          <a:prstGeom prst="actionButtonBeginning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209660-8E8C-4000-83C5-33B4989CB23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573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573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429FD7-422C-4A0F-8611-415E8DCC6EED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TW" sz="140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80988"/>
            <a:ext cx="7772400" cy="752475"/>
          </a:xfrm>
        </p:spPr>
        <p:txBody>
          <a:bodyPr/>
          <a:lstStyle/>
          <a:p>
            <a:pPr eaLnBrk="1" hangingPunct="1"/>
            <a:r>
              <a:rPr lang="en-US" altLang="zh-TW" smtClean="0"/>
              <a:t>Process Termination</a:t>
            </a:r>
          </a:p>
        </p:txBody>
      </p:sp>
      <p:sp>
        <p:nvSpPr>
          <p:cNvPr id="143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0038" y="952500"/>
            <a:ext cx="8477250" cy="5451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Process executes last statement and asks the </a:t>
            </a:r>
            <a:r>
              <a:rPr lang="en-US" altLang="zh-TW" sz="2800" smtClean="0">
                <a:solidFill>
                  <a:srgbClr val="6600FF"/>
                </a:solidFill>
              </a:rPr>
              <a:t>operating system</a:t>
            </a:r>
            <a:r>
              <a:rPr lang="en-US" altLang="zh-TW" sz="2800" smtClean="0"/>
              <a:t> to delete it (</a:t>
            </a:r>
            <a:r>
              <a:rPr lang="en-US" altLang="zh-TW" sz="2800" b="1" smtClean="0">
                <a:solidFill>
                  <a:srgbClr val="FF3300"/>
                </a:solidFill>
              </a:rPr>
              <a:t>exit</a:t>
            </a:r>
            <a:r>
              <a:rPr lang="en-US" altLang="zh-TW" sz="280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Output data from child to parent (via </a:t>
            </a:r>
            <a:r>
              <a:rPr lang="en-US" altLang="zh-TW" sz="2400" b="1" smtClean="0">
                <a:solidFill>
                  <a:srgbClr val="FF3300"/>
                </a:solidFill>
              </a:rPr>
              <a:t>wait</a:t>
            </a:r>
            <a:r>
              <a:rPr lang="en-US" altLang="zh-TW" sz="240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Process</a:t>
            </a:r>
            <a:r>
              <a:rPr lang="en-US" altLang="zh-TW" sz="2400" smtClean="0">
                <a:latin typeface="Helvetica" panose="020B0604020202020204" pitchFamily="34" charset="0"/>
              </a:rPr>
              <a:t>’</a:t>
            </a:r>
            <a:r>
              <a:rPr lang="en-US" altLang="zh-TW" sz="2400" smtClean="0"/>
              <a:t> resources are deallocated by operating system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zh-TW" sz="2800" smtClean="0"/>
              <a:t>Parent may terminate execution of children processes (</a:t>
            </a:r>
            <a:r>
              <a:rPr lang="en-US" altLang="zh-TW" sz="2800" b="1" smtClean="0">
                <a:solidFill>
                  <a:srgbClr val="FF3300"/>
                </a:solidFill>
              </a:rPr>
              <a:t>abort</a:t>
            </a:r>
            <a:r>
              <a:rPr lang="en-US" altLang="zh-TW" sz="280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Child has exceeded allocated resources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Task assigned to child is no longer required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If parent is exiting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mtClean="0"/>
              <a:t>Some operating system does not allow child to continue if its parent terminates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mtClean="0"/>
              <a:t>All children terminated - </a:t>
            </a:r>
            <a:r>
              <a:rPr lang="en-US" altLang="zh-TW" smtClean="0">
                <a:solidFill>
                  <a:srgbClr val="0000FF"/>
                </a:solidFill>
              </a:rPr>
              <a:t>cascading termination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64DE33-B33A-4CC0-B793-1C8036FD7DD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593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593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5C91A6-860A-4592-A387-C8C189C65CCE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TW" sz="140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80988"/>
            <a:ext cx="7772400" cy="752475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Process Termination</a:t>
            </a:r>
          </a:p>
        </p:txBody>
      </p:sp>
      <p:sp>
        <p:nvSpPr>
          <p:cNvPr id="143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0038" y="952500"/>
            <a:ext cx="8477250" cy="5451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sz="2800" dirty="0" smtClean="0">
                <a:ea typeface="Adobe Gothic Std B" pitchFamily="34" charset="-128"/>
              </a:rPr>
              <a:t>The parent process may wait for termination of a child process by using the </a:t>
            </a:r>
            <a:r>
              <a:rPr lang="en-US" altLang="zh-TW" sz="2800" dirty="0" smtClean="0">
                <a:solidFill>
                  <a:srgbClr val="FF0000"/>
                </a:solidFill>
                <a:ea typeface="Adobe Gothic Std B" pitchFamily="34" charset="-128"/>
              </a:rPr>
              <a:t>wait()</a:t>
            </a:r>
            <a:r>
              <a:rPr lang="en-US" altLang="zh-TW" sz="2800" dirty="0" smtClean="0">
                <a:ea typeface="Adobe Gothic Std B" pitchFamily="34" charset="-128"/>
              </a:rPr>
              <a:t>system call. The call returns status information and the </a:t>
            </a:r>
            <a:r>
              <a:rPr lang="en-US" altLang="zh-TW" sz="2800" dirty="0" err="1" smtClean="0">
                <a:ea typeface="Adobe Gothic Std B" pitchFamily="34" charset="-128"/>
              </a:rPr>
              <a:t>pid</a:t>
            </a:r>
            <a:r>
              <a:rPr lang="en-US" altLang="zh-TW" sz="2800" dirty="0" smtClean="0">
                <a:ea typeface="Adobe Gothic Std B" pitchFamily="34" charset="-128"/>
              </a:rPr>
              <a:t> of the terminated process</a:t>
            </a:r>
          </a:p>
          <a:p>
            <a:pPr marL="0" indent="0" algn="ctr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en-US" altLang="zh-TW" sz="2800" dirty="0" smtClean="0">
                <a:ea typeface="Adobe Gothic Std B" pitchFamily="34" charset="-128"/>
              </a:rPr>
              <a:t>      </a:t>
            </a:r>
            <a:r>
              <a:rPr lang="en-US" altLang="zh-TW" sz="2800" dirty="0" err="1" smtClean="0">
                <a:ea typeface="Adobe Gothic Std B" pitchFamily="34" charset="-128"/>
              </a:rPr>
              <a:t>pid</a:t>
            </a:r>
            <a:r>
              <a:rPr lang="en-US" altLang="zh-TW" sz="2800" dirty="0" smtClean="0">
                <a:ea typeface="Adobe Gothic Std B" pitchFamily="34" charset="-128"/>
              </a:rPr>
              <a:t> = wait(&amp;status); 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sz="2800" dirty="0" smtClean="0">
                <a:ea typeface="Adobe Gothic Std B" pitchFamily="34" charset="-128"/>
              </a:rPr>
              <a:t>If no parent waiting (did not invoke wait()) process is a </a:t>
            </a:r>
            <a:r>
              <a:rPr lang="en-US" altLang="zh-TW" sz="2800" dirty="0" smtClean="0">
                <a:solidFill>
                  <a:srgbClr val="FF0000"/>
                </a:solidFill>
                <a:ea typeface="Adobe Gothic Std B" pitchFamily="34" charset="-128"/>
              </a:rPr>
              <a:t>zombie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sz="2800" dirty="0" smtClean="0">
                <a:ea typeface="Adobe Gothic Std B" pitchFamily="34" charset="-128"/>
              </a:rPr>
              <a:t>If parent terminated without invoking wait, process is an </a:t>
            </a:r>
            <a:r>
              <a:rPr lang="en-US" altLang="zh-TW" sz="2800" dirty="0" smtClean="0">
                <a:solidFill>
                  <a:srgbClr val="FF0000"/>
                </a:solidFill>
                <a:ea typeface="Adobe Gothic Std B" pitchFamily="34" charset="-128"/>
              </a:rPr>
              <a:t>orphan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>
          <a:xfrm>
            <a:off x="133350" y="150813"/>
            <a:ext cx="9090025" cy="576262"/>
          </a:xfrm>
        </p:spPr>
        <p:txBody>
          <a:bodyPr/>
          <a:lstStyle/>
          <a:p>
            <a:pPr eaLnBrk="1" hangingPunct="1"/>
            <a:r>
              <a:rPr lang="en-US" altLang="en-US" sz="3200" smtClean="0">
                <a:solidFill>
                  <a:srgbClr val="FF0000"/>
                </a:solidFill>
              </a:rPr>
              <a:t>Multiprocess Architecture – Chrome Browser</a:t>
            </a:r>
          </a:p>
        </p:txBody>
      </p:sp>
      <p:sp>
        <p:nvSpPr>
          <p:cNvPr id="61443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307975" y="739775"/>
            <a:ext cx="8599488" cy="6118225"/>
          </a:xfrm>
        </p:spPr>
        <p:txBody>
          <a:bodyPr/>
          <a:lstStyle/>
          <a:p>
            <a:r>
              <a:rPr lang="en-US" altLang="en-US" sz="2400" smtClean="0"/>
              <a:t>Many web browsers ran as single process (some still do)</a:t>
            </a:r>
          </a:p>
          <a:p>
            <a:pPr lvl="1"/>
            <a:r>
              <a:rPr lang="en-US" altLang="en-US" sz="2400" smtClean="0"/>
              <a:t>If one web site causes trouble, entire browser can hang or crash</a:t>
            </a:r>
          </a:p>
          <a:p>
            <a:r>
              <a:rPr lang="en-US" altLang="en-US" sz="2400" smtClean="0"/>
              <a:t>Google Chrome Browser is multiprocess with 3 different types of processes: </a:t>
            </a:r>
          </a:p>
          <a:p>
            <a:pPr lvl="1"/>
            <a:r>
              <a:rPr lang="en-US" altLang="en-US" sz="2000" b="1" smtClean="0">
                <a:solidFill>
                  <a:srgbClr val="3366FF"/>
                </a:solidFill>
              </a:rPr>
              <a:t>Browser</a:t>
            </a:r>
            <a:r>
              <a:rPr lang="en-US" altLang="en-US" sz="2000" smtClean="0"/>
              <a:t> process manages user interface, disk and network I/O</a:t>
            </a:r>
          </a:p>
          <a:p>
            <a:pPr lvl="1"/>
            <a:r>
              <a:rPr lang="en-US" altLang="en-US" sz="2000" b="1" smtClean="0">
                <a:solidFill>
                  <a:srgbClr val="3366FF"/>
                </a:solidFill>
              </a:rPr>
              <a:t>Renderer</a:t>
            </a:r>
            <a:r>
              <a:rPr lang="en-US" altLang="en-US" sz="2000" smtClean="0"/>
              <a:t> process renders web pages, deals with HTML, Javascript. A </a:t>
            </a:r>
            <a:r>
              <a:rPr lang="en-US" altLang="en-US" sz="2000" smtClean="0">
                <a:solidFill>
                  <a:srgbClr val="FF0000"/>
                </a:solidFill>
              </a:rPr>
              <a:t>new renderer created </a:t>
            </a:r>
            <a:r>
              <a:rPr lang="en-US" altLang="en-US" sz="2000" smtClean="0"/>
              <a:t>for each website opened</a:t>
            </a:r>
          </a:p>
          <a:p>
            <a:pPr lvl="2"/>
            <a:r>
              <a:rPr lang="en-US" altLang="en-US" sz="1800" smtClean="0"/>
              <a:t>Runs in </a:t>
            </a:r>
            <a:r>
              <a:rPr lang="en-US" altLang="en-US" sz="1800" b="1" smtClean="0">
                <a:solidFill>
                  <a:srgbClr val="3366FF"/>
                </a:solidFill>
              </a:rPr>
              <a:t>sandbox</a:t>
            </a:r>
            <a:r>
              <a:rPr lang="en-US" altLang="en-US" sz="1800" smtClean="0"/>
              <a:t> restricting disk and network I/O, minimizing effect of security exploits</a:t>
            </a:r>
          </a:p>
          <a:p>
            <a:pPr lvl="1"/>
            <a:r>
              <a:rPr lang="en-US" altLang="en-US" sz="2000" b="1" smtClean="0">
                <a:solidFill>
                  <a:srgbClr val="3366FF"/>
                </a:solidFill>
              </a:rPr>
              <a:t>Plug-in </a:t>
            </a:r>
            <a:r>
              <a:rPr lang="en-US" altLang="en-US" sz="2000" smtClean="0"/>
              <a:t>process for each type of plug-in</a:t>
            </a:r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</p:txBody>
      </p:sp>
      <p:pic>
        <p:nvPicPr>
          <p:cNvPr id="61444" name="Picture 1" descr="in-3_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8" y="5141913"/>
            <a:ext cx="6292850" cy="114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44B4951-6B8D-4327-8C38-8756ECEF86CE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61446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61447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F30F56-E88A-4236-ACB7-256925C67FC9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133350" y="150813"/>
            <a:ext cx="9090025" cy="576262"/>
          </a:xfrm>
        </p:spPr>
        <p:txBody>
          <a:bodyPr/>
          <a:lstStyle/>
          <a:p>
            <a:pPr eaLnBrk="1" hangingPunct="1"/>
            <a:r>
              <a:rPr lang="en-US" altLang="en-US" sz="3200" smtClean="0">
                <a:solidFill>
                  <a:srgbClr val="FF0000"/>
                </a:solidFill>
              </a:rPr>
              <a:t>Multiprocess Architecture – Chrome Browser</a:t>
            </a:r>
          </a:p>
        </p:txBody>
      </p:sp>
      <p:sp>
        <p:nvSpPr>
          <p:cNvPr id="2969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307975" y="1027113"/>
            <a:ext cx="8599488" cy="454183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US" altLang="en-US" sz="2400" smtClean="0">
                <a:solidFill>
                  <a:srgbClr val="FF0000"/>
                </a:solidFill>
              </a:rPr>
              <a:t>Advantage</a:t>
            </a:r>
            <a:r>
              <a:rPr lang="en-US" altLang="en-US" sz="2400" smtClean="0"/>
              <a:t>: websites run in isolation from one another. If </a:t>
            </a:r>
            <a:r>
              <a:rPr lang="en-US" altLang="en-US" sz="2400" smtClean="0">
                <a:solidFill>
                  <a:srgbClr val="0000FF"/>
                </a:solidFill>
              </a:rPr>
              <a:t>one website crashes, only its renderer process is affected</a:t>
            </a:r>
            <a:r>
              <a:rPr lang="en-US" altLang="en-US" sz="2400" smtClean="0"/>
              <a:t>; all other processes remain unharmed. </a:t>
            </a:r>
          </a:p>
          <a:p>
            <a:pPr>
              <a:spcBef>
                <a:spcPts val="1800"/>
              </a:spcBef>
            </a:pPr>
            <a:r>
              <a:rPr lang="en-US" altLang="en-US" sz="2400" smtClean="0"/>
              <a:t>Furthermore, renderer processes run in a </a:t>
            </a:r>
            <a:r>
              <a:rPr lang="en-US" altLang="en-US" sz="2400" smtClean="0">
                <a:solidFill>
                  <a:srgbClr val="FF0000"/>
                </a:solidFill>
              </a:rPr>
              <a:t>sandbox</a:t>
            </a:r>
            <a:r>
              <a:rPr lang="en-US" altLang="en-US" sz="2400" smtClean="0"/>
              <a:t>, which means that </a:t>
            </a:r>
            <a:r>
              <a:rPr lang="en-US" altLang="en-US" sz="2400" smtClean="0">
                <a:solidFill>
                  <a:srgbClr val="0000FF"/>
                </a:solidFill>
              </a:rPr>
              <a:t>access to disk and network I/O is restricted</a:t>
            </a:r>
            <a:r>
              <a:rPr lang="en-US" altLang="en-US" sz="2400" smtClean="0"/>
              <a:t>, minimizing the effects of any security exploits.</a:t>
            </a:r>
            <a:endParaRPr lang="en-US" altLang="en-US" smtClean="0"/>
          </a:p>
          <a:p>
            <a:pPr lvl="1"/>
            <a:endParaRPr lang="en-US" altLang="en-US" smtClean="0"/>
          </a:p>
          <a:p>
            <a:pPr lvl="1"/>
            <a:endParaRPr lang="en-US" altLang="en-US" smtClean="0"/>
          </a:p>
        </p:txBody>
      </p:sp>
      <p:sp>
        <p:nvSpPr>
          <p:cNvPr id="63492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130F98-036E-406C-A7CD-F4F1643A9E54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63493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6349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1F97FD-F8CF-46B2-B4B0-93DAEDA4830C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kumimoji="0" lang="en-US" altLang="zh-TW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FBE366-2E18-454A-B9E0-C3A8C6D0FC3F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655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655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CD6D95-2A16-46FB-B057-31B5B61F9DD0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kumimoji="0" lang="en-US" altLang="zh-TW" sz="140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595313" y="292100"/>
            <a:ext cx="7772400" cy="850900"/>
          </a:xfrm>
        </p:spPr>
        <p:txBody>
          <a:bodyPr/>
          <a:lstStyle/>
          <a:p>
            <a:pPr eaLnBrk="1" hangingPunct="1"/>
            <a:r>
              <a:rPr lang="en-US" altLang="zh-TW" smtClean="0"/>
              <a:t>Cooperating Processes</a:t>
            </a:r>
          </a:p>
        </p:txBody>
      </p:sp>
      <p:sp>
        <p:nvSpPr>
          <p:cNvPr id="144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9100" y="1154113"/>
            <a:ext cx="8378825" cy="5153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>
                <a:solidFill>
                  <a:srgbClr val="FF3300"/>
                </a:solidFill>
              </a:rPr>
              <a:t>I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ndependent</a:t>
            </a:r>
            <a:r>
              <a:rPr lang="en-US" altLang="zh-TW" sz="2800" dirty="0" smtClean="0"/>
              <a:t> process cannot affect or be affected by the execution of another process</a:t>
            </a:r>
          </a:p>
          <a:p>
            <a:pPr eaLnBrk="1" hangingPunct="1">
              <a:defRPr/>
            </a:pPr>
            <a:r>
              <a:rPr lang="en-US" altLang="zh-TW" sz="2800" b="1" dirty="0" smtClean="0">
                <a:solidFill>
                  <a:srgbClr val="FF3300"/>
                </a:solidFill>
              </a:rPr>
              <a:t>Cooperating process</a:t>
            </a:r>
            <a:r>
              <a:rPr lang="en-US" altLang="zh-TW" sz="2800" dirty="0" smtClean="0"/>
              <a:t> can affect or be affected by the execution of another process</a:t>
            </a:r>
          </a:p>
          <a:p>
            <a:pPr eaLnBrk="1" hangingPunct="1">
              <a:defRPr/>
            </a:pPr>
            <a:r>
              <a:rPr lang="en-US" altLang="zh-TW" sz="2800" dirty="0" smtClean="0"/>
              <a:t>Advantages of process cooperation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Information sharing 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Computation speed-up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Modularity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Convenience, e.g., A user can performs several tasks at one time (editing, printing, compiling))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4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4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4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4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909B5F-79CB-48E3-984C-90C5FE056C4F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675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675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E8C824-1226-4F80-A5FE-0D4878E72A95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kumimoji="0" lang="en-US" altLang="zh-TW" sz="1400"/>
          </a:p>
        </p:txBody>
      </p:sp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117475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32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Interprocess</a:t>
            </a:r>
            <a:r>
              <a:rPr lang="en-US" altLang="zh-TW" sz="32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Communication</a:t>
            </a:r>
            <a:r>
              <a:rPr lang="en-US" altLang="zh-TW" sz="3200" dirty="0" smtClean="0"/>
              <a:t> (</a:t>
            </a:r>
            <a:r>
              <a:rPr lang="en-US" altLang="zh-TW" sz="3200" b="1" dirty="0" smtClean="0">
                <a:solidFill>
                  <a:srgbClr val="FF3300"/>
                </a:solidFill>
              </a:rPr>
              <a:t>IPC</a:t>
            </a:r>
            <a:r>
              <a:rPr lang="en-US" altLang="zh-TW" sz="3200" dirty="0" smtClean="0"/>
              <a:t>)</a:t>
            </a:r>
            <a:r>
              <a:rPr lang="en-US" altLang="zh-TW" sz="3200" dirty="0" smtClean="0">
                <a:solidFill>
                  <a:srgbClr val="FF3300"/>
                </a:solidFill>
              </a:rPr>
              <a:t> </a:t>
            </a:r>
            <a:br>
              <a:rPr lang="en-US" altLang="zh-TW" sz="3200" dirty="0" smtClean="0">
                <a:solidFill>
                  <a:srgbClr val="FF3300"/>
                </a:solidFill>
              </a:rPr>
            </a:br>
            <a:r>
              <a:rPr lang="en-US" altLang="zh-TW" sz="3200" dirty="0" smtClean="0">
                <a:solidFill>
                  <a:srgbClr val="6600FF"/>
                </a:solidFill>
              </a:rPr>
              <a:t>Shared Memory,</a:t>
            </a:r>
            <a:r>
              <a:rPr lang="en-US" altLang="zh-TW" sz="3200" dirty="0" smtClean="0">
                <a:solidFill>
                  <a:srgbClr val="FF3300"/>
                </a:solidFill>
              </a:rPr>
              <a:t> </a:t>
            </a:r>
            <a:r>
              <a:rPr lang="en-US" altLang="zh-TW" sz="2400" dirty="0" smtClean="0">
                <a:solidFill>
                  <a:srgbClr val="0000FF"/>
                </a:solidFill>
              </a:rPr>
              <a:t>Producer-Consumer Problem</a:t>
            </a:r>
          </a:p>
        </p:txBody>
      </p:sp>
      <p:sp>
        <p:nvSpPr>
          <p:cNvPr id="14541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77813" y="1325563"/>
            <a:ext cx="8482012" cy="48799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smtClean="0"/>
              <a:t>Paradigm for cooperating processes, </a:t>
            </a:r>
            <a:r>
              <a:rPr lang="en-US" altLang="zh-TW" b="1" dirty="0" smtClean="0">
                <a:solidFill>
                  <a:srgbClr val="FF3300"/>
                </a:solidFill>
              </a:rPr>
              <a:t>producer</a:t>
            </a:r>
            <a:r>
              <a:rPr lang="en-US" altLang="zh-TW" dirty="0" smtClean="0"/>
              <a:t> process produces information that is consumed by a </a:t>
            </a:r>
            <a:r>
              <a:rPr lang="en-US" altLang="zh-TW" b="1" dirty="0" smtClean="0">
                <a:solidFill>
                  <a:srgbClr val="FF3300"/>
                </a:solidFill>
              </a:rPr>
              <a:t>consumer</a:t>
            </a:r>
            <a:r>
              <a:rPr lang="en-US" altLang="zh-TW" dirty="0" smtClean="0"/>
              <a:t> process.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unbounded-buffer</a:t>
            </a:r>
            <a:r>
              <a:rPr lang="en-US" altLang="zh-TW" dirty="0" smtClean="0"/>
              <a:t> places no practical limit on the size of the buffer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producer: no wait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consumer: wait when buffer is empty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bounded-buffer</a:t>
            </a:r>
            <a:r>
              <a:rPr lang="en-US" altLang="zh-TW" dirty="0" smtClean="0"/>
              <a:t> assumes that there is a fixed buffer size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producer: wait when buffer is full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dirty="0" smtClean="0"/>
              <a:t>consumer: wait when buffer is empty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C4B915-20DA-4003-977E-1244D47461D3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696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696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D338FD-FA25-4077-836F-7E6972D077C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kumimoji="0" lang="en-US" altLang="zh-TW" sz="140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279400"/>
            <a:ext cx="8577263" cy="1122363"/>
          </a:xfrm>
        </p:spPr>
        <p:txBody>
          <a:bodyPr/>
          <a:lstStyle/>
          <a:p>
            <a:pPr algn="ctr" eaLnBrk="1" hangingPunct="1"/>
            <a:r>
              <a:rPr lang="en-US" altLang="zh-TW" sz="3600" smtClean="0"/>
              <a:t>Bounded-Buffer </a:t>
            </a:r>
            <a:r>
              <a:rPr lang="en-US" altLang="zh-TW" sz="3600" smtClean="0">
                <a:latin typeface="Helvetica" panose="020B0604020202020204" pitchFamily="34" charset="0"/>
              </a:rPr>
              <a:t>–</a:t>
            </a:r>
            <a:r>
              <a:rPr lang="en-US" altLang="zh-TW" sz="3600" smtClean="0"/>
              <a:t> Shared-Memory Solution</a:t>
            </a:r>
          </a:p>
        </p:txBody>
      </p:sp>
      <p:sp>
        <p:nvSpPr>
          <p:cNvPr id="1464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0075" y="1412875"/>
            <a:ext cx="7869238" cy="48053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Buffer as a circular array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 </a:t>
            </a:r>
            <a:r>
              <a:rPr lang="en-US" altLang="zh-TW" sz="2400" smtClean="0">
                <a:solidFill>
                  <a:srgbClr val="0000FF"/>
                </a:solidFill>
              </a:rPr>
              <a:t>var</a:t>
            </a:r>
            <a:r>
              <a:rPr lang="en-US" altLang="zh-TW" sz="2400" smtClean="0"/>
              <a:t> 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buffer</a:t>
            </a:r>
            <a:r>
              <a:rPr lang="en-US" altLang="zh-TW" sz="2400" smtClean="0"/>
              <a:t>: array[0..</a:t>
            </a:r>
            <a:r>
              <a:rPr lang="en-US" altLang="zh-TW" sz="2400" i="1" smtClean="0">
                <a:latin typeface="Times New Roman" panose="02020603050405020304" pitchFamily="18" charset="0"/>
              </a:rPr>
              <a:t>B-</a:t>
            </a:r>
            <a:r>
              <a:rPr lang="en-US" altLang="zh-TW" sz="2400" smtClean="0">
                <a:latin typeface="Times New Roman" panose="02020603050405020304" pitchFamily="18" charset="0"/>
              </a:rPr>
              <a:t>1</a:t>
            </a:r>
            <a:r>
              <a:rPr lang="en-US" altLang="zh-TW" sz="2400" smtClean="0"/>
              <a:t>] of item;</a:t>
            </a:r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 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400" smtClean="0">
                <a:solidFill>
                  <a:srgbClr val="FF33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out</a:t>
            </a:r>
            <a:r>
              <a:rPr lang="en-US" altLang="zh-TW" sz="2400" smtClean="0"/>
              <a:t>: 0.. </a:t>
            </a:r>
            <a:r>
              <a:rPr lang="en-US" altLang="zh-TW" sz="2400" i="1" smtClean="0">
                <a:latin typeface="Times New Roman" panose="02020603050405020304" pitchFamily="18" charset="0"/>
              </a:rPr>
              <a:t>B</a:t>
            </a:r>
            <a:r>
              <a:rPr lang="en-US" altLang="zh-TW" sz="2400" smtClean="0"/>
              <a:t>-1; (initialized to </a:t>
            </a:r>
            <a:r>
              <a:rPr lang="en-US" altLang="zh-TW" sz="2400" smtClean="0">
                <a:solidFill>
                  <a:srgbClr val="FF3300"/>
                </a:solidFill>
              </a:rPr>
              <a:t>0</a:t>
            </a:r>
            <a:r>
              <a:rPr lang="en-US" altLang="zh-TW" sz="2400" smtClean="0"/>
              <a:t>)</a:t>
            </a:r>
          </a:p>
          <a:p>
            <a:pPr lvl="4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TW" sz="2400" smtClean="0"/>
          </a:p>
          <a:p>
            <a:pPr lvl="3" eaLnBrk="1" hangingPunct="1">
              <a:lnSpc>
                <a:spcPct val="90000"/>
              </a:lnSpc>
              <a:buFontTx/>
              <a:buChar char="•"/>
            </a:pPr>
            <a:r>
              <a:rPr lang="en-US" altLang="zh-TW" sz="2400" smtClean="0"/>
              <a:t> next free: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  <a:endParaRPr lang="en-US" altLang="zh-TW" sz="2400" smtClean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lvl="3" eaLnBrk="1" hangingPunct="1">
              <a:lnSpc>
                <a:spcPct val="90000"/>
              </a:lnSpc>
              <a:buFontTx/>
              <a:buChar char="•"/>
            </a:pPr>
            <a:r>
              <a:rPr lang="en-US" altLang="zh-TW" sz="2400" smtClean="0"/>
              <a:t> first available: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out</a:t>
            </a:r>
            <a:endParaRPr lang="en-US" altLang="zh-TW" sz="2400" smtClean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lvl="3" eaLnBrk="1" hangingPunct="1">
              <a:lnSpc>
                <a:spcPct val="90000"/>
              </a:lnSpc>
              <a:buFontTx/>
              <a:buChar char="•"/>
            </a:pPr>
            <a:r>
              <a:rPr lang="en-US" altLang="zh-TW" sz="2400" smtClean="0"/>
              <a:t> empty: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 = out</a:t>
            </a:r>
          </a:p>
          <a:p>
            <a:pPr lvl="3" eaLnBrk="1" hangingPunct="1">
              <a:lnSpc>
                <a:spcPct val="90000"/>
              </a:lnSpc>
              <a:buFontTx/>
              <a:buChar char="•"/>
            </a:pPr>
            <a:r>
              <a:rPr lang="en-US" altLang="zh-TW" sz="2400" smtClean="0"/>
              <a:t> full: (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in+</a:t>
            </a:r>
            <a:r>
              <a:rPr lang="en-US" altLang="zh-TW" sz="2400" smtClean="0">
                <a:solidFill>
                  <a:srgbClr val="FF3300"/>
                </a:solidFill>
                <a:latin typeface="Times New Roman" panose="02020603050405020304" pitchFamily="18" charset="0"/>
              </a:rPr>
              <a:t>1)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 % B = out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Solution is correct, but can only use BUFFER_SIZE-1 elements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TW" altLang="en-US" sz="1800" b="1" smtClean="0"/>
          </a:p>
        </p:txBody>
      </p:sp>
      <p:sp>
        <p:nvSpPr>
          <p:cNvPr id="69639" name="Rectangle 18"/>
          <p:cNvSpPr>
            <a:spLocks noChangeArrowheads="1"/>
          </p:cNvSpPr>
          <p:nvPr/>
        </p:nvSpPr>
        <p:spPr bwMode="auto">
          <a:xfrm>
            <a:off x="6594475" y="3611563"/>
            <a:ext cx="827088" cy="790575"/>
          </a:xfrm>
          <a:prstGeom prst="rect">
            <a:avLst/>
          </a:prstGeom>
          <a:solidFill>
            <a:srgbClr val="DADADA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9640" name="Rectangle 19"/>
          <p:cNvSpPr>
            <a:spLocks noChangeArrowheads="1"/>
          </p:cNvSpPr>
          <p:nvPr/>
        </p:nvSpPr>
        <p:spPr bwMode="auto">
          <a:xfrm>
            <a:off x="6608763" y="3421063"/>
            <a:ext cx="825500" cy="1743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224422"/>
                    </a:gs>
                    <a:gs pos="50000">
                      <a:srgbClr val="336633"/>
                    </a:gs>
                    <a:gs pos="100000">
                      <a:srgbClr val="224422"/>
                    </a:gs>
                  </a:gsLst>
                  <a:lin ang="27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2400"/>
          </a:p>
        </p:txBody>
      </p:sp>
      <p:sp>
        <p:nvSpPr>
          <p:cNvPr id="69641" name="Line 20"/>
          <p:cNvSpPr>
            <a:spLocks noChangeShapeType="1"/>
          </p:cNvSpPr>
          <p:nvPr/>
        </p:nvSpPr>
        <p:spPr bwMode="auto">
          <a:xfrm>
            <a:off x="6621463" y="3611563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2" name="Line 21"/>
          <p:cNvSpPr>
            <a:spLocks noChangeShapeType="1"/>
          </p:cNvSpPr>
          <p:nvPr/>
        </p:nvSpPr>
        <p:spPr bwMode="auto">
          <a:xfrm>
            <a:off x="6621463" y="3814763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3" name="Line 22"/>
          <p:cNvSpPr>
            <a:spLocks noChangeShapeType="1"/>
          </p:cNvSpPr>
          <p:nvPr/>
        </p:nvSpPr>
        <p:spPr bwMode="auto">
          <a:xfrm>
            <a:off x="6621463" y="4017963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4" name="Line 23"/>
          <p:cNvSpPr>
            <a:spLocks noChangeShapeType="1"/>
          </p:cNvSpPr>
          <p:nvPr/>
        </p:nvSpPr>
        <p:spPr bwMode="auto">
          <a:xfrm>
            <a:off x="6621463" y="4221163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5" name="Line 24"/>
          <p:cNvSpPr>
            <a:spLocks noChangeShapeType="1"/>
          </p:cNvSpPr>
          <p:nvPr/>
        </p:nvSpPr>
        <p:spPr bwMode="auto">
          <a:xfrm>
            <a:off x="6621463" y="4424363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6" name="Line 25"/>
          <p:cNvSpPr>
            <a:spLocks noChangeShapeType="1"/>
          </p:cNvSpPr>
          <p:nvPr/>
        </p:nvSpPr>
        <p:spPr bwMode="auto">
          <a:xfrm>
            <a:off x="6657975" y="4627563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7" name="Line 26"/>
          <p:cNvSpPr>
            <a:spLocks noChangeShapeType="1"/>
          </p:cNvSpPr>
          <p:nvPr/>
        </p:nvSpPr>
        <p:spPr bwMode="auto">
          <a:xfrm>
            <a:off x="6105525" y="4552950"/>
            <a:ext cx="4191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8" name="Line 27"/>
          <p:cNvSpPr>
            <a:spLocks noChangeShapeType="1"/>
          </p:cNvSpPr>
          <p:nvPr/>
        </p:nvSpPr>
        <p:spPr bwMode="auto">
          <a:xfrm flipH="1">
            <a:off x="7434263" y="3738563"/>
            <a:ext cx="5207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49" name="Text Box 28"/>
          <p:cNvSpPr txBox="1">
            <a:spLocks noChangeArrowheads="1"/>
          </p:cNvSpPr>
          <p:nvPr/>
        </p:nvSpPr>
        <p:spPr bwMode="auto">
          <a:xfrm>
            <a:off x="5610225" y="4333875"/>
            <a:ext cx="395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i="1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</a:p>
        </p:txBody>
      </p:sp>
      <p:sp>
        <p:nvSpPr>
          <p:cNvPr id="69650" name="Text Box 29"/>
          <p:cNvSpPr txBox="1">
            <a:spLocks noChangeArrowheads="1"/>
          </p:cNvSpPr>
          <p:nvPr/>
        </p:nvSpPr>
        <p:spPr bwMode="auto">
          <a:xfrm>
            <a:off x="8104188" y="3500438"/>
            <a:ext cx="508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solidFill>
                  <a:srgbClr val="FF3300"/>
                </a:solidFill>
                <a:latin typeface="Times New Roman" panose="02020603050405020304" pitchFamily="18" charset="0"/>
              </a:rPr>
              <a:t>out</a:t>
            </a:r>
          </a:p>
        </p:txBody>
      </p:sp>
      <p:sp>
        <p:nvSpPr>
          <p:cNvPr id="69651" name="Line 30"/>
          <p:cNvSpPr>
            <a:spLocks noChangeShapeType="1"/>
          </p:cNvSpPr>
          <p:nvPr/>
        </p:nvSpPr>
        <p:spPr bwMode="auto">
          <a:xfrm>
            <a:off x="6629400" y="4797425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652" name="Line 31"/>
          <p:cNvSpPr>
            <a:spLocks noChangeShapeType="1"/>
          </p:cNvSpPr>
          <p:nvPr/>
        </p:nvSpPr>
        <p:spPr bwMode="auto">
          <a:xfrm>
            <a:off x="6638925" y="4986338"/>
            <a:ext cx="78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6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11930E-2021-4B59-B871-526DD975317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716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716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1A83F8-D45C-4326-9830-976822834943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kumimoji="0" lang="en-US" altLang="zh-TW" sz="1400"/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4000" smtClean="0"/>
              <a:t>Bounded-Buffer </a:t>
            </a:r>
            <a:r>
              <a:rPr lang="en-US" altLang="zh-TW" sz="4000" smtClean="0">
                <a:latin typeface="Helvetica" panose="020B0604020202020204" pitchFamily="34" charset="0"/>
              </a:rPr>
              <a:t>–</a:t>
            </a:r>
            <a:r>
              <a:rPr lang="en-US" altLang="zh-TW" sz="4000" smtClean="0"/>
              <a:t> Producer Process </a:t>
            </a:r>
          </a:p>
        </p:txBody>
      </p:sp>
      <p:sp>
        <p:nvSpPr>
          <p:cNvPr id="1474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85813" y="1597025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TW" altLang="en-US" sz="28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TW" altLang="en-US" sz="2800" smtClean="0"/>
              <a:t>	</a:t>
            </a:r>
            <a:r>
              <a:rPr lang="en-US" altLang="zh-TW" sz="2800" smtClean="0"/>
              <a:t>item nextProduced;</a:t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while (1)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while (((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800" smtClean="0"/>
              <a:t> + 1) % BUFFER_SIZE) == 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out</a:t>
            </a:r>
            <a:r>
              <a:rPr lang="en-US" altLang="zh-TW" sz="2800" smtClean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	; /* do nothing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buffer[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800" smtClean="0"/>
              <a:t>] = nextProduced;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 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800" smtClean="0"/>
              <a:t> = (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800" smtClean="0"/>
              <a:t> + 1) % BUFFER_SIZE;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smtClean="0"/>
          </a:p>
          <a:p>
            <a:pPr lvl="4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TW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FAEBD7-194F-4419-AA3C-C0496754E744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737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737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BC38F8-4F6A-4F32-AA46-458D9AFBA6D2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kumimoji="0" lang="en-US" altLang="zh-TW" sz="1400"/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TW" sz="4000" smtClean="0"/>
              <a:t>Bounded-Buffer </a:t>
            </a:r>
            <a:r>
              <a:rPr lang="en-US" altLang="zh-TW" sz="4000" smtClean="0">
                <a:latin typeface="Helvetica" panose="020B0604020202020204" pitchFamily="34" charset="0"/>
              </a:rPr>
              <a:t>–</a:t>
            </a:r>
            <a:r>
              <a:rPr lang="en-US" altLang="zh-TW" sz="4000" smtClean="0"/>
              <a:t> Consumer Process</a:t>
            </a:r>
          </a:p>
        </p:txBody>
      </p:sp>
      <p:sp>
        <p:nvSpPr>
          <p:cNvPr id="1484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55650" y="1673225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TW" altLang="en-US" sz="28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TW" altLang="en-US" sz="2800" smtClean="0"/>
              <a:t>	</a:t>
            </a:r>
            <a:r>
              <a:rPr lang="en-US" altLang="zh-TW" sz="2800" smtClean="0"/>
              <a:t>item nextConsumed;</a:t>
            </a:r>
            <a:br>
              <a:rPr lang="en-US" altLang="zh-TW" sz="2800" smtClean="0"/>
            </a:br>
            <a:endParaRPr lang="en-US" altLang="zh-TW" sz="28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while (1)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while (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in</a:t>
            </a:r>
            <a:r>
              <a:rPr lang="en-US" altLang="zh-TW" sz="2800" smtClean="0"/>
              <a:t> == 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out</a:t>
            </a:r>
            <a:r>
              <a:rPr lang="en-US" altLang="zh-TW" sz="2800" smtClean="0"/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	; /* do nothing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nextConsumed = buffer[out];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	 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out</a:t>
            </a:r>
            <a:r>
              <a:rPr lang="en-US" altLang="zh-TW" sz="2800" smtClean="0"/>
              <a:t> = (</a:t>
            </a:r>
            <a:r>
              <a:rPr lang="en-US" altLang="zh-TW" sz="28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out</a:t>
            </a:r>
            <a:r>
              <a:rPr lang="en-US" altLang="zh-TW" sz="2800" smtClean="0"/>
              <a:t> + 1) % BUFFER_SIZE;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smtClean="0"/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smtClean="0"/>
          </a:p>
          <a:p>
            <a:pPr lvl="4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TW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BA052F-E22F-4703-9979-180C0D4502DB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757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757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1D1CBA-5E6B-47EC-9EAE-298BF51E9BDC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kumimoji="0" lang="en-US" altLang="zh-TW" sz="1400"/>
          </a:p>
        </p:txBody>
      </p:sp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09550"/>
            <a:ext cx="8077200" cy="985838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TW" sz="32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Interprocess</a:t>
            </a:r>
            <a:r>
              <a:rPr lang="en-US" altLang="zh-TW" sz="32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Communication</a:t>
            </a:r>
            <a:r>
              <a:rPr lang="en-US" altLang="zh-TW" sz="3200" dirty="0" smtClean="0"/>
              <a:t> (</a:t>
            </a:r>
            <a:r>
              <a:rPr lang="en-US" altLang="zh-TW" sz="3200" b="1" dirty="0" smtClean="0">
                <a:solidFill>
                  <a:srgbClr val="FF3300"/>
                </a:solidFill>
              </a:rPr>
              <a:t>IPC</a:t>
            </a:r>
            <a:r>
              <a:rPr lang="en-US" altLang="zh-TW" sz="3200" dirty="0" smtClean="0"/>
              <a:t>)</a:t>
            </a:r>
            <a:br>
              <a:rPr lang="en-US" altLang="zh-TW" sz="3200" dirty="0" smtClean="0"/>
            </a:br>
            <a:r>
              <a:rPr lang="en-US" altLang="zh-TW" sz="3200" dirty="0" smtClean="0">
                <a:solidFill>
                  <a:srgbClr val="6600FF"/>
                </a:solidFill>
              </a:rPr>
              <a:t>Message Passing (1)</a:t>
            </a:r>
          </a:p>
        </p:txBody>
      </p:sp>
      <p:sp>
        <p:nvSpPr>
          <p:cNvPr id="1495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44500" y="1284288"/>
            <a:ext cx="8399463" cy="490855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700" smtClean="0"/>
              <a:t>Mechanism for processes to </a:t>
            </a:r>
            <a:r>
              <a:rPr lang="en-US" altLang="zh-TW" sz="2700" smtClean="0">
                <a:solidFill>
                  <a:srgbClr val="FF3300"/>
                </a:solidFill>
              </a:rPr>
              <a:t>communicate</a:t>
            </a:r>
            <a:r>
              <a:rPr lang="en-US" altLang="zh-TW" sz="2700" smtClean="0"/>
              <a:t> and to </a:t>
            </a:r>
            <a:r>
              <a:rPr lang="en-US" altLang="zh-TW" sz="2700" smtClean="0">
                <a:solidFill>
                  <a:srgbClr val="FF3300"/>
                </a:solidFill>
              </a:rPr>
              <a:t>synchronize</a:t>
            </a:r>
            <a:r>
              <a:rPr lang="en-US" altLang="zh-TW" sz="2700" smtClean="0"/>
              <a:t> their actions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700" smtClean="0"/>
              <a:t>Message system </a:t>
            </a:r>
            <a:r>
              <a:rPr lang="en-US" altLang="zh-TW" sz="2700" smtClean="0">
                <a:latin typeface="Helvetica" panose="020B0604020202020204" pitchFamily="34" charset="0"/>
              </a:rPr>
              <a:t>–</a:t>
            </a:r>
            <a:r>
              <a:rPr lang="en-US" altLang="zh-TW" sz="2700" smtClean="0"/>
              <a:t> processes communicate with each other without resorting to shared variables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700" smtClean="0"/>
              <a:t>IPC facility provides two operations: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700" b="1" smtClean="0">
                <a:solidFill>
                  <a:srgbClr val="FF3300"/>
                </a:solidFill>
              </a:rPr>
              <a:t>send</a:t>
            </a:r>
            <a:r>
              <a:rPr lang="en-US" altLang="zh-TW" sz="2700" smtClean="0"/>
              <a:t>(</a:t>
            </a:r>
            <a:r>
              <a:rPr lang="en-US" altLang="zh-TW" sz="2700" i="1" smtClean="0"/>
              <a:t>message</a:t>
            </a:r>
            <a:r>
              <a:rPr lang="en-US" altLang="zh-TW" sz="2700" smtClean="0"/>
              <a:t>) </a:t>
            </a:r>
            <a:r>
              <a:rPr lang="en-US" altLang="zh-TW" sz="2700" smtClean="0">
                <a:latin typeface="Helvetica" panose="020B0604020202020204" pitchFamily="34" charset="0"/>
              </a:rPr>
              <a:t>–</a:t>
            </a:r>
            <a:r>
              <a:rPr lang="en-US" altLang="zh-TW" sz="2700" smtClean="0"/>
              <a:t> message size fixed or variable 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700" b="1" smtClean="0">
                <a:solidFill>
                  <a:srgbClr val="FF3300"/>
                </a:solidFill>
              </a:rPr>
              <a:t>receive</a:t>
            </a:r>
            <a:r>
              <a:rPr lang="en-US" altLang="zh-TW" sz="2700" smtClean="0"/>
              <a:t>(</a:t>
            </a:r>
            <a:r>
              <a:rPr lang="en-US" altLang="zh-TW" sz="2700" i="1" smtClean="0"/>
              <a:t>message</a:t>
            </a:r>
            <a:r>
              <a:rPr lang="en-US" altLang="zh-TW" sz="2700" smtClean="0"/>
              <a:t>)</a:t>
            </a:r>
          </a:p>
        </p:txBody>
      </p:sp>
      <p:sp>
        <p:nvSpPr>
          <p:cNvPr id="2" name="矩形 1"/>
          <p:cNvSpPr/>
          <p:nvPr/>
        </p:nvSpPr>
        <p:spPr>
          <a:xfrm>
            <a:off x="1915984" y="5636568"/>
            <a:ext cx="6126998" cy="46166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Web services: RESTful, SOAP, XML-RPC, … </a:t>
            </a:r>
            <a:endParaRPr lang="zh-TW" altLang="en-US" dirty="0">
              <a:solidFill>
                <a:srgbClr val="0000FF"/>
              </a:solidFill>
              <a:latin typeface="Adobe Gothic Std B" panose="020B0800000000000000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BDA018-8469-49C9-BEAC-EBB97B79B8CC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778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778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C43C5A-D719-4949-B7C1-C00AA3EA3BC1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kumimoji="0" lang="en-US" altLang="zh-TW" sz="1400"/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09550"/>
            <a:ext cx="8077200" cy="985838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TW" sz="32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Interprocess</a:t>
            </a:r>
            <a:r>
              <a:rPr lang="en-US" altLang="zh-TW" sz="32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Communication</a:t>
            </a:r>
            <a:r>
              <a:rPr lang="en-US" altLang="zh-TW" sz="3200" dirty="0" smtClean="0"/>
              <a:t> (</a:t>
            </a:r>
            <a:r>
              <a:rPr lang="en-US" altLang="zh-TW" sz="3200" b="1" dirty="0" smtClean="0">
                <a:solidFill>
                  <a:srgbClr val="FF3300"/>
                </a:solidFill>
              </a:rPr>
              <a:t>IPC</a:t>
            </a:r>
            <a:r>
              <a:rPr lang="en-US" altLang="zh-TW" sz="3200" dirty="0" smtClean="0"/>
              <a:t>)</a:t>
            </a:r>
            <a:br>
              <a:rPr lang="en-US" altLang="zh-TW" sz="3200" dirty="0" smtClean="0"/>
            </a:br>
            <a:r>
              <a:rPr lang="en-US" altLang="zh-TW" sz="3200" dirty="0" smtClean="0">
                <a:solidFill>
                  <a:srgbClr val="6600FF"/>
                </a:solidFill>
              </a:rPr>
              <a:t>Message Passing (2)</a:t>
            </a:r>
          </a:p>
        </p:txBody>
      </p:sp>
      <p:sp>
        <p:nvSpPr>
          <p:cNvPr id="304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61950" y="1366838"/>
            <a:ext cx="8399463" cy="481012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TW" sz="2700" smtClean="0"/>
              <a:t>If </a:t>
            </a:r>
            <a:r>
              <a:rPr lang="en-US" altLang="zh-TW" sz="2700" i="1" smtClean="0"/>
              <a:t>P</a:t>
            </a:r>
            <a:r>
              <a:rPr lang="en-US" altLang="zh-TW" sz="2700" smtClean="0"/>
              <a:t> and </a:t>
            </a:r>
            <a:r>
              <a:rPr lang="en-US" altLang="zh-TW" sz="2700" i="1" smtClean="0"/>
              <a:t>Q</a:t>
            </a:r>
            <a:r>
              <a:rPr lang="en-US" altLang="zh-TW" sz="2700" smtClean="0"/>
              <a:t> wish to communicate, they need to: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700" smtClean="0"/>
              <a:t>establish a </a:t>
            </a:r>
            <a:r>
              <a:rPr lang="en-US" altLang="zh-TW" sz="2700" b="1" smtClean="0">
                <a:solidFill>
                  <a:srgbClr val="000000"/>
                </a:solidFill>
              </a:rPr>
              <a:t>communication link</a:t>
            </a:r>
            <a:r>
              <a:rPr lang="en-US" altLang="zh-TW" sz="2700" smtClean="0"/>
              <a:t> between them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700" smtClean="0"/>
              <a:t>exchange messages via send/receive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TW" sz="2700" smtClean="0"/>
              <a:t>Implementation of communication link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700" smtClean="0"/>
              <a:t>physical (e.g., shared memory, hardware bus)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700" smtClean="0"/>
              <a:t>logical (e.g., logical properties)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CDE979-6A4E-45FD-B3A5-054D9BF5E07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798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798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61213A-AA46-41FA-951B-C72DEA5AFDB8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kumimoji="0" lang="en-US" altLang="zh-TW" sz="1400"/>
          </a:p>
        </p:txBody>
      </p:sp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277813"/>
            <a:ext cx="7772400" cy="765175"/>
          </a:xfrm>
        </p:spPr>
        <p:txBody>
          <a:bodyPr/>
          <a:lstStyle/>
          <a:p>
            <a:pPr eaLnBrk="1" hangingPunct="1"/>
            <a:r>
              <a:rPr lang="en-US" altLang="zh-TW" smtClean="0"/>
              <a:t>Implementation Questions</a:t>
            </a:r>
          </a:p>
        </p:txBody>
      </p:sp>
      <p:sp>
        <p:nvSpPr>
          <p:cNvPr id="1505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7810500" cy="44164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How are links established?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Can a link be associated with more than two processes?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How many links can there be between every pair of communicating processes?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What is the capacity of a link?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Is the size of a message that the link can accommodate fixed or variable?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/>
              <a:t>Is a link unidirectional or bi-directional?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0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691314-B390-41A7-850A-D42797594425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819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819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8A12B6-0DA9-4B50-B91C-04691946C51F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kumimoji="0" lang="en-US" altLang="zh-TW" sz="1400"/>
          </a:p>
        </p:txBody>
      </p:sp>
      <p:sp>
        <p:nvSpPr>
          <p:cNvPr id="15769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17500" y="630238"/>
            <a:ext cx="8545513" cy="49926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TW" smtClean="0"/>
              <a:t>Several methods for logically implementing a </a:t>
            </a:r>
            <a:r>
              <a:rPr lang="en-US" altLang="zh-TW" b="1" smtClean="0">
                <a:solidFill>
                  <a:schemeClr val="tx2"/>
                </a:solidFill>
              </a:rPr>
              <a:t>link</a:t>
            </a:r>
            <a:r>
              <a:rPr lang="en-US" altLang="zh-TW" smtClean="0"/>
              <a:t> and the send/receive operations: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mtClean="0"/>
          </a:p>
          <a:p>
            <a:pPr lvl="1" eaLnBrk="1" hangingPunct="1"/>
            <a:r>
              <a:rPr lang="en-US" altLang="zh-TW" smtClean="0"/>
              <a:t>Direct or indirect communication</a:t>
            </a:r>
          </a:p>
          <a:p>
            <a:pPr lvl="1" eaLnBrk="1" hangingPunct="1"/>
            <a:r>
              <a:rPr lang="en-US" altLang="zh-TW" smtClean="0"/>
              <a:t>Symmetric or asymmetric communication</a:t>
            </a:r>
          </a:p>
          <a:p>
            <a:pPr lvl="1" eaLnBrk="1" hangingPunct="1"/>
            <a:r>
              <a:rPr lang="en-US" altLang="zh-TW" smtClean="0"/>
              <a:t>Automatic or explicit buffering</a:t>
            </a:r>
          </a:p>
          <a:p>
            <a:pPr lvl="1" eaLnBrk="1" hangingPunct="1"/>
            <a:r>
              <a:rPr lang="en-US" altLang="zh-TW" smtClean="0"/>
              <a:t>Send by copy or send by reference</a:t>
            </a:r>
          </a:p>
          <a:p>
            <a:pPr lvl="1" eaLnBrk="1" hangingPunct="1"/>
            <a:r>
              <a:rPr lang="en-US" altLang="zh-TW" smtClean="0"/>
              <a:t>Fixed-sized or variable-sized messages</a:t>
            </a:r>
          </a:p>
        </p:txBody>
      </p:sp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7458075" y="1565275"/>
            <a:ext cx="1604963" cy="531813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FF3300"/>
                </a:solidFill>
                <a:latin typeface="Times New Roman" panose="02020603050405020304" pitchFamily="18" charset="0"/>
              </a:rPr>
              <a:t>Naming</a:t>
            </a: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7512050" y="3811588"/>
            <a:ext cx="1658938" cy="531812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>
                <a:solidFill>
                  <a:srgbClr val="0000FF"/>
                </a:solidFill>
                <a:latin typeface="Times New Roman" panose="02020603050405020304" pitchFamily="18" charset="0"/>
              </a:rPr>
              <a:t>Buffering</a:t>
            </a:r>
          </a:p>
        </p:txBody>
      </p:sp>
      <p:sp>
        <p:nvSpPr>
          <p:cNvPr id="157701" name="Line 5"/>
          <p:cNvSpPr>
            <a:spLocks noChangeShapeType="1"/>
          </p:cNvSpPr>
          <p:nvPr/>
        </p:nvSpPr>
        <p:spPr bwMode="auto">
          <a:xfrm flipH="1">
            <a:off x="7031038" y="2097088"/>
            <a:ext cx="481012" cy="846137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7702" name="Line 6"/>
          <p:cNvSpPr>
            <a:spLocks noChangeShapeType="1"/>
          </p:cNvSpPr>
          <p:nvPr/>
        </p:nvSpPr>
        <p:spPr bwMode="auto">
          <a:xfrm flipH="1">
            <a:off x="6129338" y="1797050"/>
            <a:ext cx="1328737" cy="601663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7703" name="Line 7"/>
          <p:cNvSpPr>
            <a:spLocks noChangeShapeType="1"/>
          </p:cNvSpPr>
          <p:nvPr/>
        </p:nvSpPr>
        <p:spPr bwMode="auto">
          <a:xfrm flipH="1" flipV="1">
            <a:off x="5894388" y="3544888"/>
            <a:ext cx="1617662" cy="32226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7704" name="Line 8"/>
          <p:cNvSpPr>
            <a:spLocks noChangeShapeType="1"/>
          </p:cNvSpPr>
          <p:nvPr/>
        </p:nvSpPr>
        <p:spPr bwMode="auto">
          <a:xfrm flipH="1" flipV="1">
            <a:off x="6659563" y="4068763"/>
            <a:ext cx="852487" cy="79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7705" name="Line 9"/>
          <p:cNvSpPr>
            <a:spLocks noChangeShapeType="1"/>
          </p:cNvSpPr>
          <p:nvPr/>
        </p:nvSpPr>
        <p:spPr bwMode="auto">
          <a:xfrm flipH="1">
            <a:off x="6904038" y="4159250"/>
            <a:ext cx="608012" cy="3302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7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7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7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7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animBg="1"/>
      <p:bldP spid="157699" grpId="1" animBg="1"/>
      <p:bldP spid="157700" grpId="0" animBg="1"/>
      <p:bldP spid="157700" grpId="1" animBg="1"/>
      <p:bldP spid="157701" grpId="0" animBg="1"/>
      <p:bldP spid="157702" grpId="0" animBg="1"/>
      <p:bldP spid="157703" grpId="0" animBg="1"/>
      <p:bldP spid="157704" grpId="0" animBg="1"/>
      <p:bldP spid="15770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F8805A-9FDA-4FA1-BC28-7F385E33E432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839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839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B5ED48-124D-4872-8498-09CDDFB26FCE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kumimoji="0" lang="en-US" altLang="zh-TW" sz="1400"/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96863"/>
            <a:ext cx="7772400" cy="846137"/>
          </a:xfrm>
        </p:spPr>
        <p:txBody>
          <a:bodyPr/>
          <a:lstStyle/>
          <a:p>
            <a:pPr eaLnBrk="1" hangingPunct="1"/>
            <a:r>
              <a:rPr lang="en-US" altLang="zh-TW" smtClean="0"/>
              <a:t>Direct Communication</a:t>
            </a:r>
          </a:p>
        </p:txBody>
      </p:sp>
      <p:sp>
        <p:nvSpPr>
          <p:cNvPr id="1515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50875" y="1127125"/>
            <a:ext cx="8013700" cy="474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600" smtClean="0"/>
              <a:t>Processes must </a:t>
            </a:r>
            <a:r>
              <a:rPr lang="en-US" altLang="zh-TW" sz="2600" b="1" smtClean="0">
                <a:solidFill>
                  <a:srgbClr val="FF3300"/>
                </a:solidFill>
              </a:rPr>
              <a:t>name</a:t>
            </a:r>
            <a:r>
              <a:rPr lang="en-US" altLang="zh-TW" sz="2600" smtClean="0"/>
              <a:t> each other explicitly: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b="1" smtClean="0"/>
              <a:t>send</a:t>
            </a:r>
            <a:r>
              <a:rPr lang="en-US" altLang="zh-TW" sz="2600" smtClean="0"/>
              <a:t> (</a:t>
            </a:r>
            <a:r>
              <a:rPr lang="en-US" altLang="zh-TW" sz="2600" b="1" i="1" smtClean="0">
                <a:solidFill>
                  <a:srgbClr val="FF3300"/>
                </a:solidFill>
              </a:rPr>
              <a:t>P</a:t>
            </a:r>
            <a:r>
              <a:rPr lang="en-US" altLang="zh-TW" sz="2600" i="1" smtClean="0"/>
              <a:t>, message</a:t>
            </a:r>
            <a:r>
              <a:rPr lang="en-US" altLang="zh-TW" sz="2600" smtClean="0"/>
              <a:t>) </a:t>
            </a:r>
            <a:r>
              <a:rPr lang="en-US" altLang="zh-TW" sz="2600" smtClean="0">
                <a:latin typeface="Helvetica" panose="020B0604020202020204" pitchFamily="34" charset="0"/>
              </a:rPr>
              <a:t>–</a:t>
            </a:r>
            <a:r>
              <a:rPr lang="en-US" altLang="zh-TW" sz="2600" smtClean="0"/>
              <a:t> send a message to process P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b="1" smtClean="0"/>
              <a:t>receive</a:t>
            </a:r>
            <a:r>
              <a:rPr lang="en-US" altLang="zh-TW" sz="2600" smtClean="0"/>
              <a:t>(</a:t>
            </a:r>
            <a:r>
              <a:rPr lang="en-US" altLang="zh-TW" sz="2600" b="1" i="1" smtClean="0">
                <a:solidFill>
                  <a:srgbClr val="FF3300"/>
                </a:solidFill>
              </a:rPr>
              <a:t>Q</a:t>
            </a:r>
            <a:r>
              <a:rPr lang="en-US" altLang="zh-TW" sz="2600" i="1" smtClean="0"/>
              <a:t>, message</a:t>
            </a:r>
            <a:r>
              <a:rPr lang="en-US" altLang="zh-TW" sz="2600" smtClean="0"/>
              <a:t>) </a:t>
            </a:r>
            <a:r>
              <a:rPr lang="en-US" altLang="zh-TW" sz="2600" smtClean="0">
                <a:latin typeface="Helvetica" panose="020B0604020202020204" pitchFamily="34" charset="0"/>
              </a:rPr>
              <a:t>–</a:t>
            </a:r>
            <a:r>
              <a:rPr lang="en-US" altLang="zh-TW" sz="2600" smtClean="0"/>
              <a:t> receive a message from process Q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TW" sz="2600" smtClean="0"/>
              <a:t>Properties of communication link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/>
              <a:t>Links are established </a:t>
            </a:r>
            <a:r>
              <a:rPr lang="en-US" altLang="zh-TW" sz="2600" smtClean="0">
                <a:solidFill>
                  <a:srgbClr val="FF3300"/>
                </a:solidFill>
              </a:rPr>
              <a:t>automatically</a:t>
            </a:r>
            <a:endParaRPr lang="en-US" altLang="zh-TW" sz="26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/>
              <a:t>A link is associated with exactly </a:t>
            </a:r>
            <a:r>
              <a:rPr lang="en-US" altLang="zh-TW" sz="2600" smtClean="0">
                <a:solidFill>
                  <a:srgbClr val="FF3300"/>
                </a:solidFill>
              </a:rPr>
              <a:t>one pair</a:t>
            </a:r>
            <a:r>
              <a:rPr lang="en-US" altLang="zh-TW" sz="2600" smtClean="0"/>
              <a:t> of communicating processes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/>
              <a:t>Between each pair there exists </a:t>
            </a:r>
            <a:r>
              <a:rPr lang="en-US" altLang="zh-TW" sz="2600" smtClean="0">
                <a:solidFill>
                  <a:srgbClr val="FF3300"/>
                </a:solidFill>
              </a:rPr>
              <a:t>exactly one link</a:t>
            </a:r>
            <a:r>
              <a:rPr lang="en-US" altLang="zh-TW" sz="2600" smtClean="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smtClean="0"/>
              <a:t>The link may be unidirectional, but is usually bi-directional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9C90B3-A177-4478-9EDE-A6FBA4FB49A5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8601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8602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A3CF2F-4F4D-4680-AB89-30D0BFDA0F94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kumimoji="0" lang="en-US" altLang="zh-TW" sz="1400"/>
          </a:p>
        </p:txBody>
      </p:sp>
      <p:sp>
        <p:nvSpPr>
          <p:cNvPr id="86021" name="Rectangle 2"/>
          <p:cNvSpPr>
            <a:spLocks noChangeArrowheads="1"/>
          </p:cNvSpPr>
          <p:nvPr/>
        </p:nvSpPr>
        <p:spPr bwMode="auto">
          <a:xfrm>
            <a:off x="900113" y="377825"/>
            <a:ext cx="7664450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TW" altLang="en-US" sz="4400">
              <a:solidFill>
                <a:schemeClr val="tx2"/>
              </a:solidFill>
            </a:endParaRP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0" y="215900"/>
            <a:ext cx="8864600" cy="612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/>
              <a:t>Example: a solution to the producer-consumer problem</a:t>
            </a:r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>
              <a:latin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2800">
                <a:latin typeface="Wingdings" panose="05000000000000000000" pitchFamily="2" charset="2"/>
              </a:rPr>
              <a:t>L</a:t>
            </a:r>
            <a:r>
              <a:rPr lang="en-US" altLang="zh-TW" sz="2800"/>
              <a:t> </a:t>
            </a:r>
            <a:r>
              <a:rPr lang="en-US" altLang="zh-TW" sz="2400">
                <a:solidFill>
                  <a:srgbClr val="FF3300"/>
                </a:solidFill>
              </a:rPr>
              <a:t>limited modularity</a:t>
            </a:r>
            <a:r>
              <a:rPr lang="en-US" altLang="zh-TW" sz="2400"/>
              <a:t>: if the </a:t>
            </a:r>
            <a:r>
              <a:rPr lang="en-US" altLang="zh-TW" sz="2400">
                <a:solidFill>
                  <a:srgbClr val="FF3300"/>
                </a:solidFill>
              </a:rPr>
              <a:t>name</a:t>
            </a:r>
            <a:r>
              <a:rPr lang="en-US" altLang="zh-TW" sz="2400"/>
              <a:t> of a process is </a:t>
            </a:r>
            <a:r>
              <a:rPr lang="en-US" altLang="zh-TW" sz="2400">
                <a:solidFill>
                  <a:srgbClr val="FF3300"/>
                </a:solidFill>
              </a:rPr>
              <a:t>changed</a:t>
            </a:r>
            <a:r>
              <a:rPr lang="en-US" altLang="zh-TW" sz="2400"/>
              <a:t>, all old names should be found. It is not easy for separate compilation</a:t>
            </a:r>
          </a:p>
        </p:txBody>
      </p:sp>
      <p:grpSp>
        <p:nvGrpSpPr>
          <p:cNvPr id="86023" name="Group 4"/>
          <p:cNvGrpSpPr>
            <a:grpSpLocks/>
          </p:cNvGrpSpPr>
          <p:nvPr/>
        </p:nvGrpSpPr>
        <p:grpSpPr bwMode="auto">
          <a:xfrm>
            <a:off x="1076325" y="1539875"/>
            <a:ext cx="7072313" cy="3311525"/>
            <a:chOff x="678" y="1241"/>
            <a:chExt cx="4526" cy="2204"/>
          </a:xfrm>
        </p:grpSpPr>
        <p:sp>
          <p:nvSpPr>
            <p:cNvPr id="86024" name="Rectangle 5"/>
            <p:cNvSpPr>
              <a:spLocks noChangeArrowheads="1"/>
            </p:cNvSpPr>
            <p:nvPr/>
          </p:nvSpPr>
          <p:spPr bwMode="auto">
            <a:xfrm>
              <a:off x="2984" y="1653"/>
              <a:ext cx="2220" cy="17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86025" name="Rectangle 6"/>
            <p:cNvSpPr>
              <a:spLocks noChangeArrowheads="1"/>
            </p:cNvSpPr>
            <p:nvPr/>
          </p:nvSpPr>
          <p:spPr bwMode="auto">
            <a:xfrm>
              <a:off x="678" y="1637"/>
              <a:ext cx="2009" cy="17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470540"/>
                      </a:gs>
                      <a:gs pos="50000">
                        <a:srgbClr val="990B8A"/>
                      </a:gs>
                      <a:gs pos="100000">
                        <a:srgbClr val="470540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en-US" sz="2400"/>
            </a:p>
          </p:txBody>
        </p:sp>
        <p:sp>
          <p:nvSpPr>
            <p:cNvPr id="86026" name="Rectangle 7"/>
            <p:cNvSpPr>
              <a:spLocks noChangeArrowheads="1"/>
            </p:cNvSpPr>
            <p:nvPr/>
          </p:nvSpPr>
          <p:spPr bwMode="auto">
            <a:xfrm>
              <a:off x="708" y="1666"/>
              <a:ext cx="2071" cy="1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repeat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produce an item in </a:t>
              </a:r>
              <a:r>
                <a:rPr lang="en-US" altLang="zh-TW" sz="2000" b="1" i="1">
                  <a:latin typeface="Book Antiqua" panose="02040602050305030304" pitchFamily="18" charset="0"/>
                </a:rPr>
                <a:t>nextp</a:t>
              </a:r>
              <a:endParaRPr lang="en-US" altLang="zh-TW" sz="2000" b="1">
                <a:latin typeface="Book Antiqua" panose="02040602050305030304" pitchFamily="18" charset="0"/>
              </a:endParaRP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send(</a:t>
              </a:r>
              <a:r>
                <a:rPr lang="en-US" altLang="zh-TW" sz="2000" b="1" i="1">
                  <a:latin typeface="Book Antiqua" panose="02040602050305030304" pitchFamily="18" charset="0"/>
                </a:rPr>
                <a:t>consumer, nextp</a:t>
              </a:r>
              <a:r>
                <a:rPr lang="en-US" altLang="zh-TW" sz="2000" b="1">
                  <a:latin typeface="Book Antiqua" panose="02040602050305030304" pitchFamily="18" charset="0"/>
                </a:rPr>
                <a:t>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until </a:t>
              </a:r>
              <a:r>
                <a:rPr lang="en-US" altLang="zh-TW" sz="2000" b="1" i="1">
                  <a:latin typeface="Book Antiqua" panose="02040602050305030304" pitchFamily="18" charset="0"/>
                </a:rPr>
                <a:t>false</a:t>
              </a:r>
              <a:r>
                <a:rPr lang="en-US" altLang="zh-TW" sz="2000" b="1">
                  <a:latin typeface="Book Antiqua" panose="02040602050305030304" pitchFamily="18" charset="0"/>
                </a:rPr>
                <a:t>;</a:t>
              </a:r>
            </a:p>
          </p:txBody>
        </p:sp>
        <p:sp>
          <p:nvSpPr>
            <p:cNvPr id="86027" name="Rectangle 8"/>
            <p:cNvSpPr>
              <a:spLocks noChangeArrowheads="1"/>
            </p:cNvSpPr>
            <p:nvPr/>
          </p:nvSpPr>
          <p:spPr bwMode="auto">
            <a:xfrm>
              <a:off x="3031" y="1671"/>
              <a:ext cx="2160" cy="1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CC00"/>
                      </a:gs>
                      <a:gs pos="100000">
                        <a:srgbClr val="765E00"/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marL="285750" indent="-28575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repeat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receive(</a:t>
              </a:r>
              <a:r>
                <a:rPr lang="en-US" altLang="zh-TW" sz="2000" b="1" i="1">
                  <a:latin typeface="Book Antiqua" panose="02040602050305030304" pitchFamily="18" charset="0"/>
                </a:rPr>
                <a:t>producer, nextc</a:t>
              </a:r>
              <a:r>
                <a:rPr lang="en-US" altLang="zh-TW" sz="2000" b="1">
                  <a:latin typeface="Book Antiqua" panose="02040602050305030304" pitchFamily="18" charset="0"/>
                </a:rPr>
                <a:t>);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consume the item in </a:t>
              </a:r>
              <a:r>
                <a:rPr lang="en-US" altLang="zh-TW" sz="2000" b="1" i="1">
                  <a:latin typeface="Book Antiqua" panose="02040602050305030304" pitchFamily="18" charset="0"/>
                </a:rPr>
                <a:t>nextc</a:t>
              </a:r>
              <a:endParaRPr lang="en-US" altLang="zh-TW" sz="2000" b="1">
                <a:latin typeface="Book Antiqua" panose="02040602050305030304" pitchFamily="18" charset="0"/>
              </a:endParaRP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         ...</a:t>
              </a:r>
            </a:p>
            <a:p>
              <a:pPr>
                <a:lnSpc>
                  <a:spcPct val="90000"/>
                </a:lnSpc>
                <a:spcBef>
                  <a:spcPct val="30000"/>
                </a:spcBef>
                <a:buClrTx/>
                <a:buSzPct val="75000"/>
                <a:buFont typeface="Wingdings" panose="05000000000000000000" pitchFamily="2" charset="2"/>
                <a:buNone/>
              </a:pPr>
              <a:r>
                <a:rPr lang="en-US" altLang="zh-TW" sz="2000" b="1">
                  <a:latin typeface="Book Antiqua" panose="02040602050305030304" pitchFamily="18" charset="0"/>
                </a:rPr>
                <a:t>until </a:t>
              </a:r>
              <a:r>
                <a:rPr lang="en-US" altLang="zh-TW" sz="2000" b="1" i="1">
                  <a:latin typeface="Book Antiqua" panose="02040602050305030304" pitchFamily="18" charset="0"/>
                </a:rPr>
                <a:t>false</a:t>
              </a:r>
              <a:r>
                <a:rPr lang="en-US" altLang="zh-TW" sz="2000" b="1">
                  <a:latin typeface="Book Antiqua" panose="02040602050305030304" pitchFamily="18" charset="0"/>
                </a:rPr>
                <a:t>;</a:t>
              </a:r>
            </a:p>
          </p:txBody>
        </p:sp>
        <p:sp>
          <p:nvSpPr>
            <p:cNvPr id="86028" name="Text Box 9"/>
            <p:cNvSpPr txBox="1">
              <a:spLocks noChangeArrowheads="1"/>
            </p:cNvSpPr>
            <p:nvPr/>
          </p:nvSpPr>
          <p:spPr bwMode="auto">
            <a:xfrm>
              <a:off x="1011" y="1241"/>
              <a:ext cx="136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 i="1">
                  <a:solidFill>
                    <a:srgbClr val="FF3300"/>
                  </a:solidFill>
                  <a:latin typeface="Book Antiqua" panose="02040602050305030304" pitchFamily="18" charset="0"/>
                </a:rPr>
                <a:t>Producer </a:t>
              </a:r>
              <a:r>
                <a:rPr lang="en-US" altLang="zh-TW" sz="2000" b="1">
                  <a:latin typeface="Book Antiqua" panose="02040602050305030304" pitchFamily="18" charset="0"/>
                </a:rPr>
                <a:t>process</a:t>
              </a:r>
            </a:p>
          </p:txBody>
        </p:sp>
        <p:sp>
          <p:nvSpPr>
            <p:cNvPr id="86029" name="Rectangle 10"/>
            <p:cNvSpPr>
              <a:spLocks noChangeArrowheads="1"/>
            </p:cNvSpPr>
            <p:nvPr/>
          </p:nvSpPr>
          <p:spPr bwMode="auto">
            <a:xfrm>
              <a:off x="3428" y="1298"/>
              <a:ext cx="1435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60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" panose="05000000000000000000" pitchFamily="2" charset="2"/>
                <a:buChar char="w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6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b="1" i="1">
                  <a:solidFill>
                    <a:srgbClr val="FF3300"/>
                  </a:solidFill>
                  <a:latin typeface="Book Antiqua" panose="02040602050305030304" pitchFamily="18" charset="0"/>
                </a:rPr>
                <a:t>Consumer</a:t>
              </a:r>
              <a:r>
                <a:rPr lang="en-US" altLang="zh-TW" sz="2000" b="1">
                  <a:solidFill>
                    <a:srgbClr val="FF3300"/>
                  </a:solidFill>
                  <a:latin typeface="Book Antiqua" panose="02040602050305030304" pitchFamily="18" charset="0"/>
                </a:rPr>
                <a:t> </a:t>
              </a:r>
              <a:r>
                <a:rPr lang="en-US" altLang="zh-TW" sz="2000" b="1">
                  <a:latin typeface="Book Antiqua" panose="02040602050305030304" pitchFamily="18" charset="0"/>
                </a:rPr>
                <a:t>process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A0811A-CBA5-408E-AC15-54EACD2FEF4E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880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880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5396B6-EA44-4577-8C16-7EEF4CA33667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kumimoji="0" lang="en-US" altLang="zh-TW" sz="1400"/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6888" y="249238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Indirect Communication (1)</a:t>
            </a:r>
          </a:p>
        </p:txBody>
      </p:sp>
      <p:sp>
        <p:nvSpPr>
          <p:cNvPr id="1525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57225" y="989013"/>
            <a:ext cx="8054975" cy="5365750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Messages are directed and received from mailboxes (also referred to as </a:t>
            </a:r>
            <a:r>
              <a:rPr lang="en-US" altLang="zh-TW" sz="2800" b="1" smtClean="0">
                <a:solidFill>
                  <a:srgbClr val="FF3300"/>
                </a:solidFill>
              </a:rPr>
              <a:t>ports</a:t>
            </a:r>
            <a:r>
              <a:rPr lang="en-US" altLang="zh-TW" sz="2800" smtClean="0"/>
              <a:t>)</a:t>
            </a:r>
          </a:p>
          <a:p>
            <a:pPr lvl="1" eaLnBrk="1" hangingPunct="1"/>
            <a:r>
              <a:rPr lang="en-US" altLang="zh-TW" sz="2400" smtClean="0"/>
              <a:t>Each mailbox has a unique id</a:t>
            </a:r>
          </a:p>
          <a:p>
            <a:pPr lvl="1" eaLnBrk="1" hangingPunct="1"/>
            <a:r>
              <a:rPr lang="en-US" altLang="zh-TW" sz="2400" smtClean="0"/>
              <a:t>Processes can communicate only if they share a mailbox</a:t>
            </a:r>
          </a:p>
          <a:p>
            <a:pPr eaLnBrk="1" hangingPunct="1"/>
            <a:r>
              <a:rPr lang="en-US" altLang="zh-TW" sz="2800" smtClean="0"/>
              <a:t>Properties of communication link</a:t>
            </a:r>
          </a:p>
          <a:p>
            <a:pPr lvl="1" eaLnBrk="1" hangingPunct="1"/>
            <a:r>
              <a:rPr lang="en-US" altLang="zh-TW" sz="2400" smtClean="0"/>
              <a:t>Link established only </a:t>
            </a:r>
            <a:r>
              <a:rPr lang="en-US" altLang="zh-TW" sz="2400" smtClean="0">
                <a:solidFill>
                  <a:srgbClr val="FF3300"/>
                </a:solidFill>
              </a:rPr>
              <a:t>if processes share a common mailbox</a:t>
            </a:r>
          </a:p>
          <a:p>
            <a:pPr lvl="1" eaLnBrk="1" hangingPunct="1"/>
            <a:r>
              <a:rPr lang="en-US" altLang="zh-TW" sz="2400" smtClean="0"/>
              <a:t>A link may be associated with many processes</a:t>
            </a:r>
          </a:p>
          <a:p>
            <a:pPr lvl="1" eaLnBrk="1" hangingPunct="1"/>
            <a:r>
              <a:rPr lang="en-US" altLang="zh-TW" sz="2400" smtClean="0"/>
              <a:t>Each pair of processes may share several communication links</a:t>
            </a:r>
          </a:p>
          <a:p>
            <a:pPr lvl="1" eaLnBrk="1" hangingPunct="1"/>
            <a:r>
              <a:rPr lang="en-US" altLang="zh-TW" sz="2400" smtClean="0"/>
              <a:t>Link may be unidirectional or bi-directional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2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8AADC8-E499-484B-AEF1-4E78DA3B1BC4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901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901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2B73F9-386E-404D-8CE1-3E4B782334BA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kumimoji="0" lang="en-US" altLang="zh-TW" sz="1400"/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9938"/>
          </a:xfrm>
        </p:spPr>
        <p:txBody>
          <a:bodyPr/>
          <a:lstStyle/>
          <a:p>
            <a:pPr eaLnBrk="1" hangingPunct="1"/>
            <a:r>
              <a:rPr lang="en-US" altLang="zh-TW" smtClean="0"/>
              <a:t>Indirect Communication (2)</a:t>
            </a:r>
          </a:p>
        </p:txBody>
      </p:sp>
      <p:sp>
        <p:nvSpPr>
          <p:cNvPr id="1536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8013" y="1231900"/>
            <a:ext cx="7977187" cy="4879975"/>
          </a:xfrm>
        </p:spPr>
        <p:txBody>
          <a:bodyPr/>
          <a:lstStyle/>
          <a:p>
            <a:pPr eaLnBrk="1" hangingPunct="1"/>
            <a:r>
              <a:rPr lang="en-US" altLang="zh-TW" smtClean="0"/>
              <a:t>Operations</a:t>
            </a:r>
          </a:p>
          <a:p>
            <a:pPr lvl="1" eaLnBrk="1" hangingPunct="1"/>
            <a:r>
              <a:rPr lang="en-US" altLang="zh-TW" smtClean="0">
                <a:solidFill>
                  <a:srgbClr val="FF3300"/>
                </a:solidFill>
              </a:rPr>
              <a:t>create a new mailbox</a:t>
            </a:r>
          </a:p>
          <a:p>
            <a:pPr lvl="1" eaLnBrk="1" hangingPunct="1"/>
            <a:r>
              <a:rPr lang="en-US" altLang="zh-TW" smtClean="0"/>
              <a:t>send and receive messages through mailbox</a:t>
            </a:r>
          </a:p>
          <a:p>
            <a:pPr lvl="1" eaLnBrk="1" hangingPunct="1"/>
            <a:r>
              <a:rPr lang="en-US" altLang="zh-TW" smtClean="0"/>
              <a:t>destroy a mailbox</a:t>
            </a:r>
          </a:p>
          <a:p>
            <a:pPr eaLnBrk="1" hangingPunct="1"/>
            <a:r>
              <a:rPr lang="en-US" altLang="zh-TW" smtClean="0"/>
              <a:t>Primitives are defined as: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mtClean="0"/>
              <a:t>	</a:t>
            </a:r>
            <a:r>
              <a:rPr lang="en-US" altLang="zh-TW" b="1" smtClean="0"/>
              <a:t>send</a:t>
            </a:r>
            <a:r>
              <a:rPr lang="en-US" altLang="zh-TW" smtClean="0"/>
              <a:t>(</a:t>
            </a:r>
            <a:r>
              <a:rPr lang="en-US" altLang="zh-TW" i="1" smtClean="0">
                <a:solidFill>
                  <a:srgbClr val="FF3300"/>
                </a:solidFill>
              </a:rPr>
              <a:t>A</a:t>
            </a:r>
            <a:r>
              <a:rPr lang="en-US" altLang="zh-TW" i="1" smtClean="0"/>
              <a:t>, message</a:t>
            </a:r>
            <a:r>
              <a:rPr lang="en-US" altLang="zh-TW" smtClean="0"/>
              <a:t>) </a:t>
            </a:r>
            <a:r>
              <a:rPr lang="en-US" altLang="zh-TW" smtClean="0">
                <a:latin typeface="Helvetica" panose="020B0604020202020204" pitchFamily="34" charset="0"/>
              </a:rPr>
              <a:t>–</a:t>
            </a:r>
            <a:r>
              <a:rPr lang="en-US" altLang="zh-TW" smtClean="0"/>
              <a:t> send a message to mailbox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mtClean="0"/>
              <a:t>	</a:t>
            </a:r>
            <a:r>
              <a:rPr lang="en-US" altLang="zh-TW" b="1" smtClean="0"/>
              <a:t>receive</a:t>
            </a:r>
            <a:r>
              <a:rPr lang="en-US" altLang="zh-TW" smtClean="0"/>
              <a:t>(</a:t>
            </a:r>
            <a:r>
              <a:rPr lang="en-US" altLang="zh-TW" i="1" smtClean="0">
                <a:solidFill>
                  <a:srgbClr val="FF3300"/>
                </a:solidFill>
              </a:rPr>
              <a:t>A</a:t>
            </a:r>
            <a:r>
              <a:rPr lang="en-US" altLang="zh-TW" i="1" smtClean="0"/>
              <a:t>, message</a:t>
            </a:r>
            <a:r>
              <a:rPr lang="en-US" altLang="zh-TW" smtClean="0"/>
              <a:t>) </a:t>
            </a:r>
            <a:r>
              <a:rPr lang="en-US" altLang="zh-TW" smtClean="0">
                <a:latin typeface="Helvetica" panose="020B0604020202020204" pitchFamily="34" charset="0"/>
              </a:rPr>
              <a:t>–</a:t>
            </a:r>
            <a:r>
              <a:rPr lang="en-US" altLang="zh-TW" smtClean="0"/>
              <a:t> receive a message from mailbox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4AB6D5-E11E-4770-BF76-F9E13ED7618E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921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921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B89EC1-2794-4268-9B05-B6F4E2245714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kumimoji="0" lang="en-US" altLang="zh-TW" sz="1400"/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6888" y="360363"/>
            <a:ext cx="7772400" cy="825500"/>
          </a:xfrm>
        </p:spPr>
        <p:txBody>
          <a:bodyPr/>
          <a:lstStyle/>
          <a:p>
            <a:pPr eaLnBrk="1" hangingPunct="1"/>
            <a:r>
              <a:rPr lang="en-US" altLang="zh-TW" smtClean="0"/>
              <a:t>Indirect Communication (3)</a:t>
            </a:r>
          </a:p>
        </p:txBody>
      </p:sp>
      <p:sp>
        <p:nvSpPr>
          <p:cNvPr id="154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93713" y="1223963"/>
            <a:ext cx="8275637" cy="4935537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Mailbox sharing</a:t>
            </a:r>
          </a:p>
          <a:p>
            <a:pPr lvl="1" eaLnBrk="1" hangingPunct="1"/>
            <a:r>
              <a:rPr lang="en-US" altLang="zh-TW" sz="2400" i="1" smtClean="0">
                <a:latin typeface="Times New Roman" panose="02020603050405020304" pitchFamily="18" charset="0"/>
              </a:rPr>
              <a:t>P</a:t>
            </a:r>
            <a:r>
              <a:rPr lang="en-US" altLang="zh-TW" sz="2400" baseline="-25000" smtClean="0">
                <a:latin typeface="Times New Roman" panose="02020603050405020304" pitchFamily="18" charset="0"/>
              </a:rPr>
              <a:t>1</a:t>
            </a:r>
            <a:r>
              <a:rPr lang="en-US" altLang="zh-TW" sz="2400" i="1" smtClean="0"/>
              <a:t>, </a:t>
            </a:r>
            <a:r>
              <a:rPr lang="en-US" altLang="zh-TW" sz="2400" i="1" smtClean="0">
                <a:latin typeface="Times New Roman" panose="02020603050405020304" pitchFamily="18" charset="0"/>
              </a:rPr>
              <a:t>P</a:t>
            </a:r>
            <a:r>
              <a:rPr lang="en-US" altLang="zh-TW" sz="2400" i="1" baseline="-25000" smtClean="0">
                <a:latin typeface="Times New Roman" panose="02020603050405020304" pitchFamily="18" charset="0"/>
              </a:rPr>
              <a:t>2</a:t>
            </a:r>
            <a:r>
              <a:rPr lang="en-US" altLang="zh-TW" sz="2400" i="1" smtClean="0"/>
              <a:t>,</a:t>
            </a:r>
            <a:r>
              <a:rPr lang="en-US" altLang="zh-TW" sz="2400" smtClean="0"/>
              <a:t> and</a:t>
            </a:r>
            <a:r>
              <a:rPr lang="en-US" altLang="zh-TW" sz="2400" i="1" smtClean="0"/>
              <a:t> </a:t>
            </a:r>
            <a:r>
              <a:rPr lang="en-US" altLang="zh-TW" sz="2400" i="1" smtClean="0">
                <a:latin typeface="Times New Roman" panose="02020603050405020304" pitchFamily="18" charset="0"/>
              </a:rPr>
              <a:t>P</a:t>
            </a:r>
            <a:r>
              <a:rPr lang="en-US" altLang="zh-TW" sz="2400" baseline="-25000" smtClean="0">
                <a:latin typeface="Times New Roman" panose="02020603050405020304" pitchFamily="18" charset="0"/>
              </a:rPr>
              <a:t>3</a:t>
            </a:r>
            <a:r>
              <a:rPr lang="en-US" altLang="zh-TW" sz="2400" smtClean="0"/>
              <a:t> share mailbox A</a:t>
            </a:r>
          </a:p>
          <a:p>
            <a:pPr lvl="1" eaLnBrk="1" hangingPunct="1"/>
            <a:r>
              <a:rPr lang="en-US" altLang="zh-TW" sz="2400" i="1" smtClean="0">
                <a:latin typeface="Times New Roman" panose="02020603050405020304" pitchFamily="18" charset="0"/>
              </a:rPr>
              <a:t>P</a:t>
            </a:r>
            <a:r>
              <a:rPr lang="en-US" altLang="zh-TW" sz="2400" baseline="-25000" smtClean="0">
                <a:latin typeface="Times New Roman" panose="02020603050405020304" pitchFamily="18" charset="0"/>
              </a:rPr>
              <a:t>1</a:t>
            </a:r>
            <a:r>
              <a:rPr lang="en-US" altLang="zh-TW" sz="2400" smtClean="0"/>
              <a:t> sends; </a:t>
            </a:r>
            <a:r>
              <a:rPr lang="en-US" altLang="zh-TW" sz="2400" i="1" smtClean="0">
                <a:latin typeface="Times New Roman" panose="02020603050405020304" pitchFamily="18" charset="0"/>
              </a:rPr>
              <a:t>P</a:t>
            </a:r>
            <a:r>
              <a:rPr lang="en-US" altLang="zh-TW" sz="2400" i="1" baseline="-25000" smtClean="0">
                <a:latin typeface="Times New Roman" panose="02020603050405020304" pitchFamily="18" charset="0"/>
              </a:rPr>
              <a:t>2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and</a:t>
            </a:r>
            <a:r>
              <a:rPr lang="en-US" altLang="zh-TW" sz="2400" i="1" smtClean="0"/>
              <a:t> </a:t>
            </a:r>
            <a:r>
              <a:rPr lang="en-US" altLang="zh-TW" sz="2400" i="1" smtClean="0">
                <a:latin typeface="Times New Roman" panose="02020603050405020304" pitchFamily="18" charset="0"/>
              </a:rPr>
              <a:t>P</a:t>
            </a:r>
            <a:r>
              <a:rPr lang="en-US" altLang="zh-TW" sz="2400" baseline="-25000" smtClean="0">
                <a:latin typeface="Times New Roman" panose="02020603050405020304" pitchFamily="18" charset="0"/>
              </a:rPr>
              <a:t>3</a:t>
            </a:r>
            <a:r>
              <a:rPr lang="en-US" altLang="zh-TW" sz="2400" smtClean="0"/>
              <a:t> receive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TW" sz="2000" b="1" smtClean="0">
                <a:solidFill>
                  <a:srgbClr val="FF3300"/>
                </a:solidFill>
              </a:rPr>
              <a:t>Who gets the message?</a:t>
            </a:r>
          </a:p>
          <a:p>
            <a:pPr eaLnBrk="1" hangingPunct="1"/>
            <a:r>
              <a:rPr lang="en-US" altLang="zh-TW" sz="2800" smtClean="0"/>
              <a:t>Solutions</a:t>
            </a:r>
          </a:p>
          <a:p>
            <a:pPr lvl="1" eaLnBrk="1" hangingPunct="1"/>
            <a:r>
              <a:rPr lang="en-US" altLang="zh-TW" sz="2400" smtClean="0"/>
              <a:t>Allow a link to be associated with at most two processes</a:t>
            </a:r>
          </a:p>
          <a:p>
            <a:pPr lvl="1" eaLnBrk="1" hangingPunct="1"/>
            <a:r>
              <a:rPr lang="en-US" altLang="zh-TW" sz="2400" smtClean="0"/>
              <a:t>Allow only one process at a time to execute a receive operation</a:t>
            </a:r>
          </a:p>
          <a:p>
            <a:pPr lvl="1" eaLnBrk="1" hangingPunct="1"/>
            <a:r>
              <a:rPr lang="en-US" altLang="zh-TW" sz="2400" smtClean="0">
                <a:solidFill>
                  <a:srgbClr val="FF3300"/>
                </a:solidFill>
              </a:rPr>
              <a:t>Allow the system to select arbitrarily the receiver (not both).  Sender is notified who the receiver was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4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4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4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4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63C09F-7840-45FE-802B-F58E414652F2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942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942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1DC63A-42B6-4F70-B1FF-960C5458019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kumimoji="0" lang="en-US" altLang="zh-TW" sz="1400"/>
          </a:p>
        </p:txBody>
      </p:sp>
      <p:sp>
        <p:nvSpPr>
          <p:cNvPr id="9421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52488"/>
          </a:xfrm>
        </p:spPr>
        <p:txBody>
          <a:bodyPr/>
          <a:lstStyle/>
          <a:p>
            <a:pPr eaLnBrk="1" hangingPunct="1"/>
            <a:r>
              <a:rPr lang="en-US" altLang="zh-TW" smtClean="0"/>
              <a:t>Synchronization</a:t>
            </a:r>
          </a:p>
        </p:txBody>
      </p:sp>
      <p:sp>
        <p:nvSpPr>
          <p:cNvPr id="155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84200" y="1301750"/>
            <a:ext cx="8216900" cy="4937125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Message passing may be either </a:t>
            </a:r>
            <a:r>
              <a:rPr lang="en-US" altLang="zh-TW" sz="2800" b="1" smtClean="0">
                <a:solidFill>
                  <a:srgbClr val="FF3300"/>
                </a:solidFill>
              </a:rPr>
              <a:t>blocking</a:t>
            </a:r>
            <a:r>
              <a:rPr lang="en-US" altLang="zh-TW" sz="2800" smtClean="0"/>
              <a:t> or </a:t>
            </a:r>
            <a:r>
              <a:rPr lang="en-US" altLang="zh-TW" sz="2800" b="1" smtClean="0">
                <a:solidFill>
                  <a:srgbClr val="FF3300"/>
                </a:solidFill>
              </a:rPr>
              <a:t>non-blocking</a:t>
            </a:r>
            <a:r>
              <a:rPr lang="en-US" altLang="zh-TW" sz="2800" smtClean="0"/>
              <a:t> </a:t>
            </a:r>
          </a:p>
          <a:p>
            <a:pPr lvl="1" eaLnBrk="1" hangingPunct="1"/>
            <a:r>
              <a:rPr lang="en-US" altLang="zh-TW" sz="2400" smtClean="0"/>
              <a:t>Blocking send: </a:t>
            </a:r>
            <a:r>
              <a:rPr lang="en-US" altLang="zh-TW" sz="2400" smtClean="0">
                <a:solidFill>
                  <a:srgbClr val="FF3300"/>
                </a:solidFill>
              </a:rPr>
              <a:t>SP</a:t>
            </a:r>
            <a:r>
              <a:rPr lang="en-US" altLang="zh-TW" sz="2400" smtClean="0"/>
              <a:t> is blocked until the message is received by </a:t>
            </a:r>
            <a:r>
              <a:rPr lang="en-US" altLang="zh-TW" sz="2400" smtClean="0">
                <a:solidFill>
                  <a:srgbClr val="0000FF"/>
                </a:solidFill>
              </a:rPr>
              <a:t>RP</a:t>
            </a:r>
            <a:r>
              <a:rPr lang="en-US" altLang="zh-TW" sz="2400" smtClean="0"/>
              <a:t> or by the mailbox</a:t>
            </a:r>
          </a:p>
          <a:p>
            <a:pPr lvl="1" eaLnBrk="1" hangingPunct="1"/>
            <a:r>
              <a:rPr lang="en-US" altLang="zh-TW" sz="2400" smtClean="0"/>
              <a:t>Nonblocking send: </a:t>
            </a:r>
            <a:r>
              <a:rPr lang="en-US" altLang="zh-TW" sz="2400" smtClean="0">
                <a:solidFill>
                  <a:srgbClr val="FF3300"/>
                </a:solidFill>
              </a:rPr>
              <a:t>SP</a:t>
            </a:r>
            <a:r>
              <a:rPr lang="en-US" altLang="zh-TW" sz="2400" smtClean="0"/>
              <a:t> sends the message and resumes operation</a:t>
            </a:r>
          </a:p>
          <a:p>
            <a:pPr lvl="1" eaLnBrk="1" hangingPunct="1"/>
            <a:r>
              <a:rPr lang="en-US" altLang="zh-TW" sz="2400" smtClean="0"/>
              <a:t>Blocking receive: </a:t>
            </a:r>
            <a:r>
              <a:rPr lang="en-US" altLang="zh-TW" sz="2400" smtClean="0">
                <a:solidFill>
                  <a:srgbClr val="0000FF"/>
                </a:solidFill>
              </a:rPr>
              <a:t>RP</a:t>
            </a:r>
            <a:r>
              <a:rPr lang="en-US" altLang="zh-TW" sz="2400" smtClean="0"/>
              <a:t> is blocked until the message is available</a:t>
            </a:r>
          </a:p>
          <a:p>
            <a:pPr lvl="1" eaLnBrk="1" hangingPunct="1"/>
            <a:r>
              <a:rPr lang="en-US" altLang="zh-TW" sz="2400" smtClean="0"/>
              <a:t>Nonblocking receive: </a:t>
            </a:r>
            <a:r>
              <a:rPr lang="en-US" altLang="zh-TW" sz="2400" smtClean="0">
                <a:solidFill>
                  <a:srgbClr val="0000FF"/>
                </a:solidFill>
              </a:rPr>
              <a:t>RP</a:t>
            </a:r>
            <a:r>
              <a:rPr lang="en-US" altLang="zh-TW" sz="2400" smtClean="0"/>
              <a:t> receives a valid message or a null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05D40F-490A-4144-8245-3B89BFEAF54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962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962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EEA9DE-F43D-447A-BB9A-B7F3F52D101F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kumimoji="0" lang="en-US" altLang="zh-TW" sz="1400"/>
          </a:p>
        </p:txBody>
      </p:sp>
      <p:sp>
        <p:nvSpPr>
          <p:cNvPr id="96261" name="Rectangle 2"/>
          <p:cNvSpPr>
            <a:spLocks noGrp="1" noChangeArrowheads="1"/>
          </p:cNvSpPr>
          <p:nvPr>
            <p:ph type="title"/>
          </p:nvPr>
        </p:nvSpPr>
        <p:spPr>
          <a:xfrm>
            <a:off x="587375" y="173038"/>
            <a:ext cx="7772400" cy="879475"/>
          </a:xfrm>
        </p:spPr>
        <p:txBody>
          <a:bodyPr/>
          <a:lstStyle/>
          <a:p>
            <a:pPr eaLnBrk="1" hangingPunct="1"/>
            <a:r>
              <a:rPr lang="en-US" altLang="zh-TW" smtClean="0"/>
              <a:t>Buffering (1)</a:t>
            </a:r>
          </a:p>
        </p:txBody>
      </p:sp>
      <p:sp>
        <p:nvSpPr>
          <p:cNvPr id="1566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3875" y="1208088"/>
            <a:ext cx="8145463" cy="473075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sz="2800" smtClean="0"/>
              <a:t>Queue of messages attached to the link; implemented in one of three ways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1.	Zero capacity </a:t>
            </a:r>
            <a:r>
              <a:rPr lang="en-US" altLang="zh-TW" sz="2400" smtClean="0">
                <a:latin typeface="Helvetica" panose="020B0604020202020204" pitchFamily="34" charset="0"/>
              </a:rPr>
              <a:t>–</a:t>
            </a:r>
            <a:r>
              <a:rPr lang="en-US" altLang="zh-TW" sz="2400" smtClean="0"/>
              <a:t> 0 messages</a:t>
            </a:r>
            <a:br>
              <a:rPr lang="en-US" altLang="zh-TW" sz="2400" smtClean="0"/>
            </a:br>
            <a:r>
              <a:rPr lang="en-US" altLang="zh-TW" sz="2400" smtClean="0"/>
              <a:t>Sender must wait for receiver (rendezvous)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2.	Bounded capacity </a:t>
            </a:r>
            <a:r>
              <a:rPr lang="en-US" altLang="zh-TW" sz="2400" smtClean="0">
                <a:latin typeface="Helvetica" panose="020B0604020202020204" pitchFamily="34" charset="0"/>
              </a:rPr>
              <a:t>–</a:t>
            </a:r>
            <a:r>
              <a:rPr lang="en-US" altLang="zh-TW" sz="2400" smtClean="0"/>
              <a:t> finite length of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TW" sz="2400" smtClean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TW" sz="2400" smtClean="0"/>
              <a:t>messages</a:t>
            </a:r>
            <a:br>
              <a:rPr lang="en-US" altLang="zh-TW" sz="2400" smtClean="0"/>
            </a:br>
            <a:r>
              <a:rPr lang="en-US" altLang="zh-TW" sz="2400" smtClean="0"/>
              <a:t>Sender must wait if link full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TW" sz="2400" smtClean="0"/>
              <a:t>3.	Unbounded capacity </a:t>
            </a:r>
            <a:r>
              <a:rPr lang="en-US" altLang="zh-TW" sz="2400" smtClean="0">
                <a:latin typeface="Helvetica" panose="020B0604020202020204" pitchFamily="34" charset="0"/>
              </a:rPr>
              <a:t>–</a:t>
            </a:r>
            <a:r>
              <a:rPr lang="en-US" altLang="zh-TW" sz="2400" smtClean="0"/>
              <a:t> infinite length </a:t>
            </a:r>
            <a:br>
              <a:rPr lang="en-US" altLang="zh-TW" sz="2400" smtClean="0"/>
            </a:br>
            <a:r>
              <a:rPr lang="en-US" altLang="zh-TW" sz="2400" smtClean="0"/>
              <a:t>Sender never waits</a:t>
            </a: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6605588" y="2630488"/>
            <a:ext cx="1865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No buffering</a:t>
            </a:r>
            <a:endParaRPr lang="zh-TW" altLang="en-US" sz="2000" b="1">
              <a:solidFill>
                <a:srgbClr val="FF3300"/>
              </a:solidFill>
              <a:latin typeface="Book Antiqua" panose="02040602050305030304" pitchFamily="18" charset="0"/>
            </a:endParaRP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6083300" y="4422775"/>
            <a:ext cx="2670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Automatic buffering</a:t>
            </a:r>
            <a:endParaRPr lang="zh-TW" altLang="en-US" sz="2000" b="1">
              <a:solidFill>
                <a:srgbClr val="FF3300"/>
              </a:solidFill>
              <a:latin typeface="Book Antiqua" panose="02040602050305030304" pitchFamily="18" charset="0"/>
            </a:endParaRP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5748338" y="5541963"/>
            <a:ext cx="2817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 sz="2000" b="1">
                <a:solidFill>
                  <a:srgbClr val="FF3300"/>
                </a:solidFill>
                <a:latin typeface="Book Antiqua" panose="02040602050305030304" pitchFamily="18" charset="0"/>
              </a:rPr>
              <a:t>Automatic buffering</a:t>
            </a:r>
            <a:endParaRPr lang="zh-TW" altLang="en-US" sz="2000" b="1">
              <a:solidFill>
                <a:srgbClr val="FF330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000" fill="hold"/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/>
      <p:bldP spid="156676" grpId="1"/>
      <p:bldP spid="156677" grpId="0"/>
      <p:bldP spid="156677" grpId="1"/>
      <p:bldP spid="156678" grpId="0"/>
      <p:bldP spid="156678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DFD33F-86A7-40F8-9445-EF9FF5859660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983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983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BE40D8-8F66-41E5-B29E-FF2BD33FD4EC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kumimoji="0" lang="en-US" altLang="zh-TW" sz="1400"/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title"/>
          </p:nvPr>
        </p:nvSpPr>
        <p:spPr>
          <a:xfrm>
            <a:off x="515938" y="285750"/>
            <a:ext cx="7772400" cy="714375"/>
          </a:xfrm>
        </p:spPr>
        <p:txBody>
          <a:bodyPr/>
          <a:lstStyle/>
          <a:p>
            <a:pPr eaLnBrk="1" hangingPunct="1"/>
            <a:r>
              <a:rPr lang="en-US" altLang="zh-TW" smtClean="0"/>
              <a:t>Buffering (2)</a:t>
            </a:r>
          </a:p>
        </p:txBody>
      </p:sp>
      <p:sp>
        <p:nvSpPr>
          <p:cNvPr id="160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76263" y="1158875"/>
            <a:ext cx="8313737" cy="52149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/>
              <a:t>In nonzero-capacity cases, two processes communicate</a:t>
            </a:r>
            <a:r>
              <a:rPr lang="en-US" altLang="zh-TW" sz="2800" smtClean="0">
                <a:solidFill>
                  <a:srgbClr val="FFCC00"/>
                </a:solidFill>
              </a:rPr>
              <a:t> </a:t>
            </a:r>
            <a:r>
              <a:rPr lang="en-US" altLang="zh-TW" sz="28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asynchronously</a:t>
            </a:r>
            <a:r>
              <a:rPr lang="en-US" altLang="zh-TW" sz="2800" smtClean="0">
                <a:solidFill>
                  <a:srgbClr val="FFCC00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/>
              <a:t>For asynchronous communication, one way to </a:t>
            </a:r>
            <a:r>
              <a:rPr lang="en-US" altLang="zh-TW" sz="2800" smtClean="0">
                <a:solidFill>
                  <a:srgbClr val="FF3300"/>
                </a:solidFill>
              </a:rPr>
              <a:t>make sure (or to wait) that the receiver has received the sent message</a:t>
            </a:r>
            <a:r>
              <a:rPr lang="en-US" altLang="zh-TW" sz="2800" smtClean="0"/>
              <a:t> is as follows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smtClean="0"/>
              <a:t>	</a:t>
            </a:r>
            <a:r>
              <a:rPr lang="en-US" altLang="zh-TW" smtClean="0"/>
              <a:t>	</a:t>
            </a:r>
            <a:r>
              <a:rPr lang="en-US" altLang="zh-TW" smtClean="0">
                <a:latin typeface="Times New Roman" pitchFamily="18" charset="0"/>
              </a:rPr>
              <a:t>process </a:t>
            </a:r>
            <a:r>
              <a:rPr lang="en-US" altLang="zh-TW" i="1" smtClean="0">
                <a:latin typeface="Times New Roman" pitchFamily="18" charset="0"/>
              </a:rPr>
              <a:t>P</a:t>
            </a:r>
            <a:r>
              <a:rPr lang="en-US" altLang="zh-TW" smtClean="0">
                <a:latin typeface="Times New Roman" pitchFamily="18" charset="0"/>
              </a:rPr>
              <a:t> (sender)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smtClean="0">
                <a:latin typeface="Times New Roman" pitchFamily="18" charset="0"/>
              </a:rPr>
              <a:t>			send(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, message) 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800" smtClean="0">
                <a:latin typeface="Times New Roman" pitchFamily="18" charset="0"/>
              </a:rPr>
              <a:t>			receive (</a:t>
            </a:r>
            <a:r>
              <a:rPr lang="en-US" altLang="zh-TW" sz="2800" i="1" smtClean="0">
                <a:latin typeface="Times New Roman" pitchFamily="18" charset="0"/>
              </a:rPr>
              <a:t>Q</a:t>
            </a:r>
            <a:r>
              <a:rPr lang="en-US" altLang="zh-TW" sz="2800" smtClean="0">
                <a:latin typeface="Times New Roman" pitchFamily="18" charset="0"/>
              </a:rPr>
              <a:t>, message)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mtClean="0">
                <a:latin typeface="Times New Roman" pitchFamily="18" charset="0"/>
              </a:rPr>
              <a:t>		process </a:t>
            </a:r>
            <a:r>
              <a:rPr lang="en-US" altLang="zh-TW" i="1" smtClean="0">
                <a:latin typeface="Times New Roman" pitchFamily="18" charset="0"/>
              </a:rPr>
              <a:t>Q</a:t>
            </a:r>
            <a:r>
              <a:rPr lang="en-US" altLang="zh-TW" smtClean="0">
                <a:latin typeface="Times New Roman" pitchFamily="18" charset="0"/>
              </a:rPr>
              <a:t> (receiver)</a:t>
            </a:r>
          </a:p>
          <a:p>
            <a:pPr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TW" sz="2800" smtClean="0">
                <a:latin typeface="Times New Roman" pitchFamily="18" charset="0"/>
              </a:rPr>
              <a:t>				receive(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smtClean="0">
                <a:latin typeface="Times New Roman" pitchFamily="18" charset="0"/>
              </a:rPr>
              <a:t>, message)  </a:t>
            </a:r>
          </a:p>
          <a:p>
            <a:pPr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TW" sz="2800" smtClean="0">
                <a:latin typeface="Times New Roman" pitchFamily="18" charset="0"/>
              </a:rPr>
              <a:t>				send(</a:t>
            </a:r>
            <a:r>
              <a:rPr lang="en-US" altLang="zh-TW" sz="2800" i="1" smtClean="0">
                <a:latin typeface="Times New Roman" pitchFamily="18" charset="0"/>
              </a:rPr>
              <a:t>P</a:t>
            </a:r>
            <a:r>
              <a:rPr lang="en-US" altLang="zh-TW" sz="2800" smtClean="0">
                <a:latin typeface="Times New Roman" pitchFamily="18" charset="0"/>
              </a:rPr>
              <a:t>, </a:t>
            </a:r>
            <a:r>
              <a:rPr lang="en-US" altLang="zh-TW" sz="28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acknowledgement</a:t>
            </a:r>
            <a:r>
              <a:rPr lang="en-US" altLang="zh-TW" sz="2800" smtClean="0">
                <a:latin typeface="Times New Roman" pitchFamily="18" charset="0"/>
              </a:rPr>
              <a:t>")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49138F-E6F4-4689-AE41-C5070325BEAC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003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003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C89F4C-F174-40DD-8ABB-234997F3933D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kumimoji="0" lang="en-US" altLang="zh-TW" sz="1400"/>
          </a:p>
        </p:txBody>
      </p:sp>
      <p:sp>
        <p:nvSpPr>
          <p:cNvPr id="100357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361950"/>
            <a:ext cx="7772400" cy="665163"/>
          </a:xfrm>
        </p:spPr>
        <p:txBody>
          <a:bodyPr/>
          <a:lstStyle/>
          <a:p>
            <a:pPr eaLnBrk="1" hangingPunct="1"/>
            <a:r>
              <a:rPr lang="en-US" altLang="zh-TW" smtClean="0"/>
              <a:t>An Example: </a:t>
            </a:r>
            <a:r>
              <a:rPr lang="en-US" altLang="zh-TW" smtClean="0">
                <a:solidFill>
                  <a:srgbClr val="FF3300"/>
                </a:solidFill>
              </a:rPr>
              <a:t>Mach</a:t>
            </a:r>
          </a:p>
        </p:txBody>
      </p:sp>
      <p:sp>
        <p:nvSpPr>
          <p:cNvPr id="131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2263" y="1068388"/>
            <a:ext cx="8542337" cy="51546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Developed at Carnegie Mellon University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 smtClean="0"/>
              <a:t>Most communications are carried out by messages. Message are sent to and received from mailboxes, called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ports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 smtClean="0"/>
              <a:t>Even </a:t>
            </a:r>
            <a:r>
              <a:rPr lang="en-US" altLang="zh-TW" sz="2800" dirty="0" smtClean="0">
                <a:solidFill>
                  <a:srgbClr val="0000FF"/>
                </a:solidFill>
              </a:rPr>
              <a:t>system calls are made by messages</a:t>
            </a:r>
            <a:r>
              <a:rPr lang="en-US" altLang="zh-TW" sz="2800" dirty="0" smtClean="0"/>
              <a:t>. When each task is created, two special mailboxes </a:t>
            </a:r>
            <a:r>
              <a:rPr lang="en-US" altLang="zh-TW" sz="2800" dirty="0" smtClean="0">
                <a:latin typeface="Times New Roman"/>
              </a:rPr>
              <a:t>–</a:t>
            </a:r>
            <a:r>
              <a:rPr lang="en-US" altLang="zh-TW" sz="2800" dirty="0" smtClean="0"/>
              <a:t> the Kernel mailbox and the Notify mailbox </a:t>
            </a:r>
            <a:r>
              <a:rPr lang="en-US" altLang="zh-TW" sz="2800" dirty="0" smtClean="0">
                <a:latin typeface="Times New Roman"/>
              </a:rPr>
              <a:t>–</a:t>
            </a:r>
            <a:r>
              <a:rPr lang="en-US" altLang="zh-TW" sz="2800" dirty="0" smtClean="0"/>
              <a:t> are also created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The Kernel mailbox is used by the kernel to communication with the task. The kernel sends notification of event occurrences to the Notify port </a:t>
            </a:r>
          </a:p>
          <a:p>
            <a:pPr lvl="1" eaLnBrk="1" hangingPunct="1">
              <a:defRPr/>
            </a:pPr>
            <a:endParaRPr lang="en-US" altLang="zh-TW" sz="2400" dirty="0" smtClean="0"/>
          </a:p>
          <a:p>
            <a:pPr lvl="1" eaLnBrk="1" hangingPunct="1">
              <a:defRPr/>
            </a:pPr>
            <a:endParaRPr lang="zh-TW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F70D32-1A0D-4D80-A924-6B27791C8636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024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024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1A9A1F-69BE-4436-9D4D-72B1C0DCE8FE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kumimoji="0" lang="en-US" altLang="zh-TW" sz="1400"/>
          </a:p>
        </p:txBody>
      </p:sp>
      <p:sp>
        <p:nvSpPr>
          <p:cNvPr id="13209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6575" y="512763"/>
            <a:ext cx="8145463" cy="5772150"/>
          </a:xfrm>
        </p:spPr>
        <p:txBody>
          <a:bodyPr/>
          <a:lstStyle/>
          <a:p>
            <a:pPr marL="285750" indent="-285750" eaLnBrk="1" hangingPunct="1">
              <a:defRPr/>
            </a:pPr>
            <a:r>
              <a:rPr lang="en-US" altLang="zh-TW" sz="2800" smtClean="0"/>
              <a:t>Three system calls using message transfer </a:t>
            </a:r>
            <a:endParaRPr lang="en-US" altLang="zh-TW" sz="2400" smtClean="0">
              <a:latin typeface="Arial" charset="0"/>
            </a:endParaRPr>
          </a:p>
          <a:p>
            <a:pPr marL="685800" lvl="1" indent="-228600" eaLnBrk="1" hangingPunct="1">
              <a:defRPr/>
            </a:pPr>
            <a:r>
              <a:rPr lang="en-US" altLang="zh-TW" sz="2000" smtClean="0">
                <a:solidFill>
                  <a:srgbClr val="0000FF"/>
                </a:solidFill>
                <a:latin typeface="Arial" charset="0"/>
              </a:rPr>
              <a:t>msg_send</a:t>
            </a:r>
            <a:r>
              <a:rPr lang="en-US" altLang="zh-TW" sz="2000" smtClean="0"/>
              <a:t>: sends a message to a mailbox</a:t>
            </a:r>
            <a:endParaRPr lang="en-US" altLang="zh-TW" sz="2000" smtClean="0">
              <a:latin typeface="Arial" charset="0"/>
            </a:endParaRPr>
          </a:p>
          <a:p>
            <a:pPr marL="685800" lvl="1" indent="-228600" eaLnBrk="1" hangingPunct="1">
              <a:defRPr/>
            </a:pPr>
            <a:r>
              <a:rPr lang="en-US" altLang="zh-TW" sz="2000" smtClean="0">
                <a:solidFill>
                  <a:srgbClr val="0000FF"/>
                </a:solidFill>
                <a:latin typeface="Arial" charset="0"/>
              </a:rPr>
              <a:t>msg_receive</a:t>
            </a:r>
          </a:p>
          <a:p>
            <a:pPr marL="685800" lvl="1" indent="-228600" eaLnBrk="1" hangingPunct="1">
              <a:defRPr/>
            </a:pPr>
            <a:r>
              <a:rPr lang="en-US" altLang="zh-TW" sz="2000" smtClean="0">
                <a:solidFill>
                  <a:srgbClr val="0000FF"/>
                </a:solidFill>
                <a:latin typeface="Arial" charset="0"/>
              </a:rPr>
              <a:t>msg_rpc</a:t>
            </a:r>
            <a:r>
              <a:rPr lang="en-US" altLang="zh-TW" sz="2000" smtClean="0"/>
              <a:t>: Remote Procedure Calls (PRCs)</a:t>
            </a:r>
            <a:endParaRPr lang="en-US" altLang="zh-TW" sz="2000" smtClean="0">
              <a:latin typeface="Arial" charset="0"/>
            </a:endParaRPr>
          </a:p>
          <a:p>
            <a:pPr marL="285750" indent="-285750" eaLnBrk="1" hangingPunct="1">
              <a:defRPr/>
            </a:pPr>
            <a:r>
              <a:rPr lang="en-US" altLang="zh-TW" sz="240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port_allocate</a:t>
            </a:r>
            <a:r>
              <a:rPr lang="en-US" altLang="zh-TW" sz="2400" smtClean="0"/>
              <a:t>: creates a new mailbox and allocates space for its queue of messages. The task that creates the mailbox is that mailbox</a:t>
            </a:r>
            <a:r>
              <a:rPr lang="en-US" altLang="zh-TW" sz="2400" smtClean="0">
                <a:latin typeface="Times New Roman"/>
              </a:rPr>
              <a:t>’</a:t>
            </a:r>
            <a:r>
              <a:rPr lang="en-US" altLang="zh-TW" sz="2400" smtClean="0"/>
              <a:t>s owner </a:t>
            </a:r>
          </a:p>
          <a:p>
            <a:pPr marL="285750" indent="-285750" eaLnBrk="1" hangingPunct="1">
              <a:defRPr/>
            </a:pPr>
            <a:r>
              <a:rPr lang="en-US" altLang="zh-TW" sz="2400" smtClean="0"/>
              <a:t>Messages are copied into mailbox. </a:t>
            </a:r>
            <a:r>
              <a:rPr lang="en-US" altLang="zh-TW" sz="2400" smtClean="0">
                <a:solidFill>
                  <a:srgbClr val="0000FF"/>
                </a:solidFill>
              </a:rPr>
              <a:t>Multiple messages</a:t>
            </a:r>
            <a:r>
              <a:rPr lang="en-US" altLang="zh-TW" sz="2400" smtClean="0"/>
              <a:t> from the same sender are </a:t>
            </a:r>
            <a:r>
              <a:rPr lang="en-US" altLang="zh-TW" sz="2400" smtClean="0">
                <a:solidFill>
                  <a:srgbClr val="FF3300"/>
                </a:solidFill>
              </a:rPr>
              <a:t>queued in FIFO order</a:t>
            </a:r>
          </a:p>
          <a:p>
            <a:pPr marL="285750" indent="-285750" eaLnBrk="1" hangingPunct="1">
              <a:defRPr/>
            </a:pPr>
            <a:r>
              <a:rPr lang="en-US" altLang="zh-TW" sz="2400" smtClean="0"/>
              <a:t>If the mailbox is full, the sending thread has 4 options: </a:t>
            </a:r>
          </a:p>
          <a:p>
            <a:pPr marL="685800" lvl="1" indent="-228600" eaLnBrk="1" hangingPunct="1">
              <a:defRPr/>
            </a:pPr>
            <a:r>
              <a:rPr lang="en-US" altLang="zh-TW" sz="2000" smtClean="0"/>
              <a:t>Wait indefinitely until there is a room in the mailbox</a:t>
            </a:r>
          </a:p>
          <a:p>
            <a:pPr marL="685800" lvl="1" indent="-228600" eaLnBrk="1" hangingPunct="1">
              <a:defRPr/>
            </a:pPr>
            <a:r>
              <a:rPr lang="en-US" altLang="zh-TW" sz="2000" smtClean="0"/>
              <a:t>Wait at most </a:t>
            </a:r>
            <a:r>
              <a:rPr lang="en-US" altLang="zh-TW" sz="2000" i="1" smtClean="0">
                <a:solidFill>
                  <a:srgbClr val="FF3300"/>
                </a:solidFill>
                <a:latin typeface="Times New Roman" pitchFamily="18" charset="0"/>
              </a:rPr>
              <a:t>n</a:t>
            </a:r>
            <a:r>
              <a:rPr lang="en-US" altLang="zh-TW" sz="2000" smtClean="0"/>
              <a:t> milliseconds</a:t>
            </a:r>
          </a:p>
          <a:p>
            <a:pPr marL="685800" lvl="1" indent="-228600" eaLnBrk="1" hangingPunct="1">
              <a:defRPr/>
            </a:pPr>
            <a:r>
              <a:rPr lang="en-US" altLang="zh-TW" sz="2000" smtClean="0"/>
              <a:t>Do not wait at all, but rather return immediately</a:t>
            </a:r>
          </a:p>
          <a:p>
            <a:pPr marL="685800" lvl="1" indent="-228600" eaLnBrk="1" hangingPunct="1">
              <a:defRPr/>
            </a:pPr>
            <a:r>
              <a:rPr lang="en-US" altLang="zh-TW" sz="2000" smtClean="0"/>
              <a:t>Temporarily cache a message</a:t>
            </a:r>
            <a:endParaRPr lang="zh-TW" alt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20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0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ACD8D6-7805-42AD-9BE3-D0257FFB1322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044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044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64EB88-167D-4B8C-8987-EE28F3B5F0E9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kumimoji="0" lang="en-US" altLang="zh-TW" sz="1400"/>
          </a:p>
        </p:txBody>
      </p:sp>
      <p:sp>
        <p:nvSpPr>
          <p:cNvPr id="133122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411163"/>
            <a:ext cx="8164513" cy="59134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The receive operation must specify from which mailbox or mailbox set to receive a message</a:t>
            </a:r>
            <a:endParaRPr lang="en-US" altLang="zh-TW" sz="2800" dirty="0" smtClean="0">
              <a:latin typeface="Arial" charset="0"/>
            </a:endParaRPr>
          </a:p>
          <a:p>
            <a:pPr eaLnBrk="1" hangingPunct="1">
              <a:defRPr/>
            </a:pPr>
            <a:r>
              <a:rPr lang="en-US" altLang="zh-TW" sz="2800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port_status</a:t>
            </a:r>
            <a:r>
              <a:rPr lang="en-US" altLang="zh-TW" sz="2800" dirty="0" smtClean="0"/>
              <a:t>: returns # of messages in a given mailbox</a:t>
            </a:r>
          </a:p>
          <a:p>
            <a:pPr eaLnBrk="1" hangingPunct="1">
              <a:defRPr/>
            </a:pPr>
            <a:r>
              <a:rPr lang="en-US" altLang="zh-TW" sz="2800" dirty="0" smtClean="0"/>
              <a:t>If no message is waiting to be received, the receiving thread may wait, wait at most </a:t>
            </a:r>
            <a:r>
              <a:rPr lang="en-US" altLang="zh-TW" i="1" dirty="0" smtClean="0">
                <a:solidFill>
                  <a:srgbClr val="FF3300"/>
                </a:solidFill>
                <a:latin typeface="Times New Roman" pitchFamily="18" charset="0"/>
              </a:rPr>
              <a:t>n</a:t>
            </a:r>
            <a:r>
              <a:rPr lang="en-US" altLang="zh-TW" sz="2800" dirty="0" smtClean="0"/>
              <a:t> milliseconds, or not wait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altLang="zh-TW" sz="2800" dirty="0" smtClean="0"/>
              <a:t>The Mach message system attempts to avoid double copy operations by using </a:t>
            </a:r>
            <a:r>
              <a:rPr lang="en-US" altLang="zh-TW" sz="2800" dirty="0" smtClean="0">
                <a:solidFill>
                  <a:srgbClr val="FF3300"/>
                </a:solidFill>
              </a:rPr>
              <a:t>virtual-memory management</a:t>
            </a:r>
            <a:r>
              <a:rPr lang="en-US" altLang="zh-TW" sz="2800" dirty="0" smtClean="0"/>
              <a:t> techniques. 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Mach maps the address space containing the sender</a:t>
            </a:r>
            <a:r>
              <a:rPr lang="en-US" altLang="zh-TW" sz="2400" dirty="0" smtClean="0">
                <a:latin typeface="Times New Roman"/>
              </a:rPr>
              <a:t>’</a:t>
            </a:r>
            <a:r>
              <a:rPr lang="en-US" altLang="zh-TW" sz="2400" dirty="0" smtClean="0"/>
              <a:t>s message into the receiver</a:t>
            </a:r>
            <a:r>
              <a:rPr lang="en-US" altLang="zh-TW" sz="2400" dirty="0" smtClean="0">
                <a:latin typeface="Times New Roman"/>
              </a:rPr>
              <a:t>’</a:t>
            </a:r>
            <a:r>
              <a:rPr lang="en-US" altLang="zh-TW" sz="2400" dirty="0" smtClean="0"/>
              <a:t>s address space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28553A-62CC-40DA-BF3A-459DD758357F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0649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0650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C6469B-554F-4069-B427-264887D083D6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kumimoji="0" lang="en-US" altLang="zh-TW" sz="1400"/>
          </a:p>
        </p:txBody>
      </p:sp>
      <p:sp>
        <p:nvSpPr>
          <p:cNvPr id="106501" name="Title 1"/>
          <p:cNvSpPr>
            <a:spLocks noGrp="1"/>
          </p:cNvSpPr>
          <p:nvPr>
            <p:ph type="title" idx="4294967295"/>
          </p:nvPr>
        </p:nvSpPr>
        <p:spPr>
          <a:xfrm>
            <a:off x="528638" y="2841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TW" smtClean="0"/>
              <a:t>An Example: </a:t>
            </a:r>
            <a:r>
              <a:rPr lang="en-US" altLang="zh-TW" sz="4000" smtClean="0"/>
              <a:t> POSIX</a:t>
            </a:r>
          </a:p>
        </p:txBody>
      </p:sp>
      <p:sp>
        <p:nvSpPr>
          <p:cNvPr id="292867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409575" y="889000"/>
            <a:ext cx="8280400" cy="5573713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solidFill>
                  <a:srgbClr val="0000FF"/>
                </a:solidFill>
              </a:rPr>
              <a:t>POSIX: Support both shared memory and message passing</a:t>
            </a:r>
          </a:p>
          <a:p>
            <a:pPr eaLnBrk="1" hangingPunct="1"/>
            <a:r>
              <a:rPr lang="en-US" altLang="zh-TW" sz="2400" smtClean="0"/>
              <a:t>POSIX Shared Memory</a:t>
            </a:r>
          </a:p>
          <a:p>
            <a:pPr lvl="1" eaLnBrk="1" hangingPunct="1"/>
            <a:r>
              <a:rPr lang="en-US" altLang="zh-TW" sz="2000" smtClean="0"/>
              <a:t>Process first creates shared memory segment</a:t>
            </a: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altLang="zh-TW" sz="1800" smtClean="0">
                <a:latin typeface="Comic Sans MS" panose="030F0702030302020204" pitchFamily="66" charset="0"/>
                <a:cs typeface="Courier New" panose="02070309020205020404" pitchFamily="49" charset="0"/>
              </a:rPr>
              <a:t>segment id = shmget(IPC PRIVATE, size, S IRUSR | S IWUSR);</a:t>
            </a:r>
          </a:p>
          <a:p>
            <a:pPr lvl="2" eaLnBrk="1" hangingPunct="1"/>
            <a:r>
              <a:rPr lang="en-US" altLang="zh-TW" sz="1600" smtClean="0">
                <a:latin typeface="Comic Sans MS" panose="030F0702030302020204" pitchFamily="66" charset="0"/>
                <a:cs typeface="Courier New" panose="02070309020205020404" pitchFamily="49" charset="0"/>
              </a:rPr>
              <a:t>IPC PRIVATE: a new shared-memory segment is created.</a:t>
            </a:r>
          </a:p>
          <a:p>
            <a:pPr lvl="2" eaLnBrk="1" hangingPunct="1"/>
            <a:r>
              <a:rPr lang="en-US" altLang="zh-TW" sz="1600" smtClean="0">
                <a:latin typeface="Comic Sans MS" panose="030F0702030302020204" pitchFamily="66" charset="0"/>
                <a:cs typeface="Courier New" panose="02070309020205020404" pitchFamily="49" charset="0"/>
              </a:rPr>
              <a:t>mode (S IRUSR | S IWUSR): Owner may read or write</a:t>
            </a:r>
          </a:p>
          <a:p>
            <a:pPr lvl="2" eaLnBrk="1" hangingPunct="1"/>
            <a:r>
              <a:rPr lang="en-US" altLang="zh-TW" sz="1600" smtClean="0">
                <a:latin typeface="Comic Sans MS" panose="030F0702030302020204" pitchFamily="66" charset="0"/>
                <a:cs typeface="Courier New" panose="02070309020205020404" pitchFamily="49" charset="0"/>
              </a:rPr>
              <a:t>segment id: return value, integer id for the shared-memory segment</a:t>
            </a:r>
            <a:endParaRPr lang="en-US" altLang="zh-TW" sz="180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/>
            <a:r>
              <a:rPr lang="en-US" altLang="zh-TW" sz="2000" smtClean="0"/>
              <a:t>Process wanting access to that shared memory must attach to it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1800" smtClean="0">
                <a:latin typeface="Comic Sans MS" panose="030F0702030302020204" pitchFamily="66" charset="0"/>
                <a:cs typeface="Courier New" panose="02070309020205020404" pitchFamily="49" charset="0"/>
              </a:rPr>
              <a:t>		shared memory = (char *) shmat(id, NULL, 0);</a:t>
            </a:r>
          </a:p>
          <a:p>
            <a:pPr lvl="1" eaLnBrk="1" hangingPunct="1"/>
            <a:r>
              <a:rPr lang="en-US" altLang="zh-TW" sz="2000" smtClean="0"/>
              <a:t>Now the process could write to the shared memory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1800" smtClean="0">
                <a:latin typeface="Comic Sans MS" panose="030F0702030302020204" pitchFamily="66" charset="0"/>
                <a:cs typeface="Courier New" panose="02070309020205020404" pitchFamily="49" charset="0"/>
              </a:rPr>
              <a:t>		sprintf(shared memory, "Writing to shared memory");</a:t>
            </a:r>
          </a:p>
          <a:p>
            <a:pPr lvl="1" eaLnBrk="1" hangingPunct="1"/>
            <a:r>
              <a:rPr lang="en-US" altLang="zh-TW" sz="2000" smtClean="0"/>
              <a:t>When done a process can detach the shared memory from its address space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sz="1800" smtClean="0">
                <a:latin typeface="Comic Sans MS" panose="030F0702030302020204" pitchFamily="66" charset="0"/>
                <a:cs typeface="Courier New" panose="02070309020205020404" pitchFamily="49" charset="0"/>
              </a:rPr>
              <a:t>		shmdt(shared memory);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2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2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92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92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2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92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2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2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92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92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928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D34AB8-4CB1-4F24-A3DE-B528740F9E01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0854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0854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6EFF3C-4C01-4472-9EC4-79A3B8E0CFF4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kumimoji="0" lang="en-US" altLang="zh-TW" sz="1400"/>
          </a:p>
        </p:txBody>
      </p:sp>
      <p:sp>
        <p:nvSpPr>
          <p:cNvPr id="108549" name="Title 1"/>
          <p:cNvSpPr>
            <a:spLocks noGrp="1"/>
          </p:cNvSpPr>
          <p:nvPr>
            <p:ph type="title" idx="4294967295"/>
          </p:nvPr>
        </p:nvSpPr>
        <p:spPr>
          <a:xfrm>
            <a:off x="598488" y="4667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zh-TW" smtClean="0"/>
              <a:t>An Example: Windows XP</a:t>
            </a:r>
          </a:p>
        </p:txBody>
      </p:sp>
      <p:sp>
        <p:nvSpPr>
          <p:cNvPr id="294915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220663" y="1084263"/>
            <a:ext cx="8461375" cy="5530850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Message-passing centric via </a:t>
            </a:r>
            <a:r>
              <a:rPr lang="en-US" altLang="zh-TW" sz="2800" smtClean="0">
                <a:solidFill>
                  <a:srgbClr val="0000FF"/>
                </a:solidFill>
              </a:rPr>
              <a:t>local procedure call </a:t>
            </a:r>
            <a:r>
              <a:rPr lang="en-US" altLang="zh-TW" sz="2800" smtClean="0"/>
              <a:t>(</a:t>
            </a:r>
            <a:r>
              <a:rPr lang="en-US" altLang="zh-TW" sz="2800" smtClean="0">
                <a:solidFill>
                  <a:srgbClr val="0000FF"/>
                </a:solidFill>
              </a:rPr>
              <a:t>LPC</a:t>
            </a:r>
            <a:r>
              <a:rPr lang="en-US" altLang="zh-TW" sz="2800" smtClean="0"/>
              <a:t>) facility</a:t>
            </a:r>
          </a:p>
          <a:p>
            <a:pPr lvl="1" eaLnBrk="1" hangingPunct="1"/>
            <a:r>
              <a:rPr lang="en-US" altLang="zh-TW" sz="2400" smtClean="0"/>
              <a:t>Only works between processes on the same machine</a:t>
            </a:r>
          </a:p>
          <a:p>
            <a:pPr lvl="1" eaLnBrk="1" hangingPunct="1"/>
            <a:r>
              <a:rPr lang="en-US" altLang="zh-TW" sz="2400" smtClean="0"/>
              <a:t>Uses ports (like mailboxes) to establish and maintain communication channels</a:t>
            </a:r>
          </a:p>
          <a:p>
            <a:pPr lvl="1" eaLnBrk="1" hangingPunct="1"/>
            <a:r>
              <a:rPr lang="en-US" altLang="zh-TW" sz="2400" smtClean="0"/>
              <a:t>Communication works as follows:</a:t>
            </a:r>
          </a:p>
          <a:p>
            <a:pPr marL="1085850" lvl="2" eaLnBrk="1" hangingPunct="1"/>
            <a:r>
              <a:rPr lang="en-US" altLang="zh-TW" sz="2000" smtClean="0"/>
              <a:t>The client opens a handle to the subsystem</a:t>
            </a:r>
            <a:r>
              <a:rPr lang="en-US" altLang="zh-TW" sz="2000" smtClean="0">
                <a:latin typeface="Times New Roman" panose="02020603050405020304" pitchFamily="18" charset="0"/>
              </a:rPr>
              <a:t>’</a:t>
            </a:r>
            <a:r>
              <a:rPr lang="en-US" altLang="zh-TW" sz="2000" smtClean="0"/>
              <a:t>s connection port object</a:t>
            </a:r>
          </a:p>
          <a:p>
            <a:pPr marL="1085850" lvl="2" eaLnBrk="1" hangingPunct="1"/>
            <a:r>
              <a:rPr lang="en-US" altLang="zh-TW" sz="2000" smtClean="0"/>
              <a:t>The client sends a connection request</a:t>
            </a:r>
          </a:p>
          <a:p>
            <a:pPr marL="1085850" lvl="2" eaLnBrk="1" hangingPunct="1"/>
            <a:r>
              <a:rPr lang="en-US" altLang="zh-TW" sz="2000" smtClean="0"/>
              <a:t>The server creates two private communication ports and returns the handle to one of them to the client</a:t>
            </a:r>
          </a:p>
          <a:p>
            <a:pPr marL="1085850" lvl="2" eaLnBrk="1" hangingPunct="1"/>
            <a:r>
              <a:rPr lang="en-US" altLang="zh-TW" sz="2000" smtClean="0"/>
              <a:t>The client and server use the corresponding port handle to send messages or callbacks and to listen for replies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4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4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4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4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94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94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4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標題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31863"/>
          </a:xfrm>
        </p:spPr>
        <p:txBody>
          <a:bodyPr/>
          <a:lstStyle/>
          <a:p>
            <a:r>
              <a:rPr lang="en-US" altLang="zh-TW" sz="3600" smtClean="0"/>
              <a:t>Local procedure calls in windows XP</a:t>
            </a:r>
            <a:endParaRPr lang="zh-TW" altLang="en-US" sz="3600" smtClean="0"/>
          </a:p>
        </p:txBody>
      </p:sp>
      <p:sp>
        <p:nvSpPr>
          <p:cNvPr id="110595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A08EDD-ABAC-4053-B350-EE77AF852474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10596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10597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AE3384-C393-4D43-B4B5-9EBF7D8B2BF1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kumimoji="0" lang="en-US" altLang="zh-TW" sz="1400"/>
          </a:p>
        </p:txBody>
      </p:sp>
      <p:pic>
        <p:nvPicPr>
          <p:cNvPr id="110598" name="Picture 4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390650"/>
            <a:ext cx="8116888" cy="417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310E21-6A17-4B00-83EA-54CDD3FC27E6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126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126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638158-A0C8-4510-9E79-4EBC346C234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kumimoji="0" lang="en-US" altLang="zh-TW" sz="1400"/>
          </a:p>
        </p:txBody>
      </p:sp>
      <p:sp>
        <p:nvSpPr>
          <p:cNvPr id="112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Client-Server Communication</a:t>
            </a:r>
          </a:p>
        </p:txBody>
      </p:sp>
      <p:sp>
        <p:nvSpPr>
          <p:cNvPr id="11264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Sockets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Remote Procedure Calls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Remote Method Invocation (Java)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BB633A-6064-4584-831A-BA2B04CA92D4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146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146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65AC06-7F54-47FC-82C7-0695B5AE8FA3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kumimoji="0" lang="en-US" altLang="zh-TW" sz="1400"/>
          </a:p>
        </p:txBody>
      </p:sp>
      <p:sp>
        <p:nvSpPr>
          <p:cNvPr id="11469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49225"/>
            <a:ext cx="7772400" cy="644525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Sockets</a:t>
            </a:r>
          </a:p>
        </p:txBody>
      </p:sp>
      <p:sp>
        <p:nvSpPr>
          <p:cNvPr id="870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60388" y="788988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2800" dirty="0" smtClean="0"/>
              <a:t>A socket is defined as an </a:t>
            </a:r>
            <a:r>
              <a:rPr lang="en-US" altLang="zh-TW" sz="2800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endpoint for communication</a:t>
            </a:r>
            <a:endParaRPr lang="en-US" altLang="zh-TW" sz="2800" dirty="0" smtClean="0"/>
          </a:p>
          <a:p>
            <a:pPr eaLnBrk="1" hangingPunct="1">
              <a:defRPr/>
            </a:pPr>
            <a:r>
              <a:rPr lang="en-US" altLang="zh-TW" sz="2800" dirty="0" smtClean="0"/>
              <a:t>Concatenation of IP address and port</a:t>
            </a:r>
          </a:p>
          <a:p>
            <a:pPr lvl="1" eaLnBrk="1" hangingPunct="1">
              <a:defRPr/>
            </a:pPr>
            <a:r>
              <a:rPr lang="en-US" altLang="zh-TW" sz="2400" dirty="0" smtClean="0"/>
              <a:t>The socket </a:t>
            </a:r>
            <a:r>
              <a:rPr lang="en-US" altLang="zh-TW" sz="2400" b="1" dirty="0" smtClean="0"/>
              <a:t>161.25.19.8:1625</a:t>
            </a:r>
            <a:r>
              <a:rPr lang="en-US" altLang="zh-TW" sz="2400" dirty="0" smtClean="0"/>
              <a:t> refers to port </a:t>
            </a:r>
            <a:r>
              <a:rPr lang="en-US" altLang="zh-TW" sz="2400" b="1" dirty="0" smtClean="0"/>
              <a:t>1625</a:t>
            </a:r>
            <a:r>
              <a:rPr lang="en-US" altLang="zh-TW" sz="2400" dirty="0" smtClean="0"/>
              <a:t> on host </a:t>
            </a:r>
            <a:r>
              <a:rPr lang="en-US" altLang="zh-TW" sz="2400" b="1" dirty="0" smtClean="0"/>
              <a:t>161.25.19.8</a:t>
            </a:r>
          </a:p>
          <a:p>
            <a:pPr eaLnBrk="1" hangingPunct="1">
              <a:defRPr/>
            </a:pPr>
            <a:r>
              <a:rPr lang="en-US" altLang="zh-TW" sz="2800" dirty="0" smtClean="0"/>
              <a:t>Communication consists between a pair of sockets</a:t>
            </a:r>
          </a:p>
        </p:txBody>
      </p:sp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925" y="3613150"/>
            <a:ext cx="3511550" cy="254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8C4915-E651-4182-BBE4-6CCCA615274C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1673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167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AF03F2-AEE6-49FD-AAA2-B7423E6951CB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kumimoji="0" lang="en-US" altLang="zh-TW" sz="1400"/>
          </a:p>
        </p:txBody>
      </p:sp>
      <p:sp>
        <p:nvSpPr>
          <p:cNvPr id="11674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17475"/>
            <a:ext cx="7772400" cy="673100"/>
          </a:xfrm>
        </p:spPr>
        <p:txBody>
          <a:bodyPr/>
          <a:lstStyle/>
          <a:p>
            <a:pPr eaLnBrk="1" hangingPunct="1"/>
            <a:r>
              <a:rPr lang="en-US" altLang="zh-TW" smtClean="0"/>
              <a:t>Remote Procedure Calls (1)</a:t>
            </a:r>
          </a:p>
        </p:txBody>
      </p:sp>
      <p:sp>
        <p:nvSpPr>
          <p:cNvPr id="880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6875" y="842963"/>
            <a:ext cx="8078788" cy="5588000"/>
          </a:xfrm>
        </p:spPr>
        <p:txBody>
          <a:bodyPr/>
          <a:lstStyle/>
          <a:p>
            <a:pPr eaLnBrk="1" hangingPunct="1"/>
            <a:r>
              <a:rPr lang="en-US" altLang="zh-TW" sz="2400" smtClean="0"/>
              <a:t>Remote procedure call (</a:t>
            </a:r>
            <a:r>
              <a:rPr lang="en-US" altLang="zh-TW" sz="2800" b="1" smtClean="0">
                <a:solidFill>
                  <a:srgbClr val="FF3300"/>
                </a:solidFill>
              </a:rPr>
              <a:t>RPC</a:t>
            </a:r>
            <a:r>
              <a:rPr lang="en-US" altLang="zh-TW" sz="2400" smtClean="0"/>
              <a:t>) abstracts procedure calls between processes on networked systems</a:t>
            </a:r>
          </a:p>
          <a:p>
            <a:pPr eaLnBrk="1" hangingPunct="1"/>
            <a:r>
              <a:rPr lang="en-US" altLang="zh-TW" sz="2400" b="1" smtClean="0">
                <a:solidFill>
                  <a:srgbClr val="FF3300"/>
                </a:solidFill>
              </a:rPr>
              <a:t>Stubs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 panose="020B0604020202020204" pitchFamily="34" charset="0"/>
              </a:rPr>
              <a:t>–</a:t>
            </a:r>
            <a:r>
              <a:rPr lang="en-US" altLang="zh-TW" sz="2400" smtClean="0"/>
              <a:t> client-side proxy for the actual procedure on the server</a:t>
            </a:r>
          </a:p>
          <a:p>
            <a:pPr eaLnBrk="1" hangingPunct="1"/>
            <a:r>
              <a:rPr lang="en-US" altLang="zh-TW" sz="2400" smtClean="0"/>
              <a:t>The </a:t>
            </a:r>
            <a:r>
              <a:rPr lang="en-US" altLang="zh-TW" sz="2400" smtClean="0">
                <a:solidFill>
                  <a:srgbClr val="FF3300"/>
                </a:solidFill>
              </a:rPr>
              <a:t>client-side stub</a:t>
            </a:r>
            <a:r>
              <a:rPr lang="en-US" altLang="zh-TW" sz="2400" smtClean="0"/>
              <a:t> locates the server and </a:t>
            </a:r>
            <a:r>
              <a:rPr lang="en-US" altLang="zh-TW" sz="2400" i="1" smtClean="0"/>
              <a:t>marshalls</a:t>
            </a:r>
            <a:r>
              <a:rPr lang="en-US" altLang="zh-TW" sz="2400" smtClean="0"/>
              <a:t> the parameters</a:t>
            </a:r>
          </a:p>
          <a:p>
            <a:pPr eaLnBrk="1" hangingPunct="1"/>
            <a:r>
              <a:rPr lang="en-US" altLang="zh-TW" sz="2400" smtClean="0"/>
              <a:t>The </a:t>
            </a:r>
            <a:r>
              <a:rPr lang="en-US" altLang="zh-TW" sz="2400" smtClean="0">
                <a:solidFill>
                  <a:srgbClr val="0000FF"/>
                </a:solidFill>
              </a:rPr>
              <a:t>server-side stub</a:t>
            </a:r>
            <a:r>
              <a:rPr lang="en-US" altLang="zh-TW" sz="2400" smtClean="0"/>
              <a:t> receives this message, unpacks the marshalled parameters, and performs the procedure on the server</a:t>
            </a:r>
          </a:p>
          <a:p>
            <a:pPr eaLnBrk="1" hangingPunct="1"/>
            <a:r>
              <a:rPr lang="en-US" altLang="zh-TW" sz="2400" smtClean="0"/>
              <a:t>Issues and solutions: external data representation (XDR), </a:t>
            </a:r>
            <a:r>
              <a:rPr lang="en-US" altLang="zh-TW" sz="2400" smtClean="0">
                <a:solidFill>
                  <a:srgbClr val="0000FF"/>
                </a:solidFill>
              </a:rPr>
              <a:t>timestamp</a:t>
            </a:r>
            <a:r>
              <a:rPr lang="en-US" altLang="zh-TW" sz="2400" smtClean="0"/>
              <a:t>, matchmaker</a:t>
            </a:r>
          </a:p>
          <a:p>
            <a:pPr eaLnBrk="1" hangingPunct="1"/>
            <a:r>
              <a:rPr lang="en-US" altLang="zh-TW" sz="2400" smtClean="0"/>
              <a:t>On Windows, stub code compile from specification written in </a:t>
            </a:r>
            <a:r>
              <a:rPr lang="en-US" altLang="zh-TW" sz="2400" smtClean="0">
                <a:solidFill>
                  <a:srgbClr val="0000FF"/>
                </a:solidFill>
              </a:rPr>
              <a:t>Microsoft Interface Definition Language </a:t>
            </a:r>
            <a:r>
              <a:rPr lang="en-US" altLang="zh-TW" sz="2400" smtClean="0"/>
              <a:t>(MIDL)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577ECC-7AA6-467C-BACD-19666DAF9F3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187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187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CB34B5-D201-4A82-A3DA-48D1D7FDD85D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kumimoji="0" lang="en-US" altLang="zh-TW" sz="1400"/>
          </a:p>
        </p:txBody>
      </p:sp>
      <p:sp>
        <p:nvSpPr>
          <p:cNvPr id="11878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73113"/>
          </a:xfrm>
        </p:spPr>
        <p:txBody>
          <a:bodyPr/>
          <a:lstStyle/>
          <a:p>
            <a:pPr eaLnBrk="1" hangingPunct="1"/>
            <a:r>
              <a:rPr lang="en-US" altLang="zh-TW" smtClean="0"/>
              <a:t>Remote Procedure Calls (2)</a:t>
            </a:r>
          </a:p>
        </p:txBody>
      </p:sp>
      <p:sp>
        <p:nvSpPr>
          <p:cNvPr id="306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7513" y="993775"/>
            <a:ext cx="8193087" cy="5197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Semantics of a call</a:t>
            </a:r>
            <a:r>
              <a:rPr lang="en-US" altLang="zh-TW" sz="2400" smtClean="0"/>
              <a:t>: RPCs may fail, or be duplicated and execute more than once, as a result of common </a:t>
            </a:r>
            <a:r>
              <a:rPr lang="en-US" altLang="zh-TW" sz="2400" smtClean="0">
                <a:solidFill>
                  <a:srgbClr val="FF3300"/>
                </a:solidFill>
              </a:rPr>
              <a:t>network errors</a:t>
            </a:r>
            <a:r>
              <a:rPr lang="en-US" altLang="zh-TW" sz="2400" smtClean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exact once</a:t>
            </a:r>
            <a:r>
              <a:rPr lang="en-US" altLang="zh-TW" sz="2400" smtClean="0"/>
              <a:t> vs. </a:t>
            </a: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at most once</a:t>
            </a:r>
            <a:r>
              <a:rPr lang="en-US" altLang="zh-TW" sz="2400" i="1" smtClean="0">
                <a:latin typeface="Times New Roman" panose="02020603050405020304" pitchFamily="18" charset="0"/>
              </a:rPr>
              <a:t> </a:t>
            </a:r>
            <a:r>
              <a:rPr lang="en-US" altLang="zh-TW" sz="2400" smtClean="0">
                <a:solidFill>
                  <a:srgbClr val="0000FF"/>
                </a:solidFill>
              </a:rPr>
              <a:t>semantics </a:t>
            </a:r>
            <a:endParaRPr lang="en-US" altLang="zh-TW" sz="2400" i="1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at most once</a:t>
            </a:r>
            <a:r>
              <a:rPr lang="en-US" altLang="zh-TW" sz="2400" smtClean="0"/>
              <a:t>: implemented by attaching a timestamp to each message. The server must keep a history large enough to ensure that repeated messages are detected.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i="1" smtClean="0">
                <a:solidFill>
                  <a:srgbClr val="FF3300"/>
                </a:solidFill>
                <a:latin typeface="Times New Roman" panose="02020603050405020304" pitchFamily="18" charset="0"/>
              </a:rPr>
              <a:t>exact once</a:t>
            </a:r>
            <a:r>
              <a:rPr lang="en-US" altLang="zh-TW" sz="2400" smtClean="0"/>
              <a:t> : remove the risk that the server will never receive the request. 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000" smtClean="0"/>
              <a:t>The server must </a:t>
            </a:r>
            <a:r>
              <a:rPr lang="en-US" altLang="zh-TW" sz="2000" smtClean="0">
                <a:solidFill>
                  <a:srgbClr val="FF3300"/>
                </a:solidFill>
              </a:rPr>
              <a:t>acknowledge to the client</a:t>
            </a:r>
            <a:r>
              <a:rPr lang="en-US" altLang="zh-TW" sz="2000" smtClean="0"/>
              <a:t> that the RPC call was received and executed. 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000" smtClean="0"/>
              <a:t>The client must resend each RPC call periodically until it receives the ACK.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565858-BFF9-48AD-AC29-15D02FD636A4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20835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20836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C8A857-EFE5-41D7-886D-460153168033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kumimoji="0" lang="en-US" altLang="zh-TW" sz="1400"/>
          </a:p>
        </p:txBody>
      </p:sp>
      <p:sp>
        <p:nvSpPr>
          <p:cNvPr id="12083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71450"/>
            <a:ext cx="7772400" cy="661988"/>
          </a:xfrm>
        </p:spPr>
        <p:txBody>
          <a:bodyPr/>
          <a:lstStyle/>
          <a:p>
            <a:pPr eaLnBrk="1" hangingPunct="1"/>
            <a:r>
              <a:rPr lang="en-US" altLang="zh-TW" smtClean="0"/>
              <a:t>Execution of RPC</a:t>
            </a:r>
          </a:p>
        </p:txBody>
      </p:sp>
      <p:pic>
        <p:nvPicPr>
          <p:cNvPr id="12083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0" t="874" r="19363" b="2155"/>
          <a:stretch>
            <a:fillRect/>
          </a:stretch>
        </p:blipFill>
        <p:spPr bwMode="auto">
          <a:xfrm>
            <a:off x="255588" y="893763"/>
            <a:ext cx="5567362" cy="508158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010275" y="1312863"/>
            <a:ext cx="313372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32-bit integers: Some systems,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big-endian</a:t>
            </a:r>
            <a:r>
              <a:rPr lang="en-US" altLang="zh-TW" sz="2400"/>
              <a:t> store the most significant byte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first, while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FF"/>
                </a:solidFill>
              </a:rPr>
              <a:t>little-endian</a:t>
            </a:r>
            <a:r>
              <a:rPr lang="en-US" altLang="zh-TW" sz="2400"/>
              <a:t> store the least significant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byte first.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/>
              <a:t>To resolve differences: external data representation (</a:t>
            </a:r>
            <a:r>
              <a:rPr lang="en-US" altLang="zh-TW" sz="2400">
                <a:solidFill>
                  <a:srgbClr val="0000FF"/>
                </a:solidFill>
              </a:rPr>
              <a:t>XDR</a:t>
            </a:r>
            <a:r>
              <a:rPr lang="en-US" altLang="zh-TW" sz="240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F563FB-5817-4595-918D-86A9D554A29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228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228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6EBC05-7BCF-4ADC-8DA7-DD580AB21AE5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kumimoji="0" lang="en-US" altLang="zh-TW" sz="1400"/>
          </a:p>
        </p:txBody>
      </p:sp>
      <p:sp>
        <p:nvSpPr>
          <p:cNvPr id="1228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8" y="139700"/>
            <a:ext cx="8847137" cy="773113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Representational State Transfer</a:t>
            </a:r>
            <a:r>
              <a:rPr lang="zh-TW" altLang="en-US" sz="4000" smtClean="0"/>
              <a:t> </a:t>
            </a:r>
            <a:r>
              <a:rPr lang="en-US" altLang="zh-TW" sz="4000" smtClean="0"/>
              <a:t>(REST)</a:t>
            </a:r>
          </a:p>
        </p:txBody>
      </p:sp>
      <p:sp>
        <p:nvSpPr>
          <p:cNvPr id="306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7513" y="993775"/>
            <a:ext cx="8193087" cy="51974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In computing, representational state transfer (REST) is an </a:t>
            </a:r>
            <a:r>
              <a:rPr lang="en-US" altLang="zh-TW" sz="2400" dirty="0" smtClean="0">
                <a:solidFill>
                  <a:srgbClr val="00B050"/>
                </a:solidFill>
              </a:rPr>
              <a:t>architectural</a:t>
            </a:r>
            <a:r>
              <a:rPr lang="en-US" altLang="zh-TW" sz="2400" dirty="0" smtClean="0">
                <a:solidFill>
                  <a:srgbClr val="0000FF"/>
                </a:solidFill>
              </a:rPr>
              <a:t> style of application programming interfaces consisting of a coordinated set of </a:t>
            </a:r>
            <a:r>
              <a:rPr lang="en-US" altLang="zh-TW" sz="2400" dirty="0" smtClean="0">
                <a:solidFill>
                  <a:srgbClr val="FF0000"/>
                </a:solidFill>
              </a:rPr>
              <a:t>components</a:t>
            </a:r>
            <a:r>
              <a:rPr lang="en-US" altLang="zh-TW" sz="2400" dirty="0" smtClean="0">
                <a:solidFill>
                  <a:srgbClr val="0000FF"/>
                </a:solidFill>
              </a:rPr>
              <a:t>, </a:t>
            </a:r>
            <a:r>
              <a:rPr lang="en-US" altLang="zh-TW" sz="2400" dirty="0" smtClean="0">
                <a:solidFill>
                  <a:srgbClr val="FF0000"/>
                </a:solidFill>
              </a:rPr>
              <a:t>connectors</a:t>
            </a:r>
            <a:r>
              <a:rPr lang="en-US" altLang="zh-TW" sz="2400" dirty="0" smtClean="0">
                <a:solidFill>
                  <a:srgbClr val="0000FF"/>
                </a:solidFill>
              </a:rPr>
              <a:t>, and </a:t>
            </a:r>
            <a:r>
              <a:rPr lang="en-US" altLang="zh-TW" sz="2400" dirty="0" smtClean="0">
                <a:solidFill>
                  <a:srgbClr val="FF0000"/>
                </a:solidFill>
              </a:rPr>
              <a:t>data elements</a:t>
            </a:r>
            <a:r>
              <a:rPr lang="en-US" altLang="zh-TW" sz="2400" dirty="0" smtClean="0">
                <a:solidFill>
                  <a:srgbClr val="0000FF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RESTful systems:</a:t>
            </a:r>
            <a:r>
              <a:rPr lang="zh-TW" altLang="en-US" sz="2400" dirty="0" smtClean="0">
                <a:solidFill>
                  <a:srgbClr val="0000FF"/>
                </a:solidFill>
              </a:rPr>
              <a:t> </a:t>
            </a:r>
            <a:r>
              <a:rPr lang="en-US" altLang="zh-TW" sz="2400" dirty="0" smtClean="0">
                <a:solidFill>
                  <a:srgbClr val="0000FF"/>
                </a:solidFill>
              </a:rPr>
              <a:t> communicate over HTTP with the same HTTP </a:t>
            </a:r>
            <a:r>
              <a:rPr lang="en-US" altLang="zh-TW" sz="2400" dirty="0" smtClean="0">
                <a:solidFill>
                  <a:srgbClr val="FF0000"/>
                </a:solidFill>
              </a:rPr>
              <a:t>verbs</a:t>
            </a:r>
            <a:r>
              <a:rPr lang="en-US" altLang="zh-TW" sz="2400" dirty="0" smtClean="0">
                <a:solidFill>
                  <a:srgbClr val="0000FF"/>
                </a:solidFill>
              </a:rPr>
              <a:t> (GET, POST, PUT, DELETE, etc.) that web browsers use to retrieve web pages and to send data to remote servers.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REST constraints: Client–server, </a:t>
            </a:r>
            <a:r>
              <a:rPr lang="en-US" altLang="zh-TW" sz="2400" dirty="0" smtClean="0">
                <a:solidFill>
                  <a:srgbClr val="FF0000"/>
                </a:solidFill>
              </a:rPr>
              <a:t>Stateless</a:t>
            </a:r>
            <a:r>
              <a:rPr lang="en-US" altLang="zh-TW" sz="2400" dirty="0" smtClean="0">
                <a:solidFill>
                  <a:srgbClr val="0000FF"/>
                </a:solidFill>
              </a:rPr>
              <a:t>, </a:t>
            </a:r>
            <a:r>
              <a:rPr lang="en-US" altLang="zh-TW" sz="2400" dirty="0" smtClean="0">
                <a:solidFill>
                  <a:srgbClr val="00B050"/>
                </a:solidFill>
              </a:rPr>
              <a:t>Cacheable</a:t>
            </a:r>
            <a:r>
              <a:rPr lang="en-US" altLang="zh-TW" sz="2400" dirty="0" smtClean="0">
                <a:solidFill>
                  <a:srgbClr val="0000FF"/>
                </a:solidFill>
              </a:rPr>
              <a:t>, Layered system, Code on demand (optional), Uniform interface, Identification of resources (URI),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 smtClean="0">
                <a:solidFill>
                  <a:srgbClr val="0000FF"/>
                </a:solidFill>
              </a:rPr>
              <a:t>REST vs. RPC(SOAP, XML-RPC)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 smtClean="0">
                <a:solidFill>
                  <a:srgbClr val="0000FF"/>
                </a:solidFill>
              </a:rPr>
              <a:t>REST is an architectural style, while SOAP is a protocol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 smtClean="0">
                <a:solidFill>
                  <a:srgbClr val="0000FF"/>
                </a:solidFill>
              </a:rPr>
              <a:t>REST is more predictable than RPC as it relies on the shared semantic of HTTP verbs.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ADB738-8D5D-4E01-8375-C10652DBBDB9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249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249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277E21-6631-4067-ABCD-330A6610A227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kumimoji="0" lang="en-US" altLang="zh-TW" sz="1400"/>
          </a:p>
        </p:txBody>
      </p:sp>
      <p:sp>
        <p:nvSpPr>
          <p:cNvPr id="1249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0663"/>
            <a:ext cx="9144000" cy="773112"/>
          </a:xfrm>
        </p:spPr>
        <p:txBody>
          <a:bodyPr/>
          <a:lstStyle/>
          <a:p>
            <a:pPr algn="ctr" eaLnBrk="1" hangingPunct="1"/>
            <a:r>
              <a:rPr lang="en-US" altLang="zh-TW" sz="3600" smtClean="0"/>
              <a:t>Message Queuing Telemetry Transport,</a:t>
            </a:r>
            <a:br>
              <a:rPr lang="en-US" altLang="zh-TW" sz="3600" smtClean="0"/>
            </a:br>
            <a:r>
              <a:rPr lang="en-US" altLang="zh-TW" sz="3600" smtClean="0"/>
              <a:t> </a:t>
            </a:r>
            <a:r>
              <a:rPr lang="en-US" altLang="zh-TW" sz="3200" smtClean="0"/>
              <a:t>MQTT</a:t>
            </a:r>
            <a:endParaRPr lang="en-US" altLang="zh-TW" sz="3600" smtClean="0"/>
          </a:p>
        </p:txBody>
      </p:sp>
      <p:sp>
        <p:nvSpPr>
          <p:cNvPr id="3061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7513" y="893763"/>
            <a:ext cx="8193087" cy="5297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FF0000"/>
                </a:solidFill>
              </a:rPr>
              <a:t>Lightweight</a:t>
            </a:r>
            <a:r>
              <a:rPr lang="en-US" altLang="zh-TW" sz="2400" smtClean="0">
                <a:solidFill>
                  <a:srgbClr val="0000FF"/>
                </a:solidFill>
              </a:rPr>
              <a:t> messaging protocol that provides </a:t>
            </a:r>
            <a:r>
              <a:rPr lang="en-US" altLang="zh-TW" sz="2400" smtClean="0">
                <a:solidFill>
                  <a:srgbClr val="7030A0"/>
                </a:solidFill>
              </a:rPr>
              <a:t>resource-constrained network clients </a:t>
            </a:r>
            <a:r>
              <a:rPr lang="en-US" altLang="zh-TW" sz="2400" smtClean="0">
                <a:solidFill>
                  <a:srgbClr val="0000FF"/>
                </a:solidFill>
              </a:rPr>
              <a:t>with a simple way to </a:t>
            </a:r>
            <a:r>
              <a:rPr lang="en-US" altLang="zh-TW" sz="2400" smtClean="0">
                <a:solidFill>
                  <a:srgbClr val="7030A0"/>
                </a:solidFill>
              </a:rPr>
              <a:t>distribute telemetry information</a:t>
            </a:r>
            <a:r>
              <a:rPr lang="en-US" altLang="zh-TW" sz="2400" smtClean="0">
                <a:solidFill>
                  <a:srgbClr val="0000FF"/>
                </a:solidFill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used for machine-to-machine (M2M) communication and plays an important role in the Internet of Things (IoT).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solidFill>
                  <a:srgbClr val="0000FF"/>
                </a:solidFill>
              </a:rPr>
              <a:t>created by Dr. Andy Standford-Clark of IBM and Arlen Nipper of Arcom (now Eurotech) in 1999 as a cost-effective, reliable way to connect monitoring devices used in the oil and gas industries with remote enterprise servers. </a:t>
            </a:r>
            <a:endParaRPr lang="en-US" altLang="zh-TW" sz="2400" smtClean="0"/>
          </a:p>
        </p:txBody>
      </p:sp>
      <p:pic>
        <p:nvPicPr>
          <p:cNvPr id="124935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3" y="4148138"/>
            <a:ext cx="3287712" cy="270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6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5D6BF5-3F8F-4673-B094-E34688CB3038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269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269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708138-1B52-4568-B6BC-DA1A7ED5B5F8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kumimoji="0" lang="en-US" altLang="zh-TW" sz="1400"/>
          </a:p>
        </p:txBody>
      </p:sp>
      <p:sp>
        <p:nvSpPr>
          <p:cNvPr id="1269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30250"/>
          </a:xfrm>
        </p:spPr>
        <p:txBody>
          <a:bodyPr/>
          <a:lstStyle/>
          <a:p>
            <a:pPr eaLnBrk="1" hangingPunct="1"/>
            <a:r>
              <a:rPr lang="en-US" altLang="zh-TW" smtClean="0"/>
              <a:t>Remote Method Invocation</a:t>
            </a:r>
          </a:p>
        </p:txBody>
      </p:sp>
      <p:sp>
        <p:nvSpPr>
          <p:cNvPr id="12698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19113" y="939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TW" smtClean="0"/>
              <a:t>Remote Method Invocation (RMI) is a Java mechanism similar to RPCs, but</a:t>
            </a:r>
            <a:endParaRPr lang="en-US" altLang="zh-TW" sz="2800" smtClean="0"/>
          </a:p>
          <a:p>
            <a:pPr lvl="1" eaLnBrk="1" hangingPunct="1"/>
            <a:r>
              <a:rPr lang="en-US" altLang="zh-TW" sz="2400" smtClean="0"/>
              <a:t>RMI supports invoking a methods on remote objects directly</a:t>
            </a:r>
          </a:p>
          <a:p>
            <a:pPr lvl="1" eaLnBrk="1" hangingPunct="1"/>
            <a:r>
              <a:rPr lang="en-US" altLang="zh-TW" sz="2400" smtClean="0"/>
              <a:t>The parameters to remote procedures are ordinary data structures</a:t>
            </a:r>
          </a:p>
          <a:p>
            <a:pPr lvl="1" eaLnBrk="1" hangingPunct="1"/>
            <a:endParaRPr lang="en-US" altLang="zh-TW" sz="2400" smtClean="0"/>
          </a:p>
          <a:p>
            <a:pPr lvl="1" eaLnBrk="1" hangingPunct="1"/>
            <a:endParaRPr lang="en-US" altLang="zh-TW" sz="2000" smtClean="0"/>
          </a:p>
        </p:txBody>
      </p:sp>
      <p:pic>
        <p:nvPicPr>
          <p:cNvPr id="12698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" t="24295" r="481" b="24744"/>
          <a:stretch>
            <a:fillRect/>
          </a:stretch>
        </p:blipFill>
        <p:spPr bwMode="auto">
          <a:xfrm>
            <a:off x="1182688" y="3706813"/>
            <a:ext cx="6908800" cy="26670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1F10AB-978C-493C-B74A-32BD159F8C97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29027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29028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9410FC-A296-4113-8152-5BC5FE2C0813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kumimoji="0" lang="en-US" altLang="zh-TW" sz="1400"/>
          </a:p>
        </p:txBody>
      </p:sp>
      <p:sp>
        <p:nvSpPr>
          <p:cNvPr id="12902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61988"/>
          </a:xfrm>
        </p:spPr>
        <p:txBody>
          <a:bodyPr/>
          <a:lstStyle/>
          <a:p>
            <a:pPr eaLnBrk="1" hangingPunct="1"/>
            <a:r>
              <a:rPr lang="en-US" altLang="zh-TW" smtClean="0"/>
              <a:t>Marshalling Parameters</a:t>
            </a:r>
          </a:p>
        </p:txBody>
      </p:sp>
      <p:pic>
        <p:nvPicPr>
          <p:cNvPr id="12903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" t="14528" r="1242" b="14769"/>
          <a:stretch>
            <a:fillRect/>
          </a:stretch>
        </p:blipFill>
        <p:spPr bwMode="auto">
          <a:xfrm>
            <a:off x="638175" y="1047750"/>
            <a:ext cx="8027988" cy="4684713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6A0ABA-8B74-4674-B6CA-4CB4A4515D12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310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31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93E1EB-319C-4A81-9F3E-9CA50C71C405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kumimoji="0" lang="en-US" altLang="zh-TW" sz="1400"/>
          </a:p>
        </p:txBody>
      </p:sp>
      <p:sp>
        <p:nvSpPr>
          <p:cNvPr id="1310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08025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Pipes</a:t>
            </a:r>
          </a:p>
        </p:txBody>
      </p:sp>
      <p:sp>
        <p:nvSpPr>
          <p:cNvPr id="300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3388" y="979488"/>
            <a:ext cx="7772400" cy="29606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smtClean="0"/>
              <a:t>One of the 1st IPC mechanism in early UNIX systems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smtClean="0"/>
              <a:t>4 issues in implementing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/>
              <a:t>uni- or bi-directional?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/>
              <a:t>half or full duplex? (travel in both directions simultaneously)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/>
              <a:t>Must a relationship (parent </a:t>
            </a:r>
            <a:r>
              <a:rPr lang="en-US" altLang="zh-TW" sz="2000" smtClean="0">
                <a:latin typeface="Helvetica" panose="020B0604020202020204" pitchFamily="34" charset="0"/>
              </a:rPr>
              <a:t>–</a:t>
            </a:r>
            <a:r>
              <a:rPr lang="en-US" altLang="zh-TW" sz="2000" smtClean="0"/>
              <a:t> child) exist?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/>
              <a:t>Over a network, or reside on the same machine?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smtClean="0"/>
              <a:t>Ordinary Pipes: unidirectional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000" smtClean="0"/>
              <a:t>An example: Figures 3.23, 3.24 (Unix); Figures 3.25, 3.26 (Windows)</a:t>
            </a:r>
          </a:p>
          <a:p>
            <a:pPr lvl="1" eaLnBrk="1" hangingPunct="1">
              <a:lnSpc>
                <a:spcPct val="80000"/>
              </a:lnSpc>
            </a:pPr>
            <a:endParaRPr lang="en-US" altLang="zh-TW" sz="2000" smtClean="0"/>
          </a:p>
        </p:txBody>
      </p:sp>
      <p:pic>
        <p:nvPicPr>
          <p:cNvPr id="131079" name="Picture 5" descr="fg3_22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4097338"/>
            <a:ext cx="7402512" cy="206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0039" name="Text Box 7"/>
          <p:cNvSpPr txBox="1">
            <a:spLocks noChangeArrowheads="1"/>
          </p:cNvSpPr>
          <p:nvPr/>
        </p:nvSpPr>
        <p:spPr bwMode="auto">
          <a:xfrm>
            <a:off x="0" y="5156200"/>
            <a:ext cx="746125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Read-end</a:t>
            </a:r>
          </a:p>
        </p:txBody>
      </p:sp>
      <p:sp>
        <p:nvSpPr>
          <p:cNvPr id="300040" name="Text Box 8"/>
          <p:cNvSpPr txBox="1">
            <a:spLocks noChangeArrowheads="1"/>
          </p:cNvSpPr>
          <p:nvPr/>
        </p:nvSpPr>
        <p:spPr bwMode="auto">
          <a:xfrm>
            <a:off x="7851775" y="5118100"/>
            <a:ext cx="746125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write-end</a:t>
            </a:r>
          </a:p>
        </p:txBody>
      </p:sp>
      <p:sp>
        <p:nvSpPr>
          <p:cNvPr id="300041" name="Text Box 9"/>
          <p:cNvSpPr txBox="1">
            <a:spLocks noChangeArrowheads="1"/>
          </p:cNvSpPr>
          <p:nvPr/>
        </p:nvSpPr>
        <p:spPr bwMode="auto">
          <a:xfrm>
            <a:off x="1971675" y="4129088"/>
            <a:ext cx="746125" cy="66992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4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write-end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0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0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0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00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00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00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0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9" grpId="0" animBg="1"/>
      <p:bldP spid="300040" grpId="0" animBg="1"/>
      <p:bldP spid="30004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B7C7A8-0735-4496-AAEA-F6CC28CACC96}" type="datetime1">
              <a:rPr kumimoji="0" lang="zh-TW" altLang="en-US" sz="1400" smtClean="0"/>
              <a:t>2018/3/5</a:t>
            </a:fld>
            <a:endParaRPr kumimoji="0" lang="en-US" altLang="zh-TW" sz="1400"/>
          </a:p>
        </p:txBody>
      </p:sp>
      <p:sp>
        <p:nvSpPr>
          <p:cNvPr id="1331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TW" sz="1400" smtClean="0"/>
              <a:t>OS3 2018</a:t>
            </a:r>
            <a:endParaRPr kumimoji="0" lang="en-US" altLang="zh-TW" sz="1400" smtClean="0"/>
          </a:p>
        </p:txBody>
      </p:sp>
      <p:sp>
        <p:nvSpPr>
          <p:cNvPr id="133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D72442-52FE-4F6A-928A-C878B2F629F1}" type="slidenum">
              <a:rPr kumimoji="0" lang="zh-TW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kumimoji="0" lang="en-US" altLang="zh-TW" sz="1400"/>
          </a:p>
        </p:txBody>
      </p:sp>
      <p:sp>
        <p:nvSpPr>
          <p:cNvPr id="133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08025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Named Pipes</a:t>
            </a:r>
          </a:p>
        </p:txBody>
      </p:sp>
      <p:sp>
        <p:nvSpPr>
          <p:cNvPr id="302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33388" y="1090613"/>
            <a:ext cx="8402637" cy="5035550"/>
          </a:xfrm>
        </p:spPr>
        <p:txBody>
          <a:bodyPr/>
          <a:lstStyle/>
          <a:p>
            <a:pPr eaLnBrk="1" hangingPunct="1"/>
            <a:r>
              <a:rPr lang="en-US" altLang="zh-TW" smtClean="0"/>
              <a:t>bi-directional</a:t>
            </a:r>
          </a:p>
          <a:p>
            <a:pPr eaLnBrk="1" hangingPunct="1"/>
            <a:r>
              <a:rPr lang="en-US" altLang="zh-TW" smtClean="0"/>
              <a:t>no parent-child relationship is required</a:t>
            </a:r>
          </a:p>
          <a:p>
            <a:pPr eaLnBrk="1" hangingPunct="1"/>
            <a:r>
              <a:rPr lang="en-US" altLang="zh-TW" smtClean="0"/>
              <a:t>Several processes can use it for communications. It may have several writers.</a:t>
            </a:r>
          </a:p>
          <a:p>
            <a:pPr eaLnBrk="1" hangingPunct="1"/>
            <a:r>
              <a:rPr lang="en-US" altLang="zh-TW" smtClean="0"/>
              <a:t>Continue to exist after communicating processes have finished.</a:t>
            </a:r>
          </a:p>
          <a:p>
            <a:pPr eaLnBrk="1" hangingPunct="1"/>
            <a:r>
              <a:rPr lang="en-US" altLang="zh-TW" smtClean="0"/>
              <a:t>Windows: full-duplex is allowed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4190</TotalTime>
  <Words>3926</Words>
  <Application>Microsoft Office PowerPoint</Application>
  <PresentationFormat>如螢幕大小 (4:3)</PresentationFormat>
  <Paragraphs>776</Paragraphs>
  <Slides>64</Slides>
  <Notes>63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64</vt:i4>
      </vt:variant>
    </vt:vector>
  </HeadingPairs>
  <TitlesOfParts>
    <vt:vector size="78" baseType="lpstr">
      <vt:lpstr>Adobe Gothic Std B</vt:lpstr>
      <vt:lpstr>Monaco</vt:lpstr>
      <vt:lpstr>Monotype Sorts</vt:lpstr>
      <vt:lpstr>新細明體</vt:lpstr>
      <vt:lpstr>Arial</vt:lpstr>
      <vt:lpstr>Book Antiqua</vt:lpstr>
      <vt:lpstr>Comic Sans MS</vt:lpstr>
      <vt:lpstr>Courier New</vt:lpstr>
      <vt:lpstr>Helvetica</vt:lpstr>
      <vt:lpstr>Symbol</vt:lpstr>
      <vt:lpstr>Tahoma</vt:lpstr>
      <vt:lpstr>Times New Roman</vt:lpstr>
      <vt:lpstr>Wingdings</vt:lpstr>
      <vt:lpstr>Blueprint</vt:lpstr>
      <vt:lpstr>Chapter 3  Processes </vt:lpstr>
      <vt:lpstr>Outline</vt:lpstr>
      <vt:lpstr>Process Concept (1)</vt:lpstr>
      <vt:lpstr>Process in Memory</vt:lpstr>
      <vt:lpstr>Process Concept (2)</vt:lpstr>
      <vt:lpstr>PowerPoint 簡報</vt:lpstr>
      <vt:lpstr>PowerPoint 簡報</vt:lpstr>
      <vt:lpstr>Process Control Block (PCB)</vt:lpstr>
      <vt:lpstr>PowerPoint 簡報</vt:lpstr>
      <vt:lpstr>PowerPoint 簡報</vt:lpstr>
      <vt:lpstr>Process Representation in Linux</vt:lpstr>
      <vt:lpstr>Process Scheduling</vt:lpstr>
      <vt:lpstr>Scheduling Queues</vt:lpstr>
      <vt:lpstr>PowerPoint 簡報</vt:lpstr>
      <vt:lpstr>Queuing-diagram Representation  of Process Scheduling</vt:lpstr>
      <vt:lpstr>Schedulers (1)</vt:lpstr>
      <vt:lpstr>Schedulers (2): Short-term scheduler (CPU scheduler)</vt:lpstr>
      <vt:lpstr>Schedulers (3): Medium-term Scheduler (Swapping)</vt:lpstr>
      <vt:lpstr>Schedulers (4)</vt:lpstr>
      <vt:lpstr>Schedulers (5)</vt:lpstr>
      <vt:lpstr>Multitasking in Mobile Systems</vt:lpstr>
      <vt:lpstr>Multitasking in Mobile Systems</vt:lpstr>
      <vt:lpstr>Process Creation (1)</vt:lpstr>
      <vt:lpstr>Process Creation (2)</vt:lpstr>
      <vt:lpstr>Forking Separate Process</vt:lpstr>
      <vt:lpstr>A Tree of Processes in Linux</vt:lpstr>
      <vt:lpstr>Process Termination</vt:lpstr>
      <vt:lpstr>Process Termination</vt:lpstr>
      <vt:lpstr>Multiprocess Architecture – Chrome Browser</vt:lpstr>
      <vt:lpstr>Multiprocess Architecture – Chrome Browser</vt:lpstr>
      <vt:lpstr>Cooperating Processes</vt:lpstr>
      <vt:lpstr>Interprocess Communication (IPC)  Shared Memory, Producer-Consumer Problem</vt:lpstr>
      <vt:lpstr>Bounded-Buffer – Shared-Memory Solution</vt:lpstr>
      <vt:lpstr>Bounded-Buffer – Producer Process </vt:lpstr>
      <vt:lpstr>Bounded-Buffer – Consumer Process</vt:lpstr>
      <vt:lpstr>Interprocess Communication (IPC) Message Passing (1)</vt:lpstr>
      <vt:lpstr>Interprocess Communication (IPC) Message Passing (2)</vt:lpstr>
      <vt:lpstr>Implementation Questions</vt:lpstr>
      <vt:lpstr>PowerPoint 簡報</vt:lpstr>
      <vt:lpstr>Direct Communication</vt:lpstr>
      <vt:lpstr>PowerPoint 簡報</vt:lpstr>
      <vt:lpstr>Indirect Communication (1)</vt:lpstr>
      <vt:lpstr>Indirect Communication (2)</vt:lpstr>
      <vt:lpstr>Indirect Communication (3)</vt:lpstr>
      <vt:lpstr>Synchronization</vt:lpstr>
      <vt:lpstr>Buffering (1)</vt:lpstr>
      <vt:lpstr>Buffering (2)</vt:lpstr>
      <vt:lpstr>An Example: Mach</vt:lpstr>
      <vt:lpstr>PowerPoint 簡報</vt:lpstr>
      <vt:lpstr>PowerPoint 簡報</vt:lpstr>
      <vt:lpstr>An Example:  POSIX</vt:lpstr>
      <vt:lpstr>An Example: Windows XP</vt:lpstr>
      <vt:lpstr>Local procedure calls in windows XP</vt:lpstr>
      <vt:lpstr>Client-Server Communication</vt:lpstr>
      <vt:lpstr>Sockets</vt:lpstr>
      <vt:lpstr>Remote Procedure Calls (1)</vt:lpstr>
      <vt:lpstr>Remote Procedure Calls (2)</vt:lpstr>
      <vt:lpstr>Execution of RPC</vt:lpstr>
      <vt:lpstr>Representational State Transfer (REST)</vt:lpstr>
      <vt:lpstr>Message Queuing Telemetry Transport,  MQTT</vt:lpstr>
      <vt:lpstr>Remote Method Invocation</vt:lpstr>
      <vt:lpstr>Marshalling Parameters</vt:lpstr>
      <vt:lpstr>Pipes</vt:lpstr>
      <vt:lpstr>Named Pipes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 Processes</dc:title>
  <dc:creator>Jia-Shung WANG</dc:creator>
  <cp:lastModifiedBy>JS</cp:lastModifiedBy>
  <cp:revision>211</cp:revision>
  <cp:lastPrinted>2018-03-05T06:04:35Z</cp:lastPrinted>
  <dcterms:created xsi:type="dcterms:W3CDTF">1999-07-07T12:46:17Z</dcterms:created>
  <dcterms:modified xsi:type="dcterms:W3CDTF">2018-03-05T06:22:08Z</dcterms:modified>
</cp:coreProperties>
</file>