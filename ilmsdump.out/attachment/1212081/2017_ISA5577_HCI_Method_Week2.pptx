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50" autoAdjust="0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0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9/21/17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9/21/17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9/21/17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9/21/17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9/21/17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9/21/17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9/21/17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9/21/17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9/21/17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9/21/17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9/21/17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9/21/17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9/21/17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9/21/17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rku.ca/mack/CourseNotes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sz="3200" dirty="0" smtClean="0">
                <a:latin typeface="Optima"/>
                <a:cs typeface="Optima"/>
              </a:rPr>
              <a:t>September </a:t>
            </a:r>
            <a:r>
              <a:rPr lang="en-US" sz="3200" dirty="0" smtClean="0">
                <a:latin typeface="Optima"/>
                <a:cs typeface="Optima"/>
              </a:rPr>
              <a:t>21, 2017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Today’s Agenda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Data collection</a:t>
            </a:r>
          </a:p>
          <a:p>
            <a:r>
              <a:rPr kumimoji="1" lang="en-US" altLang="zh-TW" dirty="0" smtClean="0"/>
              <a:t>HCI Research questions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144951" y="5098482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Source: Scott </a:t>
            </a:r>
            <a:r>
              <a:rPr kumimoji="1" lang="en-US" altLang="zh-TW" dirty="0" err="1" smtClean="0"/>
              <a:t>MacKenize</a:t>
            </a:r>
            <a:r>
              <a:rPr kumimoji="1" lang="en-US" altLang="zh-TW" dirty="0"/>
              <a:t> </a:t>
            </a:r>
            <a:r>
              <a:rPr kumimoji="1" lang="en-US" altLang="zh-TW" dirty="0">
                <a:hlinkClick r:id="rId2"/>
              </a:rPr>
              <a:t>http://www.yorku.ca/mack/</a:t>
            </a:r>
            <a:r>
              <a:rPr kumimoji="1" lang="en-US" altLang="zh-TW" dirty="0" smtClean="0">
                <a:hlinkClick r:id="rId2"/>
              </a:rPr>
              <a:t>CourseNotes.pdf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820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Observe and Measure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smtClean="0"/>
              <a:t>Observations are gathered…</a:t>
            </a:r>
          </a:p>
          <a:p>
            <a:pPr lvl="1"/>
            <a:r>
              <a:rPr kumimoji="1" lang="en-US" altLang="zh-TW" dirty="0" smtClean="0"/>
              <a:t>Manually (human observers)</a:t>
            </a:r>
          </a:p>
          <a:p>
            <a:pPr lvl="1"/>
            <a:r>
              <a:rPr kumimoji="1" lang="en-US" altLang="zh-TW" dirty="0" smtClean="0"/>
              <a:t>Automatically (computers, software, cameras, sensors, etc.)</a:t>
            </a:r>
          </a:p>
          <a:p>
            <a:r>
              <a:rPr kumimoji="1" lang="en-US" altLang="zh-TW" dirty="0" smtClean="0"/>
              <a:t>A measurement is a recorded observation</a:t>
            </a:r>
          </a:p>
          <a:p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i="1" dirty="0" smtClean="0"/>
              <a:t>When you cannot measure, your knowledge is of a meager and unsatisfactory kind. </a:t>
            </a:r>
          </a:p>
          <a:p>
            <a:pPr marL="457200" lvl="1" indent="0">
              <a:buNone/>
            </a:pPr>
            <a:r>
              <a:rPr kumimoji="1" lang="en-US" altLang="zh-TW" dirty="0" smtClean="0"/>
              <a:t>									William Thomson, 1883</a:t>
            </a:r>
          </a:p>
          <a:p>
            <a:pPr marL="457200" lvl="1" indent="0">
              <a:buNone/>
            </a:pPr>
            <a:r>
              <a:rPr kumimoji="1" lang="en-US" altLang="zh-TW" dirty="0"/>
              <a:t>	</a:t>
            </a:r>
            <a:r>
              <a:rPr kumimoji="1" lang="en-US" altLang="zh-TW" dirty="0" smtClean="0"/>
              <a:t>							(father of thermodynamics)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Types of Measurement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4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904" y="1371508"/>
            <a:ext cx="8686800" cy="53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0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Nominal Data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 smtClean="0"/>
              <a:t>Nominal data (aka categorical data) are arbitrary codes assigned to attributes; e.g.,</a:t>
            </a:r>
          </a:p>
          <a:p>
            <a:pPr lvl="1"/>
            <a:r>
              <a:rPr kumimoji="1" lang="en-US" altLang="zh-TW" dirty="0" smtClean="0"/>
              <a:t>1=male, 2=female</a:t>
            </a:r>
          </a:p>
          <a:p>
            <a:pPr lvl="1"/>
            <a:r>
              <a:rPr kumimoji="1" lang="en-US" altLang="zh-TW" dirty="0" smtClean="0"/>
              <a:t>1=mouse, 2=touchpad, 3=pointing stick</a:t>
            </a:r>
          </a:p>
          <a:p>
            <a:r>
              <a:rPr kumimoji="1" lang="en-US" altLang="zh-TW" dirty="0" smtClean="0"/>
              <a:t>The code is so arbitrary, it needn’t be a number; i.e.,</a:t>
            </a:r>
          </a:p>
          <a:p>
            <a:pPr lvl="1"/>
            <a:r>
              <a:rPr kumimoji="1" lang="en-US" altLang="zh-TW" dirty="0" smtClean="0"/>
              <a:t>M=male, F=female</a:t>
            </a:r>
          </a:p>
          <a:p>
            <a:r>
              <a:rPr kumimoji="1" lang="en-US" altLang="zh-TW" dirty="0" smtClean="0"/>
              <a:t>Obviously, the statistical mean cannot be computed on nominal data</a:t>
            </a:r>
          </a:p>
          <a:p>
            <a:r>
              <a:rPr kumimoji="1" lang="en-US" altLang="zh-TW" dirty="0" smtClean="0"/>
              <a:t>Usually it is the count that is important</a:t>
            </a:r>
          </a:p>
          <a:p>
            <a:pPr lvl="1"/>
            <a:r>
              <a:rPr kumimoji="1" lang="en-US" altLang="zh-TW" dirty="0" smtClean="0"/>
              <a:t>“Are females or males more likely to …”</a:t>
            </a:r>
          </a:p>
          <a:p>
            <a:pPr lvl="1"/>
            <a:r>
              <a:rPr kumimoji="1" lang="en-US" altLang="zh-TW" dirty="0" smtClean="0"/>
              <a:t>“Do left handers or right handers have more difficulty with …”</a:t>
            </a:r>
          </a:p>
          <a:p>
            <a:pPr marL="457200" lvl="1" indent="0">
              <a:buNone/>
            </a:pPr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6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Example of Nominal Data in HCI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Observe students “on the move” on university campus</a:t>
            </a:r>
          </a:p>
          <a:p>
            <a:r>
              <a:rPr kumimoji="1" lang="en-US" altLang="zh-TW" dirty="0" smtClean="0"/>
              <a:t>Code and count students by …</a:t>
            </a:r>
          </a:p>
          <a:p>
            <a:pPr lvl="1"/>
            <a:r>
              <a:rPr kumimoji="1" lang="en-US" altLang="zh-TW" dirty="0" smtClean="0"/>
              <a:t>Gender (male, female)</a:t>
            </a:r>
          </a:p>
          <a:p>
            <a:pPr lvl="1"/>
            <a:r>
              <a:rPr kumimoji="1" lang="en-US" altLang="zh-TW" dirty="0" smtClean="0"/>
              <a:t>Mobile phone usage (not using, using)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6</a:t>
            </a:fld>
            <a:endParaRPr 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63" y="4154069"/>
            <a:ext cx="6905171" cy="242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1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Think of Another Example for Nominal Data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Arbitrarily form two-person group</a:t>
            </a:r>
          </a:p>
          <a:p>
            <a:r>
              <a:rPr kumimoji="1" lang="en-US" altLang="zh-TW" dirty="0" smtClean="0"/>
              <a:t>Discuss for five minutes</a:t>
            </a:r>
          </a:p>
          <a:p>
            <a:r>
              <a:rPr kumimoji="1" lang="en-US" altLang="zh-TW" dirty="0" smtClean="0"/>
              <a:t>Share your example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7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Ordinal Data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Ordinal data associate an order or rank to an attribute</a:t>
            </a:r>
          </a:p>
          <a:p>
            <a:r>
              <a:rPr kumimoji="1" lang="en-US" altLang="zh-TW" dirty="0" smtClean="0"/>
              <a:t>The attribute is any characteristic or circumstance of interest; e.g.,</a:t>
            </a:r>
          </a:p>
          <a:p>
            <a:pPr lvl="1"/>
            <a:r>
              <a:rPr kumimoji="1" lang="en-US" altLang="zh-TW" dirty="0" smtClean="0"/>
              <a:t>Users try three different GPS systems for a period of time, then rank them: 1</a:t>
            </a:r>
            <a:r>
              <a:rPr kumimoji="1" lang="en-US" altLang="zh-TW" baseline="30000" dirty="0" smtClean="0"/>
              <a:t>st</a:t>
            </a:r>
            <a:r>
              <a:rPr kumimoji="1" lang="en-US" altLang="zh-TW" dirty="0" smtClean="0"/>
              <a:t>, 2</a:t>
            </a:r>
            <a:r>
              <a:rPr kumimoji="1" lang="en-US" altLang="zh-TW" baseline="30000" dirty="0" smtClean="0"/>
              <a:t>nd</a:t>
            </a:r>
            <a:r>
              <a:rPr kumimoji="1" lang="en-US" altLang="zh-TW" dirty="0" smtClean="0"/>
              <a:t>, 3</a:t>
            </a:r>
            <a:r>
              <a:rPr kumimoji="1" lang="en-US" altLang="zh-TW" baseline="30000" dirty="0" smtClean="0"/>
              <a:t>rd</a:t>
            </a:r>
            <a:r>
              <a:rPr kumimoji="1" lang="en-US" altLang="zh-TW" dirty="0" smtClean="0"/>
              <a:t> choice</a:t>
            </a:r>
          </a:p>
          <a:p>
            <a:r>
              <a:rPr kumimoji="1" lang="en-US" altLang="zh-TW" dirty="0" smtClean="0"/>
              <a:t>More sophisticated than nominal data</a:t>
            </a:r>
          </a:p>
          <a:p>
            <a:pPr lvl="1"/>
            <a:r>
              <a:rPr kumimoji="1" lang="en-US" altLang="zh-TW" dirty="0" smtClean="0"/>
              <a:t>Comparisons of “greater than” or “less than” possible</a:t>
            </a:r>
          </a:p>
          <a:p>
            <a:pPr lvl="1"/>
            <a:r>
              <a:rPr kumimoji="1" lang="en-US" altLang="zh-TW" dirty="0" smtClean="0"/>
              <a:t>Questionnaire example (see next slide)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6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Example of Ordinal Data in HCI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9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0"/>
            <a:ext cx="8826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1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Interval Data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Equal distances between adjacent values</a:t>
            </a:r>
          </a:p>
          <a:p>
            <a:r>
              <a:rPr kumimoji="1" lang="en-US" altLang="zh-TW" dirty="0" smtClean="0"/>
              <a:t>But, no absolute zero</a:t>
            </a:r>
          </a:p>
          <a:p>
            <a:r>
              <a:rPr kumimoji="1" lang="en-US" altLang="zh-TW" dirty="0" smtClean="0"/>
              <a:t>Classical example: temperature on the Fahrenheit or Celsius scale</a:t>
            </a:r>
          </a:p>
          <a:p>
            <a:r>
              <a:rPr kumimoji="1" lang="en-US" altLang="zh-TW" dirty="0" smtClean="0"/>
              <a:t>Statistical mean possible</a:t>
            </a:r>
          </a:p>
          <a:p>
            <a:pPr lvl="1"/>
            <a:r>
              <a:rPr kumimoji="1" lang="en-US" altLang="zh-TW" dirty="0" smtClean="0"/>
              <a:t>E.g., the mean midday temperature during July</a:t>
            </a:r>
          </a:p>
          <a:p>
            <a:r>
              <a:rPr kumimoji="1" lang="en-US" altLang="zh-TW" dirty="0" smtClean="0"/>
              <a:t>Ratios not possible</a:t>
            </a:r>
          </a:p>
          <a:p>
            <a:pPr lvl="1"/>
            <a:r>
              <a:rPr kumimoji="1" lang="en-US" altLang="zh-TW" dirty="0" smtClean="0"/>
              <a:t>Cannot say 10°C is twice 5°</a:t>
            </a:r>
            <a:r>
              <a:rPr kumimoji="1" lang="en-US" altLang="zh-TW" dirty="0"/>
              <a:t>C 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1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Example of Interval Data in HCI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Questionnaires solicit a level of agreement to a statement (e.g., “strongly agree”, “strongly disagree”)</a:t>
            </a:r>
          </a:p>
          <a:p>
            <a:r>
              <a:rPr kumimoji="1" lang="en-US" altLang="zh-TW" dirty="0" smtClean="0"/>
              <a:t>Responses on a </a:t>
            </a:r>
            <a:r>
              <a:rPr kumimoji="1" lang="en-US" altLang="zh-TW" dirty="0" err="1" smtClean="0"/>
              <a:t>Likert</a:t>
            </a:r>
            <a:r>
              <a:rPr kumimoji="1" lang="en-US" altLang="zh-TW" dirty="0" smtClean="0"/>
              <a:t> scale</a:t>
            </a:r>
          </a:p>
          <a:p>
            <a:r>
              <a:rPr kumimoji="1" lang="en-US" altLang="zh-TW" dirty="0" err="1" smtClean="0"/>
              <a:t>Likert</a:t>
            </a:r>
            <a:r>
              <a:rPr kumimoji="1" lang="en-US" altLang="zh-TW" dirty="0" smtClean="0"/>
              <a:t> scale characteristics:</a:t>
            </a:r>
          </a:p>
          <a:p>
            <a:pPr marL="971550" lvl="1" indent="-514350">
              <a:buAutoNum type="arabicPeriod"/>
            </a:pPr>
            <a:r>
              <a:rPr kumimoji="1" lang="en-US" altLang="zh-TW" dirty="0" smtClean="0"/>
              <a:t>Responses are symmetric about a neutral middle value</a:t>
            </a:r>
          </a:p>
          <a:p>
            <a:pPr marL="971550" lvl="1" indent="-514350">
              <a:buAutoNum type="arabicPeriod"/>
            </a:pPr>
            <a:r>
              <a:rPr kumimoji="1" lang="en-US" altLang="zh-TW" dirty="0" smtClean="0"/>
              <a:t>Gradations between responses are equal (more-or-less)</a:t>
            </a:r>
          </a:p>
          <a:p>
            <a:pPr marL="571500" indent="-514350"/>
            <a:r>
              <a:rPr kumimoji="1" lang="en-US" altLang="zh-TW" dirty="0" smtClean="0"/>
              <a:t>Assuming “equal gradations”, the statistical mean is valid (and related statistical tests are possible)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2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Example of Interval Data in HCI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12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58" y="1727200"/>
            <a:ext cx="7450666" cy="457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7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Ratio Data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zh-TW" dirty="0" smtClean="0"/>
              <a:t>Most sophisticated of the four types of measurement</a:t>
            </a:r>
          </a:p>
          <a:p>
            <a:r>
              <a:rPr kumimoji="1" lang="en-US" altLang="zh-TW" dirty="0" smtClean="0"/>
              <a:t>Preferred type of measurement</a:t>
            </a:r>
          </a:p>
          <a:p>
            <a:r>
              <a:rPr kumimoji="1" lang="en-US" altLang="zh-TW" dirty="0" smtClean="0"/>
              <a:t>Absolute zero, therefore many calculations possible</a:t>
            </a:r>
          </a:p>
          <a:p>
            <a:r>
              <a:rPr kumimoji="1" lang="en-US" altLang="zh-TW" dirty="0" smtClean="0"/>
              <a:t>Summaries and comparisons are strengthened</a:t>
            </a:r>
          </a:p>
          <a:p>
            <a:r>
              <a:rPr kumimoji="1" lang="en-US" altLang="zh-TW" dirty="0" smtClean="0"/>
              <a:t>A “count” is a ratio-scale measurement</a:t>
            </a:r>
          </a:p>
          <a:p>
            <a:pPr lvl="1"/>
            <a:r>
              <a:rPr kumimoji="1" lang="en-US" altLang="zh-TW" dirty="0" err="1" smtClean="0"/>
              <a:t>E.g</a:t>
            </a:r>
            <a:r>
              <a:rPr kumimoji="1" lang="en-US" altLang="zh-TW" dirty="0" smtClean="0"/>
              <a:t>, “time” (the number of seconds or minutes)</a:t>
            </a:r>
          </a:p>
          <a:p>
            <a:r>
              <a:rPr kumimoji="1" lang="en-US" altLang="zh-TW" dirty="0" smtClean="0"/>
              <a:t>Enhance counts by adding further ratios where possible</a:t>
            </a:r>
          </a:p>
          <a:p>
            <a:pPr lvl="1"/>
            <a:r>
              <a:rPr kumimoji="1" lang="en-US" altLang="zh-TW" dirty="0" smtClean="0"/>
              <a:t>Facilitates comparisons</a:t>
            </a:r>
          </a:p>
          <a:p>
            <a:pPr lvl="1"/>
            <a:r>
              <a:rPr kumimoji="1" lang="en-US" altLang="zh-TW" dirty="0" smtClean="0"/>
              <a:t>Example- a 10-word phrase was entered in 30 seconds</a:t>
            </a:r>
          </a:p>
          <a:p>
            <a:pPr lvl="2"/>
            <a:r>
              <a:rPr kumimoji="1" lang="en-US" altLang="zh-TW" dirty="0" smtClean="0"/>
              <a:t>Bad: </a:t>
            </a:r>
            <a:r>
              <a:rPr kumimoji="1" lang="en-US" altLang="zh-TW" i="1" dirty="0" smtClean="0"/>
              <a:t>t</a:t>
            </a:r>
            <a:r>
              <a:rPr kumimoji="1" lang="en-US" altLang="zh-TW" dirty="0" smtClean="0"/>
              <a:t>=30 seconds</a:t>
            </a:r>
          </a:p>
          <a:p>
            <a:pPr lvl="2"/>
            <a:r>
              <a:rPr kumimoji="1" lang="en-US" altLang="zh-TW" dirty="0" smtClean="0"/>
              <a:t>Good: Entry rate = 10/0.5 = 20 wpm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47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Think of Examples for Interval Data and Ratio Data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Arbitrarily form two-person group</a:t>
            </a:r>
          </a:p>
          <a:p>
            <a:r>
              <a:rPr kumimoji="1" lang="en-US" altLang="zh-TW" dirty="0" smtClean="0"/>
              <a:t>Discuss what’s the same and different between interval data and ratio data</a:t>
            </a:r>
          </a:p>
          <a:p>
            <a:r>
              <a:rPr kumimoji="1" lang="en-US" altLang="zh-TW" dirty="0" smtClean="0"/>
              <a:t>Give examples to illustrate your point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9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HCI Research?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Conceptual issue: What’s considered “research”?</a:t>
            </a:r>
          </a:p>
          <a:p>
            <a:r>
              <a:rPr kumimoji="1" lang="en-US" altLang="zh-TW" dirty="0" smtClean="0"/>
              <a:t>What “research”, “design” and “engineering” refer to each?</a:t>
            </a:r>
          </a:p>
          <a:p>
            <a:endParaRPr kumimoji="1" lang="en-US" altLang="zh-TW" dirty="0"/>
          </a:p>
          <a:p>
            <a:r>
              <a:rPr kumimoji="1" lang="en-US" altLang="zh-TW" dirty="0" smtClean="0"/>
              <a:t>Discuss for five minutes</a:t>
            </a:r>
          </a:p>
          <a:p>
            <a:r>
              <a:rPr kumimoji="1" lang="en-US" altLang="zh-TW" dirty="0" smtClean="0"/>
              <a:t>Share your thought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11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589" y="4219575"/>
            <a:ext cx="5461000" cy="25019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Research vs. Design vs. Engineering </a:t>
            </a:r>
            <a:br>
              <a:rPr kumimoji="1" lang="en-US" altLang="zh-TW" dirty="0" smtClean="0"/>
            </a:br>
            <a:r>
              <a:rPr kumimoji="1" lang="en-US" altLang="zh-TW" sz="2200" dirty="0" smtClean="0"/>
              <a:t>(Note: This is Scott </a:t>
            </a:r>
            <a:r>
              <a:rPr kumimoji="1" lang="en-US" altLang="zh-TW" sz="2200" dirty="0" err="1" smtClean="0"/>
              <a:t>MacKenzie’s</a:t>
            </a:r>
            <a:r>
              <a:rPr kumimoji="1" lang="en-US" altLang="zh-TW" sz="2200" dirty="0" smtClean="0"/>
              <a:t> view)</a:t>
            </a:r>
            <a:endParaRPr kumimoji="1" lang="zh-TW" altLang="en-US" sz="2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3132"/>
            <a:ext cx="8102807" cy="3909637"/>
          </a:xfrm>
        </p:spPr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Design is not research</a:t>
            </a:r>
          </a:p>
          <a:p>
            <a:pPr lvl="1"/>
            <a:r>
              <a:rPr kumimoji="1" lang="en-US" altLang="zh-TW" dirty="0" smtClean="0"/>
              <a:t>Design is the process of creating artifacts, considering ...</a:t>
            </a:r>
          </a:p>
          <a:p>
            <a:pPr lvl="2"/>
            <a:r>
              <a:rPr kumimoji="1" lang="en-US" altLang="zh-TW" sz="3200" b="1" dirty="0" smtClean="0"/>
              <a:t>Form</a:t>
            </a:r>
            <a:r>
              <a:rPr kumimoji="1" lang="en-US" altLang="zh-TW" dirty="0" smtClean="0"/>
              <a:t> &lt;-&gt; </a:t>
            </a:r>
            <a:r>
              <a:rPr kumimoji="1" lang="en-US" altLang="zh-TW" sz="2200" dirty="0" smtClean="0"/>
              <a:t>Function</a:t>
            </a:r>
          </a:p>
          <a:p>
            <a:r>
              <a:rPr kumimoji="1" lang="en-US" altLang="zh-TW" dirty="0" smtClean="0"/>
              <a:t>Engineering is not research</a:t>
            </a:r>
          </a:p>
          <a:p>
            <a:pPr lvl="1"/>
            <a:r>
              <a:rPr kumimoji="1" lang="en-US" altLang="zh-TW" dirty="0" smtClean="0"/>
              <a:t>Engineering is the process of creating artifacts, considering …</a:t>
            </a:r>
          </a:p>
          <a:p>
            <a:pPr lvl="2"/>
            <a:r>
              <a:rPr kumimoji="1" lang="en-US" altLang="zh-TW" sz="2200" dirty="0" smtClean="0"/>
              <a:t>Form</a:t>
            </a:r>
            <a:r>
              <a:rPr kumimoji="1" lang="en-US" altLang="zh-TW" sz="3400" b="1" dirty="0" smtClean="0"/>
              <a:t> </a:t>
            </a:r>
            <a:r>
              <a:rPr kumimoji="1" lang="en-US" altLang="zh-TW" dirty="0" smtClean="0"/>
              <a:t>&lt;-&gt; </a:t>
            </a:r>
            <a:r>
              <a:rPr kumimoji="1" lang="en-US" altLang="zh-TW" sz="3400" b="1" dirty="0" smtClean="0"/>
              <a:t>Function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3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Form vs. Function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17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99" y="274638"/>
            <a:ext cx="8800302" cy="617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90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Research Questions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We conduct empirical research to answer (and raise) questions about new or existing UI designs or interaction techniques.</a:t>
            </a:r>
          </a:p>
          <a:p>
            <a:r>
              <a:rPr kumimoji="1" lang="en-US" altLang="zh-TW" dirty="0" smtClean="0"/>
              <a:t>Consider the following questions</a:t>
            </a:r>
          </a:p>
          <a:p>
            <a:pPr lvl="1"/>
            <a:r>
              <a:rPr kumimoji="1" lang="en-US" altLang="zh-TW" dirty="0" smtClean="0"/>
              <a:t>Is it viable (workable)?</a:t>
            </a:r>
          </a:p>
          <a:p>
            <a:pPr lvl="1"/>
            <a:r>
              <a:rPr kumimoji="1" lang="en-US" altLang="zh-TW" dirty="0" smtClean="0"/>
              <a:t>Is it as good as or better than current practice?</a:t>
            </a:r>
          </a:p>
          <a:p>
            <a:pPr lvl="1"/>
            <a:r>
              <a:rPr kumimoji="1" lang="en-US" altLang="zh-TW" dirty="0" smtClean="0"/>
              <a:t>Which of several design alternatives is best?</a:t>
            </a:r>
          </a:p>
          <a:p>
            <a:pPr lvl="1"/>
            <a:r>
              <a:rPr kumimoji="1" lang="en-US" altLang="zh-TW" dirty="0" smtClean="0"/>
              <a:t>What are its performance limits and capabilities? </a:t>
            </a:r>
          </a:p>
          <a:p>
            <a:pPr lvl="1"/>
            <a:r>
              <a:rPr kumimoji="1" lang="en-US" altLang="zh-TW" dirty="0" smtClean="0"/>
              <a:t>What are its strengths and weakness?</a:t>
            </a:r>
          </a:p>
          <a:p>
            <a:pPr lvl="1"/>
            <a:r>
              <a:rPr kumimoji="1" lang="en-US" altLang="zh-TW" dirty="0" smtClean="0"/>
              <a:t>Does it work well for novices, for experts?</a:t>
            </a:r>
          </a:p>
          <a:p>
            <a:pPr lvl="1"/>
            <a:r>
              <a:rPr kumimoji="1" lang="en-US" altLang="zh-TW" dirty="0" smtClean="0"/>
              <a:t>How much practice is required to become proficient?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87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smtClean="0"/>
              <a:t>Testable</a:t>
            </a:r>
            <a:r>
              <a:rPr kumimoji="1" lang="en-US" altLang="zh-TW" dirty="0" smtClean="0"/>
              <a:t> Research Questions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Previous questions, while unquestionably relevant, not all of them are testable</a:t>
            </a:r>
          </a:p>
          <a:p>
            <a:r>
              <a:rPr kumimoji="1" lang="en-US" altLang="zh-TW" dirty="0" smtClean="0"/>
              <a:t>Try to re-cast as testable questions (… even though the new question may appear less important)</a:t>
            </a:r>
          </a:p>
          <a:p>
            <a:r>
              <a:rPr kumimoji="1" lang="en-US" altLang="zh-TW" dirty="0" smtClean="0"/>
              <a:t>Scenario</a:t>
            </a:r>
          </a:p>
          <a:p>
            <a:pPr lvl="1"/>
            <a:r>
              <a:rPr kumimoji="1" lang="en-US" altLang="zh-TW" dirty="0" smtClean="0"/>
              <a:t>You have invented a new text entry techniques for mobile phones, and you think it’s pretty good. In fact, you think it is better than the commonly use multi-tap technique. You decide to undertake a program of empirical inquiry to evaluate your invention. What are your research questions?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21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Research Questions (2)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 smtClean="0"/>
              <a:t>Very weak</a:t>
            </a:r>
          </a:p>
          <a:p>
            <a:pPr lvl="1"/>
            <a:r>
              <a:rPr kumimoji="1" lang="en-US" altLang="zh-TW" i="1" dirty="0" smtClean="0"/>
              <a:t>Is the new technique any good?</a:t>
            </a:r>
          </a:p>
          <a:p>
            <a:r>
              <a:rPr kumimoji="1" lang="en-US" altLang="zh-TW" dirty="0" smtClean="0"/>
              <a:t>Weak</a:t>
            </a:r>
          </a:p>
          <a:p>
            <a:pPr lvl="1"/>
            <a:r>
              <a:rPr kumimoji="1" lang="en-US" altLang="zh-TW" i="1" dirty="0" smtClean="0"/>
              <a:t>Is the new technique better than multi-tap?</a:t>
            </a:r>
          </a:p>
          <a:p>
            <a:r>
              <a:rPr kumimoji="1" lang="en-US" altLang="zh-TW" dirty="0" smtClean="0"/>
              <a:t>Better</a:t>
            </a:r>
          </a:p>
          <a:p>
            <a:pPr lvl="1"/>
            <a:r>
              <a:rPr kumimoji="1" lang="en-US" altLang="zh-TW" i="1" dirty="0" smtClean="0"/>
              <a:t>Is the new technique faster than multi-tap?</a:t>
            </a:r>
          </a:p>
          <a:p>
            <a:r>
              <a:rPr kumimoji="1" lang="en-US" altLang="zh-TW" dirty="0" smtClean="0"/>
              <a:t>Better still</a:t>
            </a:r>
          </a:p>
          <a:p>
            <a:pPr lvl="1"/>
            <a:r>
              <a:rPr kumimoji="1" lang="en-US" altLang="zh-TW" i="1" dirty="0" smtClean="0"/>
              <a:t>Is the new technique faster than multi-tap within one hour of use?</a:t>
            </a:r>
          </a:p>
          <a:p>
            <a:r>
              <a:rPr kumimoji="1" lang="en-US" altLang="zh-TW" dirty="0" smtClean="0"/>
              <a:t>Even better</a:t>
            </a:r>
          </a:p>
          <a:p>
            <a:pPr lvl="1"/>
            <a:r>
              <a:rPr kumimoji="1" lang="en-US" altLang="zh-TW" i="1" dirty="0" smtClean="0"/>
              <a:t>If error rates are kept under 2%, is the new technique faster than multi-tap within one hour of use?</a:t>
            </a:r>
            <a:endParaRPr kumimoji="1" lang="zh-TW" altLang="en-US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3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A Tradeoff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21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323975"/>
            <a:ext cx="87503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18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Internal Validity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Definition: The extent to which the effects observed are due to the test conditions (e.g., </a:t>
            </a:r>
            <a:r>
              <a:rPr kumimoji="1" lang="en-US" altLang="zh-TW" dirty="0" err="1" smtClean="0"/>
              <a:t>multitap</a:t>
            </a:r>
            <a:r>
              <a:rPr kumimoji="1" lang="en-US" altLang="zh-TW" dirty="0" smtClean="0"/>
              <a:t> vs. new)</a:t>
            </a:r>
          </a:p>
          <a:p>
            <a:endParaRPr kumimoji="1" lang="en-US" altLang="zh-TW" dirty="0" smtClean="0"/>
          </a:p>
          <a:p>
            <a:r>
              <a:rPr kumimoji="1" lang="en-US" altLang="zh-TW" dirty="0" smtClean="0"/>
              <a:t>Statistically ..</a:t>
            </a:r>
          </a:p>
          <a:p>
            <a:pPr lvl="1"/>
            <a:r>
              <a:rPr kumimoji="1" lang="en-US" altLang="zh-TW" dirty="0" smtClean="0"/>
              <a:t>Differences (in the means) are due to inherent properties of the test conditions</a:t>
            </a:r>
          </a:p>
          <a:p>
            <a:pPr lvl="1"/>
            <a:r>
              <a:rPr kumimoji="1" lang="en-US" altLang="zh-TW" dirty="0" smtClean="0"/>
              <a:t>Variances are due to participant, individual differences (“pre-dispositions”)</a:t>
            </a:r>
          </a:p>
          <a:p>
            <a:pPr lvl="1"/>
            <a:r>
              <a:rPr kumimoji="1" lang="en-US" altLang="zh-TW" dirty="0" smtClean="0"/>
              <a:t>Other potential sources of variance are controlled or exist equally and randomly across the test conditions.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40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External Validity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Definition: The extent to which results are </a:t>
            </a:r>
            <a:r>
              <a:rPr kumimoji="1" lang="en-US" altLang="zh-TW" b="1" dirty="0" smtClean="0"/>
              <a:t>generalizable</a:t>
            </a:r>
            <a:r>
              <a:rPr kumimoji="1" lang="en-US" altLang="zh-TW" dirty="0" smtClean="0"/>
              <a:t> to other people and other situations</a:t>
            </a:r>
          </a:p>
          <a:p>
            <a:r>
              <a:rPr kumimoji="1" lang="en-US" altLang="zh-TW" dirty="0" smtClean="0"/>
              <a:t>Statistically …</a:t>
            </a:r>
          </a:p>
          <a:p>
            <a:r>
              <a:rPr kumimoji="1" lang="en-US" altLang="zh-TW" dirty="0" smtClean="0"/>
              <a:t>People </a:t>
            </a:r>
          </a:p>
          <a:p>
            <a:pPr lvl="1"/>
            <a:r>
              <a:rPr kumimoji="1" lang="en-US" altLang="zh-TW" dirty="0" smtClean="0"/>
              <a:t>The participants are </a:t>
            </a:r>
            <a:r>
              <a:rPr kumimoji="1" lang="en-US" altLang="zh-TW" b="1" dirty="0" smtClean="0"/>
              <a:t>representative</a:t>
            </a:r>
            <a:r>
              <a:rPr kumimoji="1" lang="en-US" altLang="zh-TW" dirty="0" smtClean="0"/>
              <a:t> of the broader intended population of users</a:t>
            </a:r>
          </a:p>
          <a:p>
            <a:pPr lvl="1"/>
            <a:r>
              <a:rPr kumimoji="1" lang="en-US" altLang="zh-TW" dirty="0" smtClean="0"/>
              <a:t>Situations </a:t>
            </a:r>
          </a:p>
          <a:p>
            <a:pPr lvl="2"/>
            <a:r>
              <a:rPr kumimoji="1" lang="en-US" altLang="zh-TW" b="1" dirty="0" smtClean="0"/>
              <a:t>Test environment </a:t>
            </a:r>
            <a:r>
              <a:rPr kumimoji="1" lang="en-US" altLang="zh-TW" dirty="0" smtClean="0"/>
              <a:t>and </a:t>
            </a:r>
            <a:r>
              <a:rPr kumimoji="1" lang="en-US" altLang="zh-TW" b="1" dirty="0" smtClean="0"/>
              <a:t>experimental procedures </a:t>
            </a:r>
            <a:r>
              <a:rPr kumimoji="1" lang="en-US" altLang="zh-TW" dirty="0" smtClean="0"/>
              <a:t>are representative of real world situations where the interface or technique will be used.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00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smtClean="0"/>
              <a:t>Discussion Time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1" lang="en-US" altLang="zh-TW" dirty="0" smtClean="0"/>
              <a:t>1. </a:t>
            </a:r>
          </a:p>
          <a:p>
            <a:r>
              <a:rPr kumimoji="1" lang="en-US" altLang="zh-TW" dirty="0" smtClean="0"/>
              <a:t>Reflect papers you </a:t>
            </a:r>
            <a:r>
              <a:rPr kumimoji="1" lang="en-US" altLang="zh-TW" smtClean="0"/>
              <a:t>read this week.</a:t>
            </a:r>
            <a:endParaRPr kumimoji="1" lang="en-US" altLang="zh-TW" dirty="0" smtClean="0"/>
          </a:p>
          <a:p>
            <a:r>
              <a:rPr kumimoji="1" lang="en-US" altLang="zh-TW" dirty="0" smtClean="0"/>
              <a:t>What is an “HCI Idea”? How to ask questions around HCI ideas? Share your thoughts?</a:t>
            </a:r>
          </a:p>
          <a:p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 smtClean="0"/>
              <a:t>2. </a:t>
            </a:r>
          </a:p>
          <a:p>
            <a:r>
              <a:rPr kumimoji="1" lang="en-US" altLang="zh-TW" dirty="0" smtClean="0"/>
              <a:t>Talk about your individual research project</a:t>
            </a:r>
          </a:p>
          <a:p>
            <a:r>
              <a:rPr kumimoji="1" lang="en-US" altLang="zh-TW" dirty="0" smtClean="0"/>
              <a:t>Generate at least two research questions and share them</a:t>
            </a:r>
          </a:p>
          <a:p>
            <a:r>
              <a:rPr kumimoji="1" lang="en-US" altLang="zh-TW" dirty="0" smtClean="0"/>
              <a:t>Listen to other people’s research questions. Help them revise the questions or suggest other research questions.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9537</TotalTime>
  <Words>1048</Words>
  <Application>Microsoft Macintosh PowerPoint</Application>
  <PresentationFormat>On-screen Show (4:3)</PresentationFormat>
  <Paragraphs>163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</vt:lpstr>
      <vt:lpstr>Optima</vt:lpstr>
      <vt:lpstr>微軟正黑體</vt:lpstr>
      <vt:lpstr>新細明體</vt:lpstr>
      <vt:lpstr>Arial</vt:lpstr>
      <vt:lpstr>Office Theme</vt:lpstr>
      <vt:lpstr>ISA5577 Applied Quantitative Methods for Human-Computer Interaction 人機互動量化研究方法   September 21, 2017</vt:lpstr>
      <vt:lpstr>Today’s Agenda</vt:lpstr>
      <vt:lpstr>Observe and Measure</vt:lpstr>
      <vt:lpstr>Types of Measurement</vt:lpstr>
      <vt:lpstr>Nominal Data</vt:lpstr>
      <vt:lpstr>Example of Nominal Data in HCI</vt:lpstr>
      <vt:lpstr>Think of Another Example for Nominal Data</vt:lpstr>
      <vt:lpstr>Ordinal Data</vt:lpstr>
      <vt:lpstr>Example of Ordinal Data in HCI</vt:lpstr>
      <vt:lpstr>Interval Data</vt:lpstr>
      <vt:lpstr>Example of Interval Data in HCI</vt:lpstr>
      <vt:lpstr>Example of Interval Data in HCI</vt:lpstr>
      <vt:lpstr>Ratio Data</vt:lpstr>
      <vt:lpstr>Think of Examples for Interval Data and Ratio Data</vt:lpstr>
      <vt:lpstr>HCI Research?</vt:lpstr>
      <vt:lpstr>Research vs. Design vs. Engineering  (Note: This is Scott MacKenzie’s view)</vt:lpstr>
      <vt:lpstr>Form vs. Function</vt:lpstr>
      <vt:lpstr>Research Questions</vt:lpstr>
      <vt:lpstr>Testable Research Questions</vt:lpstr>
      <vt:lpstr>Research Questions (2)</vt:lpstr>
      <vt:lpstr>A Tradeoff</vt:lpstr>
      <vt:lpstr>Internal Validity</vt:lpstr>
      <vt:lpstr>External Validity</vt:lpstr>
      <vt:lpstr>Discussion Time</vt:lpstr>
    </vt:vector>
  </TitlesOfParts>
  <Company>Cornell University</Company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王浩全</cp:lastModifiedBy>
  <cp:revision>354</cp:revision>
  <dcterms:created xsi:type="dcterms:W3CDTF">2012-02-07T03:56:58Z</dcterms:created>
  <dcterms:modified xsi:type="dcterms:W3CDTF">2017-09-21T06:59:01Z</dcterms:modified>
</cp:coreProperties>
</file>