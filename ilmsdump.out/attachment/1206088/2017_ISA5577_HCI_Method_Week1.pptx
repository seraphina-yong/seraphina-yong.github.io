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6" r:id="rId3"/>
    <p:sldId id="278" r:id="rId4"/>
    <p:sldId id="288" r:id="rId5"/>
    <p:sldId id="289" r:id="rId6"/>
    <p:sldId id="290" r:id="rId7"/>
    <p:sldId id="291" r:id="rId8"/>
    <p:sldId id="292" r:id="rId9"/>
    <p:sldId id="282" r:id="rId10"/>
    <p:sldId id="280" r:id="rId11"/>
    <p:sldId id="281" r:id="rId12"/>
    <p:sldId id="283" r:id="rId13"/>
    <p:sldId id="284" r:id="rId14"/>
    <p:sldId id="285" r:id="rId15"/>
    <p:sldId id="286" r:id="rId16"/>
    <p:sldId id="28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8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-120" y="-7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interSettings" Target="printerSettings/printerSettings1.bin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E22B1-A489-724B-AADE-928039389399}" type="datetimeFigureOut">
              <a:rPr lang="en-US" smtClean="0"/>
              <a:t>9/14/17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04B55-90AA-4E48-9675-DA460DBC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456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4CD06-6360-1344-8231-A755EBC9259C}" type="datetimeFigureOut">
              <a:rPr lang="en-US" smtClean="0"/>
              <a:t>9/14/17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5370C-E253-5B4A-BEBB-54530F2F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660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96C3-D431-B640-8E06-C764B561EFF0}" type="datetime1">
              <a:rPr lang="en-US" smtClean="0"/>
              <a:t>9/14/17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2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F2A3-DDF1-8A43-9438-CEDB45737B0D}" type="datetime1">
              <a:rPr lang="en-US" smtClean="0"/>
              <a:t>9/14/17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6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C87D3-C516-1D46-AF15-FF7C5AB91090}" type="datetime1">
              <a:rPr lang="en-US" smtClean="0"/>
              <a:t>9/14/17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1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56C8-3CBB-134C-92F2-EEF14138988E}" type="datetime1">
              <a:rPr lang="en-US" smtClean="0"/>
              <a:t>9/14/17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085-5C84-304B-A604-D383C411A81E}" type="datetime1">
              <a:rPr lang="en-US" smtClean="0"/>
              <a:t>9/14/17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EF518-1D25-EE43-8A7E-96097F56A74B}" type="datetime1">
              <a:rPr lang="en-US" smtClean="0"/>
              <a:t>9/14/17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1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6380-5F2B-F940-8C5C-E73F755AAB35}" type="datetime1">
              <a:rPr lang="en-US" smtClean="0"/>
              <a:t>9/14/17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0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C4EF-3883-F74D-882A-BD0ED0A46B24}" type="datetime1">
              <a:rPr lang="en-US" smtClean="0"/>
              <a:t>9/14/17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6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93E7-2475-E845-AEA9-5A0AB6A8E62A}" type="datetime1">
              <a:rPr lang="en-US" smtClean="0"/>
              <a:t>9/14/17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C446-F4B7-0E4C-96DC-FDD6F47AB62E}" type="datetime1">
              <a:rPr lang="en-US" smtClean="0"/>
              <a:t>9/14/17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1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50CC-8AA7-4243-A1D1-C4A42410C61C}" type="datetime1">
              <a:rPr lang="en-US" smtClean="0"/>
              <a:t>9/14/17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78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7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132"/>
            <a:ext cx="8229600" cy="5013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59F6-B31F-914F-9D11-0CE96A02EA33}" type="datetime1">
              <a:rPr lang="en-US" smtClean="0"/>
              <a:t>9/14/17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ms.nthu.edu.tw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yorku.ca/mack/CourseNotes.pdf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jmp.com/landing/jmp_trial.shtml" TargetMode="External"/><Relationship Id="rId3" Type="http://schemas.openxmlformats.org/officeDocument/2006/relationships/hyperlink" Target="http://www.onthehub.com/jm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28031"/>
            <a:ext cx="9144000" cy="3086431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Optima"/>
                <a:cs typeface="Optima"/>
              </a:rPr>
              <a:t>ISA5577 Applied Quantitative Methods for Human-Computer Interaction</a:t>
            </a:r>
            <a:r>
              <a:rPr lang="en-US" dirty="0">
                <a:latin typeface="Optima"/>
                <a:cs typeface="Optima"/>
              </a:rPr>
              <a:t/>
            </a:r>
            <a:br>
              <a:rPr lang="en-US" dirty="0">
                <a:latin typeface="Optima"/>
                <a:cs typeface="Optima"/>
              </a:rPr>
            </a:br>
            <a:r>
              <a:rPr lang="zh-TW" altLang="en-US" dirty="0" smtClean="0">
                <a:latin typeface="微軟正黑體"/>
                <a:ea typeface="微軟正黑體"/>
                <a:cs typeface="微軟正黑體"/>
              </a:rPr>
              <a:t>人機互動量化研究方法</a:t>
            </a:r>
            <a:r>
              <a:rPr lang="en-US" dirty="0" smtClean="0">
                <a:latin typeface="微軟正黑體"/>
                <a:ea typeface="微軟正黑體"/>
                <a:cs typeface="微軟正黑體"/>
              </a:rPr>
              <a:t/>
            </a:r>
            <a:br>
              <a:rPr lang="en-US" dirty="0" smtClean="0">
                <a:latin typeface="微軟正黑體"/>
                <a:ea typeface="微軟正黑體"/>
                <a:cs typeface="微軟正黑體"/>
              </a:rPr>
            </a:br>
            <a:r>
              <a:rPr lang="en-US" dirty="0" smtClean="0">
                <a:latin typeface="Optima"/>
                <a:cs typeface="Optima"/>
              </a:rPr>
              <a:t/>
            </a:r>
            <a:br>
              <a:rPr lang="en-US" dirty="0" smtClean="0">
                <a:latin typeface="Optima"/>
                <a:cs typeface="Optima"/>
              </a:rPr>
            </a:br>
            <a:r>
              <a:rPr lang="en-US" dirty="0" smtClean="0">
                <a:latin typeface="Optima"/>
                <a:cs typeface="Optima"/>
              </a:rPr>
              <a:t/>
            </a:r>
            <a:br>
              <a:rPr lang="en-US" dirty="0" smtClean="0">
                <a:latin typeface="Optima"/>
                <a:cs typeface="Optima"/>
              </a:rPr>
            </a:br>
            <a:r>
              <a:rPr lang="en-US" sz="3200" dirty="0" smtClean="0">
                <a:latin typeface="Optima"/>
                <a:cs typeface="Optima"/>
              </a:rPr>
              <a:t>September </a:t>
            </a:r>
            <a:r>
              <a:rPr lang="en-US" sz="3200" dirty="0" smtClean="0">
                <a:latin typeface="Optima"/>
                <a:cs typeface="Optima"/>
              </a:rPr>
              <a:t>14, 2017</a:t>
            </a:r>
            <a:endParaRPr lang="en-US" sz="3200" dirty="0">
              <a:latin typeface="Optima"/>
              <a:cs typeface="Optim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6263" y="5522893"/>
            <a:ext cx="6809548" cy="970056"/>
          </a:xfrm>
        </p:spPr>
        <p:txBody>
          <a:bodyPr>
            <a:noAutofit/>
          </a:bodyPr>
          <a:lstStyle/>
          <a:p>
            <a:r>
              <a:rPr lang="en-US" sz="2700" dirty="0" err="1" smtClean="0"/>
              <a:t>Hao-Chuan</a:t>
            </a:r>
            <a:r>
              <a:rPr lang="en-US" sz="2700" dirty="0" smtClean="0"/>
              <a:t> Wang</a:t>
            </a:r>
            <a:endParaRPr lang="en-US" sz="2700" dirty="0" smtClean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133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7101"/>
            <a:ext cx="8280184" cy="5095584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Time &amp; Location: </a:t>
            </a:r>
            <a:endParaRPr lang="en-US" dirty="0" smtClean="0"/>
          </a:p>
          <a:p>
            <a:pPr lvl="1"/>
            <a:r>
              <a:rPr lang="en-US" dirty="0" smtClean="0"/>
              <a:t>Thursday </a:t>
            </a:r>
            <a:r>
              <a:rPr lang="en-US" dirty="0" smtClean="0"/>
              <a:t>15:30 </a:t>
            </a:r>
            <a:r>
              <a:rPr lang="en-US" dirty="0" smtClean="0"/>
              <a:t>– 18:20 pm (please confirm your availability)</a:t>
            </a:r>
          </a:p>
          <a:p>
            <a:pPr lvl="1"/>
            <a:r>
              <a:rPr lang="en-US" altLang="zh-TW" dirty="0" smtClean="0"/>
              <a:t>Delta </a:t>
            </a:r>
            <a:r>
              <a:rPr lang="en-US" altLang="zh-TW" dirty="0" smtClean="0"/>
              <a:t>632 (</a:t>
            </a:r>
            <a:r>
              <a:rPr lang="zh-TW" altLang="en-US" dirty="0" smtClean="0"/>
              <a:t>台</a:t>
            </a:r>
            <a:r>
              <a:rPr lang="zh-TW" altLang="en-US" dirty="0" smtClean="0"/>
              <a:t>達館</a:t>
            </a:r>
            <a:r>
              <a:rPr lang="en-US" altLang="zh-TW" dirty="0" smtClean="0"/>
              <a:t> 632, if number of participants &lt;20)</a:t>
            </a:r>
            <a:r>
              <a:rPr lang="en-US" altLang="zh-TW" dirty="0" smtClean="0"/>
              <a:t>, starting next week</a:t>
            </a:r>
          </a:p>
          <a:p>
            <a:endParaRPr lang="en-US" dirty="0" smtClean="0"/>
          </a:p>
          <a:p>
            <a:r>
              <a:rPr lang="en-US" dirty="0" smtClean="0"/>
              <a:t>Language: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Lectures will be *mainly* delivered in Chinese (but there can be some exceptions when translation is difficult). You’re </a:t>
            </a:r>
            <a:r>
              <a:rPr lang="en-US" b="1" dirty="0" smtClean="0"/>
              <a:t>required</a:t>
            </a:r>
            <a:r>
              <a:rPr lang="en-US" dirty="0" smtClean="0"/>
              <a:t> to work on the assignments in English (if you’re an HCI-specialized student).</a:t>
            </a:r>
          </a:p>
          <a:p>
            <a:endParaRPr lang="en-US" dirty="0" smtClean="0"/>
          </a:p>
          <a:p>
            <a:r>
              <a:rPr lang="en-US" dirty="0" smtClean="0"/>
              <a:t>Course website:</a:t>
            </a:r>
            <a:br>
              <a:rPr lang="en-US" dirty="0" smtClean="0"/>
            </a:br>
            <a:r>
              <a:rPr lang="en-US" dirty="0" smtClean="0"/>
              <a:t> NTHU </a:t>
            </a:r>
            <a:r>
              <a:rPr lang="en-US" u="sng" dirty="0" smtClean="0"/>
              <a:t>L</a:t>
            </a:r>
            <a:r>
              <a:rPr lang="en-US" dirty="0" smtClean="0"/>
              <a:t>earning </a:t>
            </a:r>
            <a:r>
              <a:rPr lang="en-US" u="sng" dirty="0" smtClean="0"/>
              <a:t>M</a:t>
            </a:r>
            <a:r>
              <a:rPr lang="en-US" dirty="0" smtClean="0"/>
              <a:t>anagement </a:t>
            </a:r>
            <a:r>
              <a:rPr lang="en-US" u="sng" dirty="0" smtClean="0"/>
              <a:t>S</a:t>
            </a:r>
            <a:r>
              <a:rPr lang="en-US" dirty="0" smtClean="0"/>
              <a:t>ystem </a:t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http://lms.nthu.edu.tw</a:t>
            </a:r>
            <a:r>
              <a:rPr lang="en-US" dirty="0" smtClean="0"/>
              <a:t> 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4359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This Course Is and Isn’t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7101"/>
            <a:ext cx="8280184" cy="5095584"/>
          </a:xfrm>
        </p:spPr>
        <p:txBody>
          <a:bodyPr>
            <a:normAutofit/>
          </a:bodyPr>
          <a:lstStyle/>
          <a:p>
            <a:r>
              <a:rPr lang="en-US" dirty="0" smtClean="0"/>
              <a:t>This course is designed for </a:t>
            </a:r>
            <a:r>
              <a:rPr lang="en-US" b="1" dirty="0" smtClean="0"/>
              <a:t>HCI-focused students </a:t>
            </a:r>
            <a:r>
              <a:rPr lang="en-US" dirty="0" smtClean="0"/>
              <a:t>currently working on </a:t>
            </a:r>
            <a:r>
              <a:rPr lang="en-US" b="1" dirty="0" smtClean="0"/>
              <a:t>HCI research</a:t>
            </a:r>
          </a:p>
          <a:p>
            <a:pPr lvl="1"/>
            <a:r>
              <a:rPr lang="en-US" dirty="0" smtClean="0"/>
              <a:t>We expect you to have an HCI research topic at hand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Assignment 1 requires you to submit a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-page </a:t>
            </a:r>
            <a:r>
              <a:rPr lang="en-US" dirty="0" smtClean="0">
                <a:solidFill>
                  <a:srgbClr val="FF0000"/>
                </a:solidFill>
              </a:rPr>
              <a:t>English description (around 800-1000 words) </a:t>
            </a:r>
            <a:r>
              <a:rPr lang="en-US" dirty="0" smtClean="0">
                <a:solidFill>
                  <a:srgbClr val="FF0000"/>
                </a:solidFill>
              </a:rPr>
              <a:t>of your project (due </a:t>
            </a:r>
            <a:r>
              <a:rPr lang="en-US" b="1" dirty="0" smtClean="0">
                <a:solidFill>
                  <a:srgbClr val="FF0000"/>
                </a:solidFill>
              </a:rPr>
              <a:t>Oct 5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If you </a:t>
            </a:r>
            <a:r>
              <a:rPr lang="en-US" dirty="0" smtClean="0">
                <a:solidFill>
                  <a:srgbClr val="FF0000"/>
                </a:solidFill>
              </a:rPr>
              <a:t>never</a:t>
            </a:r>
            <a:r>
              <a:rPr lang="en-US" dirty="0" smtClean="0"/>
              <a:t> learned </a:t>
            </a:r>
            <a:r>
              <a:rPr lang="en-US" dirty="0" smtClean="0"/>
              <a:t>about HCI to get a basic sense, this </a:t>
            </a:r>
            <a:r>
              <a:rPr lang="en-US" dirty="0" smtClean="0"/>
              <a:t>is not the right </a:t>
            </a:r>
            <a:r>
              <a:rPr lang="en-US" dirty="0" smtClean="0"/>
              <a:t>course for you.</a:t>
            </a:r>
          </a:p>
          <a:p>
            <a:pPr lvl="1"/>
            <a:r>
              <a:rPr lang="en-US" dirty="0" smtClean="0"/>
              <a:t>Please consider taking ISA5579 Interaction Design </a:t>
            </a:r>
            <a:r>
              <a:rPr lang="en-US" dirty="0" smtClean="0"/>
              <a:t>available this semester.</a:t>
            </a:r>
            <a:endParaRPr lang="en-US" dirty="0" smtClean="0"/>
          </a:p>
          <a:p>
            <a:pPr lvl="1"/>
            <a:r>
              <a:rPr lang="en-US" dirty="0" smtClean="0"/>
              <a:t>Talk to me if you think your case is special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558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627440"/>
            <a:ext cx="8229600" cy="937100"/>
          </a:xfrm>
        </p:spPr>
        <p:txBody>
          <a:bodyPr/>
          <a:lstStyle/>
          <a:p>
            <a:r>
              <a:rPr kumimoji="1" lang="en-US" altLang="zh-TW" dirty="0" smtClean="0"/>
              <a:t>What is Research Method?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4</a:t>
            </a:fld>
            <a:endParaRPr 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144951" y="5098482"/>
            <a:ext cx="6776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smtClean="0"/>
              <a:t>Source: Scott </a:t>
            </a:r>
            <a:r>
              <a:rPr kumimoji="1" lang="en-US" altLang="zh-TW" dirty="0" err="1" smtClean="0"/>
              <a:t>MacKenize</a:t>
            </a:r>
            <a:r>
              <a:rPr kumimoji="1" lang="en-US" altLang="zh-TW" dirty="0"/>
              <a:t> </a:t>
            </a:r>
            <a:r>
              <a:rPr kumimoji="1" lang="en-US" altLang="zh-TW" dirty="0">
                <a:hlinkClick r:id="rId2"/>
              </a:rPr>
              <a:t>http://www.yorku.ca/mack/</a:t>
            </a:r>
            <a:r>
              <a:rPr kumimoji="1" lang="en-US" altLang="zh-TW" dirty="0" smtClean="0">
                <a:hlinkClick r:id="rId2"/>
              </a:rPr>
              <a:t>CourseNotes.pdf</a:t>
            </a:r>
            <a:r>
              <a:rPr kumimoji="1" lang="en-US" altLang="zh-TW" dirty="0" smtClean="0"/>
              <a:t>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7615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What is Research?	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altLang="zh-TW" dirty="0" smtClean="0"/>
              <a:t>Research is …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 smtClean="0"/>
              <a:t>Careful or diligent search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 smtClean="0"/>
              <a:t>Studious inquiry or examination; especially: investigation or </a:t>
            </a:r>
            <a:r>
              <a:rPr kumimoji="1" lang="en-US" altLang="zh-TW" u="sng" dirty="0" smtClean="0"/>
              <a:t>experimentation</a:t>
            </a:r>
            <a:r>
              <a:rPr kumimoji="1" lang="en-US" altLang="zh-TW" dirty="0" smtClean="0"/>
              <a:t> aimed at the </a:t>
            </a:r>
            <a:r>
              <a:rPr kumimoji="1" lang="en-US" altLang="zh-TW" u="sng" dirty="0" smtClean="0"/>
              <a:t>discovery</a:t>
            </a:r>
            <a:r>
              <a:rPr kumimoji="1" lang="en-US" altLang="zh-TW" dirty="0" smtClean="0"/>
              <a:t> and </a:t>
            </a:r>
            <a:r>
              <a:rPr kumimoji="1" lang="en-US" altLang="zh-TW" u="sng" dirty="0" smtClean="0"/>
              <a:t>interpretation</a:t>
            </a:r>
            <a:r>
              <a:rPr kumimoji="1" lang="en-US" altLang="zh-TW" dirty="0" smtClean="0"/>
              <a:t> of </a:t>
            </a:r>
            <a:r>
              <a:rPr kumimoji="1" lang="en-US" altLang="zh-TW" u="sng" dirty="0" smtClean="0"/>
              <a:t>facts</a:t>
            </a:r>
            <a:r>
              <a:rPr kumimoji="1" lang="en-US" altLang="zh-TW" dirty="0" smtClean="0"/>
              <a:t>, revision of accepted </a:t>
            </a:r>
            <a:r>
              <a:rPr kumimoji="1" lang="en-US" altLang="zh-TW" u="sng" dirty="0" smtClean="0"/>
              <a:t>theories</a:t>
            </a:r>
            <a:r>
              <a:rPr kumimoji="1" lang="en-US" altLang="zh-TW" dirty="0" smtClean="0"/>
              <a:t> or </a:t>
            </a:r>
            <a:r>
              <a:rPr kumimoji="1" lang="en-US" altLang="zh-TW" u="sng" dirty="0" smtClean="0"/>
              <a:t>laws</a:t>
            </a:r>
            <a:r>
              <a:rPr kumimoji="1" lang="en-US" altLang="zh-TW" dirty="0" smtClean="0"/>
              <a:t> in the light of new facts, or practical application of such new or revised theories or laws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 smtClean="0"/>
              <a:t>The collecting of information about a particular subject</a:t>
            </a:r>
          </a:p>
          <a:p>
            <a:pPr marL="514350" indent="-514350">
              <a:buFont typeface="+mj-lt"/>
              <a:buAutoNum type="arabicPeriod"/>
            </a:pPr>
            <a:endParaRPr kumimoji="1" lang="en-US" altLang="zh-TW" dirty="0" smtClean="0"/>
          </a:p>
          <a:p>
            <a:r>
              <a:rPr kumimoji="1" lang="en-US" altLang="zh-TW" dirty="0" smtClean="0"/>
              <a:t>In HCI, add “relevant to phenomena surrounding humans interacting with computers” </a:t>
            </a:r>
            <a:endParaRPr kumimoji="1" lang="zh-TW" altLang="en-US" u="sng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71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What is Empirical?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TW" dirty="0" smtClean="0"/>
              <a:t>“Empirical Research”</a:t>
            </a:r>
          </a:p>
          <a:p>
            <a:r>
              <a:rPr kumimoji="1" lang="en-US" altLang="zh-TW" dirty="0" smtClean="0"/>
              <a:t>Empirical is …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 smtClean="0"/>
              <a:t>Originating in or based on </a:t>
            </a:r>
            <a:r>
              <a:rPr kumimoji="1" lang="en-US" altLang="zh-TW" u="sng" dirty="0" smtClean="0"/>
              <a:t>observation</a:t>
            </a:r>
            <a:r>
              <a:rPr kumimoji="1" lang="en-US" altLang="zh-TW" dirty="0" smtClean="0"/>
              <a:t> or experience 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 smtClean="0"/>
              <a:t>Relying on experience or observation alone often without regard for system and theory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 smtClean="0"/>
              <a:t>Capable of being </a:t>
            </a:r>
            <a:r>
              <a:rPr kumimoji="1" lang="en-US" altLang="zh-TW" u="sng" dirty="0" smtClean="0"/>
              <a:t>verified</a:t>
            </a:r>
            <a:r>
              <a:rPr kumimoji="1" lang="en-US" altLang="zh-TW" dirty="0" smtClean="0"/>
              <a:t> or </a:t>
            </a:r>
            <a:r>
              <a:rPr kumimoji="1" lang="en-US" altLang="zh-TW" u="sng" dirty="0" smtClean="0"/>
              <a:t>disproved</a:t>
            </a:r>
            <a:r>
              <a:rPr kumimoji="1" lang="en-US" altLang="zh-TW" dirty="0" smtClean="0"/>
              <a:t> by observation or experiment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55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How do we do Empirical Research?	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We conduct empirical research through …</a:t>
            </a:r>
          </a:p>
          <a:p>
            <a:pPr lvl="1"/>
            <a:r>
              <a:rPr kumimoji="1" lang="en-US" altLang="zh-TW" dirty="0" smtClean="0"/>
              <a:t>A program of inquiry conforming to the </a:t>
            </a:r>
            <a:r>
              <a:rPr kumimoji="1" lang="en-US" altLang="zh-TW" i="1" dirty="0" smtClean="0"/>
              <a:t>scientific method</a:t>
            </a:r>
            <a:endParaRPr kumimoji="1" lang="en-US" altLang="zh-TW" dirty="0" smtClean="0"/>
          </a:p>
          <a:p>
            <a:r>
              <a:rPr kumimoji="1" lang="en-US" altLang="zh-TW" dirty="0" smtClean="0"/>
              <a:t>The scientific method is …</a:t>
            </a:r>
          </a:p>
          <a:p>
            <a:pPr lvl="1"/>
            <a:r>
              <a:rPr kumimoji="1" lang="en-US" altLang="zh-TW" dirty="0" smtClean="0"/>
              <a:t>(basically) The principles and procedures for the systematic pursuit of knowledge involving the recognition and formulation of a problem, the collection of data through observation and experiment, and the formulation and testing of hypotheses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28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Why do Empirical Research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We conduct empirical research to …</a:t>
            </a:r>
          </a:p>
          <a:p>
            <a:pPr lvl="1"/>
            <a:r>
              <a:rPr kumimoji="1" lang="en-US" altLang="zh-TW" dirty="0" smtClean="0"/>
              <a:t>Answer (and raise!) questions about new or existing HCI designs or interaction techniques</a:t>
            </a:r>
          </a:p>
          <a:p>
            <a:pPr lvl="1"/>
            <a:r>
              <a:rPr kumimoji="1" lang="en-US" altLang="zh-TW" dirty="0" smtClean="0"/>
              <a:t>Transform baseless opinions into informed opinions supported by evidence</a:t>
            </a:r>
          </a:p>
          <a:p>
            <a:pPr lvl="1"/>
            <a:r>
              <a:rPr kumimoji="1" lang="en-US" altLang="zh-TW" dirty="0" smtClean="0"/>
              <a:t>Develop or explore models that </a:t>
            </a:r>
            <a:r>
              <a:rPr kumimoji="1" lang="en-US" altLang="zh-TW" i="1" dirty="0" smtClean="0"/>
              <a:t>describe</a:t>
            </a:r>
            <a:r>
              <a:rPr kumimoji="1" lang="en-US" altLang="zh-TW" dirty="0" smtClean="0"/>
              <a:t> or </a:t>
            </a:r>
            <a:r>
              <a:rPr kumimoji="1" lang="en-US" altLang="zh-TW" i="1" dirty="0" smtClean="0"/>
              <a:t>predict</a:t>
            </a:r>
            <a:r>
              <a:rPr kumimoji="1" lang="en-US" altLang="zh-TW" dirty="0" smtClean="0"/>
              <a:t> behavior (of humans interacting with computers)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85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Course Topics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43132"/>
            <a:ext cx="8229600" cy="51993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en-US" altLang="zh-TW" dirty="0" smtClean="0"/>
              <a:t>Quantitative method</a:t>
            </a:r>
          </a:p>
          <a:p>
            <a:pPr marL="914400" lvl="1" indent="-514350"/>
            <a:r>
              <a:rPr kumimoji="1" lang="en-US" altLang="zh-TW" dirty="0" smtClean="0"/>
              <a:t>Experimental Design, Data Collection</a:t>
            </a:r>
          </a:p>
          <a:p>
            <a:pPr marL="914400" lvl="1" indent="-514350"/>
            <a:r>
              <a:rPr kumimoji="1" lang="en-US" altLang="zh-TW" dirty="0" smtClean="0"/>
              <a:t>Interpretations of results</a:t>
            </a:r>
          </a:p>
          <a:p>
            <a:pPr marL="0" indent="0">
              <a:buNone/>
            </a:pPr>
            <a:r>
              <a:rPr kumimoji="1" lang="en-US" altLang="zh-TW" dirty="0" smtClean="0"/>
              <a:t>Statistical analysis </a:t>
            </a:r>
          </a:p>
          <a:p>
            <a:pPr lvl="1"/>
            <a:r>
              <a:rPr kumimoji="1" lang="en-US" altLang="zh-TW" dirty="0" err="1" smtClean="0"/>
              <a:t>Frequentist</a:t>
            </a:r>
            <a:r>
              <a:rPr kumimoji="1" lang="en-US" altLang="zh-TW" dirty="0" smtClean="0"/>
              <a:t>, behaviorist approach</a:t>
            </a:r>
          </a:p>
          <a:p>
            <a:pPr lvl="1"/>
            <a:r>
              <a:rPr kumimoji="1" lang="en-US" altLang="zh-TW" dirty="0" smtClean="0"/>
              <a:t>Statistical comparison and inference</a:t>
            </a:r>
          </a:p>
          <a:p>
            <a:pPr lvl="1"/>
            <a:r>
              <a:rPr kumimoji="1" lang="en-US" altLang="zh-TW" dirty="0" smtClean="0"/>
              <a:t>Effect size, simple regression analysis</a:t>
            </a:r>
          </a:p>
          <a:p>
            <a:pPr marL="0" indent="0">
              <a:buNone/>
            </a:pPr>
            <a:r>
              <a:rPr kumimoji="1" lang="en-US" altLang="zh-TW" u="sng" dirty="0" smtClean="0"/>
              <a:t>Applied</a:t>
            </a:r>
            <a:r>
              <a:rPr kumimoji="1" lang="en-US" altLang="zh-TW" i="1" dirty="0" smtClean="0"/>
              <a:t> </a:t>
            </a:r>
            <a:r>
              <a:rPr kumimoji="1" lang="en-US" altLang="zh-TW" dirty="0" smtClean="0"/>
              <a:t>Machine Learning</a:t>
            </a:r>
          </a:p>
          <a:p>
            <a:pPr marL="857250" lvl="1" indent="-457200"/>
            <a:r>
              <a:rPr kumimoji="1" lang="en-US" altLang="zh-TW" dirty="0" smtClean="0"/>
              <a:t>Overview and use of machine learning</a:t>
            </a:r>
          </a:p>
          <a:p>
            <a:pPr marL="857250" lvl="1" indent="-457200"/>
            <a:r>
              <a:rPr kumimoji="1" lang="en-US" altLang="zh-TW" dirty="0" smtClean="0"/>
              <a:t>Software practice</a:t>
            </a:r>
          </a:p>
          <a:p>
            <a:pPr marL="0" indent="0">
              <a:buNone/>
            </a:pPr>
            <a:r>
              <a:rPr kumimoji="1" lang="en-US" altLang="zh-TW" dirty="0" smtClean="0"/>
              <a:t>Qualitative method</a:t>
            </a:r>
          </a:p>
          <a:p>
            <a:pPr lvl="1"/>
            <a:r>
              <a:rPr kumimoji="1" lang="en-US" altLang="zh-TW" dirty="0" smtClean="0"/>
              <a:t>Complementing what </a:t>
            </a:r>
            <a:r>
              <a:rPr kumimoji="1" lang="en-US" altLang="zh-TW" dirty="0" err="1" smtClean="0"/>
              <a:t>quan</a:t>
            </a:r>
            <a:r>
              <a:rPr kumimoji="1" lang="en-US" altLang="zh-TW" dirty="0" smtClean="0"/>
              <a:t>. </a:t>
            </a:r>
            <a:r>
              <a:rPr kumimoji="1" lang="en-US" altLang="zh-TW" dirty="0"/>
              <a:t>m</a:t>
            </a:r>
            <a:r>
              <a:rPr kumimoji="1" lang="en-US" altLang="zh-TW" dirty="0" smtClean="0"/>
              <a:t>ethod cannot do well.</a:t>
            </a:r>
          </a:p>
          <a:p>
            <a:pPr marL="457200" indent="-457200"/>
            <a:endParaRPr kumimoji="1" lang="en-US" altLang="zh-TW" dirty="0" smtClean="0"/>
          </a:p>
          <a:p>
            <a:pPr marL="857250" lvl="1" indent="-457200"/>
            <a:endParaRPr kumimoji="1" lang="en-US" altLang="zh-TW" dirty="0" smtClean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72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Instructional Methods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b="1" dirty="0" smtClean="0"/>
              <a:t>Student-centered, learning by doing</a:t>
            </a:r>
          </a:p>
          <a:p>
            <a:pPr lvl="1"/>
            <a:r>
              <a:rPr kumimoji="1" lang="en-US" altLang="zh-TW" dirty="0" smtClean="0"/>
              <a:t>We expect you to actively engage in reading, discussion, and individual assignments</a:t>
            </a:r>
          </a:p>
          <a:p>
            <a:pPr lvl="1"/>
            <a:r>
              <a:rPr kumimoji="1" lang="en-US" altLang="zh-TW" dirty="0" smtClean="0"/>
              <a:t>In principle, there’s no group work. Every assignment is individual, developed around the individual project that you propose in Assignment 1.</a:t>
            </a:r>
          </a:p>
          <a:p>
            <a:pPr lvl="1"/>
            <a:r>
              <a:rPr kumimoji="1" lang="en-US" altLang="zh-TW" dirty="0" smtClean="0"/>
              <a:t>There’ll be a mid-term, focusing on experimental design and basic statistics</a:t>
            </a:r>
          </a:p>
          <a:p>
            <a:pPr lvl="1"/>
            <a:r>
              <a:rPr kumimoji="1" lang="en-US" altLang="zh-TW" dirty="0" smtClean="0"/>
              <a:t>Talk to me for special cases and needs.</a:t>
            </a:r>
          </a:p>
          <a:p>
            <a:pPr marL="0" indent="0">
              <a:buNone/>
            </a:pPr>
            <a:endParaRPr kumimoji="1" lang="en-US" altLang="zh-TW" b="1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38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Instructional Methods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b="1" dirty="0" smtClean="0"/>
              <a:t>Reading and paper commenting</a:t>
            </a:r>
          </a:p>
          <a:p>
            <a:pPr lvl="1"/>
            <a:r>
              <a:rPr kumimoji="1" lang="en-US" altLang="zh-TW" dirty="0" smtClean="0"/>
              <a:t>Similar to ISA5578 Social Computing</a:t>
            </a:r>
          </a:p>
          <a:p>
            <a:pPr lvl="1"/>
            <a:r>
              <a:rPr kumimoji="1" lang="en-US" altLang="zh-TW" dirty="0" smtClean="0"/>
              <a:t>Read papers of your own choice. Post your comments on specific papers by the beginning of the class of each week.</a:t>
            </a:r>
          </a:p>
          <a:p>
            <a:pPr lvl="1"/>
            <a:r>
              <a:rPr kumimoji="1" lang="en-US" altLang="zh-TW" dirty="0" smtClean="0"/>
              <a:t>1% per paper comment. Students may receive up to </a:t>
            </a:r>
            <a:r>
              <a:rPr kumimoji="1" lang="en-US" altLang="zh-TW" dirty="0" smtClean="0"/>
              <a:t>15% of the final grade of the semester through </a:t>
            </a:r>
            <a:r>
              <a:rPr kumimoji="1" lang="en-US" altLang="zh-TW" dirty="0" smtClean="0"/>
              <a:t>paper commenting.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08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Instructional Methods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b="1" dirty="0" smtClean="0"/>
              <a:t>Talking</a:t>
            </a:r>
          </a:p>
          <a:p>
            <a:pPr lvl="1"/>
            <a:r>
              <a:rPr kumimoji="1" lang="en-US" altLang="zh-TW" dirty="0" smtClean="0"/>
              <a:t>I’m hoping to maximize the amount of time that students talk, rather than the teacher talks.</a:t>
            </a:r>
          </a:p>
          <a:p>
            <a:pPr lvl="1"/>
            <a:r>
              <a:rPr kumimoji="1" lang="en-US" altLang="zh-TW" dirty="0" smtClean="0"/>
              <a:t>Reason is simple- normally you don’t think and remember that much when you’re just listening.</a:t>
            </a:r>
          </a:p>
          <a:p>
            <a:pPr lvl="1"/>
            <a:r>
              <a:rPr kumimoji="1" lang="en-US" altLang="zh-TW" dirty="0" smtClean="0"/>
              <a:t>As mentioned, you’ll discuss about required and optional readings in the class. </a:t>
            </a:r>
          </a:p>
          <a:p>
            <a:pPr lvl="1"/>
            <a:r>
              <a:rPr kumimoji="1" lang="en-US" altLang="zh-TW" dirty="0" smtClean="0"/>
              <a:t>You will also have time to talk about your own research and assignments and get feedback from other students.</a:t>
            </a:r>
            <a:endParaRPr kumimoji="1" lang="en-US" altLang="zh-TW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06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Ultimate Goal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 smtClean="0"/>
              <a:t>You can really use what you learn from this course </a:t>
            </a:r>
            <a:r>
              <a:rPr kumimoji="1" lang="en-US" altLang="zh-TW" b="1" dirty="0" smtClean="0"/>
              <a:t>and other places </a:t>
            </a:r>
            <a:r>
              <a:rPr kumimoji="1" lang="en-US" altLang="zh-TW" dirty="0" smtClean="0"/>
              <a:t>in your current and future research</a:t>
            </a:r>
          </a:p>
          <a:p>
            <a:pPr lvl="1"/>
            <a:r>
              <a:rPr kumimoji="1" lang="en-US" altLang="zh-TW" dirty="0" smtClean="0"/>
              <a:t>Crucial to research methods: There’s no “ISO standard” about how methods are taught. But there tends to be community </a:t>
            </a:r>
            <a:r>
              <a:rPr kumimoji="1" lang="en-US" altLang="zh-TW" dirty="0" smtClean="0"/>
              <a:t>norm about </a:t>
            </a:r>
            <a:r>
              <a:rPr kumimoji="1" lang="en-US" altLang="zh-TW" dirty="0" smtClean="0"/>
              <a:t>what methods are considered legitimate given a specific research topic and context. </a:t>
            </a:r>
          </a:p>
          <a:p>
            <a:pPr lvl="1"/>
            <a:r>
              <a:rPr kumimoji="1" lang="en-US" altLang="zh-TW" dirty="0" smtClean="0"/>
              <a:t>Doing, reading, and talking/discussing, as I see, is likely to be the best way to learn this type of </a:t>
            </a:r>
            <a:r>
              <a:rPr kumimoji="1" lang="en-US" altLang="zh-TW" b="1" dirty="0" smtClean="0"/>
              <a:t>implicit</a:t>
            </a:r>
            <a:r>
              <a:rPr kumimoji="1" lang="en-US" altLang="zh-TW" dirty="0" smtClean="0"/>
              <a:t>, </a:t>
            </a:r>
            <a:r>
              <a:rPr kumimoji="1" lang="en-US" altLang="zh-TW" b="1" dirty="0" smtClean="0"/>
              <a:t>procedural</a:t>
            </a:r>
            <a:r>
              <a:rPr kumimoji="1" lang="en-US" altLang="zh-TW" dirty="0" smtClean="0"/>
              <a:t> knowledge.</a:t>
            </a:r>
          </a:p>
          <a:p>
            <a:pPr lvl="1"/>
            <a:r>
              <a:rPr kumimoji="1" lang="en-US" altLang="zh-TW" dirty="0" smtClean="0"/>
              <a:t>Capable of learning (and developing) new methods on your own.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858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Think about Driving</a:t>
            </a:r>
            <a:endParaRPr kumimoji="1"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rcRect t="4326" b="4326"/>
          <a:stretch>
            <a:fillRect/>
          </a:stretch>
        </p:blipFill>
        <p:spPr>
          <a:xfrm>
            <a:off x="1511950" y="1551344"/>
            <a:ext cx="5964104" cy="3633148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14</a:t>
            </a:fld>
            <a:endParaRPr lang="en-US"/>
          </a:p>
        </p:txBody>
      </p:sp>
      <p:sp>
        <p:nvSpPr>
          <p:cNvPr id="6" name="文字方塊 5"/>
          <p:cNvSpPr txBox="1"/>
          <p:nvPr/>
        </p:nvSpPr>
        <p:spPr>
          <a:xfrm>
            <a:off x="535303" y="5494576"/>
            <a:ext cx="786045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500" dirty="0" smtClean="0"/>
              <a:t>We don’t learn </a:t>
            </a:r>
            <a:r>
              <a:rPr kumimoji="1" lang="en-US" altLang="zh-TW" sz="2500" dirty="0" smtClean="0"/>
              <a:t>that much from </a:t>
            </a:r>
            <a:r>
              <a:rPr kumimoji="1" lang="en-US" altLang="zh-TW" sz="2500" dirty="0" smtClean="0"/>
              <a:t>listening to </a:t>
            </a:r>
            <a:r>
              <a:rPr kumimoji="1" lang="en-US" altLang="zh-TW" sz="2500" dirty="0" smtClean="0"/>
              <a:t>driving lectures</a:t>
            </a:r>
            <a:r>
              <a:rPr kumimoji="1" lang="en-US" altLang="zh-TW" sz="2500" dirty="0" smtClean="0"/>
              <a:t>.</a:t>
            </a:r>
          </a:p>
          <a:p>
            <a:pPr algn="ctr"/>
            <a:r>
              <a:rPr kumimoji="1" lang="en-US" altLang="zh-TW" sz="2500" dirty="0" smtClean="0"/>
              <a:t>We </a:t>
            </a:r>
            <a:r>
              <a:rPr kumimoji="1" lang="en-US" altLang="zh-TW" sz="2500" dirty="0" smtClean="0"/>
              <a:t>mostly learn </a:t>
            </a:r>
            <a:r>
              <a:rPr kumimoji="1" lang="en-US" altLang="zh-TW" sz="2500" dirty="0" smtClean="0"/>
              <a:t>from doing (driving) it on our own.</a:t>
            </a:r>
            <a:endParaRPr kumimoji="1" lang="zh-TW" altLang="en-US" sz="2500" dirty="0"/>
          </a:p>
        </p:txBody>
      </p:sp>
    </p:spTree>
    <p:extLst>
      <p:ext uri="{BB962C8B-B14F-4D97-AF65-F5344CB8AC3E}">
        <p14:creationId xmlns:p14="http://schemas.microsoft.com/office/powerpoint/2010/main" val="28307748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Main Textbook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15</a:t>
            </a:fld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457200" y="1343132"/>
            <a:ext cx="4286702" cy="5013218"/>
          </a:xfrm>
        </p:spPr>
        <p:txBody>
          <a:bodyPr>
            <a:normAutofit lnSpcReduction="10000"/>
          </a:bodyPr>
          <a:lstStyle/>
          <a:p>
            <a:r>
              <a:rPr lang="en-US" altLang="zh-TW" sz="2400" dirty="0" err="1"/>
              <a:t>MacKenzie</a:t>
            </a:r>
            <a:r>
              <a:rPr lang="en-US" altLang="zh-TW" sz="2400" dirty="0"/>
              <a:t>, I. S. (2013). </a:t>
            </a:r>
            <a:r>
              <a:rPr lang="en-US" altLang="zh-TW" sz="2400" i="1" dirty="0"/>
              <a:t>Human-Computer Interaction: An Empirical Research Perspective</a:t>
            </a:r>
            <a:r>
              <a:rPr lang="en-US" altLang="zh-TW" sz="2400" dirty="0"/>
              <a:t>. Morgan Kaufmann </a:t>
            </a:r>
            <a:r>
              <a:rPr kumimoji="1" lang="en-US" altLang="zh-TW" sz="2600" dirty="0" smtClean="0"/>
              <a:t>. </a:t>
            </a:r>
          </a:p>
          <a:p>
            <a:endParaRPr kumimoji="1" lang="en-US" altLang="zh-TW" sz="2600" dirty="0"/>
          </a:p>
          <a:p>
            <a:r>
              <a:rPr kumimoji="1" lang="en-US" altLang="zh-TW" sz="2600" dirty="0" smtClean="0"/>
              <a:t>Under the term of fair use,</a:t>
            </a:r>
            <a:br>
              <a:rPr kumimoji="1" lang="en-US" altLang="zh-TW" sz="2600" dirty="0" smtClean="0"/>
            </a:br>
            <a:r>
              <a:rPr kumimoji="1" lang="en-US" altLang="zh-TW" sz="2600" dirty="0" smtClean="0"/>
              <a:t>selected chapters will</a:t>
            </a:r>
            <a:br>
              <a:rPr kumimoji="1" lang="en-US" altLang="zh-TW" sz="2600" dirty="0" smtClean="0"/>
            </a:br>
            <a:r>
              <a:rPr kumimoji="1" lang="en-US" altLang="zh-TW" sz="2600" dirty="0" smtClean="0"/>
              <a:t>be posted on LMS as weekly readings.</a:t>
            </a:r>
          </a:p>
          <a:p>
            <a:pPr lvl="1"/>
            <a:r>
              <a:rPr kumimoji="1" lang="en-US" altLang="zh-TW" sz="2400" dirty="0" smtClean="0"/>
              <a:t>You’re </a:t>
            </a:r>
            <a:r>
              <a:rPr kumimoji="1" lang="en-US" altLang="zh-TW" sz="2400" dirty="0" smtClean="0"/>
              <a:t>*strongly encouraged* to </a:t>
            </a:r>
            <a:r>
              <a:rPr kumimoji="1" lang="en-US" altLang="zh-TW" sz="2400" dirty="0" smtClean="0"/>
              <a:t>buy this book. </a:t>
            </a:r>
          </a:p>
          <a:p>
            <a:endParaRPr kumimoji="1" lang="en-US" altLang="zh-TW" sz="3600" dirty="0"/>
          </a:p>
          <a:p>
            <a:endParaRPr kumimoji="1" lang="en-US" altLang="zh-TW" sz="3600" dirty="0"/>
          </a:p>
          <a:p>
            <a:endParaRPr kumimoji="1" lang="zh-TW" altLang="en-US" dirty="0"/>
          </a:p>
        </p:txBody>
      </p:sp>
      <p:pic>
        <p:nvPicPr>
          <p:cNvPr id="3" name="圖片 2" descr="41yjB4t5lML._SX258_BO1,204,203,200_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189" y="1495977"/>
            <a:ext cx="3302000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0515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Statistical Software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However, you’re *strongly encouraged* to purchase at least a 6-month academic license for SAS JMP</a:t>
            </a:r>
          </a:p>
          <a:p>
            <a:pPr lvl="1"/>
            <a:r>
              <a:rPr kumimoji="1" lang="en-US" altLang="zh-TW" dirty="0" smtClean="0"/>
              <a:t>Get a 30-day trial </a:t>
            </a:r>
            <a:r>
              <a:rPr kumimoji="1" lang="en-US" altLang="zh-TW" dirty="0"/>
              <a:t>at </a:t>
            </a:r>
            <a:r>
              <a:rPr kumimoji="1" lang="en-US" altLang="zh-TW" dirty="0">
                <a:hlinkClick r:id="rId2"/>
              </a:rPr>
              <a:t>http://www.jmp.com/landing/</a:t>
            </a:r>
            <a:r>
              <a:rPr kumimoji="1" lang="en-US" altLang="zh-TW" dirty="0" smtClean="0">
                <a:hlinkClick r:id="rId2"/>
              </a:rPr>
              <a:t>jmp_trial.shtml</a:t>
            </a:r>
            <a:endParaRPr kumimoji="1" lang="en-US" altLang="zh-TW" dirty="0" smtClean="0"/>
          </a:p>
          <a:p>
            <a:pPr lvl="1"/>
            <a:r>
              <a:rPr kumimoji="1" lang="en-US" altLang="zh-TW" dirty="0" smtClean="0"/>
              <a:t>Purchase 6-month </a:t>
            </a:r>
            <a:r>
              <a:rPr kumimoji="1" lang="en-US" altLang="zh-TW" dirty="0"/>
              <a:t>academic license at </a:t>
            </a:r>
            <a:br>
              <a:rPr kumimoji="1" lang="en-US" altLang="zh-TW" dirty="0"/>
            </a:br>
            <a:r>
              <a:rPr kumimoji="1" lang="en-US" altLang="zh-TW" dirty="0">
                <a:hlinkClick r:id="rId3"/>
              </a:rPr>
              <a:t>http://www.onthehub.com/jmp</a:t>
            </a:r>
            <a:r>
              <a:rPr kumimoji="1" lang="en-US" altLang="zh-TW" dirty="0" smtClean="0">
                <a:hlinkClick r:id="rId3"/>
              </a:rPr>
              <a:t>/</a:t>
            </a:r>
            <a:r>
              <a:rPr kumimoji="1" lang="en-US" altLang="zh-TW" dirty="0" smtClean="0"/>
              <a:t> </a:t>
            </a:r>
          </a:p>
          <a:p>
            <a:pPr lvl="1"/>
            <a:endParaRPr kumimoji="1" lang="en-US" altLang="zh-TW" dirty="0"/>
          </a:p>
          <a:p>
            <a:r>
              <a:rPr kumimoji="1" lang="en-US" altLang="zh-TW" dirty="0" smtClean="0"/>
              <a:t>When we talk about statistical analyses, you will need to use JMP (or SPSS, R) to complete your assignments.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85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8987</TotalTime>
  <Words>879</Words>
  <Application>Microsoft Macintosh PowerPoint</Application>
  <PresentationFormat>如螢幕大小 (4:3)</PresentationFormat>
  <Paragraphs>109</Paragraphs>
  <Slides>16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7" baseType="lpstr">
      <vt:lpstr>Office Theme</vt:lpstr>
      <vt:lpstr>ISA5577 Applied Quantitative Methods for Human-Computer Interaction 人機互動量化研究方法   September 14, 2017</vt:lpstr>
      <vt:lpstr>Basic Information</vt:lpstr>
      <vt:lpstr>What This Course Is and Isn’t ?</vt:lpstr>
      <vt:lpstr>What is Research Method?</vt:lpstr>
      <vt:lpstr>What is Research? </vt:lpstr>
      <vt:lpstr>What is Empirical?</vt:lpstr>
      <vt:lpstr>How do we do Empirical Research? </vt:lpstr>
      <vt:lpstr>Why do Empirical Research</vt:lpstr>
      <vt:lpstr>Course Topics</vt:lpstr>
      <vt:lpstr>Instructional Methods</vt:lpstr>
      <vt:lpstr>Instructional Methods</vt:lpstr>
      <vt:lpstr>Instructional Methods</vt:lpstr>
      <vt:lpstr>Ultimate Goal</vt:lpstr>
      <vt:lpstr>Think about Driving</vt:lpstr>
      <vt:lpstr>Main Textbook</vt:lpstr>
      <vt:lpstr>Statistical Software</vt:lpstr>
    </vt:vector>
  </TitlesOfParts>
  <Company>Cornell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5441 Social Computing TA</dc:title>
  <dc:creator>Hao-Chuan Wang</dc:creator>
  <cp:lastModifiedBy>Hao-Chuan Wang</cp:lastModifiedBy>
  <cp:revision>347</cp:revision>
  <dcterms:created xsi:type="dcterms:W3CDTF">2012-02-07T03:56:58Z</dcterms:created>
  <dcterms:modified xsi:type="dcterms:W3CDTF">2017-09-14T04:36:14Z</dcterms:modified>
</cp:coreProperties>
</file>