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  <p:sldMasterId id="2147483653" r:id="rId2"/>
  </p:sldMasterIdLst>
  <p:notesMasterIdLst>
    <p:notesMasterId r:id="rId18"/>
  </p:notesMasterIdLst>
  <p:handoutMasterIdLst>
    <p:handoutMasterId r:id="rId19"/>
  </p:handoutMasterIdLst>
  <p:sldIdLst>
    <p:sldId id="344" r:id="rId3"/>
    <p:sldId id="430" r:id="rId4"/>
    <p:sldId id="431" r:id="rId5"/>
    <p:sldId id="434" r:id="rId6"/>
    <p:sldId id="435" r:id="rId7"/>
    <p:sldId id="436" r:id="rId8"/>
    <p:sldId id="432" r:id="rId9"/>
    <p:sldId id="437" r:id="rId10"/>
    <p:sldId id="438" r:id="rId11"/>
    <p:sldId id="442" r:id="rId12"/>
    <p:sldId id="439" r:id="rId13"/>
    <p:sldId id="441" r:id="rId14"/>
    <p:sldId id="443" r:id="rId15"/>
    <p:sldId id="444" r:id="rId16"/>
    <p:sldId id="445" r:id="rId17"/>
  </p:sldIdLst>
  <p:sldSz cx="9144000" cy="6858000" type="screen4x3"/>
  <p:notesSz cx="6807200" cy="99393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009900"/>
    <a:srgbClr val="0000FF"/>
    <a:srgbClr val="FF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89113" autoAdjust="0"/>
  </p:normalViewPr>
  <p:slideViewPr>
    <p:cSldViewPr snapToGrid="0">
      <p:cViewPr varScale="1">
        <p:scale>
          <a:sx n="60" d="100"/>
          <a:sy n="60" d="100"/>
        </p:scale>
        <p:origin x="105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245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fld id="{090B73B1-7B3A-49FA-86C4-A1CFC1AE3FB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63559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887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1225"/>
            <a:ext cx="4991100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245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fld id="{8049E8FD-7810-43E2-A450-862787F32CD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031736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BF09876-E4A4-4B15-B3B8-811C39578C9F}" type="slidenum">
              <a:rPr kumimoji="0" lang="zh-TW" altLang="en-US" sz="1300" smtClean="0"/>
              <a:pPr>
                <a:spcBef>
                  <a:spcPct val="0"/>
                </a:spcBef>
              </a:pPr>
              <a:t>1</a:t>
            </a:fld>
            <a:endParaRPr kumimoji="0" lang="en-US" altLang="zh-TW" sz="1300" smtClean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78864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AD79FCA-2A4F-4C3D-B719-16F021990A49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42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2F3657E-54E6-423C-A198-4C16F0A284A1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49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696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0630C66-F7DD-44D0-B86D-F8E8E3C8A0F7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4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0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836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256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9D57B39-E755-4A05-A533-C3F5A38A47FD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6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2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481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6151F4D-03B3-45E4-8813-BDD437BB1EDF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3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916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EDABF1B-729D-4983-9516-14F094FC7770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4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981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E4C5172-D730-4E7A-8A59-719819A8427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6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360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6F30E89-9619-4373-9DBB-6206DAF2CE0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10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7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987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4AB0C18-C631-450E-A7E2-F4D45F1E2E2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11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8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376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6A4802C-60E2-479E-A895-478B000AF6BB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12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666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E83CB6D1-B1C7-4838-AA52-60B950856898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13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61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022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39E7B399-4AD7-4992-9615-56966687B4D1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14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62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927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6A4802C-60E2-479E-A895-478B000AF6BB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15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r>
              <a:rPr lang="en-US" altLang="zh-TW" dirty="0" smtClean="0">
                <a:latin typeface="Arial" pitchFamily="34" charset="0"/>
              </a:rPr>
              <a:t>Wait</a:t>
            </a:r>
            <a:r>
              <a:rPr lang="en-US" altLang="zh-TW" baseline="0" dirty="0" smtClean="0">
                <a:latin typeface="Arial" pitchFamily="34" charset="0"/>
              </a:rPr>
              <a:t> in the wakeup queue.</a:t>
            </a:r>
          </a:p>
          <a:p>
            <a:r>
              <a:rPr lang="en-US" altLang="zh-TW" baseline="0" dirty="0" smtClean="0">
                <a:latin typeface="Arial" pitchFamily="34" charset="0"/>
              </a:rPr>
              <a:t>“now” is a shared variable, invoked and updated by hardware.</a:t>
            </a:r>
          </a:p>
          <a:p>
            <a:r>
              <a:rPr lang="en-US" altLang="zh-TW" baseline="0" dirty="0" err="1" smtClean="0">
                <a:latin typeface="Arial" pitchFamily="34" charset="0"/>
              </a:rPr>
              <a:t>wakeup.signal</a:t>
            </a:r>
            <a:r>
              <a:rPr lang="en-US" altLang="zh-TW" baseline="0" dirty="0" smtClean="0">
                <a:latin typeface="Arial" pitchFamily="34" charset="0"/>
              </a:rPr>
              <a:t> will wakeup the processes of the queue, one by one.</a:t>
            </a:r>
          </a:p>
          <a:p>
            <a:r>
              <a:rPr lang="en-US" altLang="zh-TW" baseline="0" dirty="0" smtClean="0">
                <a:latin typeface="Arial" pitchFamily="34" charset="0"/>
              </a:rPr>
              <a:t> </a:t>
            </a:r>
            <a:endParaRPr lang="zh-TW" altLang="zh-TW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112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29091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12909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DE757-ACBA-4F27-BC7D-A8FAC9FDE924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5A5C3-A4D8-430C-85C3-468A06DE00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6816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7BD78-DC6D-42DD-A9BC-37839B84D130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1068F-A8DB-4715-80D4-E261661B5ED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485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E03AB9-97DE-427A-846C-59DFD6FA8471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C183A-7273-4513-AC62-9D03DF5BAF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843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35CB55-4EA3-4E8C-A20B-E9DCB6C2C426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813C3-3514-4567-849A-EC2F31E6577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251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BDAE85-36D4-40F6-9D01-181CE71B5EFA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8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9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DC75E-2BE5-4997-BB06-CDF4A9545F7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725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76634-BCD7-4AE3-A741-F6D349B5D5F8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4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CD9420-08DB-4FFB-A9E9-9EEC82B581F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406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68408-940E-482F-B3B9-4E59F33E8B4E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3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05357-5CFB-47AA-A75D-89FADAB704C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599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5CC481-F74C-49DA-B2F9-54637281460F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604B7-DDE4-4CEF-8E47-30BF9CF8263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66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0C085-A3CD-4DC7-B05C-6E49EE815DC2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BAB18-78D8-4432-9A69-437FD9AF849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597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64372-4E2C-47CB-BFD1-52CD7AB9CD4B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1B253-BE8C-4884-BCC8-741F435C438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555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26198-86FD-46C7-88C5-546048E2682F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67D4F-547A-4747-8A6C-FE0231881A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9965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6AD0D-A5F0-464E-BF99-1F21143DA15A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6092F1-8900-4DB3-AD39-5868D966214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4736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0630EB-E8A0-4BEB-B418-5EF9C2F5735B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B0B8B-EA74-4D76-BEE9-4DE6236BA8A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2842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7B9158-A735-43B0-996D-1174EBE6D619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34D109-BC50-42AD-BB9F-9623354B548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7397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030AEE-7D09-400C-BFDE-4840B6C5A59E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CC50B-9882-4326-9BEC-FA99B6FBDC1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4814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02076-B4E9-40D5-B8A6-E2BC9AE8577F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7F8DC-16DA-456B-B0BE-5FA530BF7D0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6315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6BFDF-1183-4DD1-895D-8677609F043D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C4046-026E-4C02-9261-8B9D1065ACC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3463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1B5B8E-DBDA-4135-A806-AB0F67A2C010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FF7F0-89B7-4928-AD2A-C90A95E0A94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35027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8D4D8-9EC4-4D8E-8A45-8F9EA4E89D69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1A10C-9E3E-461C-9A73-6FBC7EAC3A9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21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687DA-857B-4C51-8230-96A8CB0C6C26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EC81C-67BF-48AE-9CD0-61D81F872FD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7891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AB5EBD-8A4A-456E-AB90-018F40CD3375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75439-DC48-4727-B60F-413E1363F53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96026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31D48-C77C-41ED-80BC-51C59F9BC3F0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74233-EC90-43B7-B6E3-AC44DE00BB1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723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1029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1051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1082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1083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1084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1085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1086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108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088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28065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fld id="{E0954A57-9851-43B4-93E5-BBA79B2EBBA8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128066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128067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A2FBB981-2FBF-49A8-A240-1FA66F7ED70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81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400">
                <a:latin typeface="Times New Roman" pitchFamily="18" charset="0"/>
              </a:defRPr>
            </a:lvl1pPr>
          </a:lstStyle>
          <a:p>
            <a:pPr>
              <a:defRPr/>
            </a:pPr>
            <a:fld id="{4E3B32E1-DEA6-46CE-B9B5-AFD72A46B0D3}" type="datetime1">
              <a:rPr lang="zh-TW" altLang="en-US" smtClean="0"/>
              <a:t>2018/4/23</a:t>
            </a:fld>
            <a:endParaRPr lang="en-US" altLang="zh-TW"/>
          </a:p>
        </p:txBody>
      </p:sp>
      <p:sp>
        <p:nvSpPr>
          <p:cNvPr id="2816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4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TW" smtClean="0"/>
              <a:t>OS-5 Selected 2018</a:t>
            </a:r>
            <a:endParaRPr lang="en-US" altLang="zh-TW"/>
          </a:p>
        </p:txBody>
      </p:sp>
      <p:sp>
        <p:nvSpPr>
          <p:cNvPr id="2816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400">
                <a:latin typeface="Times New Roman" pitchFamily="18" charset="0"/>
              </a:defRPr>
            </a:lvl1pPr>
          </a:lstStyle>
          <a:p>
            <a:pPr>
              <a:defRPr/>
            </a:pPr>
            <a:fld id="{F2643DFA-C4E9-4A05-B3EB-552E67D762B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EACBCB-BEC6-4833-B04E-4E6277E830DD}" type="datetime1">
              <a:rPr kumimoji="0" lang="zh-TW" altLang="en-US" sz="1400" smtClean="0"/>
              <a:t>2018/4/23</a:t>
            </a:fld>
            <a:endParaRPr kumimoji="0" lang="en-US" altLang="zh-TW" sz="1400" smtClean="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OS-5 Selected 2018</a:t>
            </a:r>
            <a:endParaRPr kumimoji="0" lang="en-US" altLang="zh-TW" sz="1400" smtClean="0"/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62AC97-676D-4117-AC90-5E3BC20F464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 smtClean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603500"/>
            <a:ext cx="7162800" cy="1143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dirty="0" smtClean="0"/>
              <a:t>Chapter 5 </a:t>
            </a:r>
            <a:br>
              <a:rPr lang="en-US" altLang="zh-TW" sz="4800" dirty="0" smtClean="0"/>
            </a:br>
            <a:r>
              <a:rPr lang="en-US" altLang="zh-TW" dirty="0" smtClean="0"/>
              <a:t>Process Synchronization</a:t>
            </a:r>
            <a:br>
              <a:rPr lang="en-US" altLang="zh-TW" dirty="0" smtClean="0"/>
            </a:br>
            <a:r>
              <a:rPr lang="en-US" altLang="zh-TW" dirty="0" smtClean="0"/>
              <a:t>Examples</a:t>
            </a:r>
            <a:br>
              <a:rPr lang="en-US" altLang="zh-TW" dirty="0" smtClean="0"/>
            </a:br>
            <a:endParaRPr lang="en-US" altLang="zh-TW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31B0B7E-A959-4A1A-A3CF-2C917694F143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Linux kernel has a policy that a process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cannot hold a spinlock while attempting to acquire a semaphore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Explain why this policy is in place.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  <a:defRPr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Spinlocks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are to only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be held for short durations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a process that is sleeping may hold the spinlock for too long a period.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  <a:defRPr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18788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1B115E-708B-4C7F-8EA3-18B05F3BDA54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18789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5.12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5C15F2F-8E9F-4C14-8794-FEB447B20182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Describe two kernel data structures in which race conditions are possible. Be sure to include a description of how a race condition can occur.</a:t>
            </a: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u="sng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pid</a:t>
            </a:r>
            <a:r>
              <a:rPr lang="en-US" altLang="zh-TW" sz="2400" u="sng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management system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it is possible two processes may be created at the same time and there is a race condition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assigning each process a unique </a:t>
            </a:r>
            <a:r>
              <a:rPr lang="en-US" altLang="zh-TW" sz="2400" dirty="0" err="1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pid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u="sng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kernel process table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two processes are created at the same time and there is a race assigning them a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location in the kernel process table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u="sng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scheduling queues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one process has been waiting for IO which is now available. Another process is being context-switched out. These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two processes are being moved to the Runnable queue at the same time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Hence there is a race condition in the Runnable queue.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  <a:defRPr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19812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9214A3-FB34-4238-988B-FCDE60F42B90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1981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5.13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3B06DBA-3A49-4A2E-B989-4243EF087F3C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0835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3B0B5F-0FD3-443B-8A99-AFC21728B151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0836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5.14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pic>
        <p:nvPicPr>
          <p:cNvPr id="12083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187575"/>
            <a:ext cx="87915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38" y="3649663"/>
            <a:ext cx="35147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4256088"/>
            <a:ext cx="77438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5292725"/>
            <a:ext cx="47053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ontent Placeholder 2" descr="Rectangle: Click to edit Master text styles&#10;Second level&#10;Third level&#10;Fourth level&#10;Fifth level"/>
          <p:cNvSpPr txBox="1">
            <a:spLocks/>
          </p:cNvSpPr>
          <p:nvPr/>
        </p:nvSpPr>
        <p:spPr bwMode="auto">
          <a:xfrm>
            <a:off x="103188" y="854075"/>
            <a:ext cx="8937625" cy="124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kern="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Describe how the </a:t>
            </a:r>
            <a:r>
              <a:rPr lang="en-US" altLang="zh-TW" sz="2400" kern="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swap() </a:t>
            </a:r>
            <a:r>
              <a:rPr lang="en-US" altLang="zh-TW" sz="2400" kern="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instruction can be used to provide mutual exclusion that satisfies the </a:t>
            </a:r>
            <a:r>
              <a:rPr lang="en-US" altLang="zh-TW" sz="2400" kern="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bounded-waiting requirement</a:t>
            </a:r>
            <a:r>
              <a:rPr lang="en-US" altLang="zh-TW" sz="2400" kern="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000" kern="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24989" y="3021310"/>
            <a:ext cx="4315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800" dirty="0" smtClean="0">
                <a:solidFill>
                  <a:srgbClr val="FF0000"/>
                </a:solidFill>
              </a:rPr>
              <a:t>Key = compare </a:t>
            </a:r>
            <a:r>
              <a:rPr lang="en-US" altLang="zh-TW" sz="1800" dirty="0">
                <a:solidFill>
                  <a:srgbClr val="FF0000"/>
                </a:solidFill>
              </a:rPr>
              <a:t>and swap(&amp;lock, </a:t>
            </a:r>
            <a:r>
              <a:rPr lang="en-US" altLang="zh-TW" sz="1800" dirty="0" smtClean="0">
                <a:solidFill>
                  <a:srgbClr val="FF0000"/>
                </a:solidFill>
              </a:rPr>
              <a:t>0, &amp;key)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how to implement a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lock using an atomic hardware instruction. Assume that the following structure defining the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lock is available.</a:t>
            </a:r>
          </a:p>
          <a:p>
            <a:pPr marL="400050" lvl="1" indent="0" eaLnBrk="1" hangingPunct="1">
              <a:spcBef>
                <a:spcPts val="1200"/>
              </a:spcBef>
              <a:buFont typeface="Wingdings" pitchFamily="2" charset="2"/>
              <a:buNone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ts val="1200"/>
              </a:spcBef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where (available == 0) indicates the lock is available; a value of 1 indicates the lock is unavailable. </a:t>
            </a:r>
          </a:p>
          <a:p>
            <a:pPr marL="400050" lvl="1" indent="0" eaLnBrk="1" hangingPunct="1">
              <a:spcBef>
                <a:spcPts val="1200"/>
              </a:spcBef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Using this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struct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illustrate how the following functions may be implemented using the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test_and_set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() and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compare_and_swap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() instructions.</a:t>
            </a:r>
          </a:p>
          <a:p>
            <a:pPr marL="400050" lvl="1" indent="0" eaLnBrk="1" hangingPunct="1">
              <a:spcBef>
                <a:spcPts val="1200"/>
              </a:spcBef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void acquire(lock *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</a:t>
            </a:r>
          </a:p>
          <a:p>
            <a:pPr marL="400050" lvl="1" indent="0" eaLnBrk="1" hangingPunct="1">
              <a:spcBef>
                <a:spcPts val="1200"/>
              </a:spcBef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void release(lock *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</a:t>
            </a:r>
          </a:p>
          <a:p>
            <a:pPr marL="400050" lvl="1" indent="0" eaLnBrk="1" hangingPunct="1">
              <a:spcBef>
                <a:spcPts val="1200"/>
              </a:spcBef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 sure to include any initialization that may be necessary.</a:t>
            </a:r>
            <a:endParaRPr lang="en-US" altLang="zh-TW" sz="2000" dirty="0" smtClean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26573DA-0A5E-4B47-BA7B-3FB593ADF496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5.15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pic>
        <p:nvPicPr>
          <p:cNvPr id="259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38" y="1662113"/>
            <a:ext cx="30956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C04DA8-9A22-4627-B855-6ECEB65F1C65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2883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353F94-DCF0-4F47-9536-E84BAEA36F93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288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5.15</a:t>
            </a:r>
            <a:endParaRPr lang="en-US" altLang="zh-TW" sz="4000" b="1" kern="0" dirty="0">
              <a:solidFill>
                <a:srgbClr val="FF0000"/>
              </a:solidFill>
            </a:endParaRPr>
          </a:p>
        </p:txBody>
      </p:sp>
      <p:pic>
        <p:nvPicPr>
          <p:cNvPr id="1228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806450"/>
            <a:ext cx="8853487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3457575"/>
            <a:ext cx="7762875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1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8" y="5391150"/>
            <a:ext cx="444817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3471756"/>
            <a:ext cx="7943850" cy="2124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E39AFBF-5B70-4C25-9894-5CE3350566DC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implementation of mutex locks provided in Section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5.5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suffers from busy waiting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Describe what changes would be necessary so that a process waiting to acquire a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lock would be blocked and placed into a waiting queue until the lock became available.</a:t>
            </a: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Associated with each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lock would be a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queue of waiting processes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When a process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releases the lock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it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removes and awakens the first process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from the list of waiting processes.</a:t>
            </a: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3908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8E9D46-29A9-478A-B148-7E8F0C7BD50D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3909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5.16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087213-AB14-4339-9A37-D718895B378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multithreaded web server wishes to keep track of the number of requests it services (known as hits.) Consider the following two strategies to prevent a race condition on the variable hits. The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first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strategy is to use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 basic </a:t>
            </a:r>
            <a:r>
              <a:rPr lang="en-US" altLang="zh-TW" sz="24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mutex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lock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when updating hits;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second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strategy is to use an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atomic integer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hits;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mutex_lock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hit_lock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hit_lock.acquire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();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hits++;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hit_lock.release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();</a:t>
            </a:r>
          </a:p>
          <a:p>
            <a:pPr marL="400050" lvl="1" indent="0" eaLnBrk="1" hangingPunct="1">
              <a:spcBef>
                <a:spcPts val="1200"/>
              </a:spcBef>
              <a:buFont typeface="Wingdings" pitchFamily="2" charset="2"/>
              <a:buNone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Explain which of these two strategies is more efficient. </a:t>
            </a:r>
          </a:p>
        </p:txBody>
      </p:sp>
      <p:sp>
        <p:nvSpPr>
          <p:cNvPr id="124932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80F6486-144B-402C-AC41-BD33C3E910EA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493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FF0000"/>
                </a:solidFill>
              </a:rPr>
              <a:t>5.19</a:t>
            </a:r>
            <a:endParaRPr lang="en-US" altLang="zh-TW" sz="4000" b="1" kern="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621088" y="3116263"/>
            <a:ext cx="457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8001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atomic_t hits;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atomic_inc(&amp;hits);</a:t>
            </a:r>
            <a:endParaRPr lang="zh-TW" altLang="en-US" sz="2000">
              <a:solidFill>
                <a:srgbClr val="FF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9232BC7-3A1E-424D-8C49-6E46C83A62C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Locking generally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requires a system call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possibly putting a process to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sleep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(and thus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requiring a context switch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 if the lock is unavailable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 the other hand, the atomic integer provides an atomic update of the hits variable and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ensures no race condition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 hits. This can be accomplished with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no kernel intervention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therefore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second approach is more efficient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</p:txBody>
      </p:sp>
      <p:sp>
        <p:nvSpPr>
          <p:cNvPr id="125956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D3FD3A-D3B4-4CC5-BA84-A50100DA2CD5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5957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>
                <a:solidFill>
                  <a:srgbClr val="FF0000"/>
                </a:solidFill>
              </a:rPr>
              <a:t>5.19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9EA9628-ADA0-40F8-B283-4E2F0A02EC3D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Show how to implement the wait() and signal() semaphore operations in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multiprocessor environments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using the </a:t>
            </a:r>
            <a:r>
              <a:rPr lang="en-US" altLang="zh-TW" sz="24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test_and_set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()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instruction. The solution should exhibit minimal busy waiting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1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guard = 0;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semaphore_value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= 0;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en-US" altLang="zh-TW" sz="1800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wait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()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{</a:t>
            </a:r>
          </a:p>
          <a:p>
            <a:pPr marL="400050" lvl="1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while (</a:t>
            </a: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TestAndSet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(&amp;guard) == 1);</a:t>
            </a:r>
          </a:p>
          <a:p>
            <a:pPr marL="400050" lvl="1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if (</a:t>
            </a: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semaphore_value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== 0) {</a:t>
            </a:r>
          </a:p>
          <a:p>
            <a:pPr marL="800100" lvl="2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>
                <a:latin typeface="Adobe Gothic Std B" pitchFamily="34" charset="-128"/>
                <a:ea typeface="Adobe Gothic Std B" pitchFamily="34" charset="-128"/>
              </a:rPr>
              <a:t>atomically add process to a </a:t>
            </a:r>
            <a:endParaRPr lang="en-US" altLang="zh-TW" sz="1800" dirty="0" smtClean="0">
              <a:latin typeface="Adobe Gothic Std B" pitchFamily="34" charset="-128"/>
              <a:ea typeface="Adobe Gothic Std B" pitchFamily="34" charset="-128"/>
            </a:endParaRPr>
          </a:p>
          <a:p>
            <a:pPr marL="800100" lvl="2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 smtClean="0">
                <a:latin typeface="Adobe Gothic Std B" pitchFamily="34" charset="-128"/>
                <a:ea typeface="Adobe Gothic Std B" pitchFamily="34" charset="-128"/>
              </a:rPr>
              <a:t>queue </a:t>
            </a:r>
            <a:r>
              <a:rPr lang="en-US" altLang="zh-TW" sz="1800" dirty="0">
                <a:latin typeface="Adobe Gothic Std B" pitchFamily="34" charset="-128"/>
                <a:ea typeface="Adobe Gothic Std B" pitchFamily="34" charset="-128"/>
              </a:rPr>
              <a:t>of </a:t>
            </a:r>
            <a:r>
              <a:rPr lang="en-US" altLang="zh-TW" sz="1800" dirty="0" smtClean="0">
                <a:latin typeface="Adobe Gothic Std B" pitchFamily="34" charset="-128"/>
                <a:ea typeface="Adobe Gothic Std B" pitchFamily="34" charset="-128"/>
              </a:rPr>
              <a:t>processes waiting for</a:t>
            </a:r>
          </a:p>
          <a:p>
            <a:pPr marL="800100" lvl="2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 smtClean="0"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1800" dirty="0">
                <a:latin typeface="Adobe Gothic Std B" pitchFamily="34" charset="-128"/>
                <a:ea typeface="Adobe Gothic Std B" pitchFamily="34" charset="-128"/>
              </a:rPr>
              <a:t>semaphore and set guard to 0;</a:t>
            </a:r>
          </a:p>
          <a:p>
            <a:pPr marL="400050" lvl="1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 else</a:t>
            </a:r>
          </a:p>
          <a:p>
            <a:pPr marL="400050" lvl="1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{</a:t>
            </a:r>
            <a:endParaRPr lang="en-US" altLang="zh-TW" sz="18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800100" lvl="2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 err="1">
                <a:latin typeface="Adobe Gothic Std B" pitchFamily="34" charset="-128"/>
                <a:ea typeface="Adobe Gothic Std B" pitchFamily="34" charset="-128"/>
              </a:rPr>
              <a:t>semaphore_value</a:t>
            </a:r>
            <a:r>
              <a:rPr lang="en-US" altLang="zh-TW" sz="1800" dirty="0">
                <a:latin typeface="Adobe Gothic Std B" pitchFamily="34" charset="-128"/>
                <a:ea typeface="Adobe Gothic Std B" pitchFamily="34" charset="-128"/>
              </a:rPr>
              <a:t>--;</a:t>
            </a:r>
          </a:p>
          <a:p>
            <a:pPr marL="800100" lvl="2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>
                <a:latin typeface="Adobe Gothic Std B" pitchFamily="34" charset="-128"/>
                <a:ea typeface="Adobe Gothic Std B" pitchFamily="34" charset="-128"/>
              </a:rPr>
              <a:t>guard = 0;</a:t>
            </a:r>
          </a:p>
          <a:p>
            <a:pPr marL="400050" lvl="1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</a:p>
          <a:p>
            <a:pPr marL="0" indent="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TW" sz="1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  <a:endParaRPr lang="en-US" altLang="zh-TW" sz="18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698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10DE142-8E2A-4C80-A0C6-99E5A69458B4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698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5.23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579938" y="2327275"/>
            <a:ext cx="4572000" cy="313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signal()</a:t>
            </a:r>
          </a:p>
          <a:p>
            <a:pPr eaLnBrk="1" hangingPunct="1"/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{</a:t>
            </a:r>
          </a:p>
          <a:p>
            <a:pPr eaLnBrk="1" hangingPunct="1"/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while (</a:t>
            </a: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TestAndSet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(&amp;guard) == 1);</a:t>
            </a:r>
          </a:p>
          <a:p>
            <a:pPr eaLnBrk="1" hangingPunct="1"/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if (</a:t>
            </a: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semaphore_value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== 0 &amp;&amp;</a:t>
            </a:r>
          </a:p>
          <a:p>
            <a:pPr lvl="1" eaLnBrk="1" hangingPunct="1"/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there is a process on the wait queue)</a:t>
            </a:r>
          </a:p>
          <a:p>
            <a:pPr lvl="1" eaLnBrk="1" hangingPunct="1"/>
            <a:r>
              <a:rPr lang="en-US" altLang="zh-TW" sz="1800" dirty="0">
                <a:latin typeface="Adobe Gothic Std B" pitchFamily="34" charset="-128"/>
                <a:ea typeface="Adobe Gothic Std B" pitchFamily="34" charset="-128"/>
              </a:rPr>
              <a:t>wake up the first process in the queue of waiting processes</a:t>
            </a:r>
          </a:p>
          <a:p>
            <a:pPr eaLnBrk="1" hangingPunct="1"/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else</a:t>
            </a:r>
          </a:p>
          <a:p>
            <a:pPr lvl="1" eaLnBrk="1" hangingPunct="1"/>
            <a:r>
              <a:rPr lang="en-US" altLang="zh-TW" sz="1800" dirty="0" err="1">
                <a:latin typeface="Adobe Gothic Std B" pitchFamily="34" charset="-128"/>
                <a:ea typeface="Adobe Gothic Std B" pitchFamily="34" charset="-128"/>
              </a:rPr>
              <a:t>semaphore_value</a:t>
            </a:r>
            <a:r>
              <a:rPr lang="en-US" altLang="zh-TW" sz="1800" dirty="0">
                <a:latin typeface="Adobe Gothic Std B" pitchFamily="34" charset="-128"/>
                <a:ea typeface="Adobe Gothic Std B" pitchFamily="34" charset="-128"/>
              </a:rPr>
              <a:t>++;</a:t>
            </a:r>
          </a:p>
          <a:p>
            <a:pPr lvl="1" eaLnBrk="1" hangingPunct="1"/>
            <a:r>
              <a:rPr lang="en-US" altLang="zh-TW" sz="1800" dirty="0">
                <a:latin typeface="Adobe Gothic Std B" pitchFamily="34" charset="-128"/>
                <a:ea typeface="Adobe Gothic Std B" pitchFamily="34" charset="-128"/>
              </a:rPr>
              <a:t>guard = 0;</a:t>
            </a:r>
          </a:p>
          <a:p>
            <a:pPr eaLnBrk="1" hangingPunct="1"/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D94576-D585-4C9C-8682-53C5F2500373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8003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4868862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Demonstrate that monitors and semaphores are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equivalent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insofar as they can be used to implement the same types of synchronization problems.</a:t>
            </a:r>
          </a:p>
          <a:p>
            <a:pPr eaLnBrk="1" hangingPunct="1">
              <a:spcBef>
                <a:spcPct val="60000"/>
              </a:spcBef>
            </a:pPr>
            <a:endParaRPr lang="en-US" altLang="zh-TW" sz="2000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ts val="1200"/>
              </a:spcBef>
              <a:buFont typeface="Wingdings" pitchFamily="2" charset="2"/>
              <a:buNone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8004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AE31F9-5C09-4CC7-9E72-0A847AE8C28F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8005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5.25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972050" y="2027310"/>
            <a:ext cx="417195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8001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monitor </a:t>
            </a:r>
            <a:r>
              <a:rPr lang="en-US" altLang="zh-TW" sz="2000" dirty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semaphore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{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value = 0;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condition c;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endParaRPr lang="en-US" altLang="zh-TW" sz="20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semaphore_increment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() {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value++;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c.signal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();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semaphore_decrement</a:t>
            </a: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() {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while (value 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&lt;=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0)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 err="1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c.wait</a:t>
            </a: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();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value--;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  <a:endParaRPr lang="zh-TW" altLang="en-US" sz="2000" dirty="0">
              <a:solidFill>
                <a:srgbClr val="FF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064" y="0"/>
            <a:ext cx="2421654" cy="2106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322262" y="3273477"/>
            <a:ext cx="504084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smtClean="0"/>
              <a:t>Implement </a:t>
            </a:r>
            <a:r>
              <a:rPr lang="en-US" altLang="zh-TW" sz="2000" dirty="0"/>
              <a:t>a counting semaphore </a:t>
            </a:r>
            <a:r>
              <a:rPr lang="en-US" altLang="zh-TW" sz="2000" dirty="0" smtClean="0"/>
              <a:t>with 2 </a:t>
            </a:r>
            <a:r>
              <a:rPr lang="en-US" altLang="zh-TW" sz="2000" dirty="0"/>
              <a:t>binary </a:t>
            </a:r>
            <a:r>
              <a:rPr lang="en-US" altLang="zh-TW" sz="2000" dirty="0" smtClean="0"/>
              <a:t>semaphores</a:t>
            </a:r>
            <a:endParaRPr lang="zh-TW" alt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981363"/>
            <a:ext cx="455295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793A6A-F1EB-4229-8A0C-AA9872BA119F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Discuss the tradeoff between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fairness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throughput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operations in the readers-writers problem. Propose a method for solving the readers-writers problem without causing starvation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Favoring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readers could result in starvation for writers.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This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problem could be avoided by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keeping timestamps associated with waiting processes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writer is finished with its task, it would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wake up the process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that has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been waiting for the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longest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duration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When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 reader arrives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notices that another reader is accessing the database, then it would enter the critical section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only if there are no waiting writers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These restrictions would guarantee fairness.</a:t>
            </a: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30052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B395503-E151-4E4E-8B32-E757D1FA1CB3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3005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5.28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D9163A-57E5-4F83-A085-B43851EA9F76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a system consisting of processes P</a:t>
            </a:r>
            <a:r>
              <a:rPr lang="en-US" altLang="zh-TW" sz="2400" baseline="-25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P</a:t>
            </a:r>
            <a:r>
              <a:rPr lang="en-US" altLang="zh-TW" sz="2400" baseline="-25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...,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i="1" baseline="-250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n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each of which has a unique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priority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number. Write a monitor that allocates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three identical line printers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these processes,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using the priority numbers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deciding the order of allocation.</a:t>
            </a:r>
          </a:p>
          <a:p>
            <a:pPr marL="400050" lvl="1" indent="0"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zh-TW" sz="2000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monitor </a:t>
            </a:r>
            <a:r>
              <a:rPr lang="en-US" altLang="zh-TW" sz="20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printers 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{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num_avail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= 3;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 err="1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waiting_processes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[MAX_PROCS]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 err="1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num_waiting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condition c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zh-TW" sz="2000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void </a:t>
            </a: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release_printer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() {</a:t>
            </a:r>
          </a:p>
          <a:p>
            <a:pPr marL="1257300" lvl="3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num_avail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++;</a:t>
            </a:r>
          </a:p>
          <a:p>
            <a:pPr marL="1257300" lvl="3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c.broadcast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();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</a:p>
        </p:txBody>
      </p:sp>
      <p:sp>
        <p:nvSpPr>
          <p:cNvPr id="131076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181A646-82CB-4146-9937-9E0C0F60DECA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31077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5.31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36743E6-5DAF-4890-A1C3-2F3D54915581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marL="400050" lvl="1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void </a:t>
            </a:r>
            <a:r>
              <a:rPr lang="en-US" altLang="zh-TW" sz="2000" dirty="0" err="1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request_printer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</a:t>
            </a: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proc_number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) {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if (</a:t>
            </a: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num_avail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&gt; 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0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) {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num_avail</a:t>
            </a:r>
            <a:r>
              <a:rPr lang="en-US" altLang="zh-TW" sz="20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--;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return;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latin typeface="Adobe Gothic Std B" pitchFamily="34" charset="-128"/>
                <a:ea typeface="Adobe Gothic Std B" pitchFamily="34" charset="-128"/>
              </a:rPr>
              <a:t>waiting_processes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[</a:t>
            </a:r>
            <a:r>
              <a:rPr lang="en-US" altLang="zh-TW" sz="2000" dirty="0" err="1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num_waiting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] = </a:t>
            </a:r>
            <a:r>
              <a:rPr lang="en-US" altLang="zh-TW" sz="2000" dirty="0" err="1" smtClean="0">
                <a:latin typeface="Adobe Gothic Std B" pitchFamily="34" charset="-128"/>
                <a:ea typeface="Adobe Gothic Std B" pitchFamily="34" charset="-128"/>
              </a:rPr>
              <a:t>proc_number</a:t>
            </a:r>
            <a:r>
              <a:rPr lang="en-US" altLang="zh-TW" sz="2000" dirty="0" smtClean="0">
                <a:latin typeface="Adobe Gothic Std B" pitchFamily="34" charset="-128"/>
                <a:ea typeface="Adobe Gothic Std B" pitchFamily="34" charset="-128"/>
              </a:rPr>
              <a:t>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num_waiting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++;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sort(</a:t>
            </a:r>
            <a:r>
              <a:rPr lang="en-US" altLang="zh-TW" sz="2000" dirty="0" err="1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waiting_processes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);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while (</a:t>
            </a:r>
            <a:r>
              <a:rPr lang="en-US" altLang="zh-TW" sz="20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num_avail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== 0 &amp;&amp;</a:t>
            </a:r>
          </a:p>
          <a:p>
            <a:pPr marL="1257300" lvl="3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waiting_processes</a:t>
            </a:r>
            <a:r>
              <a:rPr lang="en-US" altLang="zh-TW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[0] != </a:t>
            </a:r>
            <a:r>
              <a:rPr lang="en-US" altLang="zh-TW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proc_number</a:t>
            </a:r>
            <a:r>
              <a:rPr lang="en-US" altLang="zh-TW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c.wait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();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waiting_processes</a:t>
            </a:r>
            <a:r>
              <a:rPr lang="en-US" altLang="zh-TW" sz="20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[0] =</a:t>
            </a:r>
          </a:p>
          <a:p>
            <a:pPr marL="1257300" lvl="3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dirty="0" err="1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waiting_processes</a:t>
            </a:r>
            <a:r>
              <a:rPr lang="en-US" altLang="zh-TW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[num_waiting-1];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err="1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num_waiting</a:t>
            </a:r>
            <a:r>
              <a:rPr lang="en-US" altLang="zh-TW" sz="20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--;</a:t>
            </a:r>
          </a:p>
          <a:p>
            <a:pPr marL="800100" lvl="2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sort(</a:t>
            </a:r>
            <a:r>
              <a:rPr lang="en-US" altLang="zh-TW" sz="2000" dirty="0" err="1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waiting_processes</a:t>
            </a:r>
            <a:r>
              <a:rPr lang="en-US" altLang="zh-TW" sz="20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);</a:t>
            </a:r>
          </a:p>
          <a:p>
            <a:pPr marL="800100" lvl="2" indent="0" eaLnBrk="1" hangingPunct="1"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num_avail</a:t>
            </a:r>
            <a:r>
              <a:rPr lang="en-US" altLang="zh-TW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--;</a:t>
            </a:r>
          </a:p>
          <a:p>
            <a:pPr marL="400050" lvl="1" indent="0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};</a:t>
            </a:r>
          </a:p>
        </p:txBody>
      </p:sp>
      <p:sp>
        <p:nvSpPr>
          <p:cNvPr id="13210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FC53901-5567-4D2D-BCB2-7C8C602E2144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3210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5.31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pic>
        <p:nvPicPr>
          <p:cNvPr id="1321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124" y="2761706"/>
            <a:ext cx="3030876" cy="3990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1397285" y="3688423"/>
            <a:ext cx="4510355" cy="20548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29901" y="1081692"/>
            <a:ext cx="1893467" cy="40011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2000" dirty="0" err="1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num_avail</a:t>
            </a: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  <a:sym typeface="Symbol"/>
              </a:rPr>
              <a:t> 0</a:t>
            </a:r>
            <a:endParaRPr lang="en-US" altLang="zh-TW" sz="2000" dirty="0">
              <a:solidFill>
                <a:srgbClr val="FF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9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9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95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95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793A6A-F1EB-4229-8A0C-AA9872BA119F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Design an algorithm for a monitor that implements an alarm clock that enables a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calling program to delay itself for a specified number of time units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(ticks). You may assume the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existence of a real hardware clock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invokes a function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tick()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your monitor at regular intervals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00050" lvl="1" indent="0" eaLnBrk="1" hangingPunct="1">
              <a:spcBef>
                <a:spcPct val="0"/>
              </a:spcBef>
              <a:buNone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monitor </a:t>
            </a: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AlarmClock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{</a:t>
            </a:r>
          </a:p>
          <a:p>
            <a:pPr marL="800100" lvl="2" indent="0" eaLnBrk="1" hangingPunct="1">
              <a:spcBef>
                <a:spcPct val="0"/>
              </a:spcBef>
              <a:buNone/>
            </a:pP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now=0;</a:t>
            </a:r>
          </a:p>
          <a:p>
            <a:pPr marL="800100" lvl="2" indent="0" eaLnBrk="1" hangingPunct="1">
              <a:spcBef>
                <a:spcPct val="0"/>
              </a:spcBef>
              <a:buNone/>
            </a:pPr>
            <a:r>
              <a:rPr lang="en-US" altLang="zh-TW" sz="1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condition wakeup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;</a:t>
            </a:r>
          </a:p>
          <a:p>
            <a:pPr marL="800100" lvl="2" indent="0" eaLnBrk="1" hangingPunct="1">
              <a:spcBef>
                <a:spcPct val="0"/>
              </a:spcBef>
              <a:buNone/>
            </a:pP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wakeme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</a:t>
            </a: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1800" b="1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n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) {</a:t>
            </a:r>
          </a:p>
          <a:p>
            <a:pPr marL="1257300" lvl="3" indent="0" eaLnBrk="1" hangingPunct="1">
              <a:spcBef>
                <a:spcPct val="0"/>
              </a:spcBef>
              <a:buNone/>
            </a:pPr>
            <a:r>
              <a:rPr lang="en-US" altLang="zh-TW" sz="18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alarm;</a:t>
            </a:r>
          </a:p>
          <a:p>
            <a:pPr marL="1257300" lvl="3" indent="0" eaLnBrk="1" hangingPunct="1">
              <a:spcBef>
                <a:spcPct val="0"/>
              </a:spcBef>
              <a:buNone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alarm = now + </a:t>
            </a:r>
            <a:r>
              <a:rPr lang="en-US" altLang="zh-TW" sz="1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n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;</a:t>
            </a:r>
          </a:p>
          <a:p>
            <a:pPr marL="1257300" lvl="3" indent="0" eaLnBrk="1" hangingPunct="1">
              <a:spcBef>
                <a:spcPct val="0"/>
              </a:spcBef>
              <a:buNone/>
            </a:pPr>
            <a:r>
              <a:rPr lang="en-US" altLang="zh-TW" sz="1800" dirty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while (now &lt; alarm) </a:t>
            </a:r>
            <a:r>
              <a:rPr lang="en-US" altLang="zh-TW" sz="1800" dirty="0" err="1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wakeup.wait</a:t>
            </a:r>
            <a:r>
              <a:rPr lang="en-US" altLang="zh-TW" sz="1800" dirty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(alarm);</a:t>
            </a:r>
          </a:p>
          <a:p>
            <a:pPr marL="1257300" lvl="3" indent="0" eaLnBrk="1" hangingPunct="1">
              <a:spcBef>
                <a:spcPct val="0"/>
              </a:spcBef>
              <a:buNone/>
            </a:pPr>
            <a:r>
              <a:rPr lang="en-US" altLang="zh-TW" sz="1800" dirty="0" err="1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wakeup.signal</a:t>
            </a:r>
            <a:r>
              <a:rPr lang="en-US" altLang="zh-TW" sz="1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;</a:t>
            </a:r>
          </a:p>
          <a:p>
            <a:pPr marL="800100" lvl="2" indent="0" eaLnBrk="1" hangingPunct="1">
              <a:spcBef>
                <a:spcPct val="0"/>
              </a:spcBef>
              <a:buNone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</a:p>
          <a:p>
            <a:pPr marL="800100" lvl="2" indent="0" eaLnBrk="1" hangingPunct="1">
              <a:spcBef>
                <a:spcPct val="0"/>
              </a:spcBef>
              <a:buNone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tick() { /*</a:t>
            </a:r>
            <a:r>
              <a:rPr lang="en-US" altLang="zh-TW" sz="1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invoked automatically by hardware</a:t>
            </a: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*/</a:t>
            </a:r>
          </a:p>
          <a:p>
            <a:pPr marL="800100" lvl="2" indent="0" eaLnBrk="1" hangingPunct="1">
              <a:spcBef>
                <a:spcPct val="0"/>
              </a:spcBef>
              <a:buNone/>
            </a:pPr>
            <a:r>
              <a:rPr lang="en-US" altLang="zh-TW" sz="1800" dirty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now = now + 1;</a:t>
            </a:r>
          </a:p>
          <a:p>
            <a:pPr marL="800100" lvl="2" indent="0" eaLnBrk="1" hangingPunct="1">
              <a:spcBef>
                <a:spcPct val="0"/>
              </a:spcBef>
              <a:buNone/>
            </a:pPr>
            <a:r>
              <a:rPr lang="en-US" altLang="zh-TW" sz="1800" dirty="0" err="1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wakeup.signal</a:t>
            </a:r>
            <a:r>
              <a:rPr lang="en-US" altLang="zh-TW" sz="1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;</a:t>
            </a:r>
          </a:p>
          <a:p>
            <a:pPr marL="800100" lvl="2" indent="0" eaLnBrk="1" hangingPunct="1">
              <a:spcBef>
                <a:spcPct val="0"/>
              </a:spcBef>
              <a:buNone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</a:p>
          <a:p>
            <a:pPr marL="400050" lvl="1" indent="0" eaLnBrk="1" hangingPunct="1">
              <a:spcBef>
                <a:spcPct val="0"/>
              </a:spcBef>
              <a:buNone/>
            </a:pPr>
            <a:r>
              <a:rPr lang="en-US" altLang="zh-TW" sz="18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}</a:t>
            </a:r>
            <a:endParaRPr lang="en-US" altLang="zh-TW" sz="18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30052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7CC76F-10B6-451D-9237-C98310B8009C}" type="datetime1">
              <a:rPr kumimoji="0" lang="zh-TW" altLang="en-US" sz="1400" smtClean="0">
                <a:solidFill>
                  <a:srgbClr val="40458C"/>
                </a:solidFill>
              </a:rPr>
              <a:t>2018/4/23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3005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>
                <a:solidFill>
                  <a:srgbClr val="40458C"/>
                </a:solidFill>
              </a:rPr>
              <a:t>OS-5 Selected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smtClean="0">
                <a:solidFill>
                  <a:srgbClr val="7030A0"/>
                </a:solidFill>
              </a:rPr>
              <a:t>EX 5.35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1436914" y="4343400"/>
            <a:ext cx="4441372" cy="326571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939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7846</TotalTime>
  <Words>1228</Words>
  <Application>Microsoft Office PowerPoint</Application>
  <PresentationFormat>如螢幕大小 (4:3)</PresentationFormat>
  <Paragraphs>202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15</vt:i4>
      </vt:variant>
    </vt:vector>
  </HeadingPairs>
  <TitlesOfParts>
    <vt:vector size="25" baseType="lpstr">
      <vt:lpstr>Adobe Gothic Std B</vt:lpstr>
      <vt:lpstr>新細明體</vt:lpstr>
      <vt:lpstr>Arial</vt:lpstr>
      <vt:lpstr>Helvetica</vt:lpstr>
      <vt:lpstr>Symbol</vt:lpstr>
      <vt:lpstr>Tahoma</vt:lpstr>
      <vt:lpstr>Times New Roman</vt:lpstr>
      <vt:lpstr>Wingdings</vt:lpstr>
      <vt:lpstr>Blueprint</vt:lpstr>
      <vt:lpstr>自訂設計</vt:lpstr>
      <vt:lpstr>Chapter 5  Process Synchronization Examples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 Process Synchronization</dc:title>
  <dc:creator>Jia-Shung WANG</dc:creator>
  <cp:lastModifiedBy>JS</cp:lastModifiedBy>
  <cp:revision>395</cp:revision>
  <cp:lastPrinted>2015-10-24T01:57:20Z</cp:lastPrinted>
  <dcterms:created xsi:type="dcterms:W3CDTF">1999-07-23T13:31:00Z</dcterms:created>
  <dcterms:modified xsi:type="dcterms:W3CDTF">2018-04-23T01:38:50Z</dcterms:modified>
</cp:coreProperties>
</file>