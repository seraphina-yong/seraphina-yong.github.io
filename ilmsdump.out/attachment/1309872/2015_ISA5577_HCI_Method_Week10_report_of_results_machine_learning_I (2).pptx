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notesSlides/notesSlide21.xml" ContentType="application/vnd.openxmlformats-officedocument.presentationml.notesSlide+xml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92" r:id="rId24"/>
    <p:sldId id="293" r:id="rId25"/>
    <p:sldId id="294" r:id="rId26"/>
    <p:sldId id="295" r:id="rId27"/>
    <p:sldId id="296" r:id="rId28"/>
    <p:sldId id="298" r:id="rId29"/>
    <p:sldId id="307" r:id="rId30"/>
    <p:sldId id="306" r:id="rId31"/>
    <p:sldId id="299" r:id="rId32"/>
    <p:sldId id="300" r:id="rId33"/>
    <p:sldId id="301" r:id="rId34"/>
    <p:sldId id="304" r:id="rId35"/>
    <p:sldId id="305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17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printerSettings" Target="printerSettings/printerSettings1.bin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Relationship Id="rId2" Type="http://schemas.openxmlformats.org/officeDocument/2006/relationships/image" Target="../media/image16.wmf"/><Relationship Id="rId3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4" Type="http://schemas.openxmlformats.org/officeDocument/2006/relationships/image" Target="../media/image31.wmf"/><Relationship Id="rId1" Type="http://schemas.openxmlformats.org/officeDocument/2006/relationships/image" Target="../media/image28.wmf"/><Relationship Id="rId2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Relationship Id="rId2" Type="http://schemas.openxmlformats.org/officeDocument/2006/relationships/image" Target="../media/image33.wmf"/><Relationship Id="rId3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4" Type="http://schemas.openxmlformats.org/officeDocument/2006/relationships/image" Target="../media/image38.wmf"/><Relationship Id="rId5" Type="http://schemas.openxmlformats.org/officeDocument/2006/relationships/image" Target="../media/image39.wmf"/><Relationship Id="rId6" Type="http://schemas.openxmlformats.org/officeDocument/2006/relationships/image" Target="../media/image40.wmf"/><Relationship Id="rId7" Type="http://schemas.openxmlformats.org/officeDocument/2006/relationships/image" Target="../media/image41.wmf"/><Relationship Id="rId8" Type="http://schemas.openxmlformats.org/officeDocument/2006/relationships/image" Target="../media/image42.wmf"/><Relationship Id="rId9" Type="http://schemas.openxmlformats.org/officeDocument/2006/relationships/image" Target="../media/image43.wmf"/><Relationship Id="rId1" Type="http://schemas.openxmlformats.org/officeDocument/2006/relationships/image" Target="../media/image35.wmf"/><Relationship Id="rId2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Relationship Id="rId2" Type="http://schemas.openxmlformats.org/officeDocument/2006/relationships/image" Target="../media/image4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4" Type="http://schemas.openxmlformats.org/officeDocument/2006/relationships/image" Target="../media/image50.wmf"/><Relationship Id="rId5" Type="http://schemas.openxmlformats.org/officeDocument/2006/relationships/image" Target="../media/image51.wmf"/><Relationship Id="rId6" Type="http://schemas.openxmlformats.org/officeDocument/2006/relationships/image" Target="../media/image52.wmf"/><Relationship Id="rId7" Type="http://schemas.openxmlformats.org/officeDocument/2006/relationships/image" Target="../media/image53.wmf"/><Relationship Id="rId8" Type="http://schemas.openxmlformats.org/officeDocument/2006/relationships/image" Target="../media/image54.wmf"/><Relationship Id="rId9" Type="http://schemas.openxmlformats.org/officeDocument/2006/relationships/image" Target="../media/image55.wmf"/><Relationship Id="rId1" Type="http://schemas.openxmlformats.org/officeDocument/2006/relationships/image" Target="../media/image47.wmf"/><Relationship Id="rId2" Type="http://schemas.openxmlformats.org/officeDocument/2006/relationships/image" Target="../media/image4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4" Type="http://schemas.openxmlformats.org/officeDocument/2006/relationships/image" Target="../media/image59.wmf"/><Relationship Id="rId5" Type="http://schemas.openxmlformats.org/officeDocument/2006/relationships/image" Target="../media/image60.wmf"/><Relationship Id="rId1" Type="http://schemas.openxmlformats.org/officeDocument/2006/relationships/image" Target="../media/image56.wmf"/><Relationship Id="rId2" Type="http://schemas.openxmlformats.org/officeDocument/2006/relationships/image" Target="../media/image5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E22B1-A489-724B-AADE-928039389399}" type="datetimeFigureOut">
              <a:rPr lang="en-US" smtClean="0"/>
              <a:t>5/4/15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04B55-90AA-4E48-9675-DA460DBC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456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4CD06-6360-1344-8231-A755EBC9259C}" type="datetimeFigureOut">
              <a:rPr lang="en-US" smtClean="0"/>
              <a:t>5/4/15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5370C-E253-5B4A-BEBB-54530F2F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660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23E285-83C8-DF46-A12E-E22B05D77A73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7546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B6E30-160B-424C-AFEC-C5464E05FBFC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6FD449-8A9A-A040-BE0C-BF05BC24E870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57139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78719" y="684894"/>
            <a:ext cx="4502051" cy="343051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7139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098" y="4343703"/>
            <a:ext cx="5485805" cy="411540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30E155-565B-DC47-B07D-AB0B3AE42978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57344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4213"/>
            <a:ext cx="4573588" cy="3430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7344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098" y="4343703"/>
            <a:ext cx="5485805" cy="411540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8A59A7-0373-544B-BA56-BA9DF8A6606A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564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367278-2C71-4644-A5F7-8BE873C2DF79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565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8DDAE1-E7B7-8443-BD39-32F15FD4C284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568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68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9DAD71-3410-D04C-BBD5-5A34E10560A5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575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FCFC1C-7286-A946-8943-8F18FB4C430C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577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E02C9A-E6C7-D845-A676-BAE1561C181C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580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69E9A6-8AB7-844B-A7A1-A58CF190A90B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58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4EDFCB-AD77-744D-A2AA-7BBE13E64E2D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58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0B19BD-A7E6-064E-80D6-AAF45918B417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95E9F2-B140-AA49-8067-377AA80275BC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FF809A-2B76-0143-B28F-47F9FB0C9E04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590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9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B271FB-8356-8546-B053-1C9BFD70F81E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592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00D1B1-35AB-F74F-9229-72C3A0FB4F49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60109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0109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F4A682-FA3E-304A-B8CE-DCEC4C1D6AC4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594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TW"/>
              <a:t>CHI 2007 Course Notes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B007D7-BE7B-6C44-9CD0-FEB958C1930D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59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9pPr>
          </a:lstStyle>
          <a:p>
            <a:fld id="{3800A04A-5739-E841-B4B5-CAEAFE4F5267}" type="slidenum">
              <a:rPr lang="en-US" altLang="zh-TW"/>
              <a:pPr/>
              <a:t>23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9pPr>
          </a:lstStyle>
          <a:p>
            <a:fld id="{E52A4E2E-7CC0-AF4D-A608-893C3332DED0}" type="slidenum">
              <a:rPr lang="en-US" altLang="zh-TW"/>
              <a:pPr/>
              <a:t>27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9pPr>
          </a:lstStyle>
          <a:p>
            <a:fld id="{CED4D1FB-066C-FF4E-BE87-1B1901058060}" type="slidenum">
              <a:rPr lang="en-US" altLang="zh-TW"/>
              <a:pPr/>
              <a:t>33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9pPr>
          </a:lstStyle>
          <a:p>
            <a:fld id="{A5A18884-8AB7-AF4A-944C-809DAB54B2B2}" type="slidenum">
              <a:rPr lang="en-US" altLang="zh-TW"/>
              <a:pPr/>
              <a:t>34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96C3-D431-B640-8E06-C764B561EFF0}" type="datetime1">
              <a:rPr lang="en-US" smtClean="0"/>
              <a:t>5/4/15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F2A3-DDF1-8A43-9438-CEDB45737B0D}" type="datetime1">
              <a:rPr lang="en-US" smtClean="0"/>
              <a:t>5/4/15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6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C87D3-C516-1D46-AF15-FF7C5AB91090}" type="datetime1">
              <a:rPr lang="en-US" smtClean="0"/>
              <a:t>5/4/15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1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56C8-3CBB-134C-92F2-EEF14138988E}" type="datetime1">
              <a:rPr lang="en-US" smtClean="0"/>
              <a:t>5/4/15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085-5C84-304B-A604-D383C411A81E}" type="datetime1">
              <a:rPr lang="en-US" smtClean="0"/>
              <a:t>5/4/15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EF518-1D25-EE43-8A7E-96097F56A74B}" type="datetime1">
              <a:rPr lang="en-US" smtClean="0"/>
              <a:t>5/4/15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1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6380-5F2B-F940-8C5C-E73F755AAB35}" type="datetime1">
              <a:rPr lang="en-US" smtClean="0"/>
              <a:t>5/4/15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0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C4EF-3883-F74D-882A-BD0ED0A46B24}" type="datetime1">
              <a:rPr lang="en-US" smtClean="0"/>
              <a:t>5/4/15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6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93E7-2475-E845-AEA9-5A0AB6A8E62A}" type="datetime1">
              <a:rPr lang="en-US" smtClean="0"/>
              <a:t>5/4/15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C446-F4B7-0E4C-96DC-FDD6F47AB62E}" type="datetime1">
              <a:rPr lang="en-US" smtClean="0"/>
              <a:t>5/4/15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1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50CC-8AA7-4243-A1D1-C4A42410C61C}" type="datetime1">
              <a:rPr lang="en-US" smtClean="0"/>
              <a:t>5/4/15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78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058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0"/>
            <a:ext cx="4114800" cy="533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371600"/>
            <a:ext cx="4114800" cy="533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3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7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132"/>
            <a:ext cx="8229600" cy="5013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59F6-B31F-914F-9D11-0CE96A02EA33}" type="datetime1">
              <a:rPr lang="en-US" smtClean="0"/>
              <a:t>5/4/15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yorku.ca/mack/CourseNotes.ppt" TargetMode="External"/><Relationship Id="rId3" Type="http://schemas.openxmlformats.org/officeDocument/2006/relationships/hyperlink" Target="http://www.cs.cmu.edu/~cprose/MachineLearningInPractice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sigchi.org/publications/chipubfor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hyperlink" Target="nordichi2002.pdf" TargetMode="External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hyperlink" Target="http://dl.acm.org/citation.cfm?doid=1753846.1754195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4.png"/><Relationship Id="rId6" Type="http://schemas.openxmlformats.org/officeDocument/2006/relationships/hyperlink" Target="http://www.powerfulinformation.org/" TargetMode="External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5.wmf"/><Relationship Id="rId6" Type="http://schemas.openxmlformats.org/officeDocument/2006/relationships/oleObject" Target="../embeddings/oleObject3.bin"/><Relationship Id="rId7" Type="http://schemas.openxmlformats.org/officeDocument/2006/relationships/image" Target="../media/image16.wmf"/><Relationship Id="rId8" Type="http://schemas.openxmlformats.org/officeDocument/2006/relationships/oleObject" Target="../embeddings/oleObject4.bin"/><Relationship Id="rId9" Type="http://schemas.openxmlformats.org/officeDocument/2006/relationships/image" Target="../media/image17.wmf"/><Relationship Id="rId10" Type="http://schemas.openxmlformats.org/officeDocument/2006/relationships/image" Target="../media/image19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23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23.png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4" Type="http://schemas.openxmlformats.org/officeDocument/2006/relationships/image" Target="../media/image23.png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4" Type="http://schemas.openxmlformats.org/officeDocument/2006/relationships/image" Target="../media/image24.png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hyperlink" Target="http://www.cs.waikato.ac.nz/ml/weka/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28.wmf"/><Relationship Id="rId5" Type="http://schemas.openxmlformats.org/officeDocument/2006/relationships/oleObject" Target="../embeddings/oleObject10.bin"/><Relationship Id="rId6" Type="http://schemas.openxmlformats.org/officeDocument/2006/relationships/image" Target="../media/image29.wmf"/><Relationship Id="rId7" Type="http://schemas.openxmlformats.org/officeDocument/2006/relationships/oleObject" Target="../embeddings/oleObject11.bin"/><Relationship Id="rId8" Type="http://schemas.openxmlformats.org/officeDocument/2006/relationships/image" Target="../media/image30.wmf"/><Relationship Id="rId9" Type="http://schemas.openxmlformats.org/officeDocument/2006/relationships/oleObject" Target="../embeddings/oleObject12.bin"/><Relationship Id="rId10" Type="http://schemas.openxmlformats.org/officeDocument/2006/relationships/image" Target="../media/image31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4" Type="http://schemas.openxmlformats.org/officeDocument/2006/relationships/image" Target="../media/image32.wmf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3.wmf"/><Relationship Id="rId7" Type="http://schemas.openxmlformats.org/officeDocument/2006/relationships/oleObject" Target="../embeddings/oleObject15.bin"/><Relationship Id="rId8" Type="http://schemas.openxmlformats.org/officeDocument/2006/relationships/image" Target="../media/image34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wmf"/><Relationship Id="rId20" Type="http://schemas.openxmlformats.org/officeDocument/2006/relationships/oleObject" Target="../embeddings/oleObject25.bin"/><Relationship Id="rId21" Type="http://schemas.openxmlformats.org/officeDocument/2006/relationships/image" Target="../media/image43.wmf"/><Relationship Id="rId10" Type="http://schemas.openxmlformats.org/officeDocument/2006/relationships/oleObject" Target="../embeddings/oleObject20.bin"/><Relationship Id="rId11" Type="http://schemas.openxmlformats.org/officeDocument/2006/relationships/image" Target="../media/image38.wmf"/><Relationship Id="rId12" Type="http://schemas.openxmlformats.org/officeDocument/2006/relationships/oleObject" Target="../embeddings/oleObject21.bin"/><Relationship Id="rId13" Type="http://schemas.openxmlformats.org/officeDocument/2006/relationships/image" Target="../media/image39.wmf"/><Relationship Id="rId14" Type="http://schemas.openxmlformats.org/officeDocument/2006/relationships/oleObject" Target="../embeddings/oleObject22.bin"/><Relationship Id="rId15" Type="http://schemas.openxmlformats.org/officeDocument/2006/relationships/image" Target="../media/image40.wmf"/><Relationship Id="rId16" Type="http://schemas.openxmlformats.org/officeDocument/2006/relationships/oleObject" Target="../embeddings/oleObject23.bin"/><Relationship Id="rId17" Type="http://schemas.openxmlformats.org/officeDocument/2006/relationships/image" Target="../media/image41.wmf"/><Relationship Id="rId18" Type="http://schemas.openxmlformats.org/officeDocument/2006/relationships/oleObject" Target="../embeddings/oleObject24.bin"/><Relationship Id="rId19" Type="http://schemas.openxmlformats.org/officeDocument/2006/relationships/image" Target="../media/image42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35.wmf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6.wmf"/><Relationship Id="rId7" Type="http://schemas.openxmlformats.org/officeDocument/2006/relationships/oleObject" Target="../embeddings/oleObject18.bin"/><Relationship Id="rId8" Type="http://schemas.openxmlformats.org/officeDocument/2006/relationships/oleObject" Target="../embeddings/oleObject19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4" Type="http://schemas.openxmlformats.org/officeDocument/2006/relationships/image" Target="../media/image44.wmf"/><Relationship Id="rId5" Type="http://schemas.openxmlformats.org/officeDocument/2006/relationships/oleObject" Target="../embeddings/oleObject27.bin"/><Relationship Id="rId6" Type="http://schemas.openxmlformats.org/officeDocument/2006/relationships/image" Target="../media/image45.wmf"/><Relationship Id="rId7" Type="http://schemas.openxmlformats.org/officeDocument/2006/relationships/hyperlink" Target="http://www.cc.ntut.edu.tw/~jsechang/jsechang3/method/Least_squares.pdf" TargetMode="External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4" Type="http://schemas.openxmlformats.org/officeDocument/2006/relationships/image" Target="../media/image46.w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20" Type="http://schemas.openxmlformats.org/officeDocument/2006/relationships/image" Target="../media/image55.wmf"/><Relationship Id="rId10" Type="http://schemas.openxmlformats.org/officeDocument/2006/relationships/image" Target="../media/image50.wmf"/><Relationship Id="rId11" Type="http://schemas.openxmlformats.org/officeDocument/2006/relationships/oleObject" Target="../embeddings/oleObject33.bin"/><Relationship Id="rId12" Type="http://schemas.openxmlformats.org/officeDocument/2006/relationships/image" Target="../media/image51.wmf"/><Relationship Id="rId13" Type="http://schemas.openxmlformats.org/officeDocument/2006/relationships/oleObject" Target="../embeddings/oleObject34.bin"/><Relationship Id="rId14" Type="http://schemas.openxmlformats.org/officeDocument/2006/relationships/image" Target="../media/image52.wmf"/><Relationship Id="rId15" Type="http://schemas.openxmlformats.org/officeDocument/2006/relationships/oleObject" Target="../embeddings/oleObject35.bin"/><Relationship Id="rId16" Type="http://schemas.openxmlformats.org/officeDocument/2006/relationships/image" Target="../media/image53.wmf"/><Relationship Id="rId17" Type="http://schemas.openxmlformats.org/officeDocument/2006/relationships/oleObject" Target="../embeddings/oleObject36.bin"/><Relationship Id="rId18" Type="http://schemas.openxmlformats.org/officeDocument/2006/relationships/image" Target="../media/image54.wmf"/><Relationship Id="rId19" Type="http://schemas.openxmlformats.org/officeDocument/2006/relationships/oleObject" Target="../embeddings/oleObject37.bin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47.wmf"/><Relationship Id="rId5" Type="http://schemas.openxmlformats.org/officeDocument/2006/relationships/oleObject" Target="../embeddings/oleObject30.bin"/><Relationship Id="rId6" Type="http://schemas.openxmlformats.org/officeDocument/2006/relationships/image" Target="../media/image48.wmf"/><Relationship Id="rId7" Type="http://schemas.openxmlformats.org/officeDocument/2006/relationships/oleObject" Target="../embeddings/oleObject31.bin"/><Relationship Id="rId8" Type="http://schemas.openxmlformats.org/officeDocument/2006/relationships/image" Target="../media/image49.wmf"/></Relationships>
</file>

<file path=ppt/slides/_rels/slide43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42.bin"/><Relationship Id="rId12" Type="http://schemas.openxmlformats.org/officeDocument/2006/relationships/image" Target="../media/image60.wmf"/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38.bin"/><Relationship Id="rId4" Type="http://schemas.openxmlformats.org/officeDocument/2006/relationships/image" Target="../media/image56.wmf"/><Relationship Id="rId5" Type="http://schemas.openxmlformats.org/officeDocument/2006/relationships/oleObject" Target="../embeddings/oleObject39.bin"/><Relationship Id="rId6" Type="http://schemas.openxmlformats.org/officeDocument/2006/relationships/image" Target="../media/image57.wmf"/><Relationship Id="rId7" Type="http://schemas.openxmlformats.org/officeDocument/2006/relationships/oleObject" Target="../embeddings/oleObject40.bin"/><Relationship Id="rId8" Type="http://schemas.openxmlformats.org/officeDocument/2006/relationships/image" Target="../media/image58.wmf"/><Relationship Id="rId9" Type="http://schemas.openxmlformats.org/officeDocument/2006/relationships/oleObject" Target="../embeddings/oleObject41.bin"/><Relationship Id="rId10" Type="http://schemas.openxmlformats.org/officeDocument/2006/relationships/image" Target="../media/image59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4" Type="http://schemas.openxmlformats.org/officeDocument/2006/relationships/image" Target="../media/image61.wmf"/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4" Type="http://schemas.openxmlformats.org/officeDocument/2006/relationships/image" Target="../media/image62.wmf"/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4" Type="http://schemas.openxmlformats.org/officeDocument/2006/relationships/image" Target="../media/image63.wmf"/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28031"/>
            <a:ext cx="9144000" cy="3086431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Optima"/>
                <a:cs typeface="Optima"/>
              </a:rPr>
              <a:t>ISA5577 Applied Quantitative Methods for Human-Computer Interaction</a:t>
            </a:r>
            <a:r>
              <a:rPr lang="en-US" dirty="0">
                <a:latin typeface="Optima"/>
                <a:cs typeface="Optima"/>
              </a:rPr>
              <a:t/>
            </a:r>
            <a:br>
              <a:rPr lang="en-US" dirty="0">
                <a:latin typeface="Optima"/>
                <a:cs typeface="Optima"/>
              </a:rPr>
            </a:br>
            <a:r>
              <a:rPr lang="zh-TW" altLang="en-US" dirty="0" smtClean="0">
                <a:latin typeface="微軟正黑體"/>
                <a:ea typeface="微軟正黑體"/>
                <a:cs typeface="微軟正黑體"/>
              </a:rPr>
              <a:t>人機互動量化研究方法</a:t>
            </a:r>
            <a:r>
              <a:rPr lang="en-US" dirty="0" smtClean="0">
                <a:latin typeface="微軟正黑體"/>
                <a:ea typeface="微軟正黑體"/>
                <a:cs typeface="微軟正黑體"/>
              </a:rPr>
              <a:t/>
            </a:r>
            <a:br>
              <a:rPr lang="en-US" dirty="0" smtClean="0">
                <a:latin typeface="微軟正黑體"/>
                <a:ea typeface="微軟正黑體"/>
                <a:cs typeface="微軟正黑體"/>
              </a:rPr>
            </a:br>
            <a:r>
              <a:rPr lang="en-US" dirty="0" smtClean="0">
                <a:latin typeface="Optima"/>
                <a:cs typeface="Optima"/>
              </a:rPr>
              <a:t/>
            </a:r>
            <a:br>
              <a:rPr lang="en-US" dirty="0" smtClean="0">
                <a:latin typeface="Optima"/>
                <a:cs typeface="Optima"/>
              </a:rPr>
            </a:br>
            <a:r>
              <a:rPr lang="en-US" dirty="0" smtClean="0">
                <a:latin typeface="Optima"/>
                <a:cs typeface="Optima"/>
              </a:rPr>
              <a:t/>
            </a:r>
            <a:br>
              <a:rPr lang="en-US" dirty="0" smtClean="0">
                <a:latin typeface="Optima"/>
                <a:cs typeface="Optima"/>
              </a:rPr>
            </a:br>
            <a:r>
              <a:rPr lang="en-US" sz="3200" dirty="0" smtClean="0">
                <a:latin typeface="Optima"/>
                <a:cs typeface="Optima"/>
              </a:rPr>
              <a:t>May </a:t>
            </a:r>
            <a:r>
              <a:rPr lang="en-US" sz="3200" dirty="0" smtClean="0">
                <a:latin typeface="Optima"/>
                <a:cs typeface="Optima"/>
              </a:rPr>
              <a:t>4, </a:t>
            </a:r>
            <a:r>
              <a:rPr lang="en-US" sz="3200" dirty="0" smtClean="0">
                <a:latin typeface="Optima"/>
                <a:cs typeface="Optima"/>
              </a:rPr>
              <a:t>2015</a:t>
            </a:r>
            <a:endParaRPr lang="en-US" sz="3200" dirty="0">
              <a:latin typeface="Optima"/>
              <a:cs typeface="Optim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6263" y="5522893"/>
            <a:ext cx="6809548" cy="970056"/>
          </a:xfrm>
        </p:spPr>
        <p:txBody>
          <a:bodyPr>
            <a:noAutofit/>
          </a:bodyPr>
          <a:lstStyle/>
          <a:p>
            <a:r>
              <a:rPr lang="en-US" sz="2700" dirty="0" err="1" smtClean="0"/>
              <a:t>Hao-Chuan</a:t>
            </a:r>
            <a:r>
              <a:rPr lang="en-US" sz="2700" dirty="0" smtClean="0"/>
              <a:t> Wang</a:t>
            </a:r>
            <a:endParaRPr lang="en-US" sz="2700" dirty="0" smtClean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133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Today’s Agenda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How </a:t>
            </a:r>
            <a:r>
              <a:rPr kumimoji="1" lang="en-US" altLang="zh-TW" dirty="0" smtClean="0"/>
              <a:t>to report your results in the form of a paper</a:t>
            </a:r>
          </a:p>
          <a:p>
            <a:r>
              <a:rPr kumimoji="1" lang="en-US" altLang="zh-TW" dirty="0" smtClean="0"/>
              <a:t>Applied machine learning introduction</a:t>
            </a:r>
          </a:p>
          <a:p>
            <a:r>
              <a:rPr kumimoji="1" lang="en-US" altLang="zh-TW" dirty="0"/>
              <a:t>Regression analysis</a:t>
            </a:r>
          </a:p>
          <a:p>
            <a:pPr marL="0" indent="0">
              <a:buNone/>
            </a:pPr>
            <a:endParaRPr kumimoji="1"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</a:t>
            </a:fld>
            <a:endParaRPr lang="en-US"/>
          </a:p>
        </p:txBody>
      </p:sp>
      <p:sp>
        <p:nvSpPr>
          <p:cNvPr id="5" name="文字方塊 4"/>
          <p:cNvSpPr txBox="1"/>
          <p:nvPr/>
        </p:nvSpPr>
        <p:spPr>
          <a:xfrm>
            <a:off x="457200" y="4311082"/>
            <a:ext cx="8331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smtClean="0"/>
              <a:t>Sources &amp; Content Credits: </a:t>
            </a:r>
            <a:br>
              <a:rPr kumimoji="1" lang="en-US" altLang="zh-TW" dirty="0" smtClean="0"/>
            </a:br>
            <a:r>
              <a:rPr kumimoji="1" lang="en-US" altLang="zh-TW" dirty="0" smtClean="0"/>
              <a:t>Scott </a:t>
            </a:r>
            <a:r>
              <a:rPr kumimoji="1" lang="en-US" altLang="zh-TW" dirty="0" err="1" smtClean="0"/>
              <a:t>MacKenize</a:t>
            </a:r>
            <a:r>
              <a:rPr kumimoji="1" lang="en-US" altLang="zh-TW" dirty="0"/>
              <a:t> </a:t>
            </a:r>
            <a:r>
              <a:rPr kumimoji="1" lang="en-US" altLang="zh-TW" dirty="0" smtClean="0">
                <a:hlinkClick r:id="rId2"/>
              </a:rPr>
              <a:t>http://www.yorku.ca/mack/CourseNotes.ppt</a:t>
            </a:r>
            <a:endParaRPr kumimoji="1" lang="en-US" altLang="zh-TW" dirty="0" smtClean="0"/>
          </a:p>
          <a:p>
            <a:r>
              <a:rPr kumimoji="1" lang="en-US" altLang="zh-TW" dirty="0" smtClean="0"/>
              <a:t>Carolyn </a:t>
            </a:r>
            <a:r>
              <a:rPr kumimoji="1" lang="en-US" altLang="zh-TW" dirty="0" err="1" smtClean="0"/>
              <a:t>Penstein</a:t>
            </a:r>
            <a:r>
              <a:rPr kumimoji="1" lang="en-US" altLang="zh-TW" dirty="0" smtClean="0"/>
              <a:t> Rosé- Machine Learning </a:t>
            </a:r>
            <a:r>
              <a:rPr kumimoji="1" lang="en-US" altLang="zh-TW" dirty="0"/>
              <a:t>in Practice: </a:t>
            </a:r>
            <a:r>
              <a:rPr kumimoji="1" lang="en-US" altLang="zh-TW" dirty="0">
                <a:hlinkClick r:id="rId3"/>
              </a:rPr>
              <a:t>http://www.cs.cmu.edu</a:t>
            </a:r>
            <a:r>
              <a:rPr kumimoji="1" lang="en-US" altLang="zh-TW" dirty="0" smtClean="0">
                <a:hlinkClick r:id="rId3"/>
              </a:rPr>
              <a:t>/</a:t>
            </a:r>
            <a:br>
              <a:rPr kumimoji="1" lang="en-US" altLang="zh-TW" dirty="0" smtClean="0">
                <a:hlinkClick r:id="rId3"/>
              </a:rPr>
            </a:br>
            <a:r>
              <a:rPr kumimoji="1" lang="en-US" altLang="zh-TW" dirty="0" smtClean="0">
                <a:hlinkClick r:id="rId3"/>
              </a:rPr>
              <a:t>~</a:t>
            </a:r>
            <a:r>
              <a:rPr kumimoji="1" lang="en-US" altLang="zh-TW" dirty="0">
                <a:hlinkClick r:id="rId3"/>
              </a:rPr>
              <a:t>cprose/</a:t>
            </a:r>
            <a:r>
              <a:rPr kumimoji="1" lang="en-US" altLang="zh-TW" dirty="0" smtClean="0">
                <a:hlinkClick r:id="rId3"/>
              </a:rPr>
              <a:t>MachineLearningInPractice.html</a:t>
            </a:r>
            <a:r>
              <a:rPr kumimoji="1" lang="en-US" altLang="zh-TW" dirty="0" smtClean="0"/>
              <a:t> </a:t>
            </a:r>
          </a:p>
          <a:p>
            <a:endParaRPr kumimoji="1" lang="en-US" altLang="zh-TW" dirty="0"/>
          </a:p>
          <a:p>
            <a:endParaRPr kumimoji="1" lang="en-US" altLang="zh-TW" dirty="0" smtClean="0"/>
          </a:p>
          <a:p>
            <a:r>
              <a:rPr kumimoji="1" lang="en-US" altLang="zh-TW" i="1" dirty="0" smtClean="0"/>
              <a:t>All materials are obtained from the internet and reused under the term of fair use for </a:t>
            </a:r>
            <a:br>
              <a:rPr kumimoji="1" lang="en-US" altLang="zh-TW" i="1" dirty="0" smtClean="0"/>
            </a:br>
            <a:r>
              <a:rPr kumimoji="1" lang="en-US" altLang="zh-TW" i="1" dirty="0" smtClean="0"/>
              <a:t>the sole purpose of education.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82021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Steps in Empirical Research (1)</a:t>
            </a:r>
          </a:p>
        </p:txBody>
      </p:sp>
      <p:pic>
        <p:nvPicPr>
          <p:cNvPr id="273411" name="Picture 3" descr="C:\Program Files\Common Files\Microsoft Shared\Clipart\cagcat50\bd04924_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895600"/>
            <a:ext cx="923925" cy="124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3412" name="Rectangle 4"/>
          <p:cNvSpPr>
            <a:spLocks noChangeArrowheads="1"/>
          </p:cNvSpPr>
          <p:nvPr/>
        </p:nvSpPr>
        <p:spPr bwMode="auto">
          <a:xfrm>
            <a:off x="3581400" y="3068638"/>
            <a:ext cx="1295400" cy="900112"/>
          </a:xfrm>
          <a:prstGeom prst="rect">
            <a:avLst/>
          </a:prstGeom>
          <a:solidFill>
            <a:srgbClr val="DDDDDD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ctr"/>
            <a:r>
              <a:rPr lang="en-US" altLang="zh-TW" sz="1800" b="1"/>
              <a:t>Build Prototype</a:t>
            </a:r>
          </a:p>
        </p:txBody>
      </p:sp>
      <p:sp>
        <p:nvSpPr>
          <p:cNvPr id="273413" name="Rectangle 5"/>
          <p:cNvSpPr>
            <a:spLocks noChangeArrowheads="1"/>
          </p:cNvSpPr>
          <p:nvPr/>
        </p:nvSpPr>
        <p:spPr bwMode="auto">
          <a:xfrm>
            <a:off x="5410200" y="3068638"/>
            <a:ext cx="1371600" cy="900112"/>
          </a:xfrm>
          <a:prstGeom prst="rect">
            <a:avLst/>
          </a:prstGeom>
          <a:solidFill>
            <a:srgbClr val="DDDDDD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/>
            <a:r>
              <a:rPr lang="en-US" altLang="zh-TW" sz="1800" b="1"/>
              <a:t>Test,</a:t>
            </a:r>
            <a:br>
              <a:rPr lang="en-US" altLang="zh-TW" sz="1800" b="1"/>
            </a:br>
            <a:r>
              <a:rPr lang="en-US" altLang="zh-TW" sz="1800" b="1"/>
              <a:t>Measure,</a:t>
            </a:r>
            <a:br>
              <a:rPr lang="en-US" altLang="zh-TW" sz="1800" b="1"/>
            </a:br>
            <a:r>
              <a:rPr lang="en-US" altLang="zh-TW" sz="1800" b="1"/>
              <a:t>Compare</a:t>
            </a:r>
          </a:p>
        </p:txBody>
      </p:sp>
      <p:cxnSp>
        <p:nvCxnSpPr>
          <p:cNvPr id="273417" name="AutoShape 9"/>
          <p:cNvCxnSpPr>
            <a:cxnSpLocks noChangeShapeType="1"/>
            <a:stCxn id="273412" idx="3"/>
            <a:endCxn id="273413" idx="1"/>
          </p:cNvCxnSpPr>
          <p:nvPr/>
        </p:nvCxnSpPr>
        <p:spPr bwMode="auto">
          <a:xfrm>
            <a:off x="4876800" y="3519488"/>
            <a:ext cx="533400" cy="0"/>
          </a:xfrm>
          <a:prstGeom prst="straightConnector1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73428" name="Text Box 20"/>
          <p:cNvSpPr txBox="1">
            <a:spLocks noChangeArrowheads="1"/>
          </p:cNvSpPr>
          <p:nvPr/>
        </p:nvSpPr>
        <p:spPr bwMode="auto">
          <a:xfrm>
            <a:off x="3298825" y="1600200"/>
            <a:ext cx="2644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TW" sz="1800"/>
              <a:t>Phase I – The Prototype</a:t>
            </a:r>
          </a:p>
        </p:txBody>
      </p:sp>
      <p:sp>
        <p:nvSpPr>
          <p:cNvPr id="273429" name="Rectangle 21"/>
          <p:cNvSpPr>
            <a:spLocks noChangeArrowheads="1"/>
          </p:cNvSpPr>
          <p:nvPr/>
        </p:nvSpPr>
        <p:spPr bwMode="auto">
          <a:xfrm>
            <a:off x="1524000" y="3124200"/>
            <a:ext cx="1752600" cy="8382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ctr"/>
            <a:r>
              <a:rPr lang="en-US" altLang="zh-TW" b="1"/>
              <a:t>Think, Analyse,</a:t>
            </a:r>
            <a:br>
              <a:rPr lang="en-US" altLang="zh-TW" b="1"/>
            </a:br>
            <a:r>
              <a:rPr lang="en-US" altLang="zh-TW" b="1"/>
              <a:t>Model, Create, Choose, etc. </a:t>
            </a:r>
          </a:p>
        </p:txBody>
      </p:sp>
      <p:cxnSp>
        <p:nvCxnSpPr>
          <p:cNvPr id="273430" name="AutoShape 22"/>
          <p:cNvCxnSpPr>
            <a:cxnSpLocks noChangeShapeType="1"/>
            <a:stCxn id="273411" idx="3"/>
            <a:endCxn id="273429" idx="1"/>
          </p:cNvCxnSpPr>
          <p:nvPr/>
        </p:nvCxnSpPr>
        <p:spPr bwMode="auto">
          <a:xfrm>
            <a:off x="1295400" y="3519488"/>
            <a:ext cx="228600" cy="23812"/>
          </a:xfrm>
          <a:prstGeom prst="straightConnector1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73431" name="AutoShape 23"/>
          <p:cNvCxnSpPr>
            <a:cxnSpLocks noChangeShapeType="1"/>
            <a:stCxn id="273429" idx="3"/>
            <a:endCxn id="273412" idx="1"/>
          </p:cNvCxnSpPr>
          <p:nvPr/>
        </p:nvCxnSpPr>
        <p:spPr bwMode="auto">
          <a:xfrm flipV="1">
            <a:off x="3276600" y="3519488"/>
            <a:ext cx="304800" cy="23812"/>
          </a:xfrm>
          <a:prstGeom prst="straightConnector1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grpSp>
        <p:nvGrpSpPr>
          <p:cNvPr id="273465" name="Group 57"/>
          <p:cNvGrpSpPr>
            <a:grpSpLocks/>
          </p:cNvGrpSpPr>
          <p:nvPr/>
        </p:nvGrpSpPr>
        <p:grpSpPr bwMode="auto">
          <a:xfrm>
            <a:off x="6781800" y="3062288"/>
            <a:ext cx="2133600" cy="900112"/>
            <a:chOff x="4272" y="1785"/>
            <a:chExt cx="1344" cy="567"/>
          </a:xfrm>
        </p:grpSpPr>
        <p:sp>
          <p:nvSpPr>
            <p:cNvPr id="273414" name="Rectangle 6"/>
            <p:cNvSpPr>
              <a:spLocks noChangeArrowheads="1"/>
            </p:cNvSpPr>
            <p:nvPr/>
          </p:nvSpPr>
          <p:spPr bwMode="auto">
            <a:xfrm>
              <a:off x="4608" y="1785"/>
              <a:ext cx="1008" cy="567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/>
              <a:r>
                <a:rPr lang="en-US" altLang="zh-TW" sz="1800" b="1"/>
                <a:t>Short paper, Poster, </a:t>
              </a:r>
              <a:br>
                <a:rPr lang="en-US" altLang="zh-TW" sz="1800" b="1"/>
              </a:br>
              <a:r>
                <a:rPr lang="en-US" altLang="zh-TW" sz="1800" b="1"/>
                <a:t>Abstract</a:t>
              </a:r>
            </a:p>
          </p:txBody>
        </p:sp>
        <p:cxnSp>
          <p:nvCxnSpPr>
            <p:cNvPr id="273457" name="AutoShape 49"/>
            <p:cNvCxnSpPr>
              <a:cxnSpLocks noChangeShapeType="1"/>
            </p:cNvCxnSpPr>
            <p:nvPr/>
          </p:nvCxnSpPr>
          <p:spPr bwMode="auto">
            <a:xfrm flipV="1">
              <a:off x="4272" y="2064"/>
              <a:ext cx="336" cy="4"/>
            </a:xfrm>
            <a:prstGeom prst="straightConnector1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273471" name="Group 63"/>
          <p:cNvGrpSpPr>
            <a:grpSpLocks/>
          </p:cNvGrpSpPr>
          <p:nvPr/>
        </p:nvGrpSpPr>
        <p:grpSpPr bwMode="auto">
          <a:xfrm>
            <a:off x="457200" y="2209800"/>
            <a:ext cx="6553200" cy="2805113"/>
            <a:chOff x="288" y="1392"/>
            <a:chExt cx="4128" cy="1767"/>
          </a:xfrm>
        </p:grpSpPr>
        <p:grpSp>
          <p:nvGrpSpPr>
            <p:cNvPr id="273466" name="Group 58"/>
            <p:cNvGrpSpPr>
              <a:grpSpLocks/>
            </p:cNvGrpSpPr>
            <p:nvPr/>
          </p:nvGrpSpPr>
          <p:grpSpPr bwMode="auto">
            <a:xfrm>
              <a:off x="432" y="2208"/>
              <a:ext cx="3984" cy="951"/>
              <a:chOff x="432" y="2064"/>
              <a:chExt cx="3984" cy="951"/>
            </a:xfrm>
          </p:grpSpPr>
          <p:grpSp>
            <p:nvGrpSpPr>
              <p:cNvPr id="273454" name="Group 46"/>
              <p:cNvGrpSpPr>
                <a:grpSpLocks/>
              </p:cNvGrpSpPr>
              <p:nvPr/>
            </p:nvGrpSpPr>
            <p:grpSpPr bwMode="auto">
              <a:xfrm>
                <a:off x="432" y="2064"/>
                <a:ext cx="3984" cy="951"/>
                <a:chOff x="432" y="2064"/>
                <a:chExt cx="3984" cy="951"/>
              </a:xfrm>
            </p:grpSpPr>
            <p:sp>
              <p:nvSpPr>
                <p:cNvPr id="273434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3840" y="235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bg2"/>
                  </a:solidFill>
                  <a:prstDash val="dash"/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/>
                <a:lstStyle/>
                <a:p>
                  <a:endParaRPr lang="zh-TW" altLang="en-US"/>
                </a:p>
              </p:txBody>
            </p:sp>
            <p:sp>
              <p:nvSpPr>
                <p:cNvPr id="273435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2640" y="235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bg2"/>
                  </a:solidFill>
                  <a:prstDash val="dash"/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/>
                <a:lstStyle/>
                <a:p>
                  <a:endParaRPr lang="zh-TW" altLang="en-US"/>
                </a:p>
              </p:txBody>
            </p:sp>
            <p:sp>
              <p:nvSpPr>
                <p:cNvPr id="273436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1488" y="235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bg2"/>
                  </a:solidFill>
                  <a:prstDash val="dash"/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/>
                <a:lstStyle/>
                <a:p>
                  <a:endParaRPr lang="zh-TW" altLang="en-US"/>
                </a:p>
              </p:txBody>
            </p:sp>
            <p:sp>
              <p:nvSpPr>
                <p:cNvPr id="273447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528" y="2784"/>
                  <a:ext cx="383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DDDDDD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bg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r>
                    <a:rPr lang="en-US" altLang="zh-TW" sz="1800"/>
                    <a:t>Iterations are frequent, unstructured, intuitive, informed, …</a:t>
                  </a:r>
                </a:p>
              </p:txBody>
            </p:sp>
            <p:sp>
              <p:nvSpPr>
                <p:cNvPr id="273449" name="Freeform 41"/>
                <p:cNvSpPr>
                  <a:spLocks/>
                </p:cNvSpPr>
                <p:nvPr/>
              </p:nvSpPr>
              <p:spPr bwMode="auto">
                <a:xfrm>
                  <a:off x="432" y="2064"/>
                  <a:ext cx="3984" cy="672"/>
                </a:xfrm>
                <a:custGeom>
                  <a:avLst/>
                  <a:gdLst>
                    <a:gd name="T0" fmla="*/ 4080 w 4080"/>
                    <a:gd name="T1" fmla="*/ 0 h 672"/>
                    <a:gd name="T2" fmla="*/ 4080 w 4080"/>
                    <a:gd name="T3" fmla="*/ 672 h 672"/>
                    <a:gd name="T4" fmla="*/ 0 w 4080"/>
                    <a:gd name="T5" fmla="*/ 672 h 672"/>
                    <a:gd name="T6" fmla="*/ 0 w 4080"/>
                    <a:gd name="T7" fmla="*/ 432 h 6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80" h="672">
                      <a:moveTo>
                        <a:pt x="4080" y="0"/>
                      </a:moveTo>
                      <a:lnTo>
                        <a:pt x="4080" y="672"/>
                      </a:lnTo>
                      <a:lnTo>
                        <a:pt x="0" y="672"/>
                      </a:lnTo>
                      <a:lnTo>
                        <a:pt x="0" y="432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bg2"/>
                  </a:solidFill>
                  <a:prstDash val="dash"/>
                  <a:round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DDDDDD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273464" name="Line 56"/>
              <p:cNvSpPr>
                <a:spLocks noChangeShapeType="1"/>
              </p:cNvSpPr>
              <p:nvPr/>
            </p:nvSpPr>
            <p:spPr bwMode="auto">
              <a:xfrm>
                <a:off x="4272" y="2064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endParaRPr lang="zh-TW" altLang="en-US"/>
              </a:p>
            </p:txBody>
          </p:sp>
        </p:grpSp>
        <p:sp>
          <p:nvSpPr>
            <p:cNvPr id="273468" name="Text Box 60"/>
            <p:cNvSpPr txBox="1">
              <a:spLocks noChangeArrowheads="1"/>
            </p:cNvSpPr>
            <p:nvPr/>
          </p:nvSpPr>
          <p:spPr bwMode="auto">
            <a:xfrm>
              <a:off x="1680" y="1392"/>
              <a:ext cx="156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TW"/>
                <a:t>Steps 1-3 (previous slide)</a:t>
              </a:r>
            </a:p>
            <a:p>
              <a:endParaRPr lang="zh-TW" altLang="en-US"/>
            </a:p>
          </p:txBody>
        </p:sp>
        <p:sp>
          <p:nvSpPr>
            <p:cNvPr id="273470" name="AutoShape 62"/>
            <p:cNvSpPr>
              <a:spLocks/>
            </p:cNvSpPr>
            <p:nvPr/>
          </p:nvSpPr>
          <p:spPr bwMode="auto">
            <a:xfrm rot="-5400000">
              <a:off x="2208" y="-288"/>
              <a:ext cx="192" cy="4032"/>
            </a:xfrm>
            <a:prstGeom prst="rightBrace">
              <a:avLst>
                <a:gd name="adj1" fmla="val 83319"/>
                <a:gd name="adj2" fmla="val 50000"/>
              </a:avLst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TW" altLang="en-US"/>
            </a:p>
          </p:txBody>
        </p:sp>
      </p:grpSp>
      <p:sp>
        <p:nvSpPr>
          <p:cNvPr id="273472" name="Rectangle 64"/>
          <p:cNvSpPr>
            <a:spLocks noChangeArrowheads="1"/>
          </p:cNvSpPr>
          <p:nvPr/>
        </p:nvSpPr>
        <p:spPr bwMode="auto">
          <a:xfrm>
            <a:off x="304800" y="2057400"/>
            <a:ext cx="67818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60690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3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Steps in Empirical Research (2)</a:t>
            </a:r>
          </a:p>
        </p:txBody>
      </p:sp>
      <p:sp>
        <p:nvSpPr>
          <p:cNvPr id="274436" name="Rectangle 4"/>
          <p:cNvSpPr>
            <a:spLocks noChangeArrowheads="1"/>
          </p:cNvSpPr>
          <p:nvPr/>
        </p:nvSpPr>
        <p:spPr bwMode="auto">
          <a:xfrm>
            <a:off x="1371600" y="2209800"/>
            <a:ext cx="2697163" cy="1423988"/>
          </a:xfrm>
          <a:prstGeom prst="rect">
            <a:avLst/>
          </a:prstGeom>
          <a:solidFill>
            <a:srgbClr val="DDDDDD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ctr"/>
            <a:r>
              <a:rPr lang="en-US" altLang="zh-TW" sz="1800" b="1"/>
              <a:t>Build Apparatus</a:t>
            </a:r>
            <a:r>
              <a:rPr lang="en-US" altLang="zh-TW" sz="1800"/>
              <a:t/>
            </a:r>
            <a:br>
              <a:rPr lang="en-US" altLang="zh-TW" sz="1800"/>
            </a:br>
            <a:r>
              <a:rPr lang="en-US" altLang="zh-TW" sz="1800"/>
              <a:t>(integrate prototype and test conditions into experimental apparatus &amp; software)</a:t>
            </a:r>
          </a:p>
        </p:txBody>
      </p:sp>
      <p:sp>
        <p:nvSpPr>
          <p:cNvPr id="274446" name="Text Box 14"/>
          <p:cNvSpPr txBox="1">
            <a:spLocks noChangeArrowheads="1"/>
          </p:cNvSpPr>
          <p:nvPr/>
        </p:nvSpPr>
        <p:spPr bwMode="auto">
          <a:xfrm>
            <a:off x="3171825" y="1600200"/>
            <a:ext cx="286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TW" sz="1800"/>
              <a:t>Phase II – The User Study</a:t>
            </a:r>
          </a:p>
        </p:txBody>
      </p:sp>
      <p:sp>
        <p:nvSpPr>
          <p:cNvPr id="274447" name="Rectangle 15"/>
          <p:cNvSpPr>
            <a:spLocks noChangeArrowheads="1"/>
          </p:cNvSpPr>
          <p:nvPr/>
        </p:nvSpPr>
        <p:spPr bwMode="auto">
          <a:xfrm>
            <a:off x="4953000" y="2133600"/>
            <a:ext cx="2895600" cy="16002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ctr"/>
            <a:r>
              <a:rPr lang="en-US" altLang="zh-TW" sz="1800" b="1"/>
              <a:t>Experiment Design</a:t>
            </a:r>
            <a:r>
              <a:rPr lang="en-US" altLang="zh-TW" sz="1800"/>
              <a:t/>
            </a:r>
            <a:br>
              <a:rPr lang="en-US" altLang="zh-TW" sz="1800"/>
            </a:br>
            <a:r>
              <a:rPr lang="en-US" altLang="zh-TW" sz="1800"/>
              <a:t>(tweak software, establish experimental variables, procedure, design, run pilot subjects)</a:t>
            </a:r>
          </a:p>
        </p:txBody>
      </p:sp>
      <p:sp>
        <p:nvSpPr>
          <p:cNvPr id="274448" name="Rectangle 16"/>
          <p:cNvSpPr>
            <a:spLocks noChangeArrowheads="1"/>
          </p:cNvSpPr>
          <p:nvPr/>
        </p:nvSpPr>
        <p:spPr bwMode="auto">
          <a:xfrm>
            <a:off x="609600" y="4267200"/>
            <a:ext cx="2057400" cy="1423988"/>
          </a:xfrm>
          <a:prstGeom prst="rect">
            <a:avLst/>
          </a:prstGeom>
          <a:solidFill>
            <a:srgbClr val="DDDDDD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ctr"/>
            <a:r>
              <a:rPr lang="en-US" altLang="zh-TW" sz="1800" b="1"/>
              <a:t>User Study</a:t>
            </a:r>
            <a:r>
              <a:rPr lang="en-US" altLang="zh-TW" sz="1800"/>
              <a:t> (collect data, conduct interviews)</a:t>
            </a:r>
          </a:p>
        </p:txBody>
      </p:sp>
      <p:sp>
        <p:nvSpPr>
          <p:cNvPr id="274449" name="Rectangle 17"/>
          <p:cNvSpPr>
            <a:spLocks noChangeArrowheads="1"/>
          </p:cNvSpPr>
          <p:nvPr/>
        </p:nvSpPr>
        <p:spPr bwMode="auto">
          <a:xfrm>
            <a:off x="3222625" y="4267200"/>
            <a:ext cx="2697163" cy="1423988"/>
          </a:xfrm>
          <a:prstGeom prst="rect">
            <a:avLst/>
          </a:prstGeom>
          <a:solidFill>
            <a:srgbClr val="DDDDDD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ctr"/>
            <a:r>
              <a:rPr lang="en-US" altLang="zh-TW" sz="1800" b="1"/>
              <a:t>Analyse Data</a:t>
            </a:r>
            <a:r>
              <a:rPr lang="en-US" altLang="zh-TW" sz="1800"/>
              <a:t/>
            </a:r>
            <a:br>
              <a:rPr lang="en-US" altLang="zh-TW" sz="1800"/>
            </a:br>
            <a:r>
              <a:rPr lang="en-US" altLang="zh-TW" sz="1800"/>
              <a:t>(build models, check for significant differences, etc.)</a:t>
            </a:r>
          </a:p>
        </p:txBody>
      </p:sp>
      <p:sp>
        <p:nvSpPr>
          <p:cNvPr id="274450" name="Rectangle 18"/>
          <p:cNvSpPr>
            <a:spLocks noChangeArrowheads="1"/>
          </p:cNvSpPr>
          <p:nvPr/>
        </p:nvSpPr>
        <p:spPr bwMode="auto">
          <a:xfrm>
            <a:off x="6629400" y="4267200"/>
            <a:ext cx="1752600" cy="1423988"/>
          </a:xfrm>
          <a:prstGeom prst="rect">
            <a:avLst/>
          </a:prstGeom>
          <a:solidFill>
            <a:srgbClr val="DDDDDD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ctr"/>
            <a:r>
              <a:rPr lang="en-US" altLang="zh-TW" sz="1800" b="1" dirty="0"/>
              <a:t>Publish Results</a:t>
            </a:r>
          </a:p>
        </p:txBody>
      </p:sp>
      <p:cxnSp>
        <p:nvCxnSpPr>
          <p:cNvPr id="274451" name="AutoShape 19"/>
          <p:cNvCxnSpPr>
            <a:cxnSpLocks noChangeShapeType="1"/>
            <a:stCxn id="274436" idx="3"/>
            <a:endCxn id="274447" idx="1"/>
          </p:cNvCxnSpPr>
          <p:nvPr/>
        </p:nvCxnSpPr>
        <p:spPr bwMode="auto">
          <a:xfrm>
            <a:off x="4068763" y="2922588"/>
            <a:ext cx="884237" cy="11112"/>
          </a:xfrm>
          <a:prstGeom prst="straightConnector1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74452" name="AutoShape 20"/>
          <p:cNvCxnSpPr>
            <a:cxnSpLocks noChangeShapeType="1"/>
            <a:stCxn id="274448" idx="3"/>
            <a:endCxn id="274449" idx="1"/>
          </p:cNvCxnSpPr>
          <p:nvPr/>
        </p:nvCxnSpPr>
        <p:spPr bwMode="auto">
          <a:xfrm>
            <a:off x="2667000" y="4979988"/>
            <a:ext cx="555625" cy="0"/>
          </a:xfrm>
          <a:prstGeom prst="straightConnector1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74453" name="AutoShape 21"/>
          <p:cNvCxnSpPr>
            <a:cxnSpLocks noChangeShapeType="1"/>
            <a:stCxn id="274449" idx="3"/>
            <a:endCxn id="274450" idx="1"/>
          </p:cNvCxnSpPr>
          <p:nvPr/>
        </p:nvCxnSpPr>
        <p:spPr bwMode="auto">
          <a:xfrm>
            <a:off x="5919788" y="4979988"/>
            <a:ext cx="709612" cy="0"/>
          </a:xfrm>
          <a:prstGeom prst="straightConnector1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74454" name="AutoShape 22"/>
          <p:cNvCxnSpPr>
            <a:cxnSpLocks noChangeShapeType="1"/>
            <a:stCxn id="274447" idx="3"/>
            <a:endCxn id="274448" idx="1"/>
          </p:cNvCxnSpPr>
          <p:nvPr/>
        </p:nvCxnSpPr>
        <p:spPr bwMode="auto">
          <a:xfrm flipH="1">
            <a:off x="609600" y="2933700"/>
            <a:ext cx="7239000" cy="2046288"/>
          </a:xfrm>
          <a:prstGeom prst="bentConnector5">
            <a:avLst>
              <a:gd name="adj1" fmla="val -3157"/>
              <a:gd name="adj2" fmla="val 52134"/>
              <a:gd name="adj3" fmla="val 103157"/>
            </a:avLst>
          </a:prstGeom>
          <a:noFill/>
          <a:ln w="28575">
            <a:solidFill>
              <a:schemeClr val="bg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74455" name="Rectangle 23"/>
          <p:cNvSpPr>
            <a:spLocks noChangeArrowheads="1"/>
          </p:cNvSpPr>
          <p:nvPr/>
        </p:nvSpPr>
        <p:spPr bwMode="auto">
          <a:xfrm>
            <a:off x="3657600" y="5943600"/>
            <a:ext cx="1828800" cy="6096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ctr"/>
            <a:r>
              <a:rPr lang="en-US" altLang="zh-TW" sz="1800"/>
              <a:t>Next iteration</a:t>
            </a:r>
          </a:p>
        </p:txBody>
      </p:sp>
      <p:cxnSp>
        <p:nvCxnSpPr>
          <p:cNvPr id="274456" name="AutoShape 24"/>
          <p:cNvCxnSpPr>
            <a:cxnSpLocks noChangeShapeType="1"/>
            <a:stCxn id="274450" idx="3"/>
            <a:endCxn id="274455" idx="3"/>
          </p:cNvCxnSpPr>
          <p:nvPr/>
        </p:nvCxnSpPr>
        <p:spPr bwMode="auto">
          <a:xfrm flipH="1">
            <a:off x="5486400" y="4979988"/>
            <a:ext cx="2895600" cy="1268412"/>
          </a:xfrm>
          <a:prstGeom prst="bentConnector3">
            <a:avLst>
              <a:gd name="adj1" fmla="val -7894"/>
            </a:avLst>
          </a:prstGeom>
          <a:noFill/>
          <a:ln w="28575">
            <a:solidFill>
              <a:schemeClr val="bg2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29701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Research Paper</a:t>
            </a:r>
          </a:p>
        </p:txBody>
      </p:sp>
      <p:sp>
        <p:nvSpPr>
          <p:cNvPr id="570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The final step</a:t>
            </a:r>
          </a:p>
          <a:p>
            <a:r>
              <a:rPr lang="en-US" altLang="zh-TW"/>
              <a:t>Research is not finished until the results are published!</a:t>
            </a:r>
          </a:p>
        </p:txBody>
      </p:sp>
    </p:spTree>
    <p:extLst>
      <p:ext uri="{BB962C8B-B14F-4D97-AF65-F5344CB8AC3E}">
        <p14:creationId xmlns:p14="http://schemas.microsoft.com/office/powerpoint/2010/main" val="3224897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Organization of a Research Paper</a:t>
            </a:r>
          </a:p>
        </p:txBody>
      </p:sp>
      <p:sp>
        <p:nvSpPr>
          <p:cNvPr id="572419" name="AutoShape 3"/>
          <p:cNvSpPr>
            <a:spLocks noChangeArrowheads="1"/>
          </p:cNvSpPr>
          <p:nvPr/>
        </p:nvSpPr>
        <p:spPr bwMode="auto">
          <a:xfrm>
            <a:off x="1066800" y="1857375"/>
            <a:ext cx="4305300" cy="3733800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/>
            <a:endParaRPr lang="en-US" altLang="zh-TW" sz="1800"/>
          </a:p>
          <a:p>
            <a:pPr algn="ctr"/>
            <a:r>
              <a:rPr lang="en-US" altLang="zh-TW" sz="1800"/>
              <a:t>Title</a:t>
            </a:r>
          </a:p>
          <a:p>
            <a:pPr algn="ctr"/>
            <a:endParaRPr lang="en-US" altLang="zh-TW" sz="1800"/>
          </a:p>
          <a:p>
            <a:pPr algn="ctr"/>
            <a:endParaRPr lang="en-US" altLang="zh-TW" sz="1800"/>
          </a:p>
          <a:p>
            <a:pPr algn="ctr"/>
            <a:endParaRPr lang="en-US" altLang="zh-TW" sz="1800"/>
          </a:p>
          <a:p>
            <a:pPr algn="ctr"/>
            <a:r>
              <a:rPr lang="en-US" altLang="zh-TW" sz="1800"/>
              <a:t>Abstract</a:t>
            </a:r>
          </a:p>
          <a:p>
            <a:pPr algn="ctr"/>
            <a:endParaRPr lang="en-US" altLang="zh-TW" sz="1800"/>
          </a:p>
          <a:p>
            <a:pPr algn="ctr"/>
            <a:endParaRPr lang="en-US" altLang="zh-TW" sz="1800"/>
          </a:p>
          <a:p>
            <a:pPr algn="ctr"/>
            <a:endParaRPr lang="en-US" altLang="zh-TW" sz="1800"/>
          </a:p>
          <a:p>
            <a:pPr algn="ctr"/>
            <a:r>
              <a:rPr lang="en-US" altLang="zh-TW" sz="1800"/>
              <a:t>Body</a:t>
            </a:r>
          </a:p>
          <a:p>
            <a:pPr algn="ctr"/>
            <a:endParaRPr lang="en-US" altLang="zh-TW" sz="1800"/>
          </a:p>
          <a:p>
            <a:pPr algn="ctr"/>
            <a:endParaRPr lang="en-US" altLang="zh-TW" sz="1800"/>
          </a:p>
          <a:p>
            <a:pPr algn="ctr"/>
            <a:endParaRPr lang="zh-TW" altLang="en-US" sz="1800"/>
          </a:p>
        </p:txBody>
      </p:sp>
      <p:sp>
        <p:nvSpPr>
          <p:cNvPr id="572420" name="Line 4"/>
          <p:cNvSpPr>
            <a:spLocks noChangeShapeType="1"/>
          </p:cNvSpPr>
          <p:nvPr/>
        </p:nvSpPr>
        <p:spPr bwMode="auto">
          <a:xfrm>
            <a:off x="2262188" y="3457575"/>
            <a:ext cx="19050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572421" name="Line 5"/>
          <p:cNvSpPr>
            <a:spLocks noChangeShapeType="1"/>
          </p:cNvSpPr>
          <p:nvPr/>
        </p:nvSpPr>
        <p:spPr bwMode="auto">
          <a:xfrm>
            <a:off x="1638300" y="4600575"/>
            <a:ext cx="3200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grpSp>
        <p:nvGrpSpPr>
          <p:cNvPr id="572424" name="Group 8"/>
          <p:cNvGrpSpPr>
            <a:grpSpLocks/>
          </p:cNvGrpSpPr>
          <p:nvPr/>
        </p:nvGrpSpPr>
        <p:grpSpPr bwMode="auto">
          <a:xfrm>
            <a:off x="4419600" y="2847975"/>
            <a:ext cx="4343400" cy="2592388"/>
            <a:chOff x="2784" y="1920"/>
            <a:chExt cx="2736" cy="1633"/>
          </a:xfrm>
        </p:grpSpPr>
        <p:sp>
          <p:nvSpPr>
            <p:cNvPr id="572422" name="Line 6"/>
            <p:cNvSpPr>
              <a:spLocks noChangeShapeType="1"/>
            </p:cNvSpPr>
            <p:nvPr/>
          </p:nvSpPr>
          <p:spPr bwMode="auto">
            <a:xfrm flipV="1">
              <a:off x="2784" y="3024"/>
              <a:ext cx="960" cy="287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zh-TW" altLang="en-US"/>
            </a:p>
          </p:txBody>
        </p:sp>
        <p:sp>
          <p:nvSpPr>
            <p:cNvPr id="572423" name="Text Box 7"/>
            <p:cNvSpPr txBox="1">
              <a:spLocks noChangeArrowheads="1"/>
            </p:cNvSpPr>
            <p:nvPr/>
          </p:nvSpPr>
          <p:spPr bwMode="auto">
            <a:xfrm>
              <a:off x="3600" y="1920"/>
              <a:ext cx="1920" cy="1633"/>
            </a:xfrm>
            <a:prstGeom prst="rect">
              <a:avLst/>
            </a:prstGeom>
            <a:solidFill>
              <a:srgbClr val="FFE5E5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TW" sz="1800"/>
                <a:t>Main sections…</a:t>
              </a:r>
            </a:p>
            <a:p>
              <a:pPr>
                <a:buFontTx/>
                <a:buChar char="•"/>
              </a:pPr>
              <a:r>
                <a:rPr lang="en-US" altLang="zh-TW" sz="1800"/>
                <a:t> Introduction</a:t>
              </a:r>
            </a:p>
            <a:p>
              <a:pPr>
                <a:buFontTx/>
                <a:buChar char="•"/>
              </a:pPr>
              <a:r>
                <a:rPr lang="en-US" altLang="zh-TW" sz="1800"/>
                <a:t> Method</a:t>
              </a:r>
            </a:p>
            <a:p>
              <a:pPr lvl="1">
                <a:buFontTx/>
                <a:buChar char="•"/>
              </a:pPr>
              <a:r>
                <a:rPr lang="en-US" altLang="zh-TW" sz="1800"/>
                <a:t> Participants</a:t>
              </a:r>
            </a:p>
            <a:p>
              <a:pPr lvl="1">
                <a:buFontTx/>
                <a:buChar char="•"/>
              </a:pPr>
              <a:r>
                <a:rPr lang="en-US" altLang="zh-TW" sz="1800"/>
                <a:t> Apparatus</a:t>
              </a:r>
            </a:p>
            <a:p>
              <a:pPr lvl="1">
                <a:buFontTx/>
                <a:buChar char="•"/>
              </a:pPr>
              <a:r>
                <a:rPr lang="en-US" altLang="zh-TW" sz="1800"/>
                <a:t> Procedure</a:t>
              </a:r>
            </a:p>
            <a:p>
              <a:pPr lvl="1">
                <a:buFontTx/>
                <a:buChar char="•"/>
              </a:pPr>
              <a:r>
                <a:rPr lang="en-US" altLang="zh-TW" sz="1800"/>
                <a:t> Design</a:t>
              </a:r>
            </a:p>
            <a:p>
              <a:pPr>
                <a:buFontTx/>
                <a:buChar char="•"/>
              </a:pPr>
              <a:r>
                <a:rPr lang="en-US" altLang="zh-TW" sz="1800"/>
                <a:t> Results and Discussion</a:t>
              </a:r>
            </a:p>
            <a:p>
              <a:pPr>
                <a:buFontTx/>
                <a:buChar char="•"/>
              </a:pPr>
              <a:r>
                <a:rPr lang="en-US" altLang="zh-TW" sz="1800"/>
                <a:t> Conclusions</a:t>
              </a:r>
            </a:p>
          </p:txBody>
        </p:sp>
      </p:grpSp>
      <p:sp>
        <p:nvSpPr>
          <p:cNvPr id="572425" name="Text Box 9"/>
          <p:cNvSpPr txBox="1">
            <a:spLocks noChangeArrowheads="1"/>
          </p:cNvSpPr>
          <p:nvPr/>
        </p:nvSpPr>
        <p:spPr bwMode="auto">
          <a:xfrm>
            <a:off x="762000" y="5895975"/>
            <a:ext cx="7620000" cy="925511"/>
          </a:xfrm>
          <a:prstGeom prst="rect">
            <a:avLst/>
          </a:prstGeom>
          <a:solidFill>
            <a:srgbClr val="FFE5E5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 dirty="0"/>
              <a:t>Formatted according to submission requirements of conference or journal (e.g., </a:t>
            </a:r>
            <a:r>
              <a:rPr lang="en-US" altLang="zh-TW" sz="1800" dirty="0" smtClean="0"/>
              <a:t>view the template </a:t>
            </a:r>
            <a:r>
              <a:rPr lang="en-US" altLang="zh-TW" sz="1800" dirty="0"/>
              <a:t>for CHI </a:t>
            </a:r>
            <a:r>
              <a:rPr lang="en-US" altLang="zh-TW" dirty="0"/>
              <a:t>submissions </a:t>
            </a:r>
            <a:r>
              <a:rPr lang="en-US" altLang="zh-TW" dirty="0">
                <a:hlinkClick r:id="rId3"/>
              </a:rPr>
              <a:t>http://www.sigchi.org/publications/chipubform</a:t>
            </a:r>
            <a:r>
              <a:rPr lang="en-US" altLang="zh-TW" dirty="0" smtClean="0">
                <a:hlinkClick r:id="rId3"/>
              </a:rPr>
              <a:t>/</a:t>
            </a:r>
            <a:r>
              <a:rPr lang="en-US" altLang="zh-TW" dirty="0" smtClean="0"/>
              <a:t> )</a:t>
            </a:r>
            <a:r>
              <a:rPr lang="en-US" altLang="zh-TW" sz="1800" dirty="0"/>
              <a:t>.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829907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25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Example Publication</a:t>
            </a:r>
            <a:r>
              <a:rPr lang="en-US" altLang="zh-TW" baseline="30000">
                <a:cs typeface="Arial" charset="0"/>
              </a:rPr>
              <a:t>†</a:t>
            </a:r>
            <a:r>
              <a:rPr lang="en-US" altLang="zh-TW"/>
              <a:t> </a:t>
            </a:r>
            <a:endParaRPr lang="en-GB"/>
          </a:p>
        </p:txBody>
      </p:sp>
      <p:pic>
        <p:nvPicPr>
          <p:cNvPr id="56116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0495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61163" name="Text Box 11"/>
          <p:cNvSpPr txBox="1">
            <a:spLocks noChangeArrowheads="1"/>
          </p:cNvSpPr>
          <p:nvPr/>
        </p:nvSpPr>
        <p:spPr bwMode="auto">
          <a:xfrm>
            <a:off x="533400" y="6096000"/>
            <a:ext cx="7924800" cy="609600"/>
          </a:xfrm>
          <a:prstGeom prst="rect">
            <a:avLst/>
          </a:prstGeom>
          <a:solidFill>
            <a:srgbClr val="FFE5E5"/>
          </a:solidFill>
          <a:ln w="28575">
            <a:solidFill>
              <a:srgbClr val="9900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196850" indent="-19685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/>
              <a:t> </a:t>
            </a:r>
            <a:r>
              <a:rPr lang="en-US" altLang="zh-TW" sz="1800" baseline="30000">
                <a:cs typeface="Arial" charset="0"/>
              </a:rPr>
              <a:t>†	</a:t>
            </a:r>
            <a:r>
              <a:rPr lang="en-GB"/>
              <a:t>MacKenzie, I. S. (2002).  </a:t>
            </a:r>
            <a:r>
              <a:rPr lang="en-GB">
                <a:hlinkClick r:id="rId4"/>
              </a:rPr>
              <a:t>Mobile text entry using three keys</a:t>
            </a:r>
            <a:r>
              <a:rPr lang="en-GB"/>
              <a:t>.  </a:t>
            </a:r>
            <a:r>
              <a:rPr lang="en-GB" i="1"/>
              <a:t>Proceedings of NordiCHI 2002</a:t>
            </a:r>
            <a:r>
              <a:rPr lang="en-GB"/>
              <a:t>, 27-34. New York: ACM.</a:t>
            </a:r>
          </a:p>
        </p:txBody>
      </p:sp>
    </p:spTree>
    <p:extLst>
      <p:ext uri="{BB962C8B-B14F-4D97-AF65-F5344CB8AC3E}">
        <p14:creationId xmlns:p14="http://schemas.microsoft.com/office/powerpoint/2010/main" val="5498414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Title, Author(s), Affiliation(s) </a:t>
            </a:r>
            <a:endParaRPr lang="en-GB"/>
          </a:p>
        </p:txBody>
      </p:sp>
      <p:pic>
        <p:nvPicPr>
          <p:cNvPr id="5632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0495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6320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75" y="2381250"/>
            <a:ext cx="4683125" cy="2087563"/>
          </a:xfrm>
          <a:prstGeom prst="rect">
            <a:avLst/>
          </a:prstGeom>
          <a:noFill/>
          <a:ln w="5715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63206" name="Rectangle 6"/>
          <p:cNvSpPr>
            <a:spLocks noChangeArrowheads="1"/>
          </p:cNvSpPr>
          <p:nvPr/>
        </p:nvSpPr>
        <p:spPr bwMode="auto">
          <a:xfrm>
            <a:off x="1524000" y="1752600"/>
            <a:ext cx="990600" cy="3810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cxnSp>
        <p:nvCxnSpPr>
          <p:cNvPr id="563207" name="AutoShape 7"/>
          <p:cNvCxnSpPr>
            <a:cxnSpLocks noChangeShapeType="1"/>
            <a:stCxn id="563206" idx="3"/>
            <a:endCxn id="563205" idx="1"/>
          </p:cNvCxnSpPr>
          <p:nvPr/>
        </p:nvCxnSpPr>
        <p:spPr bwMode="auto">
          <a:xfrm>
            <a:off x="2552700" y="1943100"/>
            <a:ext cx="965200" cy="1482725"/>
          </a:xfrm>
          <a:prstGeom prst="straightConnector1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63208" name="AutoShape 8"/>
          <p:cNvSpPr>
            <a:spLocks noChangeArrowheads="1"/>
          </p:cNvSpPr>
          <p:nvPr/>
        </p:nvSpPr>
        <p:spPr bwMode="auto">
          <a:xfrm>
            <a:off x="381000" y="3200400"/>
            <a:ext cx="2057400" cy="9144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r>
              <a:rPr lang="en-US" altLang="zh-TW" sz="1800" b="1">
                <a:latin typeface="Times New Roman" charset="0"/>
              </a:rPr>
              <a:t>Title</a:t>
            </a:r>
          </a:p>
          <a:p>
            <a:pPr>
              <a:buFontTx/>
              <a:buChar char="•"/>
            </a:pPr>
            <a:r>
              <a:rPr lang="en-US" altLang="zh-TW" sz="1800">
                <a:latin typeface="Times New Roman" charset="0"/>
              </a:rPr>
              <a:t> Every word tells</a:t>
            </a:r>
            <a:endParaRPr lang="en-GB" sz="18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8358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Abstract </a:t>
            </a:r>
            <a:endParaRPr lang="en-GB"/>
          </a:p>
        </p:txBody>
      </p:sp>
      <p:pic>
        <p:nvPicPr>
          <p:cNvPr id="5672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0495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67301" name="Rectangle 5"/>
          <p:cNvSpPr>
            <a:spLocks noChangeArrowheads="1"/>
          </p:cNvSpPr>
          <p:nvPr/>
        </p:nvSpPr>
        <p:spPr bwMode="auto">
          <a:xfrm>
            <a:off x="1346200" y="2082800"/>
            <a:ext cx="685800" cy="62865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cxnSp>
        <p:nvCxnSpPr>
          <p:cNvPr id="567302" name="AutoShape 6"/>
          <p:cNvCxnSpPr>
            <a:cxnSpLocks noChangeShapeType="1"/>
            <a:stCxn id="567301" idx="3"/>
          </p:cNvCxnSpPr>
          <p:nvPr/>
        </p:nvCxnSpPr>
        <p:spPr bwMode="auto">
          <a:xfrm>
            <a:off x="2070100" y="2397125"/>
            <a:ext cx="1471613" cy="1000125"/>
          </a:xfrm>
          <a:prstGeom prst="straightConnector1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67303" name="AutoShape 7"/>
          <p:cNvSpPr>
            <a:spLocks noChangeArrowheads="1"/>
          </p:cNvSpPr>
          <p:nvPr/>
        </p:nvSpPr>
        <p:spPr bwMode="auto">
          <a:xfrm>
            <a:off x="381000" y="3200400"/>
            <a:ext cx="2667000" cy="23622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/>
            <a:r>
              <a:rPr lang="en-US" altLang="zh-TW" sz="1800" b="1">
                <a:latin typeface="Times New Roman" charset="0"/>
              </a:rPr>
              <a:t>Abstract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Write last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Not an introduction!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State </a:t>
            </a:r>
            <a:r>
              <a:rPr lang="en-US" altLang="zh-TW" sz="1800" b="1">
                <a:solidFill>
                  <a:srgbClr val="990033"/>
                </a:solidFill>
                <a:latin typeface="Times New Roman" charset="0"/>
              </a:rPr>
              <a:t>what you did</a:t>
            </a:r>
            <a:r>
              <a:rPr lang="en-US" altLang="zh-TW" sz="1800">
                <a:latin typeface="Times New Roman" charset="0"/>
              </a:rPr>
              <a:t> and </a:t>
            </a:r>
            <a:r>
              <a:rPr lang="en-US" altLang="zh-TW" sz="1800" b="1">
                <a:solidFill>
                  <a:srgbClr val="990033"/>
                </a:solidFill>
                <a:latin typeface="Times New Roman" charset="0"/>
              </a:rPr>
              <a:t>what you found</a:t>
            </a:r>
            <a:r>
              <a:rPr lang="en-US" altLang="zh-TW" sz="1800">
                <a:latin typeface="Times New Roman" charset="0"/>
              </a:rPr>
              <a:t>!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Give the most salient finding(s).</a:t>
            </a:r>
            <a:endParaRPr lang="en-GB" sz="1800">
              <a:latin typeface="Times New Roman" charset="0"/>
            </a:endParaRPr>
          </a:p>
        </p:txBody>
      </p:sp>
      <p:pic>
        <p:nvPicPr>
          <p:cNvPr id="56730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752600"/>
            <a:ext cx="3600450" cy="3386138"/>
          </a:xfrm>
          <a:prstGeom prst="rect">
            <a:avLst/>
          </a:prstGeom>
          <a:noFill/>
          <a:ln w="5715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02866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Keywords </a:t>
            </a:r>
            <a:endParaRPr lang="en-GB"/>
          </a:p>
        </p:txBody>
      </p:sp>
      <p:pic>
        <p:nvPicPr>
          <p:cNvPr id="5744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0495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74468" name="Rectangle 4"/>
          <p:cNvSpPr>
            <a:spLocks noChangeArrowheads="1"/>
          </p:cNvSpPr>
          <p:nvPr/>
        </p:nvSpPr>
        <p:spPr bwMode="auto">
          <a:xfrm>
            <a:off x="1371600" y="2667000"/>
            <a:ext cx="685800" cy="136525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cxnSp>
        <p:nvCxnSpPr>
          <p:cNvPr id="574469" name="AutoShape 5"/>
          <p:cNvCxnSpPr>
            <a:cxnSpLocks noChangeShapeType="1"/>
            <a:stCxn id="574468" idx="3"/>
            <a:endCxn id="574472" idx="1"/>
          </p:cNvCxnSpPr>
          <p:nvPr/>
        </p:nvCxnSpPr>
        <p:spPr bwMode="auto">
          <a:xfrm flipV="1">
            <a:off x="2095500" y="2241550"/>
            <a:ext cx="847725" cy="493713"/>
          </a:xfrm>
          <a:prstGeom prst="straightConnector1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74470" name="AutoShape 6"/>
          <p:cNvSpPr>
            <a:spLocks noChangeArrowheads="1"/>
          </p:cNvSpPr>
          <p:nvPr/>
        </p:nvSpPr>
        <p:spPr bwMode="auto">
          <a:xfrm>
            <a:off x="2438400" y="3429000"/>
            <a:ext cx="3962400" cy="17526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/>
            <a:r>
              <a:rPr lang="en-US" altLang="zh-TW" sz="1800" b="1">
                <a:latin typeface="Times New Roman" charset="0"/>
              </a:rPr>
              <a:t>Keywords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Used for database indexing and searching.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Use ACM classification scheme (for ACM publications)..</a:t>
            </a:r>
            <a:endParaRPr lang="en-GB" sz="1800">
              <a:latin typeface="Times New Roman" charset="0"/>
            </a:endParaRPr>
          </a:p>
        </p:txBody>
      </p:sp>
      <p:pic>
        <p:nvPicPr>
          <p:cNvPr id="57447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905000"/>
            <a:ext cx="3716338" cy="673100"/>
          </a:xfrm>
          <a:prstGeom prst="rect">
            <a:avLst/>
          </a:prstGeom>
          <a:noFill/>
          <a:ln w="5715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3473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Introduction </a:t>
            </a:r>
            <a:endParaRPr lang="en-GB"/>
          </a:p>
        </p:txBody>
      </p:sp>
      <p:pic>
        <p:nvPicPr>
          <p:cNvPr id="5765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0495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76518" name="AutoShape 6"/>
          <p:cNvSpPr>
            <a:spLocks noChangeArrowheads="1"/>
          </p:cNvSpPr>
          <p:nvPr/>
        </p:nvSpPr>
        <p:spPr bwMode="auto">
          <a:xfrm>
            <a:off x="1295400" y="3581400"/>
            <a:ext cx="6553200" cy="28956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/>
            <a:r>
              <a:rPr lang="en-US" altLang="zh-TW" sz="1800" b="1" dirty="0">
                <a:latin typeface="Times New Roman" charset="0"/>
              </a:rPr>
              <a:t>Introduction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Give the context for the research, stating </a:t>
            </a:r>
            <a:r>
              <a:rPr lang="en-US" altLang="zh-TW" sz="1800" b="1" dirty="0">
                <a:latin typeface="Times New Roman" charset="0"/>
              </a:rPr>
              <a:t>why</a:t>
            </a:r>
            <a:r>
              <a:rPr lang="en-US" altLang="zh-TW" sz="1800" dirty="0">
                <a:latin typeface="Times New Roman" charset="0"/>
              </a:rPr>
              <a:t> it is interesting and relevant.</a:t>
            </a:r>
          </a:p>
          <a:p>
            <a:r>
              <a:rPr lang="en-US" altLang="zh-TW" dirty="0" smtClean="0">
                <a:latin typeface="Times New Roman" charset="0"/>
              </a:rPr>
              <a:t>   </a:t>
            </a:r>
            <a:r>
              <a:rPr lang="en-US" altLang="zh-TW" sz="1800" dirty="0" smtClean="0">
                <a:latin typeface="Times New Roman" charset="0"/>
              </a:rPr>
              <a:t>Ex. Identify </a:t>
            </a:r>
            <a:r>
              <a:rPr lang="en-US" altLang="zh-TW" sz="1800" dirty="0">
                <a:latin typeface="Times New Roman" charset="0"/>
              </a:rPr>
              <a:t>a UI problem or challenge as it currently exists.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Give an overview of the contents of the entire paper.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Identify, describe, cite related work.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Describe and justify your approach to the problem.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Follow the formatting requirements of conference or journal.</a:t>
            </a:r>
          </a:p>
          <a:p>
            <a:pPr marL="196850" indent="-196850">
              <a:buFontTx/>
              <a:buChar char="•"/>
            </a:pPr>
            <a:r>
              <a:rPr lang="en-US" altLang="zh-TW" sz="1800" b="1" dirty="0" smtClean="0">
                <a:solidFill>
                  <a:srgbClr val="990033"/>
                </a:solidFill>
                <a:latin typeface="Times New Roman" charset="0"/>
              </a:rPr>
              <a:t>It</a:t>
            </a:r>
            <a:r>
              <a:rPr lang="en-US" altLang="zh-TW" b="1" dirty="0" smtClean="0">
                <a:solidFill>
                  <a:srgbClr val="990033"/>
                </a:solidFill>
                <a:latin typeface="Arial"/>
              </a:rPr>
              <a:t>’</a:t>
            </a:r>
            <a:r>
              <a:rPr lang="en-US" altLang="zh-TW" sz="1800" b="1" dirty="0" smtClean="0">
                <a:solidFill>
                  <a:srgbClr val="990033"/>
                </a:solidFill>
                <a:latin typeface="Times New Roman" charset="0"/>
              </a:rPr>
              <a:t>s </a:t>
            </a:r>
            <a:r>
              <a:rPr lang="en-US" altLang="zh-TW" sz="1800" b="1" dirty="0">
                <a:solidFill>
                  <a:srgbClr val="990033"/>
                </a:solidFill>
                <a:latin typeface="Times New Roman" charset="0"/>
              </a:rPr>
              <a:t>your story to tell!</a:t>
            </a:r>
            <a:endParaRPr lang="en-GB" sz="1800" b="1" dirty="0">
              <a:solidFill>
                <a:srgbClr val="990033"/>
              </a:solidFill>
              <a:latin typeface="Times New Roman" charset="0"/>
            </a:endParaRPr>
          </a:p>
        </p:txBody>
      </p:sp>
      <p:sp>
        <p:nvSpPr>
          <p:cNvPr id="576529" name="Freeform 17"/>
          <p:cNvSpPr>
            <a:spLocks/>
          </p:cNvSpPr>
          <p:nvPr/>
        </p:nvSpPr>
        <p:spPr bwMode="auto">
          <a:xfrm>
            <a:off x="1338263" y="2133600"/>
            <a:ext cx="1390650" cy="1295400"/>
          </a:xfrm>
          <a:custGeom>
            <a:avLst/>
            <a:gdLst>
              <a:gd name="T0" fmla="*/ 0 w 816"/>
              <a:gd name="T1" fmla="*/ 384 h 816"/>
              <a:gd name="T2" fmla="*/ 384 w 816"/>
              <a:gd name="T3" fmla="*/ 384 h 816"/>
              <a:gd name="T4" fmla="*/ 384 w 816"/>
              <a:gd name="T5" fmla="*/ 0 h 816"/>
              <a:gd name="T6" fmla="*/ 816 w 816"/>
              <a:gd name="T7" fmla="*/ 0 h 816"/>
              <a:gd name="T8" fmla="*/ 816 w 816"/>
              <a:gd name="T9" fmla="*/ 816 h 816"/>
              <a:gd name="T10" fmla="*/ 0 w 816"/>
              <a:gd name="T11" fmla="*/ 816 h 816"/>
              <a:gd name="T12" fmla="*/ 0 w 816"/>
              <a:gd name="T13" fmla="*/ 384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16" h="816">
                <a:moveTo>
                  <a:pt x="0" y="384"/>
                </a:moveTo>
                <a:lnTo>
                  <a:pt x="384" y="384"/>
                </a:lnTo>
                <a:lnTo>
                  <a:pt x="384" y="0"/>
                </a:lnTo>
                <a:lnTo>
                  <a:pt x="816" y="0"/>
                </a:lnTo>
                <a:lnTo>
                  <a:pt x="816" y="816"/>
                </a:lnTo>
                <a:lnTo>
                  <a:pt x="0" y="816"/>
                </a:lnTo>
                <a:lnTo>
                  <a:pt x="0" y="384"/>
                </a:lnTo>
                <a:close/>
              </a:path>
            </a:pathLst>
          </a:custGeom>
          <a:noFill/>
          <a:ln w="76200" cap="flat" cmpd="sng">
            <a:solidFill>
              <a:srgbClr val="99003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576530" name="Rectangle 18"/>
          <p:cNvSpPr>
            <a:spLocks noChangeArrowheads="1"/>
          </p:cNvSpPr>
          <p:nvPr/>
        </p:nvSpPr>
        <p:spPr bwMode="auto">
          <a:xfrm>
            <a:off x="2971800" y="1676400"/>
            <a:ext cx="1374775" cy="17526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76531" name="Rectangle 19"/>
          <p:cNvSpPr>
            <a:spLocks noChangeArrowheads="1"/>
          </p:cNvSpPr>
          <p:nvPr/>
        </p:nvSpPr>
        <p:spPr bwMode="auto">
          <a:xfrm>
            <a:off x="4691063" y="1676400"/>
            <a:ext cx="1395412" cy="17526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76532" name="Rectangle 20"/>
          <p:cNvSpPr>
            <a:spLocks noChangeArrowheads="1"/>
          </p:cNvSpPr>
          <p:nvPr/>
        </p:nvSpPr>
        <p:spPr bwMode="auto">
          <a:xfrm>
            <a:off x="6248400" y="1676400"/>
            <a:ext cx="762000" cy="4572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3946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Method </a:t>
            </a:r>
            <a:endParaRPr lang="en-GB"/>
          </a:p>
        </p:txBody>
      </p:sp>
      <p:pic>
        <p:nvPicPr>
          <p:cNvPr id="5795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0495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79588" name="AutoShape 4"/>
          <p:cNvSpPr>
            <a:spLocks noChangeArrowheads="1"/>
          </p:cNvSpPr>
          <p:nvPr/>
        </p:nvSpPr>
        <p:spPr bwMode="auto">
          <a:xfrm>
            <a:off x="2362200" y="3657600"/>
            <a:ext cx="3962400" cy="16764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/>
            <a:r>
              <a:rPr lang="en-US" altLang="zh-TW" sz="1800" b="1" dirty="0">
                <a:latin typeface="Times New Roman" charset="0"/>
              </a:rPr>
              <a:t>Method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Tell the reader </a:t>
            </a:r>
            <a:r>
              <a:rPr lang="en-US" altLang="zh-TW" sz="1800" b="1" dirty="0">
                <a:solidFill>
                  <a:srgbClr val="990033"/>
                </a:solidFill>
                <a:latin typeface="Times New Roman" charset="0"/>
              </a:rPr>
              <a:t>what you did</a:t>
            </a:r>
            <a:r>
              <a:rPr lang="en-US" altLang="zh-TW" sz="1800" dirty="0">
                <a:latin typeface="Times New Roman" charset="0"/>
              </a:rPr>
              <a:t> and </a:t>
            </a:r>
            <a:r>
              <a:rPr lang="en-US" altLang="zh-TW" sz="1800" b="1" dirty="0">
                <a:solidFill>
                  <a:srgbClr val="990033"/>
                </a:solidFill>
                <a:latin typeface="Times New Roman" charset="0"/>
              </a:rPr>
              <a:t>how you did it</a:t>
            </a:r>
            <a:r>
              <a:rPr lang="en-US" altLang="zh-TW" sz="1800" dirty="0">
                <a:latin typeface="Times New Roman" charset="0"/>
              </a:rPr>
              <a:t>.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The research must be </a:t>
            </a:r>
            <a:r>
              <a:rPr lang="en-US" altLang="zh-TW" sz="1800" b="1" dirty="0">
                <a:latin typeface="Times New Roman" charset="0"/>
              </a:rPr>
              <a:t>reproducible</a:t>
            </a:r>
            <a:r>
              <a:rPr lang="en-US" altLang="zh-TW" sz="1800" dirty="0">
                <a:latin typeface="Times New Roman" charset="0"/>
              </a:rPr>
              <a:t>!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Use the following subsections… </a:t>
            </a:r>
          </a:p>
        </p:txBody>
      </p:sp>
      <p:sp>
        <p:nvSpPr>
          <p:cNvPr id="579593" name="Freeform 9"/>
          <p:cNvSpPr>
            <a:spLocks/>
          </p:cNvSpPr>
          <p:nvPr/>
        </p:nvSpPr>
        <p:spPr bwMode="auto">
          <a:xfrm>
            <a:off x="6248400" y="1676400"/>
            <a:ext cx="1371600" cy="1752600"/>
          </a:xfrm>
          <a:custGeom>
            <a:avLst/>
            <a:gdLst>
              <a:gd name="T0" fmla="*/ 0 w 864"/>
              <a:gd name="T1" fmla="*/ 288 h 1104"/>
              <a:gd name="T2" fmla="*/ 432 w 864"/>
              <a:gd name="T3" fmla="*/ 288 h 1104"/>
              <a:gd name="T4" fmla="*/ 432 w 864"/>
              <a:gd name="T5" fmla="*/ 0 h 1104"/>
              <a:gd name="T6" fmla="*/ 864 w 864"/>
              <a:gd name="T7" fmla="*/ 0 h 1104"/>
              <a:gd name="T8" fmla="*/ 864 w 864"/>
              <a:gd name="T9" fmla="*/ 1104 h 1104"/>
              <a:gd name="T10" fmla="*/ 0 w 864"/>
              <a:gd name="T11" fmla="*/ 1104 h 1104"/>
              <a:gd name="T12" fmla="*/ 0 w 864"/>
              <a:gd name="T13" fmla="*/ 288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4" h="1104">
                <a:moveTo>
                  <a:pt x="0" y="288"/>
                </a:moveTo>
                <a:lnTo>
                  <a:pt x="432" y="288"/>
                </a:lnTo>
                <a:lnTo>
                  <a:pt x="432" y="0"/>
                </a:lnTo>
                <a:lnTo>
                  <a:pt x="864" y="0"/>
                </a:lnTo>
                <a:lnTo>
                  <a:pt x="864" y="1104"/>
                </a:lnTo>
                <a:lnTo>
                  <a:pt x="0" y="1104"/>
                </a:lnTo>
                <a:lnTo>
                  <a:pt x="0" y="288"/>
                </a:lnTo>
                <a:close/>
              </a:path>
            </a:pathLst>
          </a:custGeom>
          <a:noFill/>
          <a:ln w="76200" cap="flat" cmpd="sng">
            <a:solidFill>
              <a:srgbClr val="99003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579594" name="Rectangle 10"/>
          <p:cNvSpPr>
            <a:spLocks noChangeArrowheads="1"/>
          </p:cNvSpPr>
          <p:nvPr/>
        </p:nvSpPr>
        <p:spPr bwMode="auto">
          <a:xfrm>
            <a:off x="1338263" y="3962400"/>
            <a:ext cx="719137" cy="414338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551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Method - Participants </a:t>
            </a:r>
            <a:endParaRPr lang="en-GB"/>
          </a:p>
        </p:txBody>
      </p:sp>
      <p:pic>
        <p:nvPicPr>
          <p:cNvPr id="5816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0495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81636" name="AutoShape 4"/>
          <p:cNvSpPr>
            <a:spLocks noChangeArrowheads="1"/>
          </p:cNvSpPr>
          <p:nvPr/>
        </p:nvSpPr>
        <p:spPr bwMode="auto">
          <a:xfrm>
            <a:off x="2895600" y="3962400"/>
            <a:ext cx="5410200" cy="19812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/>
            <a:r>
              <a:rPr lang="en-US" altLang="zh-TW" sz="1800" b="1" dirty="0">
                <a:latin typeface="Times New Roman" charset="0"/>
              </a:rPr>
              <a:t>Participants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State the number of participants and how they were selected.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Give demographic information, such as age, gender, relevant experience.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Note: The term </a:t>
            </a:r>
            <a:r>
              <a:rPr lang="en-US" altLang="zh-TW" dirty="0" smtClean="0">
                <a:latin typeface="Arial"/>
              </a:rPr>
              <a:t>“</a:t>
            </a:r>
            <a:r>
              <a:rPr lang="en-US" altLang="zh-TW" sz="1800" dirty="0" smtClean="0">
                <a:latin typeface="Times New Roman" charset="0"/>
              </a:rPr>
              <a:t>Subjects</a:t>
            </a:r>
            <a:r>
              <a:rPr lang="en-US" altLang="zh-TW" dirty="0" smtClean="0">
                <a:latin typeface="Arial"/>
              </a:rPr>
              <a:t>” </a:t>
            </a:r>
            <a:r>
              <a:rPr lang="en-US" altLang="zh-TW" sz="1800" dirty="0" smtClean="0">
                <a:latin typeface="Times New Roman" charset="0"/>
              </a:rPr>
              <a:t>is </a:t>
            </a:r>
            <a:r>
              <a:rPr lang="en-US" altLang="zh-TW" sz="1800" dirty="0">
                <a:latin typeface="Times New Roman" charset="0"/>
              </a:rPr>
              <a:t>now obsolete.</a:t>
            </a:r>
          </a:p>
        </p:txBody>
      </p:sp>
      <p:sp>
        <p:nvSpPr>
          <p:cNvPr id="581637" name="Freeform 5"/>
          <p:cNvSpPr>
            <a:spLocks/>
          </p:cNvSpPr>
          <p:nvPr/>
        </p:nvSpPr>
        <p:spPr bwMode="auto">
          <a:xfrm>
            <a:off x="6248400" y="1676400"/>
            <a:ext cx="1371600" cy="1752600"/>
          </a:xfrm>
          <a:custGeom>
            <a:avLst/>
            <a:gdLst>
              <a:gd name="T0" fmla="*/ 0 w 864"/>
              <a:gd name="T1" fmla="*/ 288 h 1104"/>
              <a:gd name="T2" fmla="*/ 432 w 864"/>
              <a:gd name="T3" fmla="*/ 288 h 1104"/>
              <a:gd name="T4" fmla="*/ 432 w 864"/>
              <a:gd name="T5" fmla="*/ 0 h 1104"/>
              <a:gd name="T6" fmla="*/ 864 w 864"/>
              <a:gd name="T7" fmla="*/ 0 h 1104"/>
              <a:gd name="T8" fmla="*/ 864 w 864"/>
              <a:gd name="T9" fmla="*/ 1104 h 1104"/>
              <a:gd name="T10" fmla="*/ 0 w 864"/>
              <a:gd name="T11" fmla="*/ 1104 h 1104"/>
              <a:gd name="T12" fmla="*/ 0 w 864"/>
              <a:gd name="T13" fmla="*/ 288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4" h="1104">
                <a:moveTo>
                  <a:pt x="0" y="288"/>
                </a:moveTo>
                <a:lnTo>
                  <a:pt x="432" y="288"/>
                </a:lnTo>
                <a:lnTo>
                  <a:pt x="432" y="0"/>
                </a:lnTo>
                <a:lnTo>
                  <a:pt x="864" y="0"/>
                </a:lnTo>
                <a:lnTo>
                  <a:pt x="864" y="1104"/>
                </a:lnTo>
                <a:lnTo>
                  <a:pt x="0" y="1104"/>
                </a:lnTo>
                <a:lnTo>
                  <a:pt x="0" y="288"/>
                </a:lnTo>
                <a:close/>
              </a:path>
            </a:pathLst>
          </a:custGeom>
          <a:noFill/>
          <a:ln w="38100" cap="rnd" cmpd="sng">
            <a:solidFill>
              <a:srgbClr val="990033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581638" name="Rectangle 6"/>
          <p:cNvSpPr>
            <a:spLocks noChangeArrowheads="1"/>
          </p:cNvSpPr>
          <p:nvPr/>
        </p:nvSpPr>
        <p:spPr bwMode="auto">
          <a:xfrm>
            <a:off x="1338263" y="3962400"/>
            <a:ext cx="719137" cy="414338"/>
          </a:xfrm>
          <a:prstGeom prst="rect">
            <a:avLst/>
          </a:prstGeom>
          <a:noFill/>
          <a:ln w="38100" cap="rnd">
            <a:solidFill>
              <a:srgbClr val="990033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pic>
        <p:nvPicPr>
          <p:cNvPr id="58163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31963"/>
            <a:ext cx="3687763" cy="1697037"/>
          </a:xfrm>
          <a:prstGeom prst="rect">
            <a:avLst/>
          </a:prstGeom>
          <a:noFill/>
          <a:ln w="5715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81640" name="Rectangle 8"/>
          <p:cNvSpPr>
            <a:spLocks noChangeArrowheads="1"/>
          </p:cNvSpPr>
          <p:nvPr/>
        </p:nvSpPr>
        <p:spPr bwMode="auto">
          <a:xfrm>
            <a:off x="6248400" y="2133600"/>
            <a:ext cx="685800" cy="3810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cxnSp>
        <p:nvCxnSpPr>
          <p:cNvPr id="581641" name="AutoShape 9"/>
          <p:cNvCxnSpPr>
            <a:cxnSpLocks noChangeShapeType="1"/>
            <a:stCxn id="581640" idx="1"/>
            <a:endCxn id="581639" idx="3"/>
          </p:cNvCxnSpPr>
          <p:nvPr/>
        </p:nvCxnSpPr>
        <p:spPr bwMode="auto">
          <a:xfrm flipH="1">
            <a:off x="4935538" y="2324100"/>
            <a:ext cx="1274762" cy="257175"/>
          </a:xfrm>
          <a:prstGeom prst="straightConnector1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00799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Method - Apparatus </a:t>
            </a:r>
            <a:endParaRPr lang="en-GB"/>
          </a:p>
        </p:txBody>
      </p:sp>
      <p:pic>
        <p:nvPicPr>
          <p:cNvPr id="5836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0495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83684" name="AutoShape 4"/>
          <p:cNvSpPr>
            <a:spLocks noChangeArrowheads="1"/>
          </p:cNvSpPr>
          <p:nvPr/>
        </p:nvSpPr>
        <p:spPr bwMode="auto">
          <a:xfrm>
            <a:off x="2895600" y="3962400"/>
            <a:ext cx="5410200" cy="11430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/>
            <a:r>
              <a:rPr lang="en-US" altLang="zh-TW" sz="1800" b="1">
                <a:latin typeface="Times New Roman" charset="0"/>
              </a:rPr>
              <a:t>Apparatus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Describe the hardware and software.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Use screen snaps or photos, if helpful</a:t>
            </a:r>
          </a:p>
        </p:txBody>
      </p:sp>
      <p:sp>
        <p:nvSpPr>
          <p:cNvPr id="583685" name="Freeform 5"/>
          <p:cNvSpPr>
            <a:spLocks/>
          </p:cNvSpPr>
          <p:nvPr/>
        </p:nvSpPr>
        <p:spPr bwMode="auto">
          <a:xfrm>
            <a:off x="6248400" y="1676400"/>
            <a:ext cx="1371600" cy="1752600"/>
          </a:xfrm>
          <a:custGeom>
            <a:avLst/>
            <a:gdLst>
              <a:gd name="T0" fmla="*/ 0 w 864"/>
              <a:gd name="T1" fmla="*/ 288 h 1104"/>
              <a:gd name="T2" fmla="*/ 432 w 864"/>
              <a:gd name="T3" fmla="*/ 288 h 1104"/>
              <a:gd name="T4" fmla="*/ 432 w 864"/>
              <a:gd name="T5" fmla="*/ 0 h 1104"/>
              <a:gd name="T6" fmla="*/ 864 w 864"/>
              <a:gd name="T7" fmla="*/ 0 h 1104"/>
              <a:gd name="T8" fmla="*/ 864 w 864"/>
              <a:gd name="T9" fmla="*/ 1104 h 1104"/>
              <a:gd name="T10" fmla="*/ 0 w 864"/>
              <a:gd name="T11" fmla="*/ 1104 h 1104"/>
              <a:gd name="T12" fmla="*/ 0 w 864"/>
              <a:gd name="T13" fmla="*/ 288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4" h="1104">
                <a:moveTo>
                  <a:pt x="0" y="288"/>
                </a:moveTo>
                <a:lnTo>
                  <a:pt x="432" y="288"/>
                </a:lnTo>
                <a:lnTo>
                  <a:pt x="432" y="0"/>
                </a:lnTo>
                <a:lnTo>
                  <a:pt x="864" y="0"/>
                </a:lnTo>
                <a:lnTo>
                  <a:pt x="864" y="1104"/>
                </a:lnTo>
                <a:lnTo>
                  <a:pt x="0" y="1104"/>
                </a:lnTo>
                <a:lnTo>
                  <a:pt x="0" y="288"/>
                </a:lnTo>
                <a:close/>
              </a:path>
            </a:pathLst>
          </a:custGeom>
          <a:noFill/>
          <a:ln w="38100" cap="rnd" cmpd="sng">
            <a:solidFill>
              <a:srgbClr val="990033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583686" name="Rectangle 6"/>
          <p:cNvSpPr>
            <a:spLocks noChangeArrowheads="1"/>
          </p:cNvSpPr>
          <p:nvPr/>
        </p:nvSpPr>
        <p:spPr bwMode="auto">
          <a:xfrm>
            <a:off x="1338263" y="3962400"/>
            <a:ext cx="719137" cy="414338"/>
          </a:xfrm>
          <a:prstGeom prst="rect">
            <a:avLst/>
          </a:prstGeom>
          <a:noFill/>
          <a:ln w="38100" cap="rnd">
            <a:solidFill>
              <a:srgbClr val="990033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83690" name="Freeform 10"/>
          <p:cNvSpPr>
            <a:spLocks/>
          </p:cNvSpPr>
          <p:nvPr/>
        </p:nvSpPr>
        <p:spPr bwMode="auto">
          <a:xfrm>
            <a:off x="6248400" y="1676400"/>
            <a:ext cx="1371600" cy="1752600"/>
          </a:xfrm>
          <a:custGeom>
            <a:avLst/>
            <a:gdLst>
              <a:gd name="T0" fmla="*/ 0 w 864"/>
              <a:gd name="T1" fmla="*/ 480 h 1104"/>
              <a:gd name="T2" fmla="*/ 0 w 864"/>
              <a:gd name="T3" fmla="*/ 1104 h 1104"/>
              <a:gd name="T4" fmla="*/ 432 w 864"/>
              <a:gd name="T5" fmla="*/ 1104 h 1104"/>
              <a:gd name="T6" fmla="*/ 432 w 864"/>
              <a:gd name="T7" fmla="*/ 480 h 1104"/>
              <a:gd name="T8" fmla="*/ 864 w 864"/>
              <a:gd name="T9" fmla="*/ 480 h 1104"/>
              <a:gd name="T10" fmla="*/ 864 w 864"/>
              <a:gd name="T11" fmla="*/ 0 h 1104"/>
              <a:gd name="T12" fmla="*/ 432 w 864"/>
              <a:gd name="T13" fmla="*/ 0 h 1104"/>
              <a:gd name="T14" fmla="*/ 432 w 864"/>
              <a:gd name="T15" fmla="*/ 480 h 1104"/>
              <a:gd name="T16" fmla="*/ 0 w 864"/>
              <a:gd name="T17" fmla="*/ 48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4" h="1104">
                <a:moveTo>
                  <a:pt x="0" y="480"/>
                </a:moveTo>
                <a:lnTo>
                  <a:pt x="0" y="1104"/>
                </a:lnTo>
                <a:lnTo>
                  <a:pt x="432" y="1104"/>
                </a:lnTo>
                <a:lnTo>
                  <a:pt x="432" y="480"/>
                </a:lnTo>
                <a:lnTo>
                  <a:pt x="864" y="480"/>
                </a:lnTo>
                <a:lnTo>
                  <a:pt x="864" y="0"/>
                </a:lnTo>
                <a:lnTo>
                  <a:pt x="432" y="0"/>
                </a:lnTo>
                <a:lnTo>
                  <a:pt x="432" y="480"/>
                </a:lnTo>
                <a:lnTo>
                  <a:pt x="0" y="480"/>
                </a:lnTo>
                <a:close/>
              </a:path>
            </a:pathLst>
          </a:custGeom>
          <a:noFill/>
          <a:ln w="76200" cap="flat" cmpd="sng">
            <a:solidFill>
              <a:srgbClr val="99003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pic>
        <p:nvPicPr>
          <p:cNvPr id="583692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16075"/>
            <a:ext cx="3736975" cy="2117725"/>
          </a:xfrm>
          <a:prstGeom prst="rect">
            <a:avLst/>
          </a:prstGeom>
          <a:noFill/>
          <a:ln w="5715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83695" name="Line 15"/>
          <p:cNvSpPr>
            <a:spLocks noChangeShapeType="1"/>
          </p:cNvSpPr>
          <p:nvPr/>
        </p:nvSpPr>
        <p:spPr bwMode="auto">
          <a:xfrm>
            <a:off x="5257800" y="2590800"/>
            <a:ext cx="990600" cy="228600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4941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Method - Procedure </a:t>
            </a:r>
            <a:endParaRPr lang="en-GB"/>
          </a:p>
        </p:txBody>
      </p:sp>
      <p:pic>
        <p:nvPicPr>
          <p:cNvPr id="5857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0495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85732" name="AutoShape 4"/>
          <p:cNvSpPr>
            <a:spLocks noChangeArrowheads="1"/>
          </p:cNvSpPr>
          <p:nvPr/>
        </p:nvSpPr>
        <p:spPr bwMode="auto">
          <a:xfrm>
            <a:off x="2895600" y="3962400"/>
            <a:ext cx="5410200" cy="19050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/>
            <a:r>
              <a:rPr lang="en-US" altLang="zh-TW" sz="1800" b="1">
                <a:latin typeface="Times New Roman" charset="0"/>
              </a:rPr>
              <a:t>Procedure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Specify exactly what happened with each participant.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State the instructions given, and indicate if demonstration or practice was used, etc.</a:t>
            </a:r>
          </a:p>
        </p:txBody>
      </p:sp>
      <p:sp>
        <p:nvSpPr>
          <p:cNvPr id="585733" name="Freeform 5"/>
          <p:cNvSpPr>
            <a:spLocks/>
          </p:cNvSpPr>
          <p:nvPr/>
        </p:nvSpPr>
        <p:spPr bwMode="auto">
          <a:xfrm>
            <a:off x="6248400" y="1676400"/>
            <a:ext cx="1371600" cy="1752600"/>
          </a:xfrm>
          <a:custGeom>
            <a:avLst/>
            <a:gdLst>
              <a:gd name="T0" fmla="*/ 0 w 864"/>
              <a:gd name="T1" fmla="*/ 288 h 1104"/>
              <a:gd name="T2" fmla="*/ 432 w 864"/>
              <a:gd name="T3" fmla="*/ 288 h 1104"/>
              <a:gd name="T4" fmla="*/ 432 w 864"/>
              <a:gd name="T5" fmla="*/ 0 h 1104"/>
              <a:gd name="T6" fmla="*/ 864 w 864"/>
              <a:gd name="T7" fmla="*/ 0 h 1104"/>
              <a:gd name="T8" fmla="*/ 864 w 864"/>
              <a:gd name="T9" fmla="*/ 1104 h 1104"/>
              <a:gd name="T10" fmla="*/ 0 w 864"/>
              <a:gd name="T11" fmla="*/ 1104 h 1104"/>
              <a:gd name="T12" fmla="*/ 0 w 864"/>
              <a:gd name="T13" fmla="*/ 288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4" h="1104">
                <a:moveTo>
                  <a:pt x="0" y="288"/>
                </a:moveTo>
                <a:lnTo>
                  <a:pt x="432" y="288"/>
                </a:lnTo>
                <a:lnTo>
                  <a:pt x="432" y="0"/>
                </a:lnTo>
                <a:lnTo>
                  <a:pt x="864" y="0"/>
                </a:lnTo>
                <a:lnTo>
                  <a:pt x="864" y="1104"/>
                </a:lnTo>
                <a:lnTo>
                  <a:pt x="0" y="1104"/>
                </a:lnTo>
                <a:lnTo>
                  <a:pt x="0" y="288"/>
                </a:lnTo>
                <a:close/>
              </a:path>
            </a:pathLst>
          </a:custGeom>
          <a:noFill/>
          <a:ln w="38100" cap="rnd" cmpd="sng">
            <a:solidFill>
              <a:srgbClr val="990033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585734" name="Rectangle 6"/>
          <p:cNvSpPr>
            <a:spLocks noChangeArrowheads="1"/>
          </p:cNvSpPr>
          <p:nvPr/>
        </p:nvSpPr>
        <p:spPr bwMode="auto">
          <a:xfrm>
            <a:off x="1338263" y="3962400"/>
            <a:ext cx="719137" cy="414338"/>
          </a:xfrm>
          <a:prstGeom prst="rect">
            <a:avLst/>
          </a:prstGeom>
          <a:noFill/>
          <a:ln w="38100" cap="rnd">
            <a:solidFill>
              <a:srgbClr val="990033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85737" name="Line 9"/>
          <p:cNvSpPr>
            <a:spLocks noChangeShapeType="1"/>
          </p:cNvSpPr>
          <p:nvPr/>
        </p:nvSpPr>
        <p:spPr bwMode="auto">
          <a:xfrm>
            <a:off x="5257800" y="2590800"/>
            <a:ext cx="1676400" cy="381000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585738" name="Rectangle 10"/>
          <p:cNvSpPr>
            <a:spLocks noChangeArrowheads="1"/>
          </p:cNvSpPr>
          <p:nvPr/>
        </p:nvSpPr>
        <p:spPr bwMode="auto">
          <a:xfrm>
            <a:off x="6934200" y="2638425"/>
            <a:ext cx="685800" cy="790575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85739" name="Rectangle 11"/>
          <p:cNvSpPr>
            <a:spLocks noChangeArrowheads="1"/>
          </p:cNvSpPr>
          <p:nvPr/>
        </p:nvSpPr>
        <p:spPr bwMode="auto">
          <a:xfrm>
            <a:off x="1371600" y="3962400"/>
            <a:ext cx="685800" cy="1524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pic>
        <p:nvPicPr>
          <p:cNvPr id="585740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1676400"/>
            <a:ext cx="3648075" cy="2106613"/>
          </a:xfrm>
          <a:prstGeom prst="rect">
            <a:avLst/>
          </a:prstGeom>
          <a:noFill/>
          <a:ln w="5715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4766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Method - Design </a:t>
            </a:r>
            <a:endParaRPr lang="en-GB"/>
          </a:p>
        </p:txBody>
      </p:sp>
      <p:pic>
        <p:nvPicPr>
          <p:cNvPr id="5877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0495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87780" name="AutoShape 4"/>
          <p:cNvSpPr>
            <a:spLocks noChangeArrowheads="1"/>
          </p:cNvSpPr>
          <p:nvPr/>
        </p:nvSpPr>
        <p:spPr bwMode="auto">
          <a:xfrm>
            <a:off x="2895600" y="3962400"/>
            <a:ext cx="5410200" cy="20574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/>
            <a:r>
              <a:rPr lang="en-US" altLang="zh-TW" sz="1800" b="1" dirty="0">
                <a:latin typeface="Times New Roman" charset="0"/>
              </a:rPr>
              <a:t>Design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Give the independent variables (factors and levels) and dependent variables (measures and units).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State the order of administering conditions, etc. 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Be thorough and clear!  </a:t>
            </a:r>
            <a:r>
              <a:rPr lang="en-US" altLang="zh-TW" sz="1800" dirty="0" smtClean="0">
                <a:latin typeface="Times New Roman" charset="0"/>
              </a:rPr>
              <a:t>It</a:t>
            </a:r>
            <a:r>
              <a:rPr lang="en-US" altLang="zh-TW" dirty="0" smtClean="0">
                <a:latin typeface="Arial"/>
              </a:rPr>
              <a:t>’</a:t>
            </a:r>
            <a:r>
              <a:rPr lang="en-US" altLang="zh-TW" sz="1800" dirty="0" smtClean="0">
                <a:latin typeface="Times New Roman" charset="0"/>
              </a:rPr>
              <a:t>s </a:t>
            </a:r>
            <a:r>
              <a:rPr lang="en-US" altLang="zh-TW" sz="1800" dirty="0">
                <a:latin typeface="Times New Roman" charset="0"/>
              </a:rPr>
              <a:t>important that your research is reproducible.</a:t>
            </a:r>
          </a:p>
        </p:txBody>
      </p:sp>
      <p:sp>
        <p:nvSpPr>
          <p:cNvPr id="587781" name="Freeform 5"/>
          <p:cNvSpPr>
            <a:spLocks/>
          </p:cNvSpPr>
          <p:nvPr/>
        </p:nvSpPr>
        <p:spPr bwMode="auto">
          <a:xfrm>
            <a:off x="6248400" y="1676400"/>
            <a:ext cx="1371600" cy="1752600"/>
          </a:xfrm>
          <a:custGeom>
            <a:avLst/>
            <a:gdLst>
              <a:gd name="T0" fmla="*/ 0 w 864"/>
              <a:gd name="T1" fmla="*/ 288 h 1104"/>
              <a:gd name="T2" fmla="*/ 432 w 864"/>
              <a:gd name="T3" fmla="*/ 288 h 1104"/>
              <a:gd name="T4" fmla="*/ 432 w 864"/>
              <a:gd name="T5" fmla="*/ 0 h 1104"/>
              <a:gd name="T6" fmla="*/ 864 w 864"/>
              <a:gd name="T7" fmla="*/ 0 h 1104"/>
              <a:gd name="T8" fmla="*/ 864 w 864"/>
              <a:gd name="T9" fmla="*/ 1104 h 1104"/>
              <a:gd name="T10" fmla="*/ 0 w 864"/>
              <a:gd name="T11" fmla="*/ 1104 h 1104"/>
              <a:gd name="T12" fmla="*/ 0 w 864"/>
              <a:gd name="T13" fmla="*/ 288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4" h="1104">
                <a:moveTo>
                  <a:pt x="0" y="288"/>
                </a:moveTo>
                <a:lnTo>
                  <a:pt x="432" y="288"/>
                </a:lnTo>
                <a:lnTo>
                  <a:pt x="432" y="0"/>
                </a:lnTo>
                <a:lnTo>
                  <a:pt x="864" y="0"/>
                </a:lnTo>
                <a:lnTo>
                  <a:pt x="864" y="1104"/>
                </a:lnTo>
                <a:lnTo>
                  <a:pt x="0" y="1104"/>
                </a:lnTo>
                <a:lnTo>
                  <a:pt x="0" y="288"/>
                </a:lnTo>
                <a:close/>
              </a:path>
            </a:pathLst>
          </a:custGeom>
          <a:noFill/>
          <a:ln w="38100" cap="rnd" cmpd="sng">
            <a:solidFill>
              <a:srgbClr val="990033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587782" name="Rectangle 6"/>
          <p:cNvSpPr>
            <a:spLocks noChangeArrowheads="1"/>
          </p:cNvSpPr>
          <p:nvPr/>
        </p:nvSpPr>
        <p:spPr bwMode="auto">
          <a:xfrm>
            <a:off x="1338263" y="3962400"/>
            <a:ext cx="719137" cy="414338"/>
          </a:xfrm>
          <a:prstGeom prst="rect">
            <a:avLst/>
          </a:prstGeom>
          <a:noFill/>
          <a:ln w="38100" cap="rnd">
            <a:solidFill>
              <a:srgbClr val="990033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87783" name="Line 7"/>
          <p:cNvSpPr>
            <a:spLocks noChangeShapeType="1"/>
          </p:cNvSpPr>
          <p:nvPr/>
        </p:nvSpPr>
        <p:spPr bwMode="auto">
          <a:xfrm flipH="1">
            <a:off x="1828800" y="3316288"/>
            <a:ext cx="581025" cy="798512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587785" name="Rectangle 9"/>
          <p:cNvSpPr>
            <a:spLocks noChangeArrowheads="1"/>
          </p:cNvSpPr>
          <p:nvPr/>
        </p:nvSpPr>
        <p:spPr bwMode="auto">
          <a:xfrm>
            <a:off x="1338263" y="4129088"/>
            <a:ext cx="728662" cy="257175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pic>
        <p:nvPicPr>
          <p:cNvPr id="587787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463" y="1905000"/>
            <a:ext cx="3716337" cy="1385888"/>
          </a:xfrm>
          <a:prstGeom prst="rect">
            <a:avLst/>
          </a:prstGeom>
          <a:noFill/>
          <a:ln w="5715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783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Results and Discussion </a:t>
            </a:r>
            <a:endParaRPr lang="en-GB"/>
          </a:p>
        </p:txBody>
      </p:sp>
      <p:pic>
        <p:nvPicPr>
          <p:cNvPr id="5898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63" y="152400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89834" name="Freeform 10"/>
          <p:cNvSpPr>
            <a:spLocks/>
          </p:cNvSpPr>
          <p:nvPr/>
        </p:nvSpPr>
        <p:spPr bwMode="auto">
          <a:xfrm>
            <a:off x="1295400" y="3962400"/>
            <a:ext cx="1371600" cy="1752600"/>
          </a:xfrm>
          <a:custGeom>
            <a:avLst/>
            <a:gdLst>
              <a:gd name="T0" fmla="*/ 0 w 864"/>
              <a:gd name="T1" fmla="*/ 336 h 1104"/>
              <a:gd name="T2" fmla="*/ 432 w 864"/>
              <a:gd name="T3" fmla="*/ 336 h 1104"/>
              <a:gd name="T4" fmla="*/ 432 w 864"/>
              <a:gd name="T5" fmla="*/ 0 h 1104"/>
              <a:gd name="T6" fmla="*/ 864 w 864"/>
              <a:gd name="T7" fmla="*/ 0 h 1104"/>
              <a:gd name="T8" fmla="*/ 864 w 864"/>
              <a:gd name="T9" fmla="*/ 1104 h 1104"/>
              <a:gd name="T10" fmla="*/ 0 w 864"/>
              <a:gd name="T11" fmla="*/ 1104 h 1104"/>
              <a:gd name="T12" fmla="*/ 0 w 864"/>
              <a:gd name="T13" fmla="*/ 336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4" h="1104">
                <a:moveTo>
                  <a:pt x="0" y="336"/>
                </a:moveTo>
                <a:lnTo>
                  <a:pt x="432" y="336"/>
                </a:lnTo>
                <a:lnTo>
                  <a:pt x="432" y="0"/>
                </a:lnTo>
                <a:lnTo>
                  <a:pt x="864" y="0"/>
                </a:lnTo>
                <a:lnTo>
                  <a:pt x="864" y="1104"/>
                </a:lnTo>
                <a:lnTo>
                  <a:pt x="0" y="1104"/>
                </a:lnTo>
                <a:lnTo>
                  <a:pt x="0" y="336"/>
                </a:lnTo>
                <a:close/>
              </a:path>
            </a:pathLst>
          </a:custGeom>
          <a:noFill/>
          <a:ln w="76200" cap="flat" cmpd="sng">
            <a:solidFill>
              <a:srgbClr val="99003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589835" name="Rectangle 11"/>
          <p:cNvSpPr>
            <a:spLocks noChangeArrowheads="1"/>
          </p:cNvSpPr>
          <p:nvPr/>
        </p:nvSpPr>
        <p:spPr bwMode="auto">
          <a:xfrm>
            <a:off x="2895600" y="3962400"/>
            <a:ext cx="1371600" cy="17526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89836" name="Rectangle 12"/>
          <p:cNvSpPr>
            <a:spLocks noChangeArrowheads="1"/>
          </p:cNvSpPr>
          <p:nvPr/>
        </p:nvSpPr>
        <p:spPr bwMode="auto">
          <a:xfrm>
            <a:off x="4622800" y="3962400"/>
            <a:ext cx="1397000" cy="17526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89837" name="Rectangle 13"/>
          <p:cNvSpPr>
            <a:spLocks noChangeArrowheads="1"/>
          </p:cNvSpPr>
          <p:nvPr/>
        </p:nvSpPr>
        <p:spPr bwMode="auto">
          <a:xfrm>
            <a:off x="6248400" y="3962400"/>
            <a:ext cx="762000" cy="9144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89828" name="AutoShape 4"/>
          <p:cNvSpPr>
            <a:spLocks noChangeArrowheads="1"/>
          </p:cNvSpPr>
          <p:nvPr/>
        </p:nvSpPr>
        <p:spPr bwMode="auto">
          <a:xfrm>
            <a:off x="228600" y="1524000"/>
            <a:ext cx="8153400" cy="20574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/>
            <a:r>
              <a:rPr lang="en-US" altLang="zh-TW" sz="1800" b="1">
                <a:latin typeface="Times New Roman" charset="0"/>
              </a:rPr>
              <a:t>Results and Discussion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Use subsections as appropriate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If there were outliers or problems in the data collection, state this up-front.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Organize results by the dependent measures, moving from overall means to finer details across conditions.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Use statistical tests, charts, tables, as appropriate</a:t>
            </a:r>
          </a:p>
        </p:txBody>
      </p:sp>
    </p:spTree>
    <p:extLst>
      <p:ext uri="{BB962C8B-B14F-4D97-AF65-F5344CB8AC3E}">
        <p14:creationId xmlns:p14="http://schemas.microsoft.com/office/powerpoint/2010/main" val="3853035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Results and Discussion (2) </a:t>
            </a:r>
            <a:endParaRPr lang="en-GB"/>
          </a:p>
        </p:txBody>
      </p:sp>
      <p:pic>
        <p:nvPicPr>
          <p:cNvPr id="5918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63" y="152400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91876" name="Freeform 4"/>
          <p:cNvSpPr>
            <a:spLocks/>
          </p:cNvSpPr>
          <p:nvPr/>
        </p:nvSpPr>
        <p:spPr bwMode="auto">
          <a:xfrm>
            <a:off x="1295400" y="3962400"/>
            <a:ext cx="1371600" cy="1752600"/>
          </a:xfrm>
          <a:custGeom>
            <a:avLst/>
            <a:gdLst>
              <a:gd name="T0" fmla="*/ 0 w 864"/>
              <a:gd name="T1" fmla="*/ 336 h 1104"/>
              <a:gd name="T2" fmla="*/ 432 w 864"/>
              <a:gd name="T3" fmla="*/ 336 h 1104"/>
              <a:gd name="T4" fmla="*/ 432 w 864"/>
              <a:gd name="T5" fmla="*/ 0 h 1104"/>
              <a:gd name="T6" fmla="*/ 864 w 864"/>
              <a:gd name="T7" fmla="*/ 0 h 1104"/>
              <a:gd name="T8" fmla="*/ 864 w 864"/>
              <a:gd name="T9" fmla="*/ 1104 h 1104"/>
              <a:gd name="T10" fmla="*/ 0 w 864"/>
              <a:gd name="T11" fmla="*/ 1104 h 1104"/>
              <a:gd name="T12" fmla="*/ 0 w 864"/>
              <a:gd name="T13" fmla="*/ 336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4" h="1104">
                <a:moveTo>
                  <a:pt x="0" y="336"/>
                </a:moveTo>
                <a:lnTo>
                  <a:pt x="432" y="336"/>
                </a:lnTo>
                <a:lnTo>
                  <a:pt x="432" y="0"/>
                </a:lnTo>
                <a:lnTo>
                  <a:pt x="864" y="0"/>
                </a:lnTo>
                <a:lnTo>
                  <a:pt x="864" y="1104"/>
                </a:lnTo>
                <a:lnTo>
                  <a:pt x="0" y="1104"/>
                </a:lnTo>
                <a:lnTo>
                  <a:pt x="0" y="336"/>
                </a:lnTo>
                <a:close/>
              </a:path>
            </a:pathLst>
          </a:custGeom>
          <a:noFill/>
          <a:ln w="76200" cap="flat" cmpd="sng">
            <a:solidFill>
              <a:srgbClr val="99003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endParaRPr lang="zh-TW" altLang="en-US"/>
          </a:p>
        </p:txBody>
      </p:sp>
      <p:sp>
        <p:nvSpPr>
          <p:cNvPr id="591877" name="Rectangle 5"/>
          <p:cNvSpPr>
            <a:spLocks noChangeArrowheads="1"/>
          </p:cNvSpPr>
          <p:nvPr/>
        </p:nvSpPr>
        <p:spPr bwMode="auto">
          <a:xfrm>
            <a:off x="2895600" y="3962400"/>
            <a:ext cx="1371600" cy="17526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91878" name="Rectangle 6"/>
          <p:cNvSpPr>
            <a:spLocks noChangeArrowheads="1"/>
          </p:cNvSpPr>
          <p:nvPr/>
        </p:nvSpPr>
        <p:spPr bwMode="auto">
          <a:xfrm>
            <a:off x="4622800" y="3962400"/>
            <a:ext cx="1397000" cy="17526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91879" name="Rectangle 7"/>
          <p:cNvSpPr>
            <a:spLocks noChangeArrowheads="1"/>
          </p:cNvSpPr>
          <p:nvPr/>
        </p:nvSpPr>
        <p:spPr bwMode="auto">
          <a:xfrm>
            <a:off x="6248400" y="3962400"/>
            <a:ext cx="762000" cy="9144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91880" name="AutoShape 8"/>
          <p:cNvSpPr>
            <a:spLocks noChangeArrowheads="1"/>
          </p:cNvSpPr>
          <p:nvPr/>
        </p:nvSpPr>
        <p:spPr bwMode="auto">
          <a:xfrm>
            <a:off x="228600" y="1524000"/>
            <a:ext cx="8153400" cy="28194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>
              <a:buFontTx/>
              <a:buChar char="•"/>
            </a:pPr>
            <a:r>
              <a:rPr lang="en-US" altLang="zh-TW" sz="1800" dirty="0" smtClean="0">
                <a:latin typeface="Times New Roman" charset="0"/>
              </a:rPr>
              <a:t>Don</a:t>
            </a:r>
            <a:r>
              <a:rPr lang="en-US" altLang="zh-TW" dirty="0" smtClean="0">
                <a:latin typeface="Arial"/>
              </a:rPr>
              <a:t>’</a:t>
            </a:r>
            <a:r>
              <a:rPr lang="en-US" altLang="zh-TW" sz="1800" dirty="0" smtClean="0">
                <a:latin typeface="Times New Roman" charset="0"/>
              </a:rPr>
              <a:t>t </a:t>
            </a:r>
            <a:r>
              <a:rPr lang="en-US" altLang="zh-TW" sz="1800" dirty="0">
                <a:latin typeface="Times New Roman" charset="0"/>
              </a:rPr>
              <a:t>overdo it!  Giving too many charts or too much data means you </a:t>
            </a:r>
            <a:r>
              <a:rPr lang="en-US" altLang="zh-TW" sz="1800" dirty="0" smtClean="0">
                <a:latin typeface="Times New Roman" charset="0"/>
              </a:rPr>
              <a:t>can</a:t>
            </a:r>
            <a:r>
              <a:rPr lang="en-US" altLang="zh-TW" dirty="0" smtClean="0">
                <a:latin typeface="Arial"/>
              </a:rPr>
              <a:t>’</a:t>
            </a:r>
            <a:r>
              <a:rPr lang="en-US" altLang="zh-TW" sz="1800" dirty="0" smtClean="0">
                <a:latin typeface="Times New Roman" charset="0"/>
              </a:rPr>
              <a:t>t </a:t>
            </a:r>
            <a:r>
              <a:rPr lang="en-US" altLang="zh-TW" sz="1800" dirty="0">
                <a:latin typeface="Times New Roman" charset="0"/>
              </a:rPr>
              <a:t>distinguish what is important from what is not important.  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Discuss the results. State what is interesting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Explain the differences across conditions.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Compare with results from other studies.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Provide additional analysis, as appropriate, such as fine grain analyses on types of errors or linear regression or correlation analyses for models of interaction (such as </a:t>
            </a:r>
            <a:r>
              <a:rPr lang="en-US" altLang="zh-TW" sz="1800" dirty="0" err="1" smtClean="0">
                <a:latin typeface="Times New Roman" charset="0"/>
              </a:rPr>
              <a:t>Fitts</a:t>
            </a:r>
            <a:r>
              <a:rPr lang="en-US" altLang="zh-TW" dirty="0" smtClean="0">
                <a:latin typeface="Arial"/>
              </a:rPr>
              <a:t>’ </a:t>
            </a:r>
            <a:r>
              <a:rPr lang="en-US" altLang="zh-TW" sz="1800" dirty="0" smtClean="0">
                <a:latin typeface="Times New Roman" charset="0"/>
              </a:rPr>
              <a:t>law</a:t>
            </a:r>
            <a:r>
              <a:rPr lang="en-US" altLang="zh-TW" sz="1800" dirty="0">
                <a:latin typeface="Times New Roman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5427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Conclusion </a:t>
            </a:r>
            <a:endParaRPr lang="en-GB"/>
          </a:p>
        </p:txBody>
      </p:sp>
      <p:pic>
        <p:nvPicPr>
          <p:cNvPr id="6000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63" y="152400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00071" name="Rectangle 7"/>
          <p:cNvSpPr>
            <a:spLocks noChangeArrowheads="1"/>
          </p:cNvSpPr>
          <p:nvPr/>
        </p:nvSpPr>
        <p:spPr bwMode="auto">
          <a:xfrm>
            <a:off x="6248400" y="4800600"/>
            <a:ext cx="762000" cy="9144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600073" name="AutoShape 9"/>
          <p:cNvSpPr>
            <a:spLocks noChangeArrowheads="1"/>
          </p:cNvSpPr>
          <p:nvPr/>
        </p:nvSpPr>
        <p:spPr bwMode="auto">
          <a:xfrm>
            <a:off x="1943100" y="1828800"/>
            <a:ext cx="5105400" cy="20574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/>
            <a:r>
              <a:rPr lang="en-US" altLang="zh-TW" sz="1800" b="1">
                <a:latin typeface="Times New Roman" charset="0"/>
              </a:rPr>
              <a:t>Conclusion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Summarize what you did.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Restate the important findings.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State (or restate) the contribution.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Identify topics for future work.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Do not develop any new ideas in the conclusion. </a:t>
            </a:r>
          </a:p>
        </p:txBody>
      </p:sp>
      <p:pic>
        <p:nvPicPr>
          <p:cNvPr id="60007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329113"/>
            <a:ext cx="3054350" cy="1901825"/>
          </a:xfrm>
          <a:prstGeom prst="rect">
            <a:avLst/>
          </a:prstGeom>
          <a:noFill/>
          <a:ln w="5715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600076" name="AutoShape 12"/>
          <p:cNvCxnSpPr>
            <a:cxnSpLocks noChangeShapeType="1"/>
            <a:stCxn id="600074" idx="3"/>
            <a:endCxn id="600071" idx="1"/>
          </p:cNvCxnSpPr>
          <p:nvPr/>
        </p:nvCxnSpPr>
        <p:spPr bwMode="auto">
          <a:xfrm flipV="1">
            <a:off x="5064125" y="5257800"/>
            <a:ext cx="1146175" cy="22225"/>
          </a:xfrm>
          <a:prstGeom prst="straightConnector1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530795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Acknowledgment </a:t>
            </a:r>
            <a:endParaRPr lang="en-GB"/>
          </a:p>
        </p:txBody>
      </p:sp>
      <p:pic>
        <p:nvPicPr>
          <p:cNvPr id="5939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63" y="152400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93927" name="Rectangle 7"/>
          <p:cNvSpPr>
            <a:spLocks noChangeArrowheads="1"/>
          </p:cNvSpPr>
          <p:nvPr/>
        </p:nvSpPr>
        <p:spPr bwMode="auto">
          <a:xfrm>
            <a:off x="6905625" y="4014788"/>
            <a:ext cx="762000" cy="1524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pic>
        <p:nvPicPr>
          <p:cNvPr id="59392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735263"/>
            <a:ext cx="3716338" cy="693737"/>
          </a:xfrm>
          <a:prstGeom prst="rect">
            <a:avLst/>
          </a:prstGeom>
          <a:noFill/>
          <a:ln w="5715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593930" name="AutoShape 10"/>
          <p:cNvCxnSpPr>
            <a:cxnSpLocks noChangeShapeType="1"/>
            <a:stCxn id="593929" idx="2"/>
            <a:endCxn id="593927" idx="0"/>
          </p:cNvCxnSpPr>
          <p:nvPr/>
        </p:nvCxnSpPr>
        <p:spPr bwMode="auto">
          <a:xfrm>
            <a:off x="5440363" y="3457575"/>
            <a:ext cx="1846262" cy="519113"/>
          </a:xfrm>
          <a:prstGeom prst="straightConnector1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93931" name="AutoShape 11"/>
          <p:cNvSpPr>
            <a:spLocks noChangeArrowheads="1"/>
          </p:cNvSpPr>
          <p:nvPr/>
        </p:nvSpPr>
        <p:spPr bwMode="auto">
          <a:xfrm>
            <a:off x="1447800" y="3962400"/>
            <a:ext cx="3886200" cy="16764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/>
            <a:r>
              <a:rPr lang="en-US" altLang="zh-TW" sz="1800" b="1" dirty="0" smtClean="0">
                <a:latin typeface="Times New Roman" charset="0"/>
              </a:rPr>
              <a:t>Acknowledgment</a:t>
            </a:r>
            <a:endParaRPr lang="en-US" altLang="zh-TW" sz="1800" dirty="0">
              <a:latin typeface="Times New Roman" charset="0"/>
            </a:endParaRP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Thank people who helped with the research</a:t>
            </a:r>
          </a:p>
          <a:p>
            <a:pPr marL="196850" indent="-196850">
              <a:buFontTx/>
              <a:buChar char="•"/>
            </a:pPr>
            <a:r>
              <a:rPr lang="en-US" altLang="zh-TW" sz="1800" dirty="0">
                <a:latin typeface="Times New Roman" charset="0"/>
              </a:rPr>
              <a:t>Thank funding agencies</a:t>
            </a:r>
          </a:p>
        </p:txBody>
      </p:sp>
    </p:spTree>
    <p:extLst>
      <p:ext uri="{BB962C8B-B14F-4D97-AF65-F5344CB8AC3E}">
        <p14:creationId xmlns:p14="http://schemas.microsoft.com/office/powerpoint/2010/main" val="1511974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References </a:t>
            </a:r>
            <a:endParaRPr lang="en-GB"/>
          </a:p>
        </p:txBody>
      </p:sp>
      <p:pic>
        <p:nvPicPr>
          <p:cNvPr id="5959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63" y="1524000"/>
            <a:ext cx="65944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95972" name="Rectangle 4"/>
          <p:cNvSpPr>
            <a:spLocks noChangeArrowheads="1"/>
          </p:cNvSpPr>
          <p:nvPr/>
        </p:nvSpPr>
        <p:spPr bwMode="auto">
          <a:xfrm>
            <a:off x="6905625" y="4191000"/>
            <a:ext cx="762000" cy="15240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TW" altLang="en-US"/>
          </a:p>
        </p:txBody>
      </p:sp>
      <p:sp>
        <p:nvSpPr>
          <p:cNvPr id="595975" name="AutoShape 7"/>
          <p:cNvSpPr>
            <a:spLocks noChangeArrowheads="1"/>
          </p:cNvSpPr>
          <p:nvPr/>
        </p:nvSpPr>
        <p:spPr bwMode="auto">
          <a:xfrm>
            <a:off x="4191000" y="1981200"/>
            <a:ext cx="4648200" cy="190500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96850" indent="-196850"/>
            <a:r>
              <a:rPr lang="en-US" altLang="zh-TW" sz="1800" b="1">
                <a:latin typeface="Times New Roman" charset="0"/>
              </a:rPr>
              <a:t>References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Include a list of references, formatted as per the submission requirements of the conference or journal</a:t>
            </a:r>
          </a:p>
          <a:p>
            <a:pPr marL="196850" indent="-196850">
              <a:buFontTx/>
              <a:buChar char="•"/>
            </a:pPr>
            <a:r>
              <a:rPr lang="en-US" altLang="zh-TW" sz="1800">
                <a:latin typeface="Times New Roman" charset="0"/>
              </a:rPr>
              <a:t>Only include items cited in the body of the paper..</a:t>
            </a:r>
          </a:p>
        </p:txBody>
      </p:sp>
      <p:pic>
        <p:nvPicPr>
          <p:cNvPr id="59597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124325"/>
            <a:ext cx="3932238" cy="1971675"/>
          </a:xfrm>
          <a:prstGeom prst="rect">
            <a:avLst/>
          </a:prstGeom>
          <a:noFill/>
          <a:ln w="57150">
            <a:solidFill>
              <a:srgbClr val="9900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595977" name="AutoShape 9"/>
          <p:cNvCxnSpPr>
            <a:cxnSpLocks noChangeShapeType="1"/>
            <a:stCxn id="595976" idx="3"/>
            <a:endCxn id="595972" idx="1"/>
          </p:cNvCxnSpPr>
          <p:nvPr/>
        </p:nvCxnSpPr>
        <p:spPr bwMode="auto">
          <a:xfrm flipV="1">
            <a:off x="5561013" y="4953000"/>
            <a:ext cx="1306512" cy="157163"/>
          </a:xfrm>
          <a:prstGeom prst="straightConnector1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648029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CHI Extended Abstract</a:t>
            </a:r>
            <a:endParaRPr kumimoji="1"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22</a:t>
            </a:fld>
            <a:endParaRPr lang="en-US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11738"/>
            <a:ext cx="8978900" cy="4889500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190500" y="6113938"/>
            <a:ext cx="810320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/>
              <a:t>e.g., </a:t>
            </a:r>
            <a:r>
              <a:rPr kumimoji="1" lang="en-US" altLang="zh-TW" sz="1600" dirty="0" err="1" smtClean="0"/>
              <a:t>Leshed</a:t>
            </a:r>
            <a:r>
              <a:rPr kumimoji="1" lang="en-US" altLang="zh-TW" sz="1600" dirty="0" smtClean="0"/>
              <a:t>, G., et al (2010). Visualizing </a:t>
            </a:r>
            <a:r>
              <a:rPr kumimoji="1" lang="en-US" altLang="zh-TW" sz="1600" dirty="0"/>
              <a:t>language use in team conversations: designing through </a:t>
            </a:r>
            <a:r>
              <a:rPr kumimoji="1" lang="en-US" altLang="zh-TW" sz="1600" dirty="0" smtClean="0"/>
              <a:t/>
            </a:r>
            <a:br>
              <a:rPr kumimoji="1" lang="en-US" altLang="zh-TW" sz="1600" dirty="0" smtClean="0"/>
            </a:br>
            <a:r>
              <a:rPr kumimoji="1" lang="en-US" altLang="zh-TW" sz="1600" dirty="0" smtClean="0"/>
              <a:t>theory</a:t>
            </a:r>
            <a:r>
              <a:rPr kumimoji="1" lang="en-US" altLang="zh-TW" sz="1600" dirty="0"/>
              <a:t>, experiments, and iterations </a:t>
            </a:r>
            <a:r>
              <a:rPr kumimoji="1" lang="en-US" altLang="zh-TW" sz="1600" dirty="0">
                <a:hlinkClick r:id="rId3"/>
              </a:rPr>
              <a:t>http://dl.acm.org/citation.cfm?doid=</a:t>
            </a:r>
            <a:r>
              <a:rPr kumimoji="1" lang="en-US" altLang="zh-TW" sz="1600" dirty="0" smtClean="0">
                <a:hlinkClick r:id="rId3"/>
              </a:rPr>
              <a:t>1753846.1754195</a:t>
            </a:r>
            <a:r>
              <a:rPr kumimoji="1" lang="en-US" altLang="zh-TW" sz="1600" dirty="0" smtClean="0"/>
              <a:t> 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30409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TW" dirty="0" smtClean="0">
                <a:latin typeface="Arial" charset="0"/>
              </a:rPr>
              <a:t>Why Machine Learning? Overwhelmed </a:t>
            </a:r>
            <a:r>
              <a:rPr lang="en-US" altLang="zh-TW" dirty="0">
                <a:latin typeface="Arial" charset="0"/>
              </a:rPr>
              <a:t>with data…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524000" y="1335088"/>
          <a:ext cx="5867400" cy="483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8" name="Bitmap Image" r:id="rId4" imgW="3817951" imgH="3147333" progId="Paint.Picture">
                  <p:embed/>
                </p:oleObj>
              </mc:Choice>
              <mc:Fallback>
                <p:oleObj name="Bitmap Image" r:id="rId4" imgW="3817951" imgH="314733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35088"/>
                        <a:ext cx="5867400" cy="483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3505200" y="5953125"/>
            <a:ext cx="2044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TW" sz="1000" b="1">
                <a:hlinkClick r:id="rId6"/>
              </a:rPr>
              <a:t>www.powerfulinformation.org</a:t>
            </a:r>
            <a:r>
              <a:rPr lang="en-US" altLang="zh-TW"/>
              <a:t> </a:t>
            </a:r>
          </a:p>
        </p:txBody>
      </p:sp>
      <p:sp>
        <p:nvSpPr>
          <p:cNvPr id="189446" name="WordArt 6"/>
          <p:cNvSpPr>
            <a:spLocks noChangeArrowheads="1" noChangeShapeType="1" noTextEdit="1"/>
          </p:cNvSpPr>
          <p:nvPr/>
        </p:nvSpPr>
        <p:spPr bwMode="auto">
          <a:xfrm>
            <a:off x="1219200" y="2133600"/>
            <a:ext cx="2536825" cy="5715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TW" sz="36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blurRad="63500" dist="38099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  <a:ea typeface="Impact"/>
                <a:cs typeface="Impact"/>
              </a:rPr>
              <a:t>Credit history</a:t>
            </a:r>
            <a:endParaRPr lang="zh-TW" altLang="en-US" sz="3600" kern="10">
              <a:gradFill rotWithShape="1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blurRad="63500" dist="38099" dir="2700000" algn="ctr" rotWithShape="0">
                  <a:srgbClr val="C0C0C0">
                    <a:alpha val="79999"/>
                  </a:srgbClr>
                </a:outerShdw>
              </a:effectLst>
              <a:latin typeface="Impact"/>
              <a:ea typeface="Impact"/>
              <a:cs typeface="Impact"/>
            </a:endParaRPr>
          </a:p>
        </p:txBody>
      </p:sp>
      <p:sp>
        <p:nvSpPr>
          <p:cNvPr id="189447" name="WordArt 7"/>
          <p:cNvSpPr>
            <a:spLocks noChangeArrowheads="1" noChangeShapeType="1" noTextEdit="1"/>
          </p:cNvSpPr>
          <p:nvPr/>
        </p:nvSpPr>
        <p:spPr bwMode="auto">
          <a:xfrm>
            <a:off x="2362200" y="4648200"/>
            <a:ext cx="3314700" cy="5715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TW" sz="36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blurRad="63500" dist="38099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  <a:ea typeface="Impact"/>
                <a:cs typeface="Impact"/>
              </a:rPr>
              <a:t>Sales information</a:t>
            </a:r>
            <a:endParaRPr lang="zh-TW" altLang="en-US" sz="3600" kern="10">
              <a:gradFill rotWithShape="1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blurRad="63500" dist="38099" dir="2700000" algn="ctr" rotWithShape="0">
                  <a:srgbClr val="C0C0C0">
                    <a:alpha val="79999"/>
                  </a:srgbClr>
                </a:outerShdw>
              </a:effectLst>
              <a:latin typeface="Impact"/>
              <a:ea typeface="Impact"/>
              <a:cs typeface="Impact"/>
            </a:endParaRPr>
          </a:p>
        </p:txBody>
      </p:sp>
      <p:sp>
        <p:nvSpPr>
          <p:cNvPr id="189448" name="WordArt 8"/>
          <p:cNvSpPr>
            <a:spLocks noChangeArrowheads="1" noChangeShapeType="1" noTextEdit="1"/>
          </p:cNvSpPr>
          <p:nvPr/>
        </p:nvSpPr>
        <p:spPr bwMode="auto">
          <a:xfrm>
            <a:off x="4800600" y="1219200"/>
            <a:ext cx="3475038" cy="7239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TW" sz="36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blurRad="63500" dist="38099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  <a:ea typeface="Impact"/>
                <a:cs typeface="Impact"/>
              </a:rPr>
              <a:t>Demographic statistics</a:t>
            </a:r>
            <a:endParaRPr lang="zh-TW" altLang="en-US" sz="3600" kern="10">
              <a:gradFill rotWithShape="1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blurRad="63500" dist="38099" dir="2700000" algn="ctr" rotWithShape="0">
                  <a:srgbClr val="C0C0C0">
                    <a:alpha val="79999"/>
                  </a:srgbClr>
                </a:outerShdw>
              </a:effectLst>
              <a:latin typeface="Impact"/>
              <a:ea typeface="Impact"/>
              <a:cs typeface="Impact"/>
            </a:endParaRPr>
          </a:p>
        </p:txBody>
      </p:sp>
      <p:sp>
        <p:nvSpPr>
          <p:cNvPr id="189449" name="WordArt 9"/>
          <p:cNvSpPr>
            <a:spLocks noChangeArrowheads="1" noChangeShapeType="1" noTextEdit="1"/>
          </p:cNvSpPr>
          <p:nvPr/>
        </p:nvSpPr>
        <p:spPr bwMode="auto">
          <a:xfrm>
            <a:off x="5105400" y="2971800"/>
            <a:ext cx="2498725" cy="5715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TW" sz="36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blurRad="63500" dist="38099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  <a:ea typeface="Impact"/>
                <a:cs typeface="Impact"/>
              </a:rPr>
              <a:t>Clinical trials</a:t>
            </a:r>
            <a:endParaRPr lang="zh-TW" altLang="en-US" sz="3600" kern="10">
              <a:gradFill rotWithShape="1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blurRad="63500" dist="38099" dir="2700000" algn="ctr" rotWithShape="0">
                  <a:srgbClr val="C0C0C0">
                    <a:alpha val="79999"/>
                  </a:srgbClr>
                </a:outerShdw>
              </a:effectLst>
              <a:latin typeface="Impact"/>
              <a:ea typeface="Impact"/>
              <a:cs typeface="Impact"/>
            </a:endParaRPr>
          </a:p>
        </p:txBody>
      </p:sp>
      <p:sp>
        <p:nvSpPr>
          <p:cNvPr id="189450" name="WordArt 10"/>
          <p:cNvSpPr>
            <a:spLocks noChangeArrowheads="1" noChangeShapeType="1" noTextEdit="1"/>
          </p:cNvSpPr>
          <p:nvPr/>
        </p:nvSpPr>
        <p:spPr bwMode="auto">
          <a:xfrm>
            <a:off x="381000" y="3581400"/>
            <a:ext cx="2933700" cy="5715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TW" sz="36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blurRad="63500" dist="38099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  <a:ea typeface="Impact"/>
                <a:cs typeface="Impact"/>
              </a:rPr>
              <a:t>Geological data</a:t>
            </a:r>
            <a:endParaRPr lang="zh-TW" altLang="en-US" sz="3600" kern="10">
              <a:gradFill rotWithShape="1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blurRad="63500" dist="38099" dir="2700000" algn="ctr" rotWithShape="0">
                  <a:srgbClr val="C0C0C0">
                    <a:alpha val="79999"/>
                  </a:srgbClr>
                </a:outerShdw>
              </a:effectLst>
              <a:latin typeface="Impact"/>
              <a:ea typeface="Impact"/>
              <a:cs typeface="Impact"/>
            </a:endParaRPr>
          </a:p>
        </p:txBody>
      </p:sp>
      <p:sp>
        <p:nvSpPr>
          <p:cNvPr id="189451" name="WordArt 11"/>
          <p:cNvSpPr>
            <a:spLocks noChangeArrowheads="1" noChangeShapeType="1" noTextEdit="1"/>
          </p:cNvSpPr>
          <p:nvPr/>
        </p:nvSpPr>
        <p:spPr bwMode="auto">
          <a:xfrm>
            <a:off x="6172200" y="5410200"/>
            <a:ext cx="2530475" cy="5715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TW" sz="36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blurRad="63500" dist="38099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  <a:ea typeface="Impact"/>
                <a:cs typeface="Impact"/>
              </a:rPr>
              <a:t>Movie ratings</a:t>
            </a:r>
            <a:endParaRPr lang="zh-TW" altLang="en-US" sz="3600" kern="10">
              <a:gradFill rotWithShape="1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blurRad="63500" dist="38099" dir="2700000" algn="ctr" rotWithShape="0">
                  <a:srgbClr val="C0C0C0">
                    <a:alpha val="79999"/>
                  </a:srgbClr>
                </a:outerShdw>
              </a:effectLst>
              <a:latin typeface="Impact"/>
              <a:ea typeface="Impact"/>
              <a:cs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2390517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98525" y="2133600"/>
            <a:ext cx="7239000" cy="762000"/>
          </a:xfrm>
        </p:spPr>
        <p:txBody>
          <a:bodyPr/>
          <a:lstStyle/>
          <a:p>
            <a:pPr eaLnBrk="1" hangingPunct="1"/>
            <a:r>
              <a:rPr lang="en-US" altLang="zh-TW">
                <a:latin typeface="Arial" charset="0"/>
              </a:rPr>
              <a:t>What do we do with all of it?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422401" y="3352800"/>
            <a:ext cx="6183314" cy="1600200"/>
            <a:chOff x="838" y="2352"/>
            <a:chExt cx="3895" cy="1008"/>
          </a:xfrm>
          <a:solidFill>
            <a:schemeClr val="bg1">
              <a:lumMod val="95000"/>
            </a:schemeClr>
          </a:solidFill>
        </p:grpSpPr>
        <p:sp>
          <p:nvSpPr>
            <p:cNvPr id="12295" name="Rectangle 5"/>
            <p:cNvSpPr>
              <a:spLocks noChangeArrowheads="1"/>
            </p:cNvSpPr>
            <p:nvPr/>
          </p:nvSpPr>
          <p:spPr bwMode="auto">
            <a:xfrm>
              <a:off x="912" y="2352"/>
              <a:ext cx="3744" cy="100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2296" name="Text Box 4"/>
            <p:cNvSpPr txBox="1">
              <a:spLocks noChangeArrowheads="1"/>
            </p:cNvSpPr>
            <p:nvPr/>
          </p:nvSpPr>
          <p:spPr bwMode="auto">
            <a:xfrm>
              <a:off x="838" y="2352"/>
              <a:ext cx="3895" cy="9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pPr algn="ctr"/>
              <a:r>
                <a:rPr lang="en-US" altLang="zh-TW" sz="3200" dirty="0"/>
                <a:t>Machine learning is </a:t>
              </a:r>
              <a:r>
                <a:rPr lang="en-US" altLang="zh-TW" sz="3200" dirty="0" smtClean="0"/>
                <a:t>about</a:t>
              </a:r>
            </a:p>
            <a:p>
              <a:pPr algn="ctr"/>
              <a:r>
                <a:rPr lang="en-US" altLang="zh-TW" sz="3200" dirty="0"/>
                <a:t>s</a:t>
              </a:r>
              <a:r>
                <a:rPr lang="en-US" altLang="zh-TW" sz="3200" dirty="0" smtClean="0"/>
                <a:t>ystematically finding meaningful</a:t>
              </a:r>
            </a:p>
            <a:p>
              <a:pPr algn="ctr"/>
              <a:r>
                <a:rPr lang="en-US" altLang="zh-TW" sz="3200" dirty="0" smtClean="0"/>
                <a:t>patterns </a:t>
              </a:r>
              <a:r>
                <a:rPr lang="en-US" altLang="zh-TW" sz="3200" dirty="0"/>
                <a:t>in data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77850" y="5365750"/>
            <a:ext cx="7880350" cy="1187450"/>
            <a:chOff x="364" y="3380"/>
            <a:chExt cx="4964" cy="748"/>
          </a:xfrm>
        </p:grpSpPr>
        <p:sp>
          <p:nvSpPr>
            <p:cNvPr id="12293" name="Rectangle 8"/>
            <p:cNvSpPr>
              <a:spLocks noChangeArrowheads="1"/>
            </p:cNvSpPr>
            <p:nvPr/>
          </p:nvSpPr>
          <p:spPr bwMode="auto">
            <a:xfrm>
              <a:off x="384" y="3408"/>
              <a:ext cx="4896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2294" name="Text Box 7"/>
            <p:cNvSpPr txBox="1">
              <a:spLocks noChangeArrowheads="1"/>
            </p:cNvSpPr>
            <p:nvPr/>
          </p:nvSpPr>
          <p:spPr bwMode="auto">
            <a:xfrm>
              <a:off x="364" y="3380"/>
              <a:ext cx="4964" cy="74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 sz="2400" b="1" dirty="0"/>
                <a:t>Example for credit history data:</a:t>
              </a:r>
            </a:p>
            <a:p>
              <a:r>
                <a:rPr lang="en-US" altLang="zh-TW" sz="2400" dirty="0"/>
                <a:t>	Rule predicts who is more likely to have problems </a:t>
              </a:r>
            </a:p>
            <a:p>
              <a:r>
                <a:rPr lang="en-US" altLang="zh-TW" sz="2400" dirty="0"/>
                <a:t>	paying off credit.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85702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305800" cy="762000"/>
          </a:xfrm>
        </p:spPr>
        <p:txBody>
          <a:bodyPr>
            <a:normAutofit fontScale="90000"/>
          </a:bodyPr>
          <a:lstStyle/>
          <a:p>
            <a:r>
              <a:rPr lang="en-US" altLang="zh-TW" sz="4000">
                <a:latin typeface="Arial" charset="0"/>
              </a:rPr>
              <a:t>Machine Learning in Practice</a:t>
            </a:r>
            <a:br>
              <a:rPr lang="en-US" altLang="zh-TW" sz="4000">
                <a:latin typeface="Arial" charset="0"/>
              </a:rPr>
            </a:br>
            <a:r>
              <a:rPr lang="en-US" altLang="zh-TW" sz="4000">
                <a:latin typeface="Arial" charset="0"/>
              </a:rPr>
              <a:t> – Mind Reading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752600"/>
            <a:ext cx="8382000" cy="2514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2400" dirty="0">
                <a:latin typeface="Arial" charset="0"/>
              </a:rPr>
              <a:t>Predicting Human Brain Activity Associated with the Meanings of Nouns (Mitchell et al., 2008)</a:t>
            </a:r>
          </a:p>
          <a:p>
            <a:pPr lvl="1">
              <a:lnSpc>
                <a:spcPct val="80000"/>
              </a:lnSpc>
            </a:pPr>
            <a:r>
              <a:rPr lang="en-US" altLang="zh-TW" sz="2000" dirty="0">
                <a:latin typeface="Arial" charset="0"/>
              </a:rPr>
              <a:t>In an object-contemplation task, participants were presented with 60 objects and were instructed to think of the same properties of the stimulus object consistently while being scanned by fMRI machines.</a:t>
            </a:r>
          </a:p>
          <a:p>
            <a:pPr lvl="1">
              <a:lnSpc>
                <a:spcPct val="80000"/>
              </a:lnSpc>
            </a:pPr>
            <a:r>
              <a:rPr lang="en-US" altLang="zh-TW" sz="2000" dirty="0">
                <a:latin typeface="Arial" charset="0"/>
              </a:rPr>
              <a:t>Given the evoked neural activity signatures evoked, we can correctly guess what the participants were thinking 70% of the time!</a:t>
            </a:r>
          </a:p>
        </p:txBody>
      </p:sp>
      <p:pic>
        <p:nvPicPr>
          <p:cNvPr id="2055" name="Picture 4" descr="untitled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6" b="25941"/>
          <a:stretch>
            <a:fillRect/>
          </a:stretch>
        </p:blipFill>
        <p:spPr>
          <a:xfrm>
            <a:off x="4800600" y="4114800"/>
            <a:ext cx="4114800" cy="2581275"/>
          </a:xfrm>
          <a:noFill/>
        </p:spPr>
      </p:pic>
      <p:grpSp>
        <p:nvGrpSpPr>
          <p:cNvPr id="2056" name="Group 26"/>
          <p:cNvGrpSpPr>
            <a:grpSpLocks/>
          </p:cNvGrpSpPr>
          <p:nvPr/>
        </p:nvGrpSpPr>
        <p:grpSpPr bwMode="auto">
          <a:xfrm>
            <a:off x="2003425" y="14039850"/>
            <a:ext cx="6848475" cy="3711575"/>
            <a:chOff x="1015" y="11627"/>
            <a:chExt cx="5091" cy="2759"/>
          </a:xfrm>
        </p:grpSpPr>
        <p:grpSp>
          <p:nvGrpSpPr>
            <p:cNvPr id="2058" name="Group 27"/>
            <p:cNvGrpSpPr>
              <a:grpSpLocks/>
            </p:cNvGrpSpPr>
            <p:nvPr/>
          </p:nvGrpSpPr>
          <p:grpSpPr bwMode="auto">
            <a:xfrm>
              <a:off x="1015" y="13216"/>
              <a:ext cx="1277" cy="1170"/>
              <a:chOff x="1054" y="2020"/>
              <a:chExt cx="1108" cy="1073"/>
            </a:xfrm>
          </p:grpSpPr>
          <p:graphicFrame>
            <p:nvGraphicFramePr>
              <p:cNvPr id="2052" name="Object 4"/>
              <p:cNvGraphicFramePr>
                <a:graphicFrameLocks noChangeAspect="1"/>
              </p:cNvGraphicFramePr>
              <p:nvPr/>
            </p:nvGraphicFramePr>
            <p:xfrm>
              <a:off x="1059" y="2020"/>
              <a:ext cx="949" cy="10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445" name="Picture" r:id="rId4" imgW="1819800" imgH="1828800" progId="Word.Picture.8">
                      <p:embed/>
                    </p:oleObj>
                  </mc:Choice>
                  <mc:Fallback>
                    <p:oleObj name="Picture" r:id="rId4" imgW="1819800" imgH="1828800" progId="Word.Picture.8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9" y="2020"/>
                            <a:ext cx="949" cy="10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73" name="Text Box 29"/>
              <p:cNvSpPr txBox="1">
                <a:spLocks noChangeArrowheads="1"/>
              </p:cNvSpPr>
              <p:nvPr/>
            </p:nvSpPr>
            <p:spPr bwMode="auto">
              <a:xfrm>
                <a:off x="1054" y="2781"/>
                <a:ext cx="1108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 sz="2400">
                    <a:solidFill>
                      <a:schemeClr val="bg1"/>
                    </a:solidFill>
                    <a:latin typeface="Times New Roman" charset="0"/>
                  </a:rPr>
                  <a:t>refrigerator</a:t>
                </a:r>
              </a:p>
            </p:txBody>
          </p:sp>
        </p:grpSp>
        <p:grpSp>
          <p:nvGrpSpPr>
            <p:cNvPr id="2059" name="Group 30"/>
            <p:cNvGrpSpPr>
              <a:grpSpLocks/>
            </p:cNvGrpSpPr>
            <p:nvPr/>
          </p:nvGrpSpPr>
          <p:grpSpPr bwMode="auto">
            <a:xfrm>
              <a:off x="4960" y="11627"/>
              <a:ext cx="1146" cy="1448"/>
              <a:chOff x="3555" y="1968"/>
              <a:chExt cx="1146" cy="1448"/>
            </a:xfrm>
          </p:grpSpPr>
          <p:graphicFrame>
            <p:nvGraphicFramePr>
              <p:cNvPr id="2051" name="Object 3"/>
              <p:cNvGraphicFramePr>
                <a:graphicFrameLocks noChangeAspect="1"/>
              </p:cNvGraphicFramePr>
              <p:nvPr/>
            </p:nvGraphicFramePr>
            <p:xfrm>
              <a:off x="3555" y="1968"/>
              <a:ext cx="1146" cy="1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446" name="Picture" r:id="rId6" imgW="1819800" imgH="1828800" progId="Word.Picture.8">
                      <p:embed/>
                    </p:oleObj>
                  </mc:Choice>
                  <mc:Fallback>
                    <p:oleObj name="Picture" r:id="rId6" imgW="1819800" imgH="1828800" progId="Word.Picture.8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5" y="1968"/>
                            <a:ext cx="1146" cy="1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72" name="Text Box 32"/>
              <p:cNvSpPr txBox="1">
                <a:spLocks noChangeArrowheads="1"/>
              </p:cNvSpPr>
              <p:nvPr/>
            </p:nvSpPr>
            <p:spPr bwMode="auto">
              <a:xfrm>
                <a:off x="3813" y="2805"/>
                <a:ext cx="665" cy="6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 sz="2400">
                    <a:solidFill>
                      <a:schemeClr val="bg1"/>
                    </a:solidFill>
                    <a:latin typeface="Times New Roman" charset="0"/>
                  </a:rPr>
                  <a:t>celery</a:t>
                </a:r>
              </a:p>
            </p:txBody>
          </p:sp>
        </p:grpSp>
        <p:grpSp>
          <p:nvGrpSpPr>
            <p:cNvPr id="2060" name="Group 33"/>
            <p:cNvGrpSpPr>
              <a:grpSpLocks/>
            </p:cNvGrpSpPr>
            <p:nvPr/>
          </p:nvGrpSpPr>
          <p:grpSpPr bwMode="auto">
            <a:xfrm>
              <a:off x="3025" y="12374"/>
              <a:ext cx="1146" cy="1152"/>
              <a:chOff x="3555" y="2640"/>
              <a:chExt cx="1146" cy="1152"/>
            </a:xfrm>
          </p:grpSpPr>
          <p:graphicFrame>
            <p:nvGraphicFramePr>
              <p:cNvPr id="2050" name="Object 2"/>
              <p:cNvGraphicFramePr>
                <a:graphicFrameLocks noChangeAspect="1"/>
              </p:cNvGraphicFramePr>
              <p:nvPr/>
            </p:nvGraphicFramePr>
            <p:xfrm>
              <a:off x="3555" y="2640"/>
              <a:ext cx="1146" cy="1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447" name="圖片" r:id="rId8" imgW="1819800" imgH="1828800" progId="Word.Picture.8">
                      <p:embed/>
                    </p:oleObj>
                  </mc:Choice>
                  <mc:Fallback>
                    <p:oleObj name="圖片" r:id="rId8" imgW="1819800" imgH="1828800" progId="Word.Picture.8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5" y="2640"/>
                            <a:ext cx="1146" cy="1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71" name="Text Box 35"/>
              <p:cNvSpPr txBox="1">
                <a:spLocks noChangeArrowheads="1"/>
              </p:cNvSpPr>
              <p:nvPr/>
            </p:nvSpPr>
            <p:spPr bwMode="auto">
              <a:xfrm>
                <a:off x="3944" y="3441"/>
                <a:ext cx="453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 sz="2400">
                    <a:solidFill>
                      <a:schemeClr val="bg1"/>
                    </a:solidFill>
                    <a:latin typeface="Times New Roman" charset="0"/>
                  </a:rPr>
                  <a:t>ant</a:t>
                </a:r>
              </a:p>
            </p:txBody>
          </p:sp>
        </p:grpSp>
        <p:grpSp>
          <p:nvGrpSpPr>
            <p:cNvPr id="2061" name="Group 36"/>
            <p:cNvGrpSpPr>
              <a:grpSpLocks/>
            </p:cNvGrpSpPr>
            <p:nvPr/>
          </p:nvGrpSpPr>
          <p:grpSpPr bwMode="auto">
            <a:xfrm>
              <a:off x="1961" y="12836"/>
              <a:ext cx="1152" cy="1159"/>
              <a:chOff x="1838" y="1312"/>
              <a:chExt cx="1152" cy="1159"/>
            </a:xfrm>
          </p:grpSpPr>
          <p:sp>
            <p:nvSpPr>
              <p:cNvPr id="2069" name="Rectangle 37"/>
              <p:cNvSpPr>
                <a:spLocks noChangeArrowheads="1"/>
              </p:cNvSpPr>
              <p:nvPr/>
            </p:nvSpPr>
            <p:spPr bwMode="auto">
              <a:xfrm>
                <a:off x="1838" y="1312"/>
                <a:ext cx="1152" cy="115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070" name="Text Box 38"/>
              <p:cNvSpPr txBox="1">
                <a:spLocks noChangeArrowheads="1"/>
              </p:cNvSpPr>
              <p:nvPr/>
            </p:nvSpPr>
            <p:spPr bwMode="auto">
              <a:xfrm>
                <a:off x="2304" y="1742"/>
                <a:ext cx="301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 sz="2400">
                    <a:solidFill>
                      <a:schemeClr val="bg1"/>
                    </a:solidFill>
                    <a:latin typeface="Times New Roman" charset="0"/>
                  </a:rPr>
                  <a:t>X</a:t>
                </a:r>
              </a:p>
            </p:txBody>
          </p:sp>
        </p:grpSp>
        <p:grpSp>
          <p:nvGrpSpPr>
            <p:cNvPr id="2062" name="Group 39"/>
            <p:cNvGrpSpPr>
              <a:grpSpLocks/>
            </p:cNvGrpSpPr>
            <p:nvPr/>
          </p:nvGrpSpPr>
          <p:grpSpPr bwMode="auto">
            <a:xfrm>
              <a:off x="4032" y="12000"/>
              <a:ext cx="1152" cy="1159"/>
              <a:chOff x="1838" y="1312"/>
              <a:chExt cx="1152" cy="1159"/>
            </a:xfrm>
          </p:grpSpPr>
          <p:sp>
            <p:nvSpPr>
              <p:cNvPr id="2067" name="Rectangle 40"/>
              <p:cNvSpPr>
                <a:spLocks noChangeArrowheads="1"/>
              </p:cNvSpPr>
              <p:nvPr/>
            </p:nvSpPr>
            <p:spPr bwMode="auto">
              <a:xfrm>
                <a:off x="1838" y="1312"/>
                <a:ext cx="1152" cy="115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068" name="Text Box 41"/>
              <p:cNvSpPr txBox="1">
                <a:spLocks noChangeArrowheads="1"/>
              </p:cNvSpPr>
              <p:nvPr/>
            </p:nvSpPr>
            <p:spPr bwMode="auto">
              <a:xfrm>
                <a:off x="2304" y="1742"/>
                <a:ext cx="301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 sz="2400">
                    <a:solidFill>
                      <a:schemeClr val="bg1"/>
                    </a:solidFill>
                    <a:latin typeface="Times New Roman" charset="0"/>
                  </a:rPr>
                  <a:t>X</a:t>
                </a:r>
              </a:p>
            </p:txBody>
          </p:sp>
        </p:grpSp>
        <p:sp>
          <p:nvSpPr>
            <p:cNvPr id="2063" name="Text Box 42"/>
            <p:cNvSpPr txBox="1">
              <a:spLocks noChangeArrowheads="1"/>
            </p:cNvSpPr>
            <p:nvPr/>
          </p:nvSpPr>
          <p:spPr bwMode="auto">
            <a:xfrm>
              <a:off x="1336" y="12869"/>
              <a:ext cx="349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2400">
                  <a:latin typeface="Times New Roman" charset="0"/>
                </a:rPr>
                <a:t>3s</a:t>
              </a:r>
            </a:p>
          </p:txBody>
        </p:sp>
        <p:sp>
          <p:nvSpPr>
            <p:cNvPr id="2064" name="Text Box 43"/>
            <p:cNvSpPr txBox="1">
              <a:spLocks noChangeArrowheads="1"/>
            </p:cNvSpPr>
            <p:nvPr/>
          </p:nvSpPr>
          <p:spPr bwMode="auto">
            <a:xfrm>
              <a:off x="2315" y="12492"/>
              <a:ext cx="330" cy="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2400">
                  <a:latin typeface="Times New Roman" charset="0"/>
                </a:rPr>
                <a:t>7s</a:t>
              </a:r>
            </a:p>
          </p:txBody>
        </p:sp>
        <p:sp>
          <p:nvSpPr>
            <p:cNvPr id="2065" name="Line 44"/>
            <p:cNvSpPr>
              <a:spLocks noChangeShapeType="1"/>
            </p:cNvSpPr>
            <p:nvPr/>
          </p:nvSpPr>
          <p:spPr bwMode="auto">
            <a:xfrm flipV="1">
              <a:off x="2588" y="13077"/>
              <a:ext cx="3285" cy="1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66" name="Text Box 45"/>
            <p:cNvSpPr txBox="1">
              <a:spLocks noChangeArrowheads="1"/>
            </p:cNvSpPr>
            <p:nvPr/>
          </p:nvSpPr>
          <p:spPr bwMode="auto">
            <a:xfrm rot="-1323779">
              <a:off x="4206" y="13696"/>
              <a:ext cx="653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2400">
                  <a:latin typeface="Times New Roman" charset="0"/>
                </a:rPr>
                <a:t>time</a:t>
              </a:r>
            </a:p>
          </p:txBody>
        </p:sp>
      </p:grpSp>
      <p:pic>
        <p:nvPicPr>
          <p:cNvPr id="2057" name="Picture 46" descr="60wordsstim small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648200"/>
            <a:ext cx="327660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26255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3058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sz="4000" dirty="0">
                <a:latin typeface="Arial" charset="0"/>
              </a:rPr>
              <a:t>Machine learning </a:t>
            </a:r>
            <a:r>
              <a:rPr lang="en-US" altLang="zh-TW" sz="4000" dirty="0" smtClean="0">
                <a:latin typeface="Arial" charset="0"/>
              </a:rPr>
              <a:t>example…</a:t>
            </a:r>
            <a:r>
              <a:rPr lang="en-US" altLang="zh-TW" sz="4000" dirty="0">
                <a:latin typeface="Arial" charset="0"/>
              </a:rPr>
              <a:t>.</a:t>
            </a:r>
            <a:br>
              <a:rPr lang="en-US" altLang="zh-TW" sz="4000" dirty="0">
                <a:latin typeface="Arial" charset="0"/>
              </a:rPr>
            </a:br>
            <a:r>
              <a:rPr lang="en-US" altLang="zh-TW" sz="4000" dirty="0">
                <a:latin typeface="Arial" charset="0"/>
              </a:rPr>
              <a:t>Processing conversational data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676400"/>
            <a:ext cx="8154987" cy="4649788"/>
          </a:xfrm>
        </p:spPr>
        <p:txBody>
          <a:bodyPr/>
          <a:lstStyle/>
          <a:p>
            <a:pPr eaLnBrk="1" hangingPunct="1"/>
            <a:endParaRPr lang="en-US" altLang="zh-TW">
              <a:latin typeface="Arial" charset="0"/>
            </a:endParaRPr>
          </a:p>
          <a:p>
            <a:pPr eaLnBrk="1" hangingPunct="1"/>
            <a:endParaRPr lang="en-US" altLang="zh-TW">
              <a:latin typeface="Arial" charset="0"/>
            </a:endParaRPr>
          </a:p>
          <a:p>
            <a:pPr eaLnBrk="1" hangingPunct="1"/>
            <a:endParaRPr lang="en-US" altLang="zh-TW">
              <a:latin typeface="Arial" charset="0"/>
            </a:endParaRPr>
          </a:p>
          <a:p>
            <a:pPr eaLnBrk="1" hangingPunct="1"/>
            <a:endParaRPr lang="zh-TW" altLang="en-US">
              <a:latin typeface="Arial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52400" y="2895600"/>
            <a:ext cx="8991600" cy="2133600"/>
            <a:chOff x="1536" y="1680"/>
            <a:chExt cx="5664" cy="1344"/>
          </a:xfrm>
        </p:grpSpPr>
        <p:sp>
          <p:nvSpPr>
            <p:cNvPr id="17419" name="Rectangle 19"/>
            <p:cNvSpPr>
              <a:spLocks noChangeArrowheads="1"/>
            </p:cNvSpPr>
            <p:nvPr/>
          </p:nvSpPr>
          <p:spPr bwMode="auto">
            <a:xfrm>
              <a:off x="1536" y="1680"/>
              <a:ext cx="5664" cy="134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20" name="Text Box 20"/>
            <p:cNvSpPr txBox="1">
              <a:spLocks noChangeArrowheads="1"/>
            </p:cNvSpPr>
            <p:nvPr/>
          </p:nvSpPr>
          <p:spPr bwMode="auto">
            <a:xfrm>
              <a:off x="4143" y="2784"/>
              <a:ext cx="46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TW">
                  <a:solidFill>
                    <a:srgbClr val="000000"/>
                  </a:solidFill>
                </a:rPr>
                <a:t>Time</a:t>
              </a:r>
            </a:p>
          </p:txBody>
        </p:sp>
        <p:sp>
          <p:nvSpPr>
            <p:cNvPr id="17421" name="Line 21"/>
            <p:cNvSpPr>
              <a:spLocks noChangeShapeType="1"/>
            </p:cNvSpPr>
            <p:nvPr/>
          </p:nvSpPr>
          <p:spPr bwMode="auto">
            <a:xfrm>
              <a:off x="1664" y="2784"/>
              <a:ext cx="54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422" name="Oval 22"/>
            <p:cNvSpPr>
              <a:spLocks noChangeArrowheads="1"/>
            </p:cNvSpPr>
            <p:nvPr/>
          </p:nvSpPr>
          <p:spPr bwMode="auto">
            <a:xfrm>
              <a:off x="1872" y="2304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23" name="Oval 23"/>
            <p:cNvSpPr>
              <a:spLocks noChangeArrowheads="1"/>
            </p:cNvSpPr>
            <p:nvPr/>
          </p:nvSpPr>
          <p:spPr bwMode="auto">
            <a:xfrm>
              <a:off x="2208" y="2496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24" name="Oval 24"/>
            <p:cNvSpPr>
              <a:spLocks noChangeArrowheads="1"/>
            </p:cNvSpPr>
            <p:nvPr/>
          </p:nvSpPr>
          <p:spPr bwMode="auto">
            <a:xfrm>
              <a:off x="2592" y="2496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25" name="Oval 25"/>
            <p:cNvSpPr>
              <a:spLocks noChangeArrowheads="1"/>
            </p:cNvSpPr>
            <p:nvPr/>
          </p:nvSpPr>
          <p:spPr bwMode="auto">
            <a:xfrm>
              <a:off x="2976" y="2304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26" name="Oval 26"/>
            <p:cNvSpPr>
              <a:spLocks noChangeArrowheads="1"/>
            </p:cNvSpPr>
            <p:nvPr/>
          </p:nvSpPr>
          <p:spPr bwMode="auto">
            <a:xfrm>
              <a:off x="3264" y="2112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27" name="Oval 27"/>
            <p:cNvSpPr>
              <a:spLocks noChangeArrowheads="1"/>
            </p:cNvSpPr>
            <p:nvPr/>
          </p:nvSpPr>
          <p:spPr bwMode="auto">
            <a:xfrm>
              <a:off x="3504" y="2304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28" name="Oval 28"/>
            <p:cNvSpPr>
              <a:spLocks noChangeArrowheads="1"/>
            </p:cNvSpPr>
            <p:nvPr/>
          </p:nvSpPr>
          <p:spPr bwMode="auto">
            <a:xfrm>
              <a:off x="3744" y="2064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29" name="Oval 29"/>
            <p:cNvSpPr>
              <a:spLocks noChangeArrowheads="1"/>
            </p:cNvSpPr>
            <p:nvPr/>
          </p:nvSpPr>
          <p:spPr bwMode="auto">
            <a:xfrm>
              <a:off x="4032" y="2208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30" name="Oval 30"/>
            <p:cNvSpPr>
              <a:spLocks noChangeArrowheads="1"/>
            </p:cNvSpPr>
            <p:nvPr/>
          </p:nvSpPr>
          <p:spPr bwMode="auto">
            <a:xfrm>
              <a:off x="4320" y="2064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31" name="Oval 31"/>
            <p:cNvSpPr>
              <a:spLocks noChangeArrowheads="1"/>
            </p:cNvSpPr>
            <p:nvPr/>
          </p:nvSpPr>
          <p:spPr bwMode="auto">
            <a:xfrm>
              <a:off x="4656" y="2208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32" name="Oval 32"/>
            <p:cNvSpPr>
              <a:spLocks noChangeArrowheads="1"/>
            </p:cNvSpPr>
            <p:nvPr/>
          </p:nvSpPr>
          <p:spPr bwMode="auto">
            <a:xfrm>
              <a:off x="4992" y="2400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33" name="Oval 33"/>
            <p:cNvSpPr>
              <a:spLocks noChangeArrowheads="1"/>
            </p:cNvSpPr>
            <p:nvPr/>
          </p:nvSpPr>
          <p:spPr bwMode="auto">
            <a:xfrm>
              <a:off x="5328" y="2208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34" name="Oval 34"/>
            <p:cNvSpPr>
              <a:spLocks noChangeArrowheads="1"/>
            </p:cNvSpPr>
            <p:nvPr/>
          </p:nvSpPr>
          <p:spPr bwMode="auto">
            <a:xfrm>
              <a:off x="5664" y="2256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35" name="Oval 35"/>
            <p:cNvSpPr>
              <a:spLocks noChangeArrowheads="1"/>
            </p:cNvSpPr>
            <p:nvPr/>
          </p:nvSpPr>
          <p:spPr bwMode="auto">
            <a:xfrm>
              <a:off x="6000" y="2112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36" name="Oval 36"/>
            <p:cNvSpPr>
              <a:spLocks noChangeArrowheads="1"/>
            </p:cNvSpPr>
            <p:nvPr/>
          </p:nvSpPr>
          <p:spPr bwMode="auto">
            <a:xfrm>
              <a:off x="6336" y="2016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37" name="Oval 37"/>
            <p:cNvSpPr>
              <a:spLocks noChangeArrowheads="1"/>
            </p:cNvSpPr>
            <p:nvPr/>
          </p:nvSpPr>
          <p:spPr bwMode="auto">
            <a:xfrm>
              <a:off x="6624" y="2160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38" name="Oval 38"/>
            <p:cNvSpPr>
              <a:spLocks noChangeArrowheads="1"/>
            </p:cNvSpPr>
            <p:nvPr/>
          </p:nvSpPr>
          <p:spPr bwMode="auto">
            <a:xfrm>
              <a:off x="6912" y="2400"/>
              <a:ext cx="192" cy="144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439" name="Line 39"/>
            <p:cNvSpPr>
              <a:spLocks noChangeShapeType="1"/>
            </p:cNvSpPr>
            <p:nvPr/>
          </p:nvSpPr>
          <p:spPr bwMode="auto">
            <a:xfrm flipV="1">
              <a:off x="1632" y="1824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440" name="Text Box 40"/>
            <p:cNvSpPr txBox="1">
              <a:spLocks noChangeArrowheads="1"/>
            </p:cNvSpPr>
            <p:nvPr/>
          </p:nvSpPr>
          <p:spPr bwMode="auto">
            <a:xfrm rot="-5400000">
              <a:off x="1494" y="2222"/>
              <a:ext cx="4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>
                  <a:solidFill>
                    <a:srgbClr val="000000"/>
                  </a:solidFill>
                </a:rPr>
                <a:t>Help</a:t>
              </a:r>
            </a:p>
          </p:txBody>
        </p:sp>
      </p:grpSp>
      <p:sp>
        <p:nvSpPr>
          <p:cNvPr id="191529" name="Rectangle 41"/>
          <p:cNvSpPr>
            <a:spLocks noChangeArrowheads="1"/>
          </p:cNvSpPr>
          <p:nvPr/>
        </p:nvSpPr>
        <p:spPr bwMode="auto">
          <a:xfrm>
            <a:off x="1066800" y="2895600"/>
            <a:ext cx="1066800" cy="1752600"/>
          </a:xfrm>
          <a:prstGeom prst="rect">
            <a:avLst/>
          </a:prstGeom>
          <a:solidFill>
            <a:srgbClr val="FF0000">
              <a:alpha val="23137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1530" name="Rectangle 42"/>
          <p:cNvSpPr>
            <a:spLocks noChangeArrowheads="1"/>
          </p:cNvSpPr>
          <p:nvPr/>
        </p:nvSpPr>
        <p:spPr bwMode="auto">
          <a:xfrm>
            <a:off x="4038600" y="3276600"/>
            <a:ext cx="4419600" cy="3429000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 sz="2800" b="1" u="sng" dirty="0"/>
              <a:t>Student1:</a:t>
            </a:r>
            <a:r>
              <a:rPr lang="en-US" altLang="zh-TW" sz="2800" dirty="0"/>
              <a:t> I </a:t>
            </a:r>
            <a:r>
              <a:rPr lang="en-US" altLang="zh-TW" sz="2800" dirty="0" smtClean="0"/>
              <a:t>don’t </a:t>
            </a:r>
            <a:endParaRPr lang="en-US" altLang="zh-TW" sz="2800" dirty="0"/>
          </a:p>
          <a:p>
            <a:r>
              <a:rPr lang="en-US" altLang="zh-TW" sz="2800" dirty="0"/>
              <a:t>understand what to </a:t>
            </a:r>
          </a:p>
          <a:p>
            <a:r>
              <a:rPr lang="en-US" altLang="zh-TW" sz="2800" dirty="0"/>
              <a:t>do next.</a:t>
            </a:r>
          </a:p>
          <a:p>
            <a:r>
              <a:rPr lang="en-US" altLang="zh-TW" sz="2800" b="1" u="sng" dirty="0"/>
              <a:t>Student2:</a:t>
            </a:r>
            <a:r>
              <a:rPr lang="en-US" altLang="zh-TW" sz="2800" dirty="0"/>
              <a:t> Let me do it.</a:t>
            </a:r>
          </a:p>
          <a:p>
            <a:r>
              <a:rPr lang="en-US" altLang="zh-TW" sz="2800" b="1" u="sng" dirty="0"/>
              <a:t>Support Agent:</a:t>
            </a:r>
            <a:r>
              <a:rPr lang="en-US" altLang="zh-TW" sz="2800" dirty="0"/>
              <a:t> Student2, </a:t>
            </a:r>
          </a:p>
          <a:p>
            <a:r>
              <a:rPr lang="en-US" altLang="zh-TW" sz="2800" dirty="0"/>
              <a:t>it looks like your partner </a:t>
            </a:r>
          </a:p>
          <a:p>
            <a:r>
              <a:rPr lang="en-US" altLang="zh-TW" sz="2800" dirty="0"/>
              <a:t>could use some help.</a:t>
            </a:r>
          </a:p>
          <a:p>
            <a:endParaRPr lang="zh-TW" altLang="en-US" dirty="0"/>
          </a:p>
        </p:txBody>
      </p:sp>
      <p:grpSp>
        <p:nvGrpSpPr>
          <p:cNvPr id="17415" name="Group 57"/>
          <p:cNvGrpSpPr>
            <a:grpSpLocks/>
          </p:cNvGrpSpPr>
          <p:nvPr/>
        </p:nvGrpSpPr>
        <p:grpSpPr bwMode="auto">
          <a:xfrm>
            <a:off x="152400" y="1828800"/>
            <a:ext cx="8839200" cy="863600"/>
            <a:chOff x="96" y="1152"/>
            <a:chExt cx="5568" cy="544"/>
          </a:xfrm>
        </p:grpSpPr>
        <p:pic>
          <p:nvPicPr>
            <p:cNvPr id="17416" name="Picture 44" descr="idea-generation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" y="1152"/>
              <a:ext cx="62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7" name="Picture 45" descr="idea-generation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1152"/>
              <a:ext cx="62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8" name="Line 46"/>
            <p:cNvSpPr>
              <a:spLocks noChangeShapeType="1"/>
            </p:cNvSpPr>
            <p:nvPr/>
          </p:nvSpPr>
          <p:spPr bwMode="auto">
            <a:xfrm>
              <a:off x="672" y="1584"/>
              <a:ext cx="4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19056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529" grpId="0" animBg="1"/>
      <p:bldP spid="1915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3058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sz="4000">
                <a:latin typeface="Arial" charset="0"/>
              </a:rPr>
              <a:t>Triggering feedback for collaborative idea generation…</a:t>
            </a:r>
          </a:p>
        </p:txBody>
      </p:sp>
      <p:pic>
        <p:nvPicPr>
          <p:cNvPr id="1843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8" t="3732" r="29936" b="21635"/>
          <a:stretch>
            <a:fillRect/>
          </a:stretch>
        </p:blipFill>
        <p:spPr bwMode="auto">
          <a:xfrm>
            <a:off x="1524000" y="1752600"/>
            <a:ext cx="5562600" cy="4992688"/>
          </a:xfrm>
          <a:prstGeom prst="rect">
            <a:avLst/>
          </a:prstGeom>
          <a:noFill/>
          <a:ln w="9525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2518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174239"/>
              </p:ext>
            </p:extLst>
          </p:nvPr>
        </p:nvGraphicFramePr>
        <p:xfrm>
          <a:off x="609600" y="2343150"/>
          <a:ext cx="7934325" cy="3448051"/>
        </p:xfrm>
        <a:graphic>
          <a:graphicData uri="http://schemas.openxmlformats.org/drawingml/2006/table">
            <a:tbl>
              <a:tblPr/>
              <a:tblGrid>
                <a:gridCol w="1682750"/>
                <a:gridCol w="6251575"/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Times New Roman" pitchFamily="18" charset="0"/>
                        </a:rPr>
                        <a:t>Speaker</a:t>
                      </a:r>
                      <a:endParaRPr kumimoji="0" lang="en-US" altLang="zh-TW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91435" marR="91435" marT="45718" marB="45718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Times New Roman" pitchFamily="18" charset="0"/>
                        </a:rPr>
                        <a:t>Text</a:t>
                      </a:r>
                      <a:endParaRPr kumimoji="0" lang="en-US" altLang="zh-TW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91435" marR="91435" marT="45718" marB="45718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Times New Roman" pitchFamily="18" charset="0"/>
                        </a:rPr>
                        <a:t>Student 1</a:t>
                      </a:r>
                    </a:p>
                  </a:txBody>
                  <a:tcPr marL="91435" marR="91435" marT="45718" marB="45718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</a:rPr>
                        <a:t>People stole sand and stones to use for construction.</a:t>
                      </a:r>
                    </a:p>
                  </a:txBody>
                  <a:tcPr marL="91435" marR="91435" marT="45718" marB="45718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1150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Times New Roman" pitchFamily="18" charset="0"/>
                        </a:rPr>
                        <a:t>FEEDBACK AGENT</a:t>
                      </a:r>
                    </a:p>
                  </a:txBody>
                  <a:tcPr marL="91435" marR="91435" marT="45718" marB="45718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PMingLiU" pitchFamily="18" charset="-120"/>
                        </a:rPr>
                        <a:t>Yes, steeling sand and stones may destroy the balance and thus make mountain areas unstable.  Thinking about development of mountain areas, can you think of a kind of development that may cause a problem? </a:t>
                      </a:r>
                    </a:p>
                  </a:txBody>
                  <a:tcPr marL="91435" marR="91435" marT="45718" marB="45718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Times New Roman" pitchFamily="18" charset="0"/>
                        </a:rPr>
                        <a:t>Student 2</a:t>
                      </a:r>
                    </a:p>
                  </a:txBody>
                  <a:tcPr marL="91435" marR="91435" marT="45718" marB="45718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</a:rPr>
                        <a:t>Development of mountain areas often causes problems.</a:t>
                      </a:r>
                    </a:p>
                  </a:txBody>
                  <a:tcPr marL="91435" marR="91435" marT="45718" marB="45718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Times New Roman" pitchFamily="18" charset="0"/>
                        </a:rPr>
                        <a:t>Student 1</a:t>
                      </a:r>
                    </a:p>
                  </a:txBody>
                  <a:tcPr marL="91435" marR="91435" marT="45718" marB="45718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</a:rPr>
                        <a:t>It is okay to develop, but there must be some constraints.</a:t>
                      </a:r>
                    </a:p>
                  </a:txBody>
                  <a:tcPr marL="91435" marR="91435" marT="45718" marB="45718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0065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>
                <a:latin typeface="Arial" charset="0"/>
              </a:rPr>
              <a:t>How does machine learning work?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228600" y="1295400"/>
          <a:ext cx="8686800" cy="543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27" name="Bitmap Image" r:id="rId3" imgW="4031329" imgH="2521905" progId="Paint.Picture">
                  <p:embed/>
                </p:oleObj>
              </mc:Choice>
              <mc:Fallback>
                <p:oleObj name="Bitmap Image" r:id="rId3" imgW="4031329" imgH="252190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295400"/>
                        <a:ext cx="8686800" cy="543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7620000" y="1676400"/>
            <a:ext cx="1219200" cy="5029200"/>
            <a:chOff x="4800" y="1056"/>
            <a:chExt cx="768" cy="3168"/>
          </a:xfrm>
        </p:grpSpPr>
        <p:sp>
          <p:nvSpPr>
            <p:cNvPr id="3094" name="Rectangle 15"/>
            <p:cNvSpPr>
              <a:spLocks noChangeArrowheads="1"/>
            </p:cNvSpPr>
            <p:nvPr/>
          </p:nvSpPr>
          <p:spPr bwMode="auto">
            <a:xfrm>
              <a:off x="4800" y="1056"/>
              <a:ext cx="768" cy="192"/>
            </a:xfrm>
            <a:prstGeom prst="rect">
              <a:avLst/>
            </a:prstGeom>
            <a:solidFill>
              <a:srgbClr val="FF0000">
                <a:alpha val="1882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95" name="Rectangle 16"/>
            <p:cNvSpPr>
              <a:spLocks noChangeArrowheads="1"/>
            </p:cNvSpPr>
            <p:nvPr/>
          </p:nvSpPr>
          <p:spPr bwMode="auto">
            <a:xfrm>
              <a:off x="4800" y="1296"/>
              <a:ext cx="768" cy="192"/>
            </a:xfrm>
            <a:prstGeom prst="rect">
              <a:avLst/>
            </a:prstGeom>
            <a:solidFill>
              <a:srgbClr val="FF0000">
                <a:alpha val="1882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96" name="Rectangle 17"/>
            <p:cNvSpPr>
              <a:spLocks noChangeArrowheads="1"/>
            </p:cNvSpPr>
            <p:nvPr/>
          </p:nvSpPr>
          <p:spPr bwMode="auto">
            <a:xfrm>
              <a:off x="4800" y="2208"/>
              <a:ext cx="768" cy="192"/>
            </a:xfrm>
            <a:prstGeom prst="rect">
              <a:avLst/>
            </a:prstGeom>
            <a:solidFill>
              <a:srgbClr val="FF0000">
                <a:alpha val="1882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97" name="Rectangle 18"/>
            <p:cNvSpPr>
              <a:spLocks noChangeArrowheads="1"/>
            </p:cNvSpPr>
            <p:nvPr/>
          </p:nvSpPr>
          <p:spPr bwMode="auto">
            <a:xfrm>
              <a:off x="4800" y="2640"/>
              <a:ext cx="768" cy="192"/>
            </a:xfrm>
            <a:prstGeom prst="rect">
              <a:avLst/>
            </a:prstGeom>
            <a:solidFill>
              <a:srgbClr val="FF0000">
                <a:alpha val="1882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98" name="Rectangle 19"/>
            <p:cNvSpPr>
              <a:spLocks noChangeArrowheads="1"/>
            </p:cNvSpPr>
            <p:nvPr/>
          </p:nvSpPr>
          <p:spPr bwMode="auto">
            <a:xfrm>
              <a:off x="4800" y="4032"/>
              <a:ext cx="768" cy="192"/>
            </a:xfrm>
            <a:prstGeom prst="rect">
              <a:avLst/>
            </a:prstGeom>
            <a:solidFill>
              <a:srgbClr val="FF0000">
                <a:alpha val="1882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0" name="文字方塊 9"/>
          <p:cNvSpPr txBox="1"/>
          <p:nvPr/>
        </p:nvSpPr>
        <p:spPr>
          <a:xfrm>
            <a:off x="9017000" y="43688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59105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>
                <a:latin typeface="Arial" charset="0"/>
              </a:rPr>
              <a:t>How does machine learning work?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228600" y="1295400"/>
          <a:ext cx="8686800" cy="543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82" name="Bitmap Image" r:id="rId3" imgW="4031329" imgH="2521905" progId="Paint.Picture">
                  <p:embed/>
                </p:oleObj>
              </mc:Choice>
              <mc:Fallback>
                <p:oleObj name="Bitmap Image" r:id="rId3" imgW="4031329" imgH="252190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295400"/>
                        <a:ext cx="8686800" cy="543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3" name="Rectangle 6"/>
          <p:cNvSpPr>
            <a:spLocks noChangeArrowheads="1"/>
          </p:cNvSpPr>
          <p:nvPr/>
        </p:nvSpPr>
        <p:spPr bwMode="auto">
          <a:xfrm>
            <a:off x="838200" y="2286000"/>
            <a:ext cx="6248400" cy="2882900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104" name="Text Box 5"/>
          <p:cNvSpPr txBox="1">
            <a:spLocks noChangeArrowheads="1"/>
          </p:cNvSpPr>
          <p:nvPr/>
        </p:nvSpPr>
        <p:spPr bwMode="auto">
          <a:xfrm>
            <a:off x="914400" y="2362200"/>
            <a:ext cx="6000849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9pPr>
          </a:lstStyle>
          <a:p>
            <a:r>
              <a:rPr lang="en-US" altLang="zh-TW" sz="3400" dirty="0"/>
              <a:t>The simplest rule learner will</a:t>
            </a:r>
          </a:p>
          <a:p>
            <a:r>
              <a:rPr lang="en-US" altLang="zh-TW" sz="3400" dirty="0"/>
              <a:t>learn to predict whatever is</a:t>
            </a:r>
          </a:p>
          <a:p>
            <a:r>
              <a:rPr lang="en-US" altLang="zh-TW" sz="3400" dirty="0"/>
              <a:t>the most frequent result class.</a:t>
            </a:r>
          </a:p>
          <a:p>
            <a:r>
              <a:rPr lang="en-US" altLang="zh-TW" sz="3400" dirty="0"/>
              <a:t>This is called the </a:t>
            </a:r>
            <a:r>
              <a:rPr lang="en-US" altLang="zh-TW" sz="3400" dirty="0" smtClean="0"/>
              <a:t>“Majority</a:t>
            </a:r>
            <a:endParaRPr lang="en-US" altLang="zh-TW" sz="3400" dirty="0"/>
          </a:p>
          <a:p>
            <a:r>
              <a:rPr lang="en-US" altLang="zh-TW" sz="3400" dirty="0" smtClean="0"/>
              <a:t>Class”.</a:t>
            </a:r>
            <a:endParaRPr lang="en-US" altLang="zh-TW" sz="3400" dirty="0"/>
          </a:p>
        </p:txBody>
      </p:sp>
      <p:sp>
        <p:nvSpPr>
          <p:cNvPr id="3105" name="Rectangle 7"/>
          <p:cNvSpPr>
            <a:spLocks noChangeArrowheads="1"/>
          </p:cNvSpPr>
          <p:nvPr/>
        </p:nvSpPr>
        <p:spPr bwMode="auto">
          <a:xfrm>
            <a:off x="7600950" y="1295400"/>
            <a:ext cx="1295400" cy="5410200"/>
          </a:xfrm>
          <a:prstGeom prst="rect">
            <a:avLst/>
          </a:prstGeom>
          <a:noFill/>
          <a:ln w="508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81000" y="5334000"/>
            <a:ext cx="7086600" cy="685800"/>
            <a:chOff x="864" y="2592"/>
            <a:chExt cx="4464" cy="432"/>
          </a:xfrm>
          <a:solidFill>
            <a:schemeClr val="bg2"/>
          </a:solidFill>
        </p:grpSpPr>
        <p:sp>
          <p:nvSpPr>
            <p:cNvPr id="3101" name="Rectangle 10"/>
            <p:cNvSpPr>
              <a:spLocks noChangeArrowheads="1"/>
            </p:cNvSpPr>
            <p:nvPr/>
          </p:nvSpPr>
          <p:spPr bwMode="auto">
            <a:xfrm>
              <a:off x="864" y="2592"/>
              <a:ext cx="4464" cy="4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102" name="Text Box 9"/>
            <p:cNvSpPr txBox="1">
              <a:spLocks noChangeArrowheads="1"/>
            </p:cNvSpPr>
            <p:nvPr/>
          </p:nvSpPr>
          <p:spPr bwMode="auto">
            <a:xfrm>
              <a:off x="902" y="2619"/>
              <a:ext cx="4388" cy="404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 sz="3600" dirty="0"/>
                <a:t>What will the rule be in this case?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1752600" y="6096000"/>
            <a:ext cx="4629150" cy="609600"/>
            <a:chOff x="422" y="3792"/>
            <a:chExt cx="2916" cy="384"/>
          </a:xfrm>
          <a:solidFill>
            <a:srgbClr val="BFBFBF"/>
          </a:solidFill>
        </p:grpSpPr>
        <p:sp>
          <p:nvSpPr>
            <p:cNvPr id="3099" name="Rectangle 13"/>
            <p:cNvSpPr>
              <a:spLocks noChangeArrowheads="1"/>
            </p:cNvSpPr>
            <p:nvPr/>
          </p:nvSpPr>
          <p:spPr bwMode="auto">
            <a:xfrm>
              <a:off x="432" y="3792"/>
              <a:ext cx="2880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100" name="Text Box 12"/>
            <p:cNvSpPr txBox="1">
              <a:spLocks noChangeArrowheads="1"/>
            </p:cNvSpPr>
            <p:nvPr/>
          </p:nvSpPr>
          <p:spPr bwMode="auto">
            <a:xfrm>
              <a:off x="422" y="3802"/>
              <a:ext cx="2916" cy="365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 sz="3200" dirty="0"/>
                <a:t>It will always predict yes.</a:t>
              </a: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7620000" y="1676400"/>
            <a:ext cx="1219200" cy="5029200"/>
            <a:chOff x="4800" y="1056"/>
            <a:chExt cx="768" cy="3168"/>
          </a:xfrm>
        </p:grpSpPr>
        <p:sp>
          <p:nvSpPr>
            <p:cNvPr id="3094" name="Rectangle 15"/>
            <p:cNvSpPr>
              <a:spLocks noChangeArrowheads="1"/>
            </p:cNvSpPr>
            <p:nvPr/>
          </p:nvSpPr>
          <p:spPr bwMode="auto">
            <a:xfrm>
              <a:off x="4800" y="1056"/>
              <a:ext cx="768" cy="192"/>
            </a:xfrm>
            <a:prstGeom prst="rect">
              <a:avLst/>
            </a:prstGeom>
            <a:solidFill>
              <a:srgbClr val="FF0000">
                <a:alpha val="1882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95" name="Rectangle 16"/>
            <p:cNvSpPr>
              <a:spLocks noChangeArrowheads="1"/>
            </p:cNvSpPr>
            <p:nvPr/>
          </p:nvSpPr>
          <p:spPr bwMode="auto">
            <a:xfrm>
              <a:off x="4800" y="1296"/>
              <a:ext cx="768" cy="192"/>
            </a:xfrm>
            <a:prstGeom prst="rect">
              <a:avLst/>
            </a:prstGeom>
            <a:solidFill>
              <a:srgbClr val="FF0000">
                <a:alpha val="1882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96" name="Rectangle 17"/>
            <p:cNvSpPr>
              <a:spLocks noChangeArrowheads="1"/>
            </p:cNvSpPr>
            <p:nvPr/>
          </p:nvSpPr>
          <p:spPr bwMode="auto">
            <a:xfrm>
              <a:off x="4800" y="2208"/>
              <a:ext cx="768" cy="192"/>
            </a:xfrm>
            <a:prstGeom prst="rect">
              <a:avLst/>
            </a:prstGeom>
            <a:solidFill>
              <a:srgbClr val="FF0000">
                <a:alpha val="1882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97" name="Rectangle 18"/>
            <p:cNvSpPr>
              <a:spLocks noChangeArrowheads="1"/>
            </p:cNvSpPr>
            <p:nvPr/>
          </p:nvSpPr>
          <p:spPr bwMode="auto">
            <a:xfrm>
              <a:off x="4800" y="2640"/>
              <a:ext cx="768" cy="192"/>
            </a:xfrm>
            <a:prstGeom prst="rect">
              <a:avLst/>
            </a:prstGeom>
            <a:solidFill>
              <a:srgbClr val="FF0000">
                <a:alpha val="1882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98" name="Rectangle 19"/>
            <p:cNvSpPr>
              <a:spLocks noChangeArrowheads="1"/>
            </p:cNvSpPr>
            <p:nvPr/>
          </p:nvSpPr>
          <p:spPr bwMode="auto">
            <a:xfrm>
              <a:off x="4800" y="4032"/>
              <a:ext cx="768" cy="192"/>
            </a:xfrm>
            <a:prstGeom prst="rect">
              <a:avLst/>
            </a:prstGeom>
            <a:solidFill>
              <a:srgbClr val="FF0000">
                <a:alpha val="1882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7620000" y="3505200"/>
            <a:ext cx="1219200" cy="3200400"/>
            <a:chOff x="4800" y="2208"/>
            <a:chExt cx="768" cy="2016"/>
          </a:xfrm>
        </p:grpSpPr>
        <p:sp>
          <p:nvSpPr>
            <p:cNvPr id="3086" name="Rectangle 28"/>
            <p:cNvSpPr>
              <a:spLocks noChangeArrowheads="1"/>
            </p:cNvSpPr>
            <p:nvPr/>
          </p:nvSpPr>
          <p:spPr bwMode="auto">
            <a:xfrm>
              <a:off x="4800" y="4032"/>
              <a:ext cx="768" cy="19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7" name="Rectangle 29"/>
            <p:cNvSpPr>
              <a:spLocks noChangeArrowheads="1"/>
            </p:cNvSpPr>
            <p:nvPr/>
          </p:nvSpPr>
          <p:spPr bwMode="auto">
            <a:xfrm>
              <a:off x="4800" y="2208"/>
              <a:ext cx="768" cy="19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8" name="Rectangle 30"/>
            <p:cNvSpPr>
              <a:spLocks noChangeArrowheads="1"/>
            </p:cNvSpPr>
            <p:nvPr/>
          </p:nvSpPr>
          <p:spPr bwMode="auto">
            <a:xfrm>
              <a:off x="4800" y="3336"/>
              <a:ext cx="768" cy="19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9" name="Rectangle 31"/>
            <p:cNvSpPr>
              <a:spLocks noChangeArrowheads="1"/>
            </p:cNvSpPr>
            <p:nvPr/>
          </p:nvSpPr>
          <p:spPr bwMode="auto">
            <a:xfrm>
              <a:off x="4800" y="2880"/>
              <a:ext cx="768" cy="19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0" name="文字方塊 9"/>
          <p:cNvSpPr txBox="1"/>
          <p:nvPr/>
        </p:nvSpPr>
        <p:spPr>
          <a:xfrm>
            <a:off x="9017000" y="43688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34199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>
                <a:latin typeface="Arial" charset="0"/>
              </a:rPr>
              <a:t>How does machine learning work?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228600" y="1295400"/>
          <a:ext cx="8686800" cy="543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Bitmap Image" r:id="rId3" imgW="4031329" imgH="2521905" progId="Paint.Picture">
                  <p:embed/>
                </p:oleObj>
              </mc:Choice>
              <mc:Fallback>
                <p:oleObj name="Bitmap Image" r:id="rId3" imgW="4031329" imgH="252190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295400"/>
                        <a:ext cx="8686800" cy="543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304800" y="2286000"/>
            <a:ext cx="8540750" cy="2289175"/>
            <a:chOff x="192" y="1440"/>
            <a:chExt cx="5380" cy="1442"/>
          </a:xfrm>
          <a:solidFill>
            <a:schemeClr val="bg2"/>
          </a:solidFill>
        </p:grpSpPr>
        <p:sp>
          <p:nvSpPr>
            <p:cNvPr id="3092" name="Rectangle 23"/>
            <p:cNvSpPr>
              <a:spLocks noChangeArrowheads="1"/>
            </p:cNvSpPr>
            <p:nvPr/>
          </p:nvSpPr>
          <p:spPr bwMode="auto">
            <a:xfrm>
              <a:off x="192" y="1440"/>
              <a:ext cx="5376" cy="14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93" name="Text Box 22"/>
            <p:cNvSpPr txBox="1">
              <a:spLocks noChangeArrowheads="1"/>
            </p:cNvSpPr>
            <p:nvPr/>
          </p:nvSpPr>
          <p:spPr bwMode="auto">
            <a:xfrm>
              <a:off x="192" y="1440"/>
              <a:ext cx="5380" cy="1442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 sz="3600" dirty="0"/>
                <a:t>A slightly more sophisticated rule learner </a:t>
              </a:r>
            </a:p>
            <a:p>
              <a:r>
                <a:rPr lang="en-US" altLang="zh-TW" sz="3600" dirty="0"/>
                <a:t>will find the feature that gives the most</a:t>
              </a:r>
            </a:p>
            <a:p>
              <a:r>
                <a:rPr lang="en-US" altLang="zh-TW" sz="3600" dirty="0"/>
                <a:t>information about the result class.  What</a:t>
              </a:r>
            </a:p>
            <a:p>
              <a:r>
                <a:rPr lang="en-US" altLang="zh-TW" sz="3600" dirty="0"/>
                <a:t>do you think that would be in this case?</a:t>
              </a:r>
            </a:p>
          </p:txBody>
        </p:sp>
      </p:grp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2057400" y="2514600"/>
            <a:ext cx="4387850" cy="2319338"/>
            <a:chOff x="470" y="1275"/>
            <a:chExt cx="2764" cy="1461"/>
          </a:xfrm>
          <a:solidFill>
            <a:schemeClr val="bg2"/>
          </a:solidFill>
        </p:grpSpPr>
        <p:sp>
          <p:nvSpPr>
            <p:cNvPr id="3090" name="Rectangle 26"/>
            <p:cNvSpPr>
              <a:spLocks noChangeArrowheads="1"/>
            </p:cNvSpPr>
            <p:nvPr/>
          </p:nvSpPr>
          <p:spPr bwMode="auto">
            <a:xfrm>
              <a:off x="480" y="1296"/>
              <a:ext cx="2736" cy="14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91" name="Text Box 25"/>
            <p:cNvSpPr txBox="1">
              <a:spLocks noChangeArrowheads="1"/>
            </p:cNvSpPr>
            <p:nvPr/>
          </p:nvSpPr>
          <p:spPr bwMode="auto">
            <a:xfrm>
              <a:off x="470" y="1275"/>
              <a:ext cx="2764" cy="1442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 sz="3600" dirty="0"/>
                <a:t>Outlook:</a:t>
              </a:r>
            </a:p>
            <a:p>
              <a:r>
                <a:rPr lang="en-US" altLang="zh-TW" sz="3600" dirty="0"/>
                <a:t>	Sunny -&gt; No</a:t>
              </a:r>
            </a:p>
            <a:p>
              <a:r>
                <a:rPr lang="en-US" altLang="zh-TW" sz="3600" dirty="0"/>
                <a:t>	Overcast -&gt; Yes</a:t>
              </a:r>
            </a:p>
            <a:p>
              <a:r>
                <a:rPr lang="en-US" altLang="zh-TW" sz="3600" dirty="0"/>
                <a:t>	Rainy-&gt; Yes</a:t>
              </a:r>
            </a:p>
          </p:txBody>
        </p:sp>
      </p:grp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1828800" y="4800600"/>
            <a:ext cx="4876800" cy="1828800"/>
            <a:chOff x="1152" y="1776"/>
            <a:chExt cx="3072" cy="1152"/>
          </a:xfrm>
          <a:solidFill>
            <a:schemeClr val="bg2"/>
          </a:solidFill>
        </p:grpSpPr>
        <p:sp>
          <p:nvSpPr>
            <p:cNvPr id="3084" name="Rectangle 34"/>
            <p:cNvSpPr>
              <a:spLocks noChangeArrowheads="1"/>
            </p:cNvSpPr>
            <p:nvPr/>
          </p:nvSpPr>
          <p:spPr bwMode="auto">
            <a:xfrm>
              <a:off x="1152" y="1776"/>
              <a:ext cx="3072" cy="115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5" name="Text Box 33"/>
            <p:cNvSpPr txBox="1">
              <a:spLocks noChangeArrowheads="1"/>
            </p:cNvSpPr>
            <p:nvPr/>
          </p:nvSpPr>
          <p:spPr bwMode="auto">
            <a:xfrm>
              <a:off x="1152" y="1776"/>
              <a:ext cx="3057" cy="1134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 sz="2800"/>
                <a:t>&lt;Feature Name&gt;:</a:t>
              </a:r>
            </a:p>
            <a:p>
              <a:r>
                <a:rPr lang="en-US" altLang="zh-TW" sz="2800"/>
                <a:t>	&lt;value&gt; -&gt; &lt;prediction&gt;</a:t>
              </a:r>
            </a:p>
            <a:p>
              <a:r>
                <a:rPr lang="en-US" altLang="zh-TW" sz="2800"/>
                <a:t>	&lt;value&gt; -&gt; &lt;prediction&gt;</a:t>
              </a:r>
            </a:p>
            <a:p>
              <a:r>
                <a:rPr lang="en-US" altLang="zh-TW" sz="2800"/>
                <a:t>	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49735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latin typeface="Arial" charset="0"/>
              </a:rPr>
              <a:t>What is machine learning?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zh-TW" dirty="0">
                <a:latin typeface="Arial" charset="0"/>
              </a:rPr>
              <a:t>Automatically or </a:t>
            </a:r>
            <a:r>
              <a:rPr lang="en-US" altLang="zh-TW" i="1" dirty="0">
                <a:latin typeface="Arial" charset="0"/>
              </a:rPr>
              <a:t>semi-automatically</a:t>
            </a:r>
          </a:p>
          <a:p>
            <a:pPr lvl="1" eaLnBrk="1" hangingPunct="1"/>
            <a:r>
              <a:rPr lang="en-US" altLang="zh-TW" dirty="0">
                <a:latin typeface="Arial" charset="0"/>
              </a:rPr>
              <a:t>Inducing concepts (i.e., rules) from data</a:t>
            </a:r>
          </a:p>
          <a:p>
            <a:pPr lvl="1" eaLnBrk="1" hangingPunct="1"/>
            <a:r>
              <a:rPr lang="en-US" altLang="zh-TW" dirty="0">
                <a:latin typeface="Arial" charset="0"/>
              </a:rPr>
              <a:t>Finding patterns in data</a:t>
            </a:r>
          </a:p>
          <a:p>
            <a:pPr lvl="1" eaLnBrk="1" hangingPunct="1"/>
            <a:r>
              <a:rPr lang="en-US" altLang="zh-TW" dirty="0">
                <a:latin typeface="Arial" charset="0"/>
              </a:rPr>
              <a:t>Explaining data</a:t>
            </a:r>
          </a:p>
          <a:p>
            <a:pPr lvl="1" eaLnBrk="1" hangingPunct="1"/>
            <a:r>
              <a:rPr lang="en-US" altLang="zh-TW" dirty="0">
                <a:latin typeface="Arial" charset="0"/>
              </a:rPr>
              <a:t>Making  predictions</a:t>
            </a:r>
          </a:p>
        </p:txBody>
      </p:sp>
      <p:grpSp>
        <p:nvGrpSpPr>
          <p:cNvPr id="20484" name="Group 22"/>
          <p:cNvGrpSpPr>
            <a:grpSpLocks/>
          </p:cNvGrpSpPr>
          <p:nvPr/>
        </p:nvGrpSpPr>
        <p:grpSpPr bwMode="auto">
          <a:xfrm>
            <a:off x="304800" y="4648200"/>
            <a:ext cx="8286750" cy="1166813"/>
            <a:chOff x="288" y="3048"/>
            <a:chExt cx="5220" cy="735"/>
          </a:xfrm>
        </p:grpSpPr>
        <p:sp>
          <p:nvSpPr>
            <p:cNvPr id="20485" name="Text Box 4"/>
            <p:cNvSpPr txBox="1">
              <a:spLocks noChangeArrowheads="1"/>
            </p:cNvSpPr>
            <p:nvPr/>
          </p:nvSpPr>
          <p:spPr bwMode="auto">
            <a:xfrm>
              <a:off x="288" y="3076"/>
              <a:ext cx="4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/>
                <a:t>Data</a:t>
              </a:r>
            </a:p>
          </p:txBody>
        </p:sp>
        <p:grpSp>
          <p:nvGrpSpPr>
            <p:cNvPr id="20486" name="Group 15"/>
            <p:cNvGrpSpPr>
              <a:grpSpLocks/>
            </p:cNvGrpSpPr>
            <p:nvPr/>
          </p:nvGrpSpPr>
          <p:grpSpPr bwMode="auto">
            <a:xfrm>
              <a:off x="912" y="3048"/>
              <a:ext cx="1324" cy="288"/>
              <a:chOff x="1286" y="3024"/>
              <a:chExt cx="1324" cy="288"/>
            </a:xfrm>
          </p:grpSpPr>
          <p:sp>
            <p:nvSpPr>
              <p:cNvPr id="20498" name="Rectangle 13"/>
              <p:cNvSpPr>
                <a:spLocks noChangeArrowheads="1"/>
              </p:cNvSpPr>
              <p:nvPr/>
            </p:nvSpPr>
            <p:spPr bwMode="auto">
              <a:xfrm>
                <a:off x="1296" y="3024"/>
                <a:ext cx="1296" cy="288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0499" name="Text Box 5"/>
              <p:cNvSpPr txBox="1">
                <a:spLocks noChangeArrowheads="1"/>
              </p:cNvSpPr>
              <p:nvPr/>
            </p:nvSpPr>
            <p:spPr bwMode="auto">
              <a:xfrm>
                <a:off x="1286" y="3047"/>
                <a:ext cx="132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9pPr>
              </a:lstStyle>
              <a:p>
                <a:r>
                  <a:rPr lang="en-US" altLang="zh-TW"/>
                  <a:t>Learning Algorithm</a:t>
                </a:r>
              </a:p>
            </p:txBody>
          </p:sp>
        </p:grpSp>
        <p:sp>
          <p:nvSpPr>
            <p:cNvPr id="20487" name="Text Box 6"/>
            <p:cNvSpPr txBox="1">
              <a:spLocks noChangeArrowheads="1"/>
            </p:cNvSpPr>
            <p:nvPr/>
          </p:nvSpPr>
          <p:spPr bwMode="auto">
            <a:xfrm>
              <a:off x="2400" y="3076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/>
                <a:t>Model</a:t>
              </a:r>
            </a:p>
          </p:txBody>
        </p:sp>
        <p:sp>
          <p:nvSpPr>
            <p:cNvPr id="20488" name="Text Box 7"/>
            <p:cNvSpPr txBox="1">
              <a:spLocks noChangeArrowheads="1"/>
            </p:cNvSpPr>
            <p:nvPr/>
          </p:nvSpPr>
          <p:spPr bwMode="auto">
            <a:xfrm>
              <a:off x="2304" y="3552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/>
                <a:t>New Data</a:t>
              </a:r>
            </a:p>
          </p:txBody>
        </p:sp>
        <p:sp>
          <p:nvSpPr>
            <p:cNvPr id="20489" name="Text Box 8"/>
            <p:cNvSpPr txBox="1">
              <a:spLocks noChangeArrowheads="1"/>
            </p:cNvSpPr>
            <p:nvPr/>
          </p:nvSpPr>
          <p:spPr bwMode="auto">
            <a:xfrm>
              <a:off x="4752" y="3076"/>
              <a:ext cx="7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/>
                <a:t>Prediction</a:t>
              </a:r>
            </a:p>
          </p:txBody>
        </p:sp>
        <p:grpSp>
          <p:nvGrpSpPr>
            <p:cNvPr id="20490" name="Group 16"/>
            <p:cNvGrpSpPr>
              <a:grpSpLocks/>
            </p:cNvGrpSpPr>
            <p:nvPr/>
          </p:nvGrpSpPr>
          <p:grpSpPr bwMode="auto">
            <a:xfrm>
              <a:off x="3110" y="3048"/>
              <a:ext cx="1498" cy="288"/>
              <a:chOff x="3590" y="2832"/>
              <a:chExt cx="1498" cy="288"/>
            </a:xfrm>
          </p:grpSpPr>
          <p:sp>
            <p:nvSpPr>
              <p:cNvPr id="20496" name="Rectangle 14"/>
              <p:cNvSpPr>
                <a:spLocks noChangeArrowheads="1"/>
              </p:cNvSpPr>
              <p:nvPr/>
            </p:nvSpPr>
            <p:spPr bwMode="auto">
              <a:xfrm>
                <a:off x="3600" y="2832"/>
                <a:ext cx="1488" cy="288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0497" name="Text Box 10"/>
              <p:cNvSpPr txBox="1">
                <a:spLocks noChangeArrowheads="1"/>
              </p:cNvSpPr>
              <p:nvPr/>
            </p:nvSpPr>
            <p:spPr bwMode="auto">
              <a:xfrm>
                <a:off x="3590" y="2855"/>
                <a:ext cx="145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新細明體" charset="0"/>
                  </a:defRPr>
                </a:lvl9pPr>
              </a:lstStyle>
              <a:p>
                <a:r>
                  <a:rPr lang="en-US" altLang="zh-TW"/>
                  <a:t>Classification Engine</a:t>
                </a:r>
              </a:p>
            </p:txBody>
          </p:sp>
        </p:grpSp>
        <p:sp>
          <p:nvSpPr>
            <p:cNvPr id="20491" name="Line 17"/>
            <p:cNvSpPr>
              <a:spLocks noChangeShapeType="1"/>
            </p:cNvSpPr>
            <p:nvPr/>
          </p:nvSpPr>
          <p:spPr bwMode="auto">
            <a:xfrm>
              <a:off x="720" y="321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492" name="Line 18"/>
            <p:cNvSpPr>
              <a:spLocks noChangeShapeType="1"/>
            </p:cNvSpPr>
            <p:nvPr/>
          </p:nvSpPr>
          <p:spPr bwMode="auto">
            <a:xfrm>
              <a:off x="4656" y="321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493" name="Line 19"/>
            <p:cNvSpPr>
              <a:spLocks noChangeShapeType="1"/>
            </p:cNvSpPr>
            <p:nvPr/>
          </p:nvSpPr>
          <p:spPr bwMode="auto">
            <a:xfrm>
              <a:off x="2880" y="321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494" name="Line 20"/>
            <p:cNvSpPr>
              <a:spLocks noChangeShapeType="1"/>
            </p:cNvSpPr>
            <p:nvPr/>
          </p:nvSpPr>
          <p:spPr bwMode="auto">
            <a:xfrm>
              <a:off x="2256" y="321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495" name="Line 21"/>
            <p:cNvSpPr>
              <a:spLocks noChangeShapeType="1"/>
            </p:cNvSpPr>
            <p:nvPr/>
          </p:nvSpPr>
          <p:spPr bwMode="auto">
            <a:xfrm flipV="1">
              <a:off x="2592" y="3312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50410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latin typeface="Arial" charset="0"/>
              </a:rPr>
              <a:t>What will be the prediction?</a:t>
            </a:r>
          </a:p>
        </p:txBody>
      </p:sp>
      <p:grpSp>
        <p:nvGrpSpPr>
          <p:cNvPr id="4100" name="Group 5"/>
          <p:cNvGrpSpPr>
            <a:grpSpLocks/>
          </p:cNvGrpSpPr>
          <p:nvPr/>
        </p:nvGrpSpPr>
        <p:grpSpPr bwMode="auto">
          <a:xfrm>
            <a:off x="2133600" y="1871663"/>
            <a:ext cx="4387850" cy="2319337"/>
            <a:chOff x="470" y="1275"/>
            <a:chExt cx="2764" cy="1461"/>
          </a:xfrm>
          <a:solidFill>
            <a:schemeClr val="bg1">
              <a:lumMod val="65000"/>
            </a:schemeClr>
          </a:solidFill>
        </p:grpSpPr>
        <p:sp>
          <p:nvSpPr>
            <p:cNvPr id="4106" name="Rectangle 6"/>
            <p:cNvSpPr>
              <a:spLocks noChangeArrowheads="1"/>
            </p:cNvSpPr>
            <p:nvPr/>
          </p:nvSpPr>
          <p:spPr bwMode="auto">
            <a:xfrm>
              <a:off x="480" y="1296"/>
              <a:ext cx="2736" cy="14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107" name="Text Box 7"/>
            <p:cNvSpPr txBox="1">
              <a:spLocks noChangeArrowheads="1"/>
            </p:cNvSpPr>
            <p:nvPr/>
          </p:nvSpPr>
          <p:spPr bwMode="auto">
            <a:xfrm>
              <a:off x="470" y="1275"/>
              <a:ext cx="2764" cy="1442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 sz="3600"/>
                <a:t>Outlook:</a:t>
              </a:r>
            </a:p>
            <a:p>
              <a:r>
                <a:rPr lang="en-US" altLang="zh-TW" sz="3600"/>
                <a:t>	Sunny -&gt; No</a:t>
              </a:r>
            </a:p>
            <a:p>
              <a:r>
                <a:rPr lang="en-US" altLang="zh-TW" sz="3600"/>
                <a:t>	Overcast -&gt; Yes</a:t>
              </a:r>
            </a:p>
            <a:p>
              <a:r>
                <a:rPr lang="en-US" altLang="zh-TW" sz="3600"/>
                <a:t>	Rainy-&gt; Yes</a:t>
              </a:r>
            </a:p>
          </p:txBody>
        </p:sp>
      </p:grpSp>
      <p:graphicFrame>
        <p:nvGraphicFramePr>
          <p:cNvPr id="4098" name="Object 8"/>
          <p:cNvGraphicFramePr>
            <a:graphicFrameLocks noChangeAspect="1"/>
          </p:cNvGraphicFramePr>
          <p:nvPr/>
        </p:nvGraphicFramePr>
        <p:xfrm>
          <a:off x="76200" y="4795838"/>
          <a:ext cx="899160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74" name="Bitmap Image" r:id="rId3" imgW="4023709" imgH="343075" progId="Paint.Picture">
                  <p:embed/>
                </p:oleObj>
              </mc:Choice>
              <mc:Fallback>
                <p:oleObj name="Bitmap Image" r:id="rId3" imgW="4023709" imgH="34307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795838"/>
                        <a:ext cx="899160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Text Box 9"/>
          <p:cNvSpPr txBox="1">
            <a:spLocks noChangeArrowheads="1"/>
          </p:cNvSpPr>
          <p:nvPr/>
        </p:nvSpPr>
        <p:spPr bwMode="auto">
          <a:xfrm>
            <a:off x="3795713" y="1506538"/>
            <a:ext cx="106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9pPr>
          </a:lstStyle>
          <a:p>
            <a:r>
              <a:rPr lang="en-US" altLang="zh-TW" sz="2400" b="1"/>
              <a:t>Model</a:t>
            </a:r>
          </a:p>
        </p:txBody>
      </p:sp>
      <p:sp>
        <p:nvSpPr>
          <p:cNvPr id="4102" name="Text Box 10"/>
          <p:cNvSpPr txBox="1">
            <a:spLocks noChangeArrowheads="1"/>
          </p:cNvSpPr>
          <p:nvPr/>
        </p:nvSpPr>
        <p:spPr bwMode="auto">
          <a:xfrm>
            <a:off x="3548063" y="4411663"/>
            <a:ext cx="1557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9pPr>
          </a:lstStyle>
          <a:p>
            <a:r>
              <a:rPr lang="en-US" altLang="zh-TW" sz="2400" b="1"/>
              <a:t>New Data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7696200" y="5156200"/>
            <a:ext cx="1295400" cy="396875"/>
            <a:chOff x="4848" y="3248"/>
            <a:chExt cx="816" cy="250"/>
          </a:xfrm>
        </p:grpSpPr>
        <p:sp>
          <p:nvSpPr>
            <p:cNvPr id="4104" name="Rectangle 12"/>
            <p:cNvSpPr>
              <a:spLocks noChangeArrowheads="1"/>
            </p:cNvSpPr>
            <p:nvPr/>
          </p:nvSpPr>
          <p:spPr bwMode="auto">
            <a:xfrm>
              <a:off x="4848" y="3264"/>
              <a:ext cx="816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105" name="Text Box 11"/>
            <p:cNvSpPr txBox="1">
              <a:spLocks noChangeArrowheads="1"/>
            </p:cNvSpPr>
            <p:nvPr/>
          </p:nvSpPr>
          <p:spPr bwMode="auto">
            <a:xfrm>
              <a:off x="5108" y="3248"/>
              <a:ext cx="4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新細明體" charset="0"/>
                </a:defRPr>
              </a:lvl9pPr>
            </a:lstStyle>
            <a:p>
              <a:r>
                <a:rPr lang="en-US" altLang="zh-TW" sz="2000" b="1"/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67655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latin typeface="Arial" charset="0"/>
              </a:rPr>
              <a:t>Terminology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4343400" cy="5029200"/>
          </a:xfrm>
        </p:spPr>
        <p:txBody>
          <a:bodyPr/>
          <a:lstStyle/>
          <a:p>
            <a:pPr eaLnBrk="1" hangingPunct="1"/>
            <a:r>
              <a:rPr lang="en-US" altLang="zh-TW" sz="2800" b="1" dirty="0">
                <a:latin typeface="Arial" charset="0"/>
              </a:rPr>
              <a:t>Concept:</a:t>
            </a:r>
            <a:r>
              <a:rPr lang="en-US" altLang="zh-TW" sz="2800" dirty="0">
                <a:latin typeface="Arial" charset="0"/>
              </a:rPr>
              <a:t> the </a:t>
            </a:r>
            <a:r>
              <a:rPr lang="en-US" altLang="zh-TW" sz="2800" dirty="0" smtClean="0">
                <a:latin typeface="Arial" charset="0"/>
              </a:rPr>
              <a:t>rule/model you </a:t>
            </a:r>
            <a:r>
              <a:rPr lang="en-US" altLang="zh-TW" sz="2800" dirty="0">
                <a:latin typeface="Arial" charset="0"/>
              </a:rPr>
              <a:t>want to learn</a:t>
            </a:r>
          </a:p>
          <a:p>
            <a:pPr eaLnBrk="1" hangingPunct="1"/>
            <a:r>
              <a:rPr lang="en-US" altLang="zh-TW" sz="2800" b="1" dirty="0">
                <a:latin typeface="Arial" charset="0"/>
              </a:rPr>
              <a:t>Instance:</a:t>
            </a:r>
            <a:r>
              <a:rPr lang="en-US" altLang="zh-TW" sz="2800" dirty="0">
                <a:latin typeface="Arial" charset="0"/>
              </a:rPr>
              <a:t> one data point from your training or testing data (row in table)</a:t>
            </a:r>
          </a:p>
          <a:p>
            <a:pPr eaLnBrk="1" hangingPunct="1"/>
            <a:r>
              <a:rPr lang="en-US" altLang="zh-TW" sz="2800" b="1" dirty="0">
                <a:latin typeface="Arial" charset="0"/>
              </a:rPr>
              <a:t>Attribute:</a:t>
            </a:r>
            <a:r>
              <a:rPr lang="en-US" altLang="zh-TW" sz="2800" dirty="0">
                <a:latin typeface="Arial" charset="0"/>
              </a:rPr>
              <a:t> one of the features that an instance is composed of (column in table)</a:t>
            </a:r>
          </a:p>
        </p:txBody>
      </p:sp>
      <p:pic>
        <p:nvPicPr>
          <p:cNvPr id="21508" name="Picture 4" descr="decision-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066800"/>
            <a:ext cx="2895600" cy="233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5" descr="inst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505200"/>
            <a:ext cx="2236788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6070" name="Rectangle 6"/>
          <p:cNvSpPr>
            <a:spLocks noChangeArrowheads="1"/>
          </p:cNvSpPr>
          <p:nvPr/>
        </p:nvSpPr>
        <p:spPr bwMode="auto">
          <a:xfrm>
            <a:off x="6462713" y="5895975"/>
            <a:ext cx="3810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5029200" y="6361113"/>
            <a:ext cx="3321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0"/>
              </a:defRPr>
            </a:lvl9pPr>
          </a:lstStyle>
          <a:p>
            <a:r>
              <a:rPr lang="en-US" altLang="zh-TW"/>
              <a:t>* Compute the predicted value.</a:t>
            </a:r>
          </a:p>
        </p:txBody>
      </p:sp>
      <p:sp>
        <p:nvSpPr>
          <p:cNvPr id="216072" name="Line 8"/>
          <p:cNvSpPr>
            <a:spLocks noChangeShapeType="1"/>
          </p:cNvSpPr>
          <p:nvPr/>
        </p:nvSpPr>
        <p:spPr bwMode="auto">
          <a:xfrm flipH="1">
            <a:off x="6019800" y="1828800"/>
            <a:ext cx="304800" cy="152400"/>
          </a:xfrm>
          <a:prstGeom prst="line">
            <a:avLst/>
          </a:prstGeom>
          <a:noFill/>
          <a:ln w="25400">
            <a:solidFill>
              <a:srgbClr val="4F81B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6073" name="Line 9"/>
          <p:cNvSpPr>
            <a:spLocks noChangeShapeType="1"/>
          </p:cNvSpPr>
          <p:nvPr/>
        </p:nvSpPr>
        <p:spPr bwMode="auto">
          <a:xfrm>
            <a:off x="6248400" y="2133600"/>
            <a:ext cx="457200" cy="152400"/>
          </a:xfrm>
          <a:prstGeom prst="line">
            <a:avLst/>
          </a:prstGeom>
          <a:noFill/>
          <a:ln w="25400">
            <a:solidFill>
              <a:srgbClr val="4F81B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6075" name="Line 11"/>
          <p:cNvSpPr>
            <a:spLocks noChangeShapeType="1"/>
          </p:cNvSpPr>
          <p:nvPr/>
        </p:nvSpPr>
        <p:spPr bwMode="auto">
          <a:xfrm flipH="1">
            <a:off x="5943600" y="2438400"/>
            <a:ext cx="304800" cy="152400"/>
          </a:xfrm>
          <a:prstGeom prst="line">
            <a:avLst/>
          </a:prstGeom>
          <a:noFill/>
          <a:ln w="25400">
            <a:solidFill>
              <a:srgbClr val="4F81B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6076" name="Oval 12"/>
          <p:cNvSpPr>
            <a:spLocks noChangeArrowheads="1"/>
          </p:cNvSpPr>
          <p:nvPr/>
        </p:nvSpPr>
        <p:spPr bwMode="auto">
          <a:xfrm>
            <a:off x="4495800" y="609600"/>
            <a:ext cx="4191000" cy="3200400"/>
          </a:xfrm>
          <a:prstGeom prst="ellipse">
            <a:avLst/>
          </a:prstGeom>
          <a:noFill/>
          <a:ln w="25400">
            <a:solidFill>
              <a:srgbClr val="4F81B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16077" name="Oval 13"/>
          <p:cNvSpPr>
            <a:spLocks noChangeArrowheads="1"/>
          </p:cNvSpPr>
          <p:nvPr/>
        </p:nvSpPr>
        <p:spPr bwMode="auto">
          <a:xfrm>
            <a:off x="4724400" y="3124200"/>
            <a:ext cx="3581400" cy="3581400"/>
          </a:xfrm>
          <a:prstGeom prst="ellipse">
            <a:avLst/>
          </a:prstGeom>
          <a:noFill/>
          <a:ln w="25400">
            <a:solidFill>
              <a:srgbClr val="4F81B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6078" name="Oval 14"/>
          <p:cNvSpPr>
            <a:spLocks noChangeArrowheads="1"/>
          </p:cNvSpPr>
          <p:nvPr/>
        </p:nvSpPr>
        <p:spPr bwMode="auto">
          <a:xfrm>
            <a:off x="5791200" y="4038600"/>
            <a:ext cx="1066800" cy="152400"/>
          </a:xfrm>
          <a:prstGeom prst="ellips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0786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70" grpId="0" animBg="1"/>
      <p:bldP spid="216072" grpId="0" animBg="1"/>
      <p:bldP spid="216073" grpId="0" animBg="1"/>
      <p:bldP spid="216075" grpId="0" animBg="1"/>
      <p:bldP spid="216076" grpId="0" animBg="1"/>
      <p:bldP spid="216076" grpId="1" animBg="1"/>
      <p:bldP spid="216077" grpId="0" animBg="1"/>
      <p:bldP spid="216077" grpId="1" animBg="1"/>
      <p:bldP spid="216078" grpId="0" animBg="1"/>
      <p:bldP spid="216078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Arial" charset="0"/>
              </a:rPr>
              <a:t>Styles of Learning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686800" cy="5638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TW" b="1" dirty="0" smtClean="0">
                <a:latin typeface="Arial" charset="0"/>
              </a:rPr>
              <a:t>Classification </a:t>
            </a:r>
            <a:r>
              <a:rPr lang="en-US" altLang="zh-TW" dirty="0" smtClean="0">
                <a:latin typeface="Arial" charset="0"/>
              </a:rPr>
              <a:t>(“su</a:t>
            </a:r>
            <a:r>
              <a:rPr lang="en-US" altLang="zh-TW" dirty="0" smtClean="0">
                <a:latin typeface="Arial" charset="0"/>
              </a:rPr>
              <a:t>pervised learning”</a:t>
            </a:r>
            <a:r>
              <a:rPr lang="en-US" altLang="zh-TW" dirty="0" smtClean="0">
                <a:latin typeface="Arial" charset="0"/>
              </a:rPr>
              <a:t>) </a:t>
            </a:r>
            <a:r>
              <a:rPr lang="en-US" altLang="zh-TW" dirty="0">
                <a:latin typeface="Arial" charset="0"/>
              </a:rPr>
              <a:t>– learn </a:t>
            </a:r>
            <a:r>
              <a:rPr lang="en-US" altLang="zh-TW" dirty="0" smtClean="0">
                <a:latin typeface="Arial" charset="0"/>
              </a:rPr>
              <a:t>rules/models </a:t>
            </a:r>
            <a:r>
              <a:rPr lang="en-US" altLang="zh-TW" dirty="0">
                <a:latin typeface="Arial" charset="0"/>
              </a:rPr>
              <a:t>from labeled instances that allow you to assign new instances to a class</a:t>
            </a:r>
          </a:p>
          <a:p>
            <a:pPr eaLnBrk="1" hangingPunct="1"/>
            <a:r>
              <a:rPr lang="en-US" altLang="zh-TW" b="1" dirty="0">
                <a:latin typeface="Arial" charset="0"/>
              </a:rPr>
              <a:t>Association</a:t>
            </a:r>
            <a:r>
              <a:rPr lang="en-US" altLang="zh-TW" dirty="0">
                <a:latin typeface="Arial" charset="0"/>
              </a:rPr>
              <a:t> – look for relationships between features, not just rules that predict a class from an instance (more general)</a:t>
            </a:r>
          </a:p>
          <a:p>
            <a:pPr eaLnBrk="1" hangingPunct="1"/>
            <a:r>
              <a:rPr lang="en-US" altLang="zh-TW" b="1" dirty="0">
                <a:latin typeface="Arial" charset="0"/>
              </a:rPr>
              <a:t>Clustering</a:t>
            </a:r>
            <a:r>
              <a:rPr lang="en-US" altLang="zh-TW" dirty="0">
                <a:latin typeface="Arial" charset="0"/>
              </a:rPr>
              <a:t> </a:t>
            </a:r>
            <a:r>
              <a:rPr lang="en-US" altLang="zh-TW" dirty="0" smtClean="0">
                <a:latin typeface="Arial" charset="0"/>
              </a:rPr>
              <a:t>(“unsupervised learning”) – </a:t>
            </a:r>
            <a:r>
              <a:rPr lang="en-US" altLang="zh-TW" dirty="0">
                <a:latin typeface="Arial" charset="0"/>
              </a:rPr>
              <a:t>look for instances that are similar (involves comparisons of multiple features)</a:t>
            </a:r>
          </a:p>
          <a:p>
            <a:pPr eaLnBrk="1" hangingPunct="1"/>
            <a:r>
              <a:rPr lang="en-US" altLang="zh-TW" b="1" dirty="0">
                <a:latin typeface="Arial" charset="0"/>
              </a:rPr>
              <a:t>Numeric Prediction</a:t>
            </a:r>
            <a:r>
              <a:rPr lang="en-US" altLang="zh-TW" dirty="0">
                <a:latin typeface="Arial" charset="0"/>
              </a:rPr>
              <a:t> (</a:t>
            </a:r>
            <a:r>
              <a:rPr lang="en-US" altLang="zh-TW" dirty="0" smtClean="0">
                <a:latin typeface="Arial" charset="0"/>
              </a:rPr>
              <a:t>regression)</a:t>
            </a:r>
            <a:endParaRPr lang="en-US" altLang="zh-TW" dirty="0" smtClean="0">
              <a:latin typeface="Arial" charset="0"/>
            </a:endParaRPr>
          </a:p>
          <a:p>
            <a:pPr eaLnBrk="1" hangingPunct="1"/>
            <a:endParaRPr lang="en-US" altLang="zh-TW" dirty="0">
              <a:latin typeface="Arial" charset="0"/>
            </a:endParaRPr>
          </a:p>
          <a:p>
            <a:pPr marL="0" indent="0" eaLnBrk="1" hangingPunct="1">
              <a:buNone/>
            </a:pPr>
            <a:r>
              <a:rPr lang="en-US" altLang="zh-TW" dirty="0" smtClean="0">
                <a:latin typeface="Arial" charset="0"/>
              </a:rPr>
              <a:t>We’ll start from regression models, and then talk about classification. </a:t>
            </a:r>
            <a:endParaRPr lang="en-US" altLang="zh-TW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4147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35</a:t>
            </a:fld>
            <a:endParaRPr 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52400"/>
            <a:ext cx="7912100" cy="632811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45674" y="6508234"/>
            <a:ext cx="3893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hlinkClick r:id="rId3"/>
              </a:rPr>
              <a:t>http://www.cs.waikato.ac.nz/ml/weka</a:t>
            </a:r>
            <a:r>
              <a:rPr lang="en-US" altLang="zh-TW" dirty="0" smtClean="0">
                <a:hlinkClick r:id="rId3"/>
              </a:rPr>
              <a:t>/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78050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l"/>
            <a:r>
              <a:rPr lang="en-US" altLang="zh-TW" dirty="0" smtClean="0"/>
              <a:t>Linear </a:t>
            </a:r>
            <a:r>
              <a:rPr lang="en-US" altLang="zh-TW" dirty="0"/>
              <a:t>Regression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TW" dirty="0"/>
              <a:t>Regression analysis finds the equation of the </a:t>
            </a:r>
            <a:r>
              <a:rPr lang="en-US" altLang="zh-TW" i="1" dirty="0">
                <a:solidFill>
                  <a:schemeClr val="tx2"/>
                </a:solidFill>
              </a:rPr>
              <a:t>line</a:t>
            </a:r>
            <a:r>
              <a:rPr lang="en-US" altLang="zh-TW" dirty="0"/>
              <a:t> that best describes the relationship between two </a:t>
            </a:r>
            <a:r>
              <a:rPr lang="en-US" altLang="zh-TW" dirty="0" smtClean="0"/>
              <a:t>(or more) </a:t>
            </a:r>
            <a:r>
              <a:rPr lang="en-US" altLang="zh-TW" dirty="0" smtClean="0"/>
              <a:t>variables (e.g., y and x).</a:t>
            </a:r>
          </a:p>
          <a:p>
            <a:pPr lvl="1"/>
            <a:r>
              <a:rPr lang="en-US" altLang="zh-TW" dirty="0" smtClean="0"/>
              <a:t>Conventionally, we call y the predicted variable, and </a:t>
            </a:r>
            <a:r>
              <a:rPr lang="en-US" altLang="zh-TW" dirty="0" err="1" smtClean="0"/>
              <a:t>x</a:t>
            </a:r>
            <a:r>
              <a:rPr lang="en-US" altLang="zh-TW" baseline="-25000" dirty="0" err="1" smtClean="0"/>
              <a:t>n</a:t>
            </a:r>
            <a:r>
              <a:rPr lang="en-US" altLang="zh-TW" dirty="0" smtClean="0"/>
              <a:t> the “predictors” or predicting variables.</a:t>
            </a:r>
            <a:endParaRPr lang="en-US" altLang="zh-TW" dirty="0"/>
          </a:p>
          <a:p>
            <a:r>
              <a:rPr lang="en-US" altLang="zh-TW" dirty="0"/>
              <a:t>One use of this equation: to make </a:t>
            </a:r>
            <a:r>
              <a:rPr lang="en-US" altLang="zh-TW" dirty="0" smtClean="0"/>
              <a:t>numeric predictions</a:t>
            </a:r>
            <a:r>
              <a:rPr lang="en-US" altLang="zh-TW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12690187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TW" sz="2400" b="1">
                <a:solidFill>
                  <a:schemeClr val="hlink"/>
                </a:solidFill>
              </a:rPr>
              <a:t>Models</a:t>
            </a:r>
            <a:r>
              <a:rPr lang="en-US" altLang="zh-TW" sz="2400"/>
              <a:t> or </a:t>
            </a:r>
            <a:r>
              <a:rPr lang="en-US" altLang="zh-TW" sz="2400" b="1">
                <a:solidFill>
                  <a:schemeClr val="hlink"/>
                </a:solidFill>
              </a:rPr>
              <a:t>prediction equations</a:t>
            </a:r>
            <a:r>
              <a:rPr lang="en-US" altLang="zh-TW" sz="2400"/>
              <a:t>:</a:t>
            </a:r>
          </a:p>
          <a:p>
            <a:pPr marL="0" indent="0">
              <a:buFontTx/>
              <a:buNone/>
            </a:pPr>
            <a:r>
              <a:rPr lang="en-US" altLang="zh-TW" sz="2400"/>
              <a:t>Some examples of various possible relationships.</a:t>
            </a:r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r>
              <a:rPr lang="en-US" altLang="zh-TW" sz="2400"/>
              <a:t>Linear:</a:t>
            </a:r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r>
              <a:rPr lang="en-US" altLang="zh-TW" sz="2400"/>
              <a:t>Quadratic:</a:t>
            </a:r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r>
              <a:rPr lang="en-US" altLang="zh-TW" sz="2400"/>
              <a:t>Exponential:</a:t>
            </a:r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r>
              <a:rPr lang="en-US" altLang="zh-TW" sz="2400"/>
              <a:t>Logarithmic:</a:t>
            </a:r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r>
              <a:rPr lang="en-US" altLang="zh-TW" sz="2400" i="1">
                <a:solidFill>
                  <a:schemeClr val="tx2"/>
                </a:solidFill>
              </a:rPr>
              <a:t>Note</a:t>
            </a:r>
            <a:r>
              <a:rPr lang="en-US" altLang="zh-TW" sz="2400"/>
              <a:t>: What would a scatter diagram look like to suggest each relationship?</a:t>
            </a:r>
          </a:p>
        </p:txBody>
      </p:sp>
      <p:graphicFrame>
        <p:nvGraphicFramePr>
          <p:cNvPr id="29699" name="Object 3"/>
          <p:cNvGraphicFramePr>
            <a:graphicFrameLocks/>
          </p:cNvGraphicFramePr>
          <p:nvPr/>
        </p:nvGraphicFramePr>
        <p:xfrm>
          <a:off x="3008313" y="1593850"/>
          <a:ext cx="14128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67" name="Equation" r:id="rId3" imgW="1422360" imgH="368280" progId="Equation.3">
                  <p:embed/>
                </p:oleObj>
              </mc:Choice>
              <mc:Fallback>
                <p:oleObj name="Equation" r:id="rId3" imgW="1422360" imgH="3682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313" y="1593850"/>
                        <a:ext cx="14128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4"/>
          <p:cNvGraphicFramePr>
            <a:graphicFrameLocks/>
          </p:cNvGraphicFramePr>
          <p:nvPr/>
        </p:nvGraphicFramePr>
        <p:xfrm>
          <a:off x="3008313" y="2409825"/>
          <a:ext cx="19081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68" name="Equation" r:id="rId5" imgW="1917360" imgH="431640" progId="Equation.3">
                  <p:embed/>
                </p:oleObj>
              </mc:Choice>
              <mc:Fallback>
                <p:oleObj name="Equation" r:id="rId5" imgW="1917360" imgH="4316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313" y="2409825"/>
                        <a:ext cx="19081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/>
          <p:cNvGraphicFramePr>
            <a:graphicFrameLocks/>
          </p:cNvGraphicFramePr>
          <p:nvPr/>
        </p:nvGraphicFramePr>
        <p:xfrm>
          <a:off x="3008313" y="3273425"/>
          <a:ext cx="11969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69" name="Equation" r:id="rId7" imgW="1206360" imgH="431640" progId="Equation.3">
                  <p:embed/>
                </p:oleObj>
              </mc:Choice>
              <mc:Fallback>
                <p:oleObj name="Equation" r:id="rId7" imgW="1206360" imgH="4316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313" y="3273425"/>
                        <a:ext cx="11969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/>
          </p:cNvGraphicFramePr>
          <p:nvPr/>
        </p:nvGraphicFramePr>
        <p:xfrm>
          <a:off x="3008313" y="4216400"/>
          <a:ext cx="14382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70" name="方程式" r:id="rId9" imgW="1447560" imgH="368280" progId="Equation.3">
                  <p:embed/>
                </p:oleObj>
              </mc:Choice>
              <mc:Fallback>
                <p:oleObj name="方程式" r:id="rId9" imgW="1447560" imgH="3682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313" y="4216400"/>
                        <a:ext cx="14382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79625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zh-TW" sz="2400" b="1">
                <a:solidFill>
                  <a:schemeClr val="hlink"/>
                </a:solidFill>
              </a:rPr>
              <a:t>Method of least squares</a:t>
            </a:r>
            <a:r>
              <a:rPr lang="en-US" altLang="zh-TW" sz="2400"/>
              <a:t>:</a:t>
            </a:r>
          </a:p>
          <a:p>
            <a:pPr>
              <a:buFontTx/>
              <a:buNone/>
            </a:pPr>
            <a:endParaRPr lang="en-US" altLang="zh-TW" sz="2400"/>
          </a:p>
          <a:p>
            <a:pPr>
              <a:buFontTx/>
              <a:buNone/>
            </a:pPr>
            <a:r>
              <a:rPr lang="en-US" altLang="zh-TW" sz="2400"/>
              <a:t>Equation of the best-fitting line: </a:t>
            </a:r>
          </a:p>
          <a:p>
            <a:pPr>
              <a:buFontTx/>
              <a:buNone/>
            </a:pPr>
            <a:endParaRPr lang="en-US" altLang="zh-TW" sz="2400"/>
          </a:p>
          <a:p>
            <a:pPr>
              <a:buFontTx/>
              <a:buNone/>
            </a:pPr>
            <a:r>
              <a:rPr lang="en-US" altLang="zh-TW" sz="2400" b="1">
                <a:solidFill>
                  <a:schemeClr val="tx2"/>
                </a:solidFill>
              </a:rPr>
              <a:t>Predicted value</a:t>
            </a:r>
            <a:r>
              <a:rPr lang="en-US" altLang="zh-TW" sz="2400"/>
              <a:t>: </a:t>
            </a:r>
          </a:p>
          <a:p>
            <a:pPr>
              <a:buFontTx/>
              <a:buNone/>
            </a:pPr>
            <a:endParaRPr lang="en-US" altLang="zh-TW" sz="2400"/>
          </a:p>
          <a:p>
            <a:pPr>
              <a:buFontTx/>
              <a:buNone/>
            </a:pPr>
            <a:r>
              <a:rPr lang="en-US" altLang="zh-TW" sz="2400">
                <a:solidFill>
                  <a:schemeClr val="tx2"/>
                </a:solidFill>
              </a:rPr>
              <a:t>Least squares criterion</a:t>
            </a:r>
            <a:r>
              <a:rPr lang="en-US" altLang="zh-TW" sz="2400"/>
              <a:t>: </a:t>
            </a:r>
          </a:p>
          <a:p>
            <a:pPr>
              <a:buFontTx/>
              <a:buNone/>
            </a:pPr>
            <a:r>
              <a:rPr lang="en-US" altLang="zh-TW" sz="2400"/>
              <a:t>Find the constants </a:t>
            </a:r>
            <a:r>
              <a:rPr lang="en-US" altLang="zh-TW" sz="2400" i="1"/>
              <a:t>b</a:t>
            </a:r>
            <a:r>
              <a:rPr lang="en-US" altLang="zh-TW" sz="2400" baseline="-25000"/>
              <a:t>0</a:t>
            </a:r>
            <a:r>
              <a:rPr lang="en-US" altLang="zh-TW" sz="2400"/>
              <a:t> and </a:t>
            </a:r>
            <a:r>
              <a:rPr lang="en-US" altLang="zh-TW" sz="2400" i="1"/>
              <a:t>b</a:t>
            </a:r>
            <a:r>
              <a:rPr lang="en-US" altLang="zh-TW" sz="2400" baseline="-25000"/>
              <a:t>1</a:t>
            </a:r>
            <a:r>
              <a:rPr lang="en-US" altLang="zh-TW" sz="2400"/>
              <a:t> such that the sum</a:t>
            </a:r>
          </a:p>
          <a:p>
            <a:pPr>
              <a:buFontTx/>
              <a:buNone/>
            </a:pPr>
            <a:endParaRPr lang="en-US" altLang="zh-TW" sz="2400"/>
          </a:p>
          <a:p>
            <a:pPr>
              <a:buFontTx/>
              <a:buNone/>
            </a:pPr>
            <a:endParaRPr lang="en-US" altLang="zh-TW" sz="2400"/>
          </a:p>
          <a:p>
            <a:pPr>
              <a:buFontTx/>
              <a:buNone/>
            </a:pPr>
            <a:r>
              <a:rPr lang="en-US" altLang="zh-TW" sz="2400"/>
              <a:t>is as small as possible.</a:t>
            </a:r>
          </a:p>
        </p:txBody>
      </p:sp>
      <p:graphicFrame>
        <p:nvGraphicFramePr>
          <p:cNvPr id="30723" name="Object 3"/>
          <p:cNvGraphicFramePr>
            <a:graphicFrameLocks/>
          </p:cNvGraphicFramePr>
          <p:nvPr/>
        </p:nvGraphicFramePr>
        <p:xfrm>
          <a:off x="5092700" y="1163638"/>
          <a:ext cx="14128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0" name="Equation" r:id="rId3" imgW="1422360" imgH="368280" progId="Equation.3">
                  <p:embed/>
                </p:oleObj>
              </mc:Choice>
              <mc:Fallback>
                <p:oleObj name="Equation" r:id="rId3" imgW="1422360" imgH="3682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1163638"/>
                        <a:ext cx="14128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/>
          <p:cNvGraphicFramePr>
            <a:graphicFrameLocks/>
          </p:cNvGraphicFramePr>
          <p:nvPr/>
        </p:nvGraphicFramePr>
        <p:xfrm>
          <a:off x="3033713" y="2028825"/>
          <a:ext cx="1936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1" name="Equation" r:id="rId5" imgW="203040" imgH="330120" progId="Equation.3">
                  <p:embed/>
                </p:oleObj>
              </mc:Choice>
              <mc:Fallback>
                <p:oleObj name="Equation" r:id="rId5" imgW="203040" imgH="3301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713" y="2028825"/>
                        <a:ext cx="19367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/>
          <p:cNvGraphicFramePr>
            <a:graphicFrameLocks/>
          </p:cNvGraphicFramePr>
          <p:nvPr/>
        </p:nvGraphicFramePr>
        <p:xfrm>
          <a:off x="2582863" y="3954463"/>
          <a:ext cx="395128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2" name="方程式" r:id="rId7" imgW="3987720" imgH="482400" progId="Equation.3">
                  <p:embed/>
                </p:oleObj>
              </mc:Choice>
              <mc:Fallback>
                <p:oleObj name="方程式" r:id="rId7" imgW="3987720" imgH="482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3" y="3954463"/>
                        <a:ext cx="3951287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90251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zh-TW" sz="2400" b="1">
                <a:solidFill>
                  <a:schemeClr val="tx2"/>
                </a:solidFill>
              </a:rPr>
              <a:t>Observed and predicted values of </a:t>
            </a:r>
            <a:r>
              <a:rPr lang="en-US" altLang="zh-TW" sz="2400" b="1" i="1">
                <a:solidFill>
                  <a:schemeClr val="tx2"/>
                </a:solidFill>
              </a:rPr>
              <a:t>y</a:t>
            </a:r>
            <a:r>
              <a:rPr lang="en-US" altLang="zh-TW" sz="2400"/>
              <a:t>:</a:t>
            </a:r>
          </a:p>
          <a:p>
            <a:pPr>
              <a:buFontTx/>
              <a:buNone/>
            </a:pPr>
            <a:endParaRPr lang="zh-TW" altLang="en-US" sz="2400"/>
          </a:p>
        </p:txBody>
      </p:sp>
      <p:graphicFrame>
        <p:nvGraphicFramePr>
          <p:cNvPr id="31747" name="Object 3"/>
          <p:cNvGraphicFramePr>
            <a:graphicFrameLocks/>
          </p:cNvGraphicFramePr>
          <p:nvPr/>
        </p:nvGraphicFramePr>
        <p:xfrm>
          <a:off x="6875463" y="1920875"/>
          <a:ext cx="14128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61" name="Equation" r:id="rId3" imgW="1422360" imgH="368280" progId="Equation.3">
                  <p:embed/>
                </p:oleObj>
              </mc:Choice>
              <mc:Fallback>
                <p:oleObj name="Equation" r:id="rId3" imgW="1422360" imgH="3682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1920875"/>
                        <a:ext cx="14128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Line 4"/>
          <p:cNvSpPr>
            <a:spLocks noChangeShapeType="1"/>
          </p:cNvSpPr>
          <p:nvPr/>
        </p:nvSpPr>
        <p:spPr bwMode="auto">
          <a:xfrm>
            <a:off x="1066800" y="5764213"/>
            <a:ext cx="6597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 flipV="1">
            <a:off x="1066800" y="1327150"/>
            <a:ext cx="0" cy="44370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V="1">
            <a:off x="1857375" y="2405063"/>
            <a:ext cx="5554663" cy="2443162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31751" name="Object 7"/>
          <p:cNvGraphicFramePr>
            <a:graphicFrameLocks/>
          </p:cNvGraphicFramePr>
          <p:nvPr/>
        </p:nvGraphicFramePr>
        <p:xfrm>
          <a:off x="4484688" y="3562350"/>
          <a:ext cx="155575" cy="16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62" name="Equation" r:id="rId5" imgW="164880" imgH="177480" progId="Equation.3">
                  <p:embed/>
                </p:oleObj>
              </mc:Choice>
              <mc:Fallback>
                <p:oleObj name="Equation" r:id="rId5" imgW="164880" imgH="1774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4688" y="3562350"/>
                        <a:ext cx="155575" cy="16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8"/>
          <p:cNvGraphicFramePr>
            <a:graphicFrameLocks/>
          </p:cNvGraphicFramePr>
          <p:nvPr/>
        </p:nvGraphicFramePr>
        <p:xfrm>
          <a:off x="4484688" y="2497138"/>
          <a:ext cx="155575" cy="16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63" name="Equation" r:id="rId7" imgW="164880" imgH="177480" progId="Equation.3">
                  <p:embed/>
                </p:oleObj>
              </mc:Choice>
              <mc:Fallback>
                <p:oleObj name="Equation" r:id="rId7" imgW="164880" imgH="1774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4688" y="2497138"/>
                        <a:ext cx="155575" cy="16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Object 9"/>
          <p:cNvGraphicFramePr>
            <a:graphicFrameLocks/>
          </p:cNvGraphicFramePr>
          <p:nvPr/>
        </p:nvGraphicFramePr>
        <p:xfrm>
          <a:off x="4740275" y="2432050"/>
          <a:ext cx="6889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64" name="Equation" r:id="rId8" imgW="698400" imgH="330120" progId="Equation.3">
                  <p:embed/>
                </p:oleObj>
              </mc:Choice>
              <mc:Fallback>
                <p:oleObj name="Equation" r:id="rId8" imgW="698400" imgH="3301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275" y="2432050"/>
                        <a:ext cx="68897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4" name="Object 10"/>
          <p:cNvGraphicFramePr>
            <a:graphicFrameLocks/>
          </p:cNvGraphicFramePr>
          <p:nvPr/>
        </p:nvGraphicFramePr>
        <p:xfrm>
          <a:off x="4724400" y="3475038"/>
          <a:ext cx="6889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65" name="Equation" r:id="rId10" imgW="698400" imgH="330120" progId="Equation.3">
                  <p:embed/>
                </p:oleObj>
              </mc:Choice>
              <mc:Fallback>
                <p:oleObj name="Equation" r:id="rId10" imgW="698400" imgH="3301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475038"/>
                        <a:ext cx="68897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Line 11"/>
          <p:cNvSpPr>
            <a:spLocks noChangeShapeType="1"/>
          </p:cNvSpPr>
          <p:nvPr/>
        </p:nvSpPr>
        <p:spPr bwMode="auto">
          <a:xfrm>
            <a:off x="4572000" y="2601913"/>
            <a:ext cx="0" cy="31448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31756" name="Object 12"/>
          <p:cNvGraphicFramePr>
            <a:graphicFrameLocks/>
          </p:cNvGraphicFramePr>
          <p:nvPr/>
        </p:nvGraphicFramePr>
        <p:xfrm>
          <a:off x="7431088" y="5916613"/>
          <a:ext cx="193675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66" name="Equation" r:id="rId12" imgW="203040" imgH="190440" progId="Equation.3">
                  <p:embed/>
                </p:oleObj>
              </mc:Choice>
              <mc:Fallback>
                <p:oleObj name="Equation" r:id="rId12" imgW="203040" imgH="1904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1088" y="5916613"/>
                        <a:ext cx="193675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13"/>
          <p:cNvGraphicFramePr>
            <a:graphicFrameLocks/>
          </p:cNvGraphicFramePr>
          <p:nvPr/>
        </p:nvGraphicFramePr>
        <p:xfrm>
          <a:off x="727075" y="1333500"/>
          <a:ext cx="19367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67" name="Equation" r:id="rId14" imgW="203040" imgH="266400" progId="Equation.3">
                  <p:embed/>
                </p:oleObj>
              </mc:Choice>
              <mc:Fallback>
                <p:oleObj name="Equation" r:id="rId14" imgW="203040" imgH="26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" y="1333500"/>
                        <a:ext cx="193675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Object 14"/>
          <p:cNvGraphicFramePr>
            <a:graphicFrameLocks/>
          </p:cNvGraphicFramePr>
          <p:nvPr/>
        </p:nvGraphicFramePr>
        <p:xfrm>
          <a:off x="3230563" y="2881313"/>
          <a:ext cx="6508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68" name="Equation" r:id="rId16" imgW="660240" imgH="330120" progId="Equation.3">
                  <p:embed/>
                </p:oleObj>
              </mc:Choice>
              <mc:Fallback>
                <p:oleObj name="Equation" r:id="rId16" imgW="660240" imgH="3301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2881313"/>
                        <a:ext cx="65087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9" name="Line 15"/>
          <p:cNvSpPr>
            <a:spLocks noChangeShapeType="1"/>
          </p:cNvSpPr>
          <p:nvPr/>
        </p:nvSpPr>
        <p:spPr bwMode="auto">
          <a:xfrm flipH="1" flipV="1">
            <a:off x="4105275" y="2581275"/>
            <a:ext cx="268288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4114800" y="3652838"/>
            <a:ext cx="250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>
            <a:off x="4105275" y="2590800"/>
            <a:ext cx="0" cy="1085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 flipH="1">
            <a:off x="5568950" y="2574925"/>
            <a:ext cx="250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63" name="Line 19"/>
          <p:cNvSpPr>
            <a:spLocks noChangeShapeType="1"/>
          </p:cNvSpPr>
          <p:nvPr/>
        </p:nvSpPr>
        <p:spPr bwMode="auto">
          <a:xfrm>
            <a:off x="5830888" y="2571750"/>
            <a:ext cx="0" cy="317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>
            <a:off x="4105275" y="3662363"/>
            <a:ext cx="0" cy="2101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31765" name="Object 21"/>
          <p:cNvGraphicFramePr>
            <a:graphicFrameLocks/>
          </p:cNvGraphicFramePr>
          <p:nvPr/>
        </p:nvGraphicFramePr>
        <p:xfrm>
          <a:off x="6029325" y="4064000"/>
          <a:ext cx="19367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69" name="Equation" r:id="rId18" imgW="203040" imgH="266400" progId="Equation.3">
                  <p:embed/>
                </p:oleObj>
              </mc:Choice>
              <mc:Fallback>
                <p:oleObj name="Equation" r:id="rId18" imgW="203040" imgH="26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9325" y="4064000"/>
                        <a:ext cx="193675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6" name="Object 22"/>
          <p:cNvGraphicFramePr>
            <a:graphicFrameLocks/>
          </p:cNvGraphicFramePr>
          <p:nvPr/>
        </p:nvGraphicFramePr>
        <p:xfrm>
          <a:off x="3602038" y="4445000"/>
          <a:ext cx="1936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70" name="方程式" r:id="rId20" imgW="203040" imgH="330120" progId="Equation.3">
                  <p:embed/>
                </p:oleObj>
              </mc:Choice>
              <mc:Fallback>
                <p:oleObj name="方程式" r:id="rId20" imgW="203040" imgH="3301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038" y="4445000"/>
                        <a:ext cx="19367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4073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TW" sz="2400" b="1" dirty="0">
                <a:solidFill>
                  <a:schemeClr val="hlink"/>
                </a:solidFill>
              </a:rPr>
              <a:t>The equation of the line of best fit</a:t>
            </a:r>
            <a:r>
              <a:rPr lang="en-US" altLang="zh-TW" sz="2400" dirty="0"/>
              <a:t>:</a:t>
            </a:r>
          </a:p>
          <a:p>
            <a:pPr marL="0" indent="0">
              <a:buFontTx/>
              <a:buNone/>
            </a:pPr>
            <a:r>
              <a:rPr lang="en-US" altLang="zh-TW" sz="2400" dirty="0"/>
              <a:t>Determined by</a:t>
            </a:r>
          </a:p>
          <a:p>
            <a:pPr marL="0" indent="0">
              <a:buFontTx/>
              <a:buNone/>
            </a:pPr>
            <a:r>
              <a:rPr lang="en-US" altLang="zh-TW" sz="2400" dirty="0"/>
              <a:t>	</a:t>
            </a:r>
            <a:r>
              <a:rPr lang="en-US" altLang="zh-TW" sz="2400" i="1" dirty="0"/>
              <a:t>b</a:t>
            </a:r>
            <a:r>
              <a:rPr lang="en-US" altLang="zh-TW" sz="2400" baseline="-25000" dirty="0"/>
              <a:t>0</a:t>
            </a:r>
            <a:r>
              <a:rPr lang="en-US" altLang="zh-TW" sz="2400" dirty="0"/>
              <a:t>:  </a:t>
            </a:r>
            <a:r>
              <a:rPr lang="en-US" altLang="zh-TW" sz="2400" b="1" dirty="0">
                <a:solidFill>
                  <a:schemeClr val="tx2"/>
                </a:solidFill>
              </a:rPr>
              <a:t>slope</a:t>
            </a:r>
          </a:p>
          <a:p>
            <a:pPr marL="0" indent="0">
              <a:buFontTx/>
              <a:buNone/>
            </a:pPr>
            <a:r>
              <a:rPr lang="en-US" altLang="zh-TW" sz="2400" dirty="0"/>
              <a:t>	</a:t>
            </a:r>
            <a:r>
              <a:rPr lang="en-US" altLang="zh-TW" sz="2400" i="1" dirty="0"/>
              <a:t>b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:  </a:t>
            </a:r>
            <a:r>
              <a:rPr lang="en-US" altLang="zh-TW" sz="2400" b="1" i="1" dirty="0">
                <a:solidFill>
                  <a:schemeClr val="tx2"/>
                </a:solidFill>
              </a:rPr>
              <a:t>y</a:t>
            </a:r>
            <a:r>
              <a:rPr lang="en-US" altLang="zh-TW" sz="2400" b="1" dirty="0">
                <a:solidFill>
                  <a:schemeClr val="tx2"/>
                </a:solidFill>
              </a:rPr>
              <a:t>-intercept</a:t>
            </a:r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r>
              <a:rPr lang="en-US" altLang="zh-TW" sz="2400" dirty="0"/>
              <a:t>Values that satisfy the least squares criterion:</a:t>
            </a:r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zh-TW" altLang="en-US" sz="2400" dirty="0"/>
          </a:p>
        </p:txBody>
      </p:sp>
      <p:graphicFrame>
        <p:nvGraphicFramePr>
          <p:cNvPr id="32771" name="Object 3"/>
          <p:cNvGraphicFramePr>
            <a:graphicFrameLocks/>
          </p:cNvGraphicFramePr>
          <p:nvPr/>
        </p:nvGraphicFramePr>
        <p:xfrm>
          <a:off x="823913" y="3313113"/>
          <a:ext cx="37877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5" name="Equation" r:id="rId3" imgW="3797280" imgH="939600" progId="Equation.3">
                  <p:embed/>
                </p:oleObj>
              </mc:Choice>
              <mc:Fallback>
                <p:oleObj name="Equation" r:id="rId3" imgW="3797280" imgH="9396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3" y="3313113"/>
                        <a:ext cx="37877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4"/>
          <p:cNvGraphicFramePr>
            <a:graphicFrameLocks/>
          </p:cNvGraphicFramePr>
          <p:nvPr/>
        </p:nvGraphicFramePr>
        <p:xfrm>
          <a:off x="827088" y="4567238"/>
          <a:ext cx="397827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6" name="方程式" r:id="rId5" imgW="3987720" imgH="787320" progId="Equation.3">
                  <p:embed/>
                </p:oleObj>
              </mc:Choice>
              <mc:Fallback>
                <p:oleObj name="方程式" r:id="rId5" imgW="3987720" imgH="7873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567238"/>
                        <a:ext cx="397827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241300" y="6096000"/>
            <a:ext cx="7417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smtClean="0">
                <a:hlinkClick r:id="rId7"/>
              </a:rPr>
              <a:t>http</a:t>
            </a:r>
            <a:r>
              <a:rPr kumimoji="1" lang="en-US" altLang="zh-TW" dirty="0">
                <a:hlinkClick r:id="rId7"/>
              </a:rPr>
              <a:t>://www.cc.ntut.edu.tw/~jsechang/jsechang3/method/</a:t>
            </a:r>
            <a:r>
              <a:rPr kumimoji="1" lang="en-US" altLang="zh-TW" dirty="0" smtClean="0">
                <a:hlinkClick r:id="rId7"/>
              </a:rPr>
              <a:t>Least_squares.pdf</a:t>
            </a:r>
            <a:r>
              <a:rPr kumimoji="1" lang="en-US" altLang="zh-TW" dirty="0" smtClean="0"/>
              <a:t> 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304800" y="5715000"/>
            <a:ext cx="298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smtClean="0"/>
              <a:t>Proof of least square method: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34621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i="1">
                <a:solidFill>
                  <a:schemeClr val="tx2"/>
                </a:solidFill>
              </a:rPr>
              <a:t>Example</a:t>
            </a:r>
            <a:r>
              <a:rPr lang="en-US" altLang="zh-TW" sz="2400"/>
              <a:t>: A recent article measured the job satisfaction of subjects with a 14-question survey.  The data below represents the job satisfaction scores, </a:t>
            </a:r>
            <a:r>
              <a:rPr lang="en-US" altLang="zh-TW" sz="2400" i="1"/>
              <a:t>y</a:t>
            </a:r>
            <a:r>
              <a:rPr lang="en-US" altLang="zh-TW" sz="2400"/>
              <a:t>, and the salaries, </a:t>
            </a:r>
            <a:r>
              <a:rPr lang="en-US" altLang="zh-TW" sz="2400" i="1"/>
              <a:t>x</a:t>
            </a:r>
            <a:r>
              <a:rPr lang="en-US" altLang="zh-TW" sz="2400"/>
              <a:t>, for a sample of similar individuals.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/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/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/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/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/>
              <a:t>1.	Draw a scatter diagram for this data.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/>
              <a:t>2.	Find the equation of the line of best fit.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/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/>
          </a:p>
        </p:txBody>
      </p:sp>
      <p:graphicFrame>
        <p:nvGraphicFramePr>
          <p:cNvPr id="33795" name="Object 3"/>
          <p:cNvGraphicFramePr>
            <a:graphicFrameLocks/>
          </p:cNvGraphicFramePr>
          <p:nvPr/>
        </p:nvGraphicFramePr>
        <p:xfrm>
          <a:off x="742950" y="2174875"/>
          <a:ext cx="80264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39" name="工作表" r:id="rId3" imgW="8035920" imgH="874440" progId="Excel.Sheet.8">
                  <p:embed/>
                </p:oleObj>
              </mc:Choice>
              <mc:Fallback>
                <p:oleObj name="工作表" r:id="rId3" imgW="8035920" imgH="874440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" y="2174875"/>
                        <a:ext cx="802640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82192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"/>
          <p:cNvGraphicFramePr>
            <a:graphicFrameLocks noGrp="1"/>
          </p:cNvGraphicFramePr>
          <p:nvPr>
            <p:ph type="body" idx="1"/>
          </p:nvPr>
        </p:nvGraphicFramePr>
        <p:xfrm>
          <a:off x="1884363" y="1435100"/>
          <a:ext cx="5391150" cy="409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3" name="Worksheet" r:id="rId3" imgW="4419360" imgH="3358800" progId="Excel.Sheet.5">
                  <p:embed/>
                </p:oleObj>
              </mc:Choice>
              <mc:Fallback>
                <p:oleObj name="Worksheet" r:id="rId3" imgW="4419360" imgH="3358800" progId="Excel.Sheet.5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363" y="1435100"/>
                        <a:ext cx="5391150" cy="409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  <a:ext uri="{FAA26D3D-D897-4be2-8F04-BA451C77F1D7}">
                          <ma14:placeholderFlag xmlns:ma14="http://schemas.microsoft.com/office/mac/drawingml/2011/main" val="1"/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760413" y="249238"/>
            <a:ext cx="7623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b="1">
                <a:solidFill>
                  <a:schemeClr val="tx2"/>
                </a:solidFill>
              </a:rPr>
              <a:t>Preliminary calculations needed to find </a:t>
            </a:r>
            <a:r>
              <a:rPr lang="en-US" altLang="zh-TW" b="1" i="1">
                <a:solidFill>
                  <a:schemeClr val="tx2"/>
                </a:solidFill>
              </a:rPr>
              <a:t>b</a:t>
            </a:r>
            <a:r>
              <a:rPr lang="en-US" altLang="zh-TW" b="1" baseline="-25000">
                <a:solidFill>
                  <a:schemeClr val="tx2"/>
                </a:solidFill>
              </a:rPr>
              <a:t>1</a:t>
            </a:r>
            <a:r>
              <a:rPr lang="en-US" altLang="zh-TW" b="1">
                <a:solidFill>
                  <a:schemeClr val="tx2"/>
                </a:solidFill>
              </a:rPr>
              <a:t> and </a:t>
            </a:r>
            <a:r>
              <a:rPr lang="en-US" altLang="zh-TW" b="1" i="1">
                <a:solidFill>
                  <a:schemeClr val="tx2"/>
                </a:solidFill>
              </a:rPr>
              <a:t>b</a:t>
            </a:r>
            <a:r>
              <a:rPr lang="en-US" altLang="zh-TW" b="1" baseline="-25000">
                <a:solidFill>
                  <a:schemeClr val="tx2"/>
                </a:solidFill>
              </a:rPr>
              <a:t>0</a:t>
            </a:r>
            <a:r>
              <a:rPr lang="en-US" altLang="zh-TW"/>
              <a:t>:</a:t>
            </a:r>
          </a:p>
        </p:txBody>
      </p:sp>
      <p:graphicFrame>
        <p:nvGraphicFramePr>
          <p:cNvPr id="34820" name="Object 4"/>
          <p:cNvGraphicFramePr>
            <a:graphicFrameLocks/>
          </p:cNvGraphicFramePr>
          <p:nvPr/>
        </p:nvGraphicFramePr>
        <p:xfrm>
          <a:off x="2900363" y="1154113"/>
          <a:ext cx="193675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4" name="Equation" r:id="rId5" imgW="203040" imgH="190440" progId="Equation.3">
                  <p:embed/>
                </p:oleObj>
              </mc:Choice>
              <mc:Fallback>
                <p:oleObj name="Equation" r:id="rId5" imgW="203040" imgH="1904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3" y="1154113"/>
                        <a:ext cx="193675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/>
          <p:cNvGraphicFramePr>
            <a:graphicFrameLocks/>
          </p:cNvGraphicFramePr>
          <p:nvPr/>
        </p:nvGraphicFramePr>
        <p:xfrm>
          <a:off x="4252913" y="1157288"/>
          <a:ext cx="19367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5" name="Equation" r:id="rId7" imgW="203040" imgH="266400" progId="Equation.3">
                  <p:embed/>
                </p:oleObj>
              </mc:Choice>
              <mc:Fallback>
                <p:oleObj name="Equation" r:id="rId7" imgW="203040" imgH="26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913" y="1157288"/>
                        <a:ext cx="193675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/>
          <p:cNvGraphicFramePr>
            <a:graphicFrameLocks/>
          </p:cNvGraphicFramePr>
          <p:nvPr/>
        </p:nvGraphicFramePr>
        <p:xfrm>
          <a:off x="5503863" y="981075"/>
          <a:ext cx="3079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6" name="Equation" r:id="rId9" imgW="317160" imgH="355320" progId="Equation.3">
                  <p:embed/>
                </p:oleObj>
              </mc:Choice>
              <mc:Fallback>
                <p:oleObj name="Equation" r:id="rId9" imgW="317160" imgH="3553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3863" y="981075"/>
                        <a:ext cx="30797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7"/>
          <p:cNvGraphicFramePr>
            <a:graphicFrameLocks/>
          </p:cNvGraphicFramePr>
          <p:nvPr/>
        </p:nvGraphicFramePr>
        <p:xfrm>
          <a:off x="6858000" y="1139825"/>
          <a:ext cx="32067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7" name="Equation" r:id="rId11" imgW="330120" imgH="266400" progId="Equation.3">
                  <p:embed/>
                </p:oleObj>
              </mc:Choice>
              <mc:Fallback>
                <p:oleObj name="Equation" r:id="rId11" imgW="330120" imgH="26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139825"/>
                        <a:ext cx="320675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8"/>
          <p:cNvGraphicFramePr>
            <a:graphicFrameLocks/>
          </p:cNvGraphicFramePr>
          <p:nvPr/>
        </p:nvGraphicFramePr>
        <p:xfrm>
          <a:off x="2562225" y="5586413"/>
          <a:ext cx="549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8" name="Equation" r:id="rId13" imgW="558720" imgH="456840" progId="Equation.3">
                  <p:embed/>
                </p:oleObj>
              </mc:Choice>
              <mc:Fallback>
                <p:oleObj name="Equation" r:id="rId13" imgW="558720" imgH="4568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5586413"/>
                        <a:ext cx="5492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9"/>
          <p:cNvGraphicFramePr>
            <a:graphicFrameLocks/>
          </p:cNvGraphicFramePr>
          <p:nvPr/>
        </p:nvGraphicFramePr>
        <p:xfrm>
          <a:off x="3957638" y="5583238"/>
          <a:ext cx="5619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9" name="Equation" r:id="rId15" imgW="571320" imgH="456840" progId="Equation.3">
                  <p:embed/>
                </p:oleObj>
              </mc:Choice>
              <mc:Fallback>
                <p:oleObj name="Equation" r:id="rId15" imgW="571320" imgH="4568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638" y="5583238"/>
                        <a:ext cx="5619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10"/>
          <p:cNvGraphicFramePr>
            <a:graphicFrameLocks/>
          </p:cNvGraphicFramePr>
          <p:nvPr/>
        </p:nvGraphicFramePr>
        <p:xfrm>
          <a:off x="5127625" y="5559425"/>
          <a:ext cx="7016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0" name="Equation" r:id="rId17" imgW="711000" imgH="482400" progId="Equation.3">
                  <p:embed/>
                </p:oleObj>
              </mc:Choice>
              <mc:Fallback>
                <p:oleObj name="Equation" r:id="rId17" imgW="711000" imgH="482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25" y="5559425"/>
                        <a:ext cx="7016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/>
          <p:cNvGraphicFramePr>
            <a:graphicFrameLocks/>
          </p:cNvGraphicFramePr>
          <p:nvPr/>
        </p:nvGraphicFramePr>
        <p:xfrm>
          <a:off x="6489700" y="5584825"/>
          <a:ext cx="6889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1" name="方程式" r:id="rId19" imgW="698400" imgH="456840" progId="Equation.3">
                  <p:embed/>
                </p:oleObj>
              </mc:Choice>
              <mc:Fallback>
                <p:oleObj name="方程式" r:id="rId19" imgW="698400" imgH="4568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9700" y="5584825"/>
                        <a:ext cx="6889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0164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zh-TW" sz="2400" b="1">
                <a:solidFill>
                  <a:schemeClr val="tx2"/>
                </a:solidFill>
              </a:rPr>
              <a:t>Finding </a:t>
            </a:r>
            <a:r>
              <a:rPr lang="en-US" altLang="zh-TW" sz="2400" b="1" i="1">
                <a:solidFill>
                  <a:schemeClr val="tx2"/>
                </a:solidFill>
              </a:rPr>
              <a:t>b</a:t>
            </a:r>
            <a:r>
              <a:rPr lang="en-US" altLang="zh-TW" sz="2400" b="1" baseline="-25000">
                <a:solidFill>
                  <a:schemeClr val="tx2"/>
                </a:solidFill>
              </a:rPr>
              <a:t>1</a:t>
            </a:r>
            <a:r>
              <a:rPr lang="en-US" altLang="zh-TW" sz="2400" b="1">
                <a:solidFill>
                  <a:schemeClr val="tx2"/>
                </a:solidFill>
              </a:rPr>
              <a:t> and </a:t>
            </a:r>
            <a:r>
              <a:rPr lang="en-US" altLang="zh-TW" sz="2400" b="1" i="1">
                <a:solidFill>
                  <a:schemeClr val="tx2"/>
                </a:solidFill>
              </a:rPr>
              <a:t>b</a:t>
            </a:r>
            <a:r>
              <a:rPr lang="en-US" altLang="zh-TW" sz="2400" b="1" baseline="-25000">
                <a:solidFill>
                  <a:schemeClr val="tx2"/>
                </a:solidFill>
              </a:rPr>
              <a:t>0</a:t>
            </a:r>
            <a:r>
              <a:rPr lang="en-US" altLang="zh-TW" sz="2400"/>
              <a:t>:</a:t>
            </a:r>
          </a:p>
          <a:p>
            <a:pPr>
              <a:buFontTx/>
              <a:buNone/>
            </a:pPr>
            <a:endParaRPr lang="en-US" altLang="zh-TW" sz="2400"/>
          </a:p>
          <a:p>
            <a:pPr>
              <a:buFontTx/>
              <a:buNone/>
            </a:pPr>
            <a:endParaRPr lang="zh-TW" altLang="en-US" sz="2400"/>
          </a:p>
        </p:txBody>
      </p:sp>
      <p:graphicFrame>
        <p:nvGraphicFramePr>
          <p:cNvPr id="35843" name="Object 3"/>
          <p:cNvGraphicFramePr>
            <a:graphicFrameLocks/>
          </p:cNvGraphicFramePr>
          <p:nvPr/>
        </p:nvGraphicFramePr>
        <p:xfrm>
          <a:off x="758825" y="703263"/>
          <a:ext cx="59213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7" name="Equation" r:id="rId3" imgW="5930640" imgH="1002960" progId="Equation.3">
                  <p:embed/>
                </p:oleObj>
              </mc:Choice>
              <mc:Fallback>
                <p:oleObj name="Equation" r:id="rId3" imgW="5930640" imgH="10029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703263"/>
                        <a:ext cx="59213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/>
          <p:cNvGraphicFramePr>
            <a:graphicFrameLocks/>
          </p:cNvGraphicFramePr>
          <p:nvPr/>
        </p:nvGraphicFramePr>
        <p:xfrm>
          <a:off x="758825" y="1955800"/>
          <a:ext cx="708977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8" name="Equation" r:id="rId5" imgW="7099200" imgH="850680" progId="Equation.3">
                  <p:embed/>
                </p:oleObj>
              </mc:Choice>
              <mc:Fallback>
                <p:oleObj name="Equation" r:id="rId5" imgW="7099200" imgH="8506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1955800"/>
                        <a:ext cx="7089775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/>
          <p:cNvGraphicFramePr>
            <a:graphicFrameLocks/>
          </p:cNvGraphicFramePr>
          <p:nvPr/>
        </p:nvGraphicFramePr>
        <p:xfrm>
          <a:off x="758825" y="3162300"/>
          <a:ext cx="345757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9" name="Equation" r:id="rId7" imgW="3466800" imgH="774360" progId="Equation.3">
                  <p:embed/>
                </p:oleObj>
              </mc:Choice>
              <mc:Fallback>
                <p:oleObj name="Equation" r:id="rId7" imgW="3466800" imgH="7743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3162300"/>
                        <a:ext cx="345757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/>
          <p:cNvGraphicFramePr>
            <a:graphicFrameLocks/>
          </p:cNvGraphicFramePr>
          <p:nvPr/>
        </p:nvGraphicFramePr>
        <p:xfrm>
          <a:off x="758825" y="4248150"/>
          <a:ext cx="62007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0" name="Equation" r:id="rId9" imgW="6210000" imgH="825480" progId="Equation.3">
                  <p:embed/>
                </p:oleObj>
              </mc:Choice>
              <mc:Fallback>
                <p:oleObj name="Equation" r:id="rId9" imgW="6210000" imgH="8254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4248150"/>
                        <a:ext cx="620077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/>
          </p:cNvGraphicFramePr>
          <p:nvPr/>
        </p:nvGraphicFramePr>
        <p:xfrm>
          <a:off x="758825" y="5414963"/>
          <a:ext cx="376237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1" name="方程式" r:id="rId11" imgW="3771720" imgH="787320" progId="Equation.3">
                  <p:embed/>
                </p:oleObj>
              </mc:Choice>
              <mc:Fallback>
                <p:oleObj name="方程式" r:id="rId11" imgW="3771720" imgH="7873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5414963"/>
                        <a:ext cx="376237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39858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/>
          </p:cNvGraphicFramePr>
          <p:nvPr/>
        </p:nvGraphicFramePr>
        <p:xfrm>
          <a:off x="309563" y="184150"/>
          <a:ext cx="8537575" cy="659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9" name="Graph Sheet" r:id="rId3" imgW="3352680" imgH="2590560" progId="GraphFileType">
                  <p:embed/>
                </p:oleObj>
              </mc:Choice>
              <mc:Fallback>
                <p:oleObj name="Graph Sheet" r:id="rId3" imgW="3352680" imgH="2590560" progId="GraphFileType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184150"/>
                        <a:ext cx="8537575" cy="659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zh-TW" sz="2400" b="1">
                <a:solidFill>
                  <a:schemeClr val="tx2"/>
                </a:solidFill>
              </a:rPr>
              <a:t>Scatter diagram</a:t>
            </a:r>
            <a:r>
              <a:rPr lang="en-US" altLang="zh-TW" sz="2400"/>
              <a:t>:</a:t>
            </a:r>
          </a:p>
          <a:p>
            <a:pPr>
              <a:buFontTx/>
              <a:buNone/>
            </a:pP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4444451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i="1" dirty="0">
                <a:solidFill>
                  <a:schemeClr val="tx2"/>
                </a:solidFill>
              </a:rPr>
              <a:t>Note</a:t>
            </a:r>
            <a:r>
              <a:rPr lang="en-US" altLang="zh-TW" sz="2400" dirty="0"/>
              <a:t>:</a:t>
            </a:r>
          </a:p>
          <a:p>
            <a:pPr marL="457200" indent="-457200">
              <a:buFontTx/>
              <a:buAutoNum type="arabicPeriod"/>
              <a:tabLst>
                <a:tab pos="341313" algn="l"/>
              </a:tabLst>
            </a:pPr>
            <a:r>
              <a:rPr lang="en-US" altLang="zh-TW" sz="2400" dirty="0" smtClean="0"/>
              <a:t>The </a:t>
            </a:r>
            <a:r>
              <a:rPr lang="en-US" altLang="zh-TW" sz="2400" dirty="0"/>
              <a:t>slope </a:t>
            </a:r>
            <a:r>
              <a:rPr lang="en-US" altLang="zh-TW" sz="2400" i="1" dirty="0"/>
              <a:t>b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 represents the predicted change in </a:t>
            </a:r>
            <a:r>
              <a:rPr lang="en-US" altLang="zh-TW" sz="2400" i="1" dirty="0"/>
              <a:t>y</a:t>
            </a:r>
            <a:r>
              <a:rPr lang="en-US" altLang="zh-TW" sz="2400" dirty="0"/>
              <a:t> per unit </a:t>
            </a:r>
            <a:r>
              <a:rPr lang="en-US" altLang="zh-TW" sz="2400" dirty="0" smtClean="0"/>
              <a:t>increase </a:t>
            </a:r>
            <a:r>
              <a:rPr lang="en-US" altLang="zh-TW" sz="2400" dirty="0"/>
              <a:t>in </a:t>
            </a:r>
            <a:r>
              <a:rPr lang="en-US" altLang="zh-TW" sz="2400" i="1" dirty="0"/>
              <a:t>x</a:t>
            </a:r>
            <a:r>
              <a:rPr lang="en-US" altLang="zh-TW" sz="2400" dirty="0"/>
              <a:t>.</a:t>
            </a:r>
          </a:p>
          <a:p>
            <a:pPr marL="457200" indent="-457200">
              <a:buAutoNum type="arabicPeriod" startAt="2"/>
              <a:tabLst>
                <a:tab pos="341313" algn="l"/>
              </a:tabLst>
            </a:pPr>
            <a:r>
              <a:rPr lang="en-US" altLang="zh-TW" sz="2400" dirty="0" smtClean="0"/>
              <a:t>The </a:t>
            </a:r>
            <a:r>
              <a:rPr lang="en-US" altLang="zh-TW" sz="2400" i="1" dirty="0"/>
              <a:t>y</a:t>
            </a:r>
            <a:r>
              <a:rPr lang="en-US" altLang="zh-TW" sz="2400" dirty="0"/>
              <a:t>-intercept is the value of </a:t>
            </a:r>
            <a:r>
              <a:rPr lang="en-US" altLang="zh-TW" sz="2400" i="1" dirty="0"/>
              <a:t>y</a:t>
            </a:r>
            <a:r>
              <a:rPr lang="en-US" altLang="zh-TW" sz="2400" dirty="0"/>
              <a:t> where the line of best fit </a:t>
            </a:r>
            <a:r>
              <a:rPr lang="en-US" altLang="zh-TW" sz="2400" dirty="0" smtClean="0"/>
              <a:t>intersects </a:t>
            </a:r>
            <a:r>
              <a:rPr lang="en-US" altLang="zh-TW" sz="2400" dirty="0"/>
              <a:t>the </a:t>
            </a:r>
            <a:r>
              <a:rPr lang="en-US" altLang="zh-TW" sz="2400" i="1" dirty="0"/>
              <a:t>y</a:t>
            </a:r>
            <a:r>
              <a:rPr lang="en-US" altLang="zh-TW" sz="2400" dirty="0"/>
              <a:t>-axis.</a:t>
            </a:r>
          </a:p>
          <a:p>
            <a:pPr marL="457200" indent="-457200">
              <a:buFontTx/>
              <a:buAutoNum type="arabicPeriod" startAt="2"/>
              <a:tabLst>
                <a:tab pos="341313" algn="l"/>
              </a:tabLst>
            </a:pPr>
            <a:r>
              <a:rPr lang="en-US" altLang="zh-TW" sz="2400" dirty="0" smtClean="0"/>
              <a:t>The </a:t>
            </a:r>
            <a:r>
              <a:rPr lang="en-US" altLang="zh-TW" sz="2400" dirty="0"/>
              <a:t>line of best fit will always pass through the point</a:t>
            </a:r>
          </a:p>
        </p:txBody>
      </p:sp>
      <p:graphicFrame>
        <p:nvGraphicFramePr>
          <p:cNvPr id="37891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777828"/>
              </p:ext>
            </p:extLst>
          </p:nvPr>
        </p:nvGraphicFramePr>
        <p:xfrm>
          <a:off x="1219200" y="2819400"/>
          <a:ext cx="6889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33" name="方程式" r:id="rId3" imgW="698400" imgH="393480" progId="Equation.3">
                  <p:embed/>
                </p:oleObj>
              </mc:Choice>
              <mc:Fallback>
                <p:oleObj name="方程式" r:id="rId3" imgW="698400" imgH="3934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819400"/>
                        <a:ext cx="6889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3219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b="1" dirty="0">
                <a:solidFill>
                  <a:schemeClr val="hlink"/>
                </a:solidFill>
              </a:rPr>
              <a:t>Making predictions</a:t>
            </a:r>
            <a:r>
              <a:rPr lang="en-US" altLang="zh-TW" sz="2400" dirty="0"/>
              <a:t>: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/>
              <a:t>1.	One of the main purposes for obtaining a regression 		equation is for making predictions.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/>
              <a:t>2.	For a given value of </a:t>
            </a:r>
            <a:r>
              <a:rPr lang="en-US" altLang="zh-TW" sz="2400" i="1" dirty="0"/>
              <a:t>x</a:t>
            </a:r>
            <a:r>
              <a:rPr lang="en-US" altLang="zh-TW" sz="2400" dirty="0"/>
              <a:t>, we can predict a value of </a:t>
            </a:r>
            <a:r>
              <a:rPr lang="en-US" altLang="zh-TW" sz="2400" i="1" dirty="0"/>
              <a:t>y,</a:t>
            </a:r>
          </a:p>
          <a:p>
            <a:pPr marL="457200" indent="-457200">
              <a:buFontTx/>
              <a:buAutoNum type="arabicPeriod" startAt="3"/>
              <a:tabLst>
                <a:tab pos="341313" algn="l"/>
              </a:tabLst>
            </a:pPr>
            <a:r>
              <a:rPr lang="en-US" altLang="zh-TW" sz="2400" dirty="0" smtClean="0"/>
              <a:t>The </a:t>
            </a:r>
            <a:r>
              <a:rPr lang="en-US" altLang="zh-TW" sz="2400" dirty="0"/>
              <a:t>regression equation should be used to make 			predictions only about the population from which the 		sample was drawn.</a:t>
            </a:r>
          </a:p>
          <a:p>
            <a:pPr marL="0" indent="0">
              <a:buNone/>
              <a:tabLst>
                <a:tab pos="341313" algn="l"/>
              </a:tabLst>
            </a:pPr>
            <a:r>
              <a:rPr lang="en-US" altLang="zh-TW" sz="2400" dirty="0"/>
              <a:t>4</a:t>
            </a:r>
            <a:r>
              <a:rPr lang="en-US" altLang="zh-TW" sz="2400" dirty="0" smtClean="0"/>
              <a:t>.</a:t>
            </a:r>
            <a:r>
              <a:rPr lang="en-US" altLang="zh-TW" sz="2400" dirty="0"/>
              <a:t>	Use current data.  A sample taken in 1987 </a:t>
            </a:r>
            <a:r>
              <a:rPr lang="en-US" altLang="zh-TW" sz="2400" dirty="0" smtClean="0"/>
              <a:t>may or may not be feasible data used </a:t>
            </a:r>
            <a:r>
              <a:rPr lang="en-US" altLang="zh-TW" sz="2400" smtClean="0"/>
              <a:t>for making predictions </a:t>
            </a:r>
            <a:r>
              <a:rPr lang="en-US" altLang="zh-TW" sz="2400" dirty="0"/>
              <a:t>in 1999.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 dirty="0"/>
          </a:p>
        </p:txBody>
      </p:sp>
      <p:graphicFrame>
        <p:nvGraphicFramePr>
          <p:cNvPr id="38915" name="Object 3"/>
          <p:cNvGraphicFramePr>
            <a:graphicFrameLocks/>
          </p:cNvGraphicFramePr>
          <p:nvPr/>
        </p:nvGraphicFramePr>
        <p:xfrm>
          <a:off x="7308850" y="1568450"/>
          <a:ext cx="4222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5" name="方程式" r:id="rId3" imgW="431640" imgH="330120" progId="Equation.3">
                  <p:embed/>
                </p:oleObj>
              </mc:Choice>
              <mc:Fallback>
                <p:oleObj name="方程式" r:id="rId3" imgW="431640" imgH="3301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1568450"/>
                        <a:ext cx="42227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785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10136</TotalTime>
  <Words>1666</Words>
  <Application>Microsoft Macintosh PowerPoint</Application>
  <PresentationFormat>如螢幕大小 (4:3)</PresentationFormat>
  <Paragraphs>336</Paragraphs>
  <Slides>46</Slides>
  <Notes>23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伺服器</vt:lpstr>
      </vt:variant>
      <vt:variant>
        <vt:i4>8</vt:i4>
      </vt:variant>
      <vt:variant>
        <vt:lpstr>投影片標題</vt:lpstr>
      </vt:variant>
      <vt:variant>
        <vt:i4>46</vt:i4>
      </vt:variant>
    </vt:vector>
  </HeadingPairs>
  <TitlesOfParts>
    <vt:vector size="55" baseType="lpstr">
      <vt:lpstr>Office Theme</vt:lpstr>
      <vt:lpstr>Bitmap Image</vt:lpstr>
      <vt:lpstr>Picture</vt:lpstr>
      <vt:lpstr>圖片</vt:lpstr>
      <vt:lpstr>Equation</vt:lpstr>
      <vt:lpstr>方程式</vt:lpstr>
      <vt:lpstr>工作表</vt:lpstr>
      <vt:lpstr>Worksheet</vt:lpstr>
      <vt:lpstr>Graph Sheet</vt:lpstr>
      <vt:lpstr>ISA5577 Applied Quantitative Methods for Human-Computer Interaction 人機互動量化研究方法   May 4, 2015</vt:lpstr>
      <vt:lpstr>Today’s Agenda</vt:lpstr>
      <vt:lpstr>Steps in Empirical Research (1)</vt:lpstr>
      <vt:lpstr>Steps in Empirical Research (2)</vt:lpstr>
      <vt:lpstr>Research Paper</vt:lpstr>
      <vt:lpstr>Organization of a Research Paper</vt:lpstr>
      <vt:lpstr>Example Publication† </vt:lpstr>
      <vt:lpstr>Title, Author(s), Affiliation(s) </vt:lpstr>
      <vt:lpstr>Abstract </vt:lpstr>
      <vt:lpstr>Keywords </vt:lpstr>
      <vt:lpstr>Introduction </vt:lpstr>
      <vt:lpstr>Method </vt:lpstr>
      <vt:lpstr>Method - Participants </vt:lpstr>
      <vt:lpstr>Method - Apparatus </vt:lpstr>
      <vt:lpstr>Method - Procedure </vt:lpstr>
      <vt:lpstr>Method - Design </vt:lpstr>
      <vt:lpstr>Results and Discussion </vt:lpstr>
      <vt:lpstr>Results and Discussion (2) </vt:lpstr>
      <vt:lpstr>Conclusion </vt:lpstr>
      <vt:lpstr>Acknowledgment </vt:lpstr>
      <vt:lpstr>References </vt:lpstr>
      <vt:lpstr>CHI Extended Abstract</vt:lpstr>
      <vt:lpstr>Why Machine Learning? Overwhelmed with data…</vt:lpstr>
      <vt:lpstr>What do we do with all of it?</vt:lpstr>
      <vt:lpstr>Machine Learning in Practice  – Mind Reading</vt:lpstr>
      <vt:lpstr>Machine learning example…. Processing conversational data</vt:lpstr>
      <vt:lpstr>Triggering feedback for collaborative idea generation…</vt:lpstr>
      <vt:lpstr>How does machine learning work?</vt:lpstr>
      <vt:lpstr>How does machine learning work?</vt:lpstr>
      <vt:lpstr>How does machine learning work?</vt:lpstr>
      <vt:lpstr>What is machine learning?</vt:lpstr>
      <vt:lpstr>What will be the prediction?</vt:lpstr>
      <vt:lpstr>Terminology</vt:lpstr>
      <vt:lpstr>Styles of Learning</vt:lpstr>
      <vt:lpstr>PowerPoint 簡報</vt:lpstr>
      <vt:lpstr>Linear Regression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Cornell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5441 Social Computing TA</dc:title>
  <dc:creator>Hao-Chuan Wang</dc:creator>
  <cp:lastModifiedBy>HC WANG</cp:lastModifiedBy>
  <cp:revision>610</cp:revision>
  <dcterms:created xsi:type="dcterms:W3CDTF">2012-02-07T03:56:58Z</dcterms:created>
  <dcterms:modified xsi:type="dcterms:W3CDTF">2015-05-04T01:08:52Z</dcterms:modified>
</cp:coreProperties>
</file>