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  <p:sldMasterId id="2147483771" r:id="rId2"/>
  </p:sldMasterIdLst>
  <p:notesMasterIdLst>
    <p:notesMasterId r:id="rId59"/>
  </p:notesMasterIdLst>
  <p:handoutMasterIdLst>
    <p:handoutMasterId r:id="rId60"/>
  </p:handoutMasterIdLst>
  <p:sldIdLst>
    <p:sldId id="360" r:id="rId3"/>
    <p:sldId id="361" r:id="rId4"/>
    <p:sldId id="296" r:id="rId5"/>
    <p:sldId id="362" r:id="rId6"/>
    <p:sldId id="329" r:id="rId7"/>
    <p:sldId id="369" r:id="rId8"/>
    <p:sldId id="331" r:id="rId9"/>
    <p:sldId id="332" r:id="rId10"/>
    <p:sldId id="333" r:id="rId11"/>
    <p:sldId id="334" r:id="rId12"/>
    <p:sldId id="335" r:id="rId13"/>
    <p:sldId id="297" r:id="rId14"/>
    <p:sldId id="336" r:id="rId15"/>
    <p:sldId id="337" r:id="rId16"/>
    <p:sldId id="298" r:id="rId17"/>
    <p:sldId id="338" r:id="rId18"/>
    <p:sldId id="339" r:id="rId19"/>
    <p:sldId id="364" r:id="rId20"/>
    <p:sldId id="301" r:id="rId21"/>
    <p:sldId id="302" r:id="rId22"/>
    <p:sldId id="365" r:id="rId23"/>
    <p:sldId id="366" r:id="rId24"/>
    <p:sldId id="307" r:id="rId25"/>
    <p:sldId id="377" r:id="rId26"/>
    <p:sldId id="378" r:id="rId27"/>
    <p:sldId id="367" r:id="rId28"/>
    <p:sldId id="376" r:id="rId29"/>
    <p:sldId id="368" r:id="rId30"/>
    <p:sldId id="380" r:id="rId31"/>
    <p:sldId id="309" r:id="rId32"/>
    <p:sldId id="310" r:id="rId33"/>
    <p:sldId id="312" r:id="rId34"/>
    <p:sldId id="313" r:id="rId35"/>
    <p:sldId id="341" r:id="rId36"/>
    <p:sldId id="342" r:id="rId37"/>
    <p:sldId id="344" r:id="rId38"/>
    <p:sldId id="343" r:id="rId39"/>
    <p:sldId id="314" r:id="rId40"/>
    <p:sldId id="345" r:id="rId41"/>
    <p:sldId id="346" r:id="rId42"/>
    <p:sldId id="347" r:id="rId43"/>
    <p:sldId id="348" r:id="rId44"/>
    <p:sldId id="349" r:id="rId45"/>
    <p:sldId id="379" r:id="rId46"/>
    <p:sldId id="350" r:id="rId47"/>
    <p:sldId id="351" r:id="rId48"/>
    <p:sldId id="352" r:id="rId49"/>
    <p:sldId id="353" r:id="rId50"/>
    <p:sldId id="357" r:id="rId51"/>
    <p:sldId id="373" r:id="rId52"/>
    <p:sldId id="374" r:id="rId53"/>
    <p:sldId id="375" r:id="rId54"/>
    <p:sldId id="381" r:id="rId55"/>
    <p:sldId id="386" r:id="rId56"/>
    <p:sldId id="383" r:id="rId57"/>
    <p:sldId id="385" r:id="rId58"/>
  </p:sldIdLst>
  <p:sldSz cx="9144000" cy="6858000" type="screen4x3"/>
  <p:notesSz cx="9939338" cy="6807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CC00"/>
    <a:srgbClr val="CC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96" autoAdjust="0"/>
  </p:normalViewPr>
  <p:slideViewPr>
    <p:cSldViewPr snapToGrid="0">
      <p:cViewPr varScale="1">
        <p:scale>
          <a:sx n="63" d="100"/>
          <a:sy n="63" d="100"/>
        </p:scale>
        <p:origin x="9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165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497" y="0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165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67079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165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497" y="6467079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165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fld id="{E05E3860-BF9B-48E1-9018-FDC981352F0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3274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165" eaLnBrk="0" hangingPunct="0">
              <a:defRPr kumimoji="0" sz="1300">
                <a:latin typeface="Times New Roman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497" y="0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165" eaLnBrk="0" hangingPunct="0">
              <a:defRPr kumimoji="0" sz="1300">
                <a:latin typeface="Times New Roman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0" y="511175"/>
            <a:ext cx="3400425" cy="2551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246" y="3234335"/>
            <a:ext cx="7288848" cy="306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67079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165" eaLnBrk="0" hangingPunct="0">
              <a:defRPr kumimoji="0" sz="1300">
                <a:latin typeface="Times New Roman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497" y="6467079"/>
            <a:ext cx="4307841" cy="34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165" eaLnBrk="0" hangingPunct="0">
              <a:defRPr kumimoji="0" sz="1300">
                <a:latin typeface="Times New Roman" charset="0"/>
                <a:ea typeface="新細明體" charset="-120"/>
              </a:defRPr>
            </a:lvl1pPr>
          </a:lstStyle>
          <a:p>
            <a:pPr>
              <a:defRPr/>
            </a:pPr>
            <a:fld id="{036CAD7F-FE66-4EA8-BA56-A405834C62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37208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949CF83-701D-4144-9CDF-C69ED144812A}" type="slidenum">
              <a:rPr kumimoji="0" lang="zh-TW" altLang="en-US" sz="1300">
                <a:latin typeface="Times New Roman" pitchFamily="18" charset="0"/>
              </a:rPr>
              <a:pPr/>
              <a:t>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7CC3A29A-53F1-49B7-BE22-7976C0FD70EE}" type="slidenum">
              <a:rPr kumimoji="0" lang="zh-TW" altLang="en-US" sz="1300">
                <a:latin typeface="Times New Roman" pitchFamily="18" charset="0"/>
              </a:rPr>
              <a:pPr/>
              <a:t>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13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7AF67563-2532-4AE9-8790-3C7E3C482A94}" type="slidenum">
              <a:rPr kumimoji="0" lang="zh-TW" altLang="en-US" sz="1300">
                <a:latin typeface="Times New Roman" pitchFamily="18" charset="0"/>
              </a:rPr>
              <a:pPr/>
              <a:t>3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6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DFC839FE-1D12-4999-921C-57081988E919}" type="slidenum">
              <a:rPr kumimoji="0" lang="zh-TW" altLang="en-US" sz="1300">
                <a:latin typeface="Times New Roman" pitchFamily="18" charset="0"/>
              </a:rPr>
              <a:pPr/>
              <a:t>4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097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A073FF3E-F563-412B-8062-717A5E9B7822}" type="slidenum">
              <a:rPr kumimoji="0" lang="zh-TW" altLang="en-US" sz="1300">
                <a:latin typeface="Times New Roman" pitchFamily="18" charset="0"/>
              </a:rPr>
              <a:pPr/>
              <a:t>5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542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FBE78A4B-4FA7-4BC3-A1D9-6DB39685979A}" type="slidenum">
              <a:rPr kumimoji="0" lang="zh-TW" altLang="en-US" sz="1300">
                <a:latin typeface="Times New Roman" pitchFamily="18" charset="0"/>
              </a:rPr>
              <a:pPr/>
              <a:t>6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445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56FFDE1-C4BF-429C-8F37-E0CD7871EC71}" type="slidenum">
              <a:rPr kumimoji="0" lang="zh-TW" altLang="en-US" sz="1300">
                <a:latin typeface="Times New Roman" pitchFamily="18" charset="0"/>
              </a:rPr>
              <a:pPr/>
              <a:t>7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636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6F606D5C-1A15-49ED-AF64-B7974313CD91}" type="slidenum">
              <a:rPr kumimoji="0" lang="zh-TW" altLang="en-US" sz="1300">
                <a:latin typeface="Times New Roman" pitchFamily="18" charset="0"/>
              </a:rPr>
              <a:pPr/>
              <a:t>8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51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0389E51C-622E-4667-84C4-D13CEE980C2D}" type="slidenum">
              <a:rPr kumimoji="0" lang="zh-TW" altLang="en-US" sz="1300">
                <a:latin typeface="Times New Roman" pitchFamily="18" charset="0"/>
              </a:rPr>
              <a:pPr/>
              <a:t>9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11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C194E72C-FF97-4D87-9116-882666F1EE26}" type="slidenum">
              <a:rPr kumimoji="0" lang="zh-TW" altLang="en-US" sz="1300">
                <a:latin typeface="Times New Roman" pitchFamily="18" charset="0"/>
              </a:rPr>
              <a:pPr/>
              <a:t>10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044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0855D0D1-E710-4868-A018-40DBF474361E}" type="slidenum">
              <a:rPr kumimoji="0" lang="zh-TW" altLang="en-US" sz="1300">
                <a:latin typeface="Times New Roman" pitchFamily="18" charset="0"/>
              </a:rPr>
              <a:pPr/>
              <a:t>11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17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F44309C-5B4F-419E-B9F8-0B826C1BAFD3}" type="slidenum">
              <a:rPr kumimoji="0" lang="zh-TW" altLang="en-US" sz="1300">
                <a:latin typeface="Times New Roman" pitchFamily="18" charset="0"/>
              </a:rPr>
              <a:pPr/>
              <a:t>12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42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2C8407D-0916-4E4D-B5C8-90859DE8858C}" type="slidenum">
              <a:rPr kumimoji="0" lang="zh-TW" altLang="en-US" sz="1300">
                <a:latin typeface="Times New Roman" pitchFamily="18" charset="0"/>
              </a:rPr>
              <a:pPr/>
              <a:t>13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276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EA71407-E96C-43DF-9E83-3785D5524833}" type="slidenum">
              <a:rPr kumimoji="0" lang="zh-TW" altLang="en-US" sz="1300">
                <a:latin typeface="Times New Roman" pitchFamily="18" charset="0"/>
              </a:rPr>
              <a:pPr/>
              <a:t>14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907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8039928-F6A9-4739-8160-C89459996F37}" type="slidenum">
              <a:rPr kumimoji="0" lang="zh-TW" altLang="en-US" sz="1300">
                <a:latin typeface="Times New Roman" pitchFamily="18" charset="0"/>
              </a:rPr>
              <a:pPr/>
              <a:t>15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489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FEC55A02-8F8C-40F4-9A78-8803B1D4D4F7}" type="slidenum">
              <a:rPr kumimoji="0" lang="zh-TW" altLang="en-US" sz="1300">
                <a:latin typeface="Times New Roman" pitchFamily="18" charset="0"/>
              </a:rPr>
              <a:pPr/>
              <a:t>16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355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6F869B5F-59F4-4928-8F1A-C1C988108C9E}" type="slidenum">
              <a:rPr kumimoji="0" lang="zh-TW" altLang="en-US" sz="1300">
                <a:latin typeface="Times New Roman" pitchFamily="18" charset="0"/>
              </a:rPr>
              <a:pPr/>
              <a:t>17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556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8C39E495-494A-4198-84A4-1DC85ABD3DF7}" type="slidenum">
              <a:rPr kumimoji="0" lang="zh-TW" altLang="en-US" sz="1300">
                <a:latin typeface="Times New Roman" pitchFamily="18" charset="0"/>
              </a:rPr>
              <a:pPr/>
              <a:t>18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62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54AE7DCB-0786-400C-A1E1-8C0AEAF62DE5}" type="slidenum">
              <a:rPr kumimoji="0" lang="zh-TW" altLang="en-US" sz="1300">
                <a:latin typeface="Times New Roman" pitchFamily="18" charset="0"/>
              </a:rPr>
              <a:pPr/>
              <a:t>19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579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4F57C655-39BF-4997-80B8-C24C5F6AD6A1}" type="slidenum">
              <a:rPr kumimoji="0" lang="zh-TW" altLang="en-US" sz="1300">
                <a:latin typeface="Times New Roman" pitchFamily="18" charset="0"/>
              </a:rPr>
              <a:pPr/>
              <a:t>20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0172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3A56B7D5-AF10-4E12-B609-53A4FBEC12B3}" type="slidenum">
              <a:rPr kumimoji="0" lang="zh-TW" altLang="en-US" sz="1300">
                <a:latin typeface="Times New Roman" pitchFamily="18" charset="0"/>
              </a:rPr>
              <a:pPr/>
              <a:t>21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15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4077B1E3-D05D-445E-86F5-642248B137FA}" type="slidenum">
              <a:rPr kumimoji="0" lang="zh-TW" altLang="en-US" sz="1300">
                <a:latin typeface="Times New Roman" pitchFamily="18" charset="0"/>
              </a:rPr>
              <a:pPr/>
              <a:t>22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80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B401F04-36F3-48C9-94A6-4DC2023661A9}" type="slidenum">
              <a:rPr kumimoji="0" lang="zh-TW" altLang="en-US" sz="1300">
                <a:latin typeface="Times New Roman" pitchFamily="18" charset="0"/>
              </a:rPr>
              <a:pPr/>
              <a:t>23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438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C91BEF1A-E6FF-45B1-AB97-EA6F179F8A56}" type="slidenum">
              <a:rPr kumimoji="0" lang="zh-TW" altLang="en-US" sz="1300">
                <a:latin typeface="Times New Roman" pitchFamily="18" charset="0"/>
              </a:rPr>
              <a:pPr/>
              <a:t>24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64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B3D4EDA1-C567-41D0-B6B7-47C18EA1AD2F}" type="slidenum">
              <a:rPr kumimoji="0" lang="zh-TW" altLang="en-US" sz="1300">
                <a:latin typeface="Times New Roman" pitchFamily="18" charset="0"/>
              </a:rPr>
              <a:pPr/>
              <a:t>25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761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0B797F7-D009-4843-860E-FB9946B3EA35}" type="slidenum">
              <a:rPr kumimoji="0" lang="zh-TW" altLang="en-US" sz="1300">
                <a:latin typeface="Times New Roman" pitchFamily="18" charset="0"/>
              </a:rPr>
              <a:pPr/>
              <a:t>26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53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32C4B9C4-757C-41CE-97F5-D1185A1CAF7C}" type="slidenum">
              <a:rPr kumimoji="0" lang="zh-TW" altLang="en-US" sz="1300">
                <a:latin typeface="Times New Roman" pitchFamily="18" charset="0"/>
              </a:rPr>
              <a:pPr/>
              <a:t>27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547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2F88CA8A-AB45-4D87-8586-52582D811108}" type="slidenum">
              <a:rPr kumimoji="0" lang="zh-TW" altLang="en-US" sz="1300">
                <a:latin typeface="Times New Roman" pitchFamily="18" charset="0"/>
              </a:rPr>
              <a:pPr/>
              <a:t>28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01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AD3ED97D-DA3D-43C1-A1B9-07D950B815B8}" type="slidenum">
              <a:rPr kumimoji="0" lang="zh-TW" altLang="en-US" sz="1300">
                <a:latin typeface="Times New Roman" pitchFamily="18" charset="0"/>
              </a:rPr>
              <a:pPr/>
              <a:t>29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46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64573D5-98A6-448D-B1BF-B863C8CB421D}" type="slidenum">
              <a:rPr kumimoji="0" lang="zh-TW" altLang="en-US" sz="1300">
                <a:latin typeface="Times New Roman" pitchFamily="18" charset="0"/>
              </a:rPr>
              <a:pPr/>
              <a:t>30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5638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D9D43041-1527-427F-BDC3-326BA5248177}" type="slidenum">
              <a:rPr kumimoji="0" lang="zh-TW" altLang="en-US" sz="1300">
                <a:latin typeface="Times New Roman" pitchFamily="18" charset="0"/>
              </a:rPr>
              <a:pPr/>
              <a:t>31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96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78171C75-82A8-40E7-A698-803E5331163F}" type="slidenum">
              <a:rPr kumimoji="0" lang="zh-TW" altLang="en-US" sz="1300">
                <a:latin typeface="Times New Roman" pitchFamily="18" charset="0"/>
              </a:rPr>
              <a:pPr/>
              <a:t>32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00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A8BA31D1-728F-440D-811F-683B671A2943}" type="slidenum">
              <a:rPr kumimoji="0" lang="zh-TW" altLang="en-US" sz="1300">
                <a:latin typeface="Times New Roman" pitchFamily="18" charset="0"/>
              </a:rPr>
              <a:pPr/>
              <a:t>33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367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0A77FC51-1C1D-416F-A810-26B12E01F159}" type="slidenum">
              <a:rPr kumimoji="0" lang="zh-TW" altLang="en-US" sz="1300">
                <a:latin typeface="Times New Roman" pitchFamily="18" charset="0"/>
              </a:rPr>
              <a:pPr/>
              <a:t>34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914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7EA5FF26-C8B5-4D47-A63F-F45B5C91324B}" type="slidenum">
              <a:rPr kumimoji="0" lang="zh-TW" altLang="en-US" sz="1300">
                <a:latin typeface="Times New Roman" pitchFamily="18" charset="0"/>
              </a:rPr>
              <a:pPr/>
              <a:t>35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60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6F37B904-A128-4D91-B2A6-117AC6D9FCEB}" type="slidenum">
              <a:rPr kumimoji="0" lang="zh-TW" altLang="en-US" sz="1300">
                <a:latin typeface="Times New Roman" pitchFamily="18" charset="0"/>
              </a:rPr>
              <a:pPr/>
              <a:t>36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98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7931D646-B9A4-4AF1-A30A-0661A701B301}" type="slidenum">
              <a:rPr kumimoji="0" lang="zh-TW" altLang="en-US" sz="1300">
                <a:latin typeface="Times New Roman" pitchFamily="18" charset="0"/>
              </a:rPr>
              <a:pPr/>
              <a:t>37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366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59B0C7BB-C32D-4493-AE16-54D73CAFAAEE}" type="slidenum">
              <a:rPr kumimoji="0" lang="zh-TW" altLang="en-US" sz="1300">
                <a:latin typeface="Times New Roman" pitchFamily="18" charset="0"/>
              </a:rPr>
              <a:pPr/>
              <a:t>38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6492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3B3809D1-36C3-40DA-9F5E-D1A9EBE30754}" type="slidenum">
              <a:rPr kumimoji="0" lang="zh-TW" altLang="en-US" sz="1300">
                <a:latin typeface="Times New Roman" pitchFamily="18" charset="0"/>
              </a:rPr>
              <a:pPr/>
              <a:t>39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8466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3EFB3250-666E-4697-AD66-43CDDA79C48A}" type="slidenum">
              <a:rPr kumimoji="0" lang="zh-TW" altLang="en-US" sz="1300">
                <a:latin typeface="Times New Roman" pitchFamily="18" charset="0"/>
              </a:rPr>
              <a:pPr/>
              <a:t>40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081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E65A5EA7-58A5-4A1E-8D3D-33B11D0A8223}" type="slidenum">
              <a:rPr kumimoji="0" lang="zh-TW" altLang="en-US" sz="1300">
                <a:latin typeface="Times New Roman" pitchFamily="18" charset="0"/>
              </a:rPr>
              <a:pPr/>
              <a:t>41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556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236637C4-1F4B-4A59-AF48-648BCAD9A99B}" type="slidenum">
              <a:rPr kumimoji="0" lang="zh-TW" altLang="en-US" sz="1300">
                <a:latin typeface="Times New Roman" pitchFamily="18" charset="0"/>
              </a:rPr>
              <a:pPr/>
              <a:t>42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1192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8156F928-E7DB-40CE-85E0-60EE167CA46B}" type="slidenum">
              <a:rPr kumimoji="0" lang="zh-TW" altLang="en-US" sz="1300">
                <a:latin typeface="Times New Roman" pitchFamily="18" charset="0"/>
              </a:rPr>
              <a:pPr/>
              <a:t>43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368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BE6B9E3F-9DC2-4D2E-8260-6EC40E98DEBA}" type="slidenum">
              <a:rPr kumimoji="0" lang="zh-TW" altLang="en-US" sz="1300">
                <a:latin typeface="Times New Roman" pitchFamily="18" charset="0"/>
              </a:rPr>
              <a:pPr/>
              <a:t>44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7593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6E2576F-E286-457C-AF1E-F540518383EF}" type="slidenum">
              <a:rPr kumimoji="0" lang="zh-TW" altLang="en-US" sz="1300">
                <a:latin typeface="Times New Roman" pitchFamily="18" charset="0"/>
              </a:rPr>
              <a:pPr/>
              <a:t>45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9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A49E022-7A8A-4B00-96AE-BA449C8618DD}" type="slidenum">
              <a:rPr kumimoji="0" lang="zh-TW" altLang="en-US" sz="1300">
                <a:latin typeface="Times New Roman" pitchFamily="18" charset="0"/>
              </a:rPr>
              <a:pPr/>
              <a:t>46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155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181E788-7E58-4E9C-8EA5-59BF4908C8EE}" type="slidenum">
              <a:rPr kumimoji="0" lang="zh-TW" altLang="en-US" sz="1300">
                <a:latin typeface="Times New Roman" pitchFamily="18" charset="0"/>
              </a:rPr>
              <a:pPr/>
              <a:t>47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295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6FAE2752-6026-4AB6-8ADF-79C47CCEE766}" type="slidenum">
              <a:rPr kumimoji="0" lang="zh-TW" altLang="en-US" sz="1300">
                <a:latin typeface="Times New Roman" pitchFamily="18" charset="0"/>
              </a:rPr>
              <a:pPr/>
              <a:t>48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4438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512003E-D2D0-4FBF-8AC7-057BFA719C2A}" type="slidenum">
              <a:rPr kumimoji="0" lang="zh-TW" altLang="en-US" sz="1300">
                <a:latin typeface="Times New Roman" pitchFamily="18" charset="0"/>
              </a:rPr>
              <a:pPr/>
              <a:t>49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778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0569A5F-32DB-40E6-8B34-A32D15CE543C}" type="slidenum">
              <a:rPr kumimoji="0" lang="zh-TW" altLang="en-US" sz="1300">
                <a:latin typeface="Times New Roman" pitchFamily="18" charset="0"/>
              </a:rPr>
              <a:pPr/>
              <a:t>50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140" y="3234335"/>
            <a:ext cx="7953059" cy="30610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8867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EDE44F4B-80CA-4594-A663-F9D64478EDEF}" type="slidenum">
              <a:rPr kumimoji="0" lang="zh-TW" altLang="en-US" sz="1300">
                <a:latin typeface="Times New Roman" pitchFamily="18" charset="0"/>
              </a:rPr>
              <a:pPr/>
              <a:t>51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140" y="3234335"/>
            <a:ext cx="7953059" cy="30610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1692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defTabSz="96616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defTabSz="96616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16955B67-5AF5-4EA4-957B-E8C6088FC3D6}" type="slidenum">
              <a:rPr kumimoji="0" lang="zh-TW" altLang="en-US" sz="1300">
                <a:latin typeface="Times New Roman" pitchFamily="18" charset="0"/>
              </a:rPr>
              <a:pPr/>
              <a:t>52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140" y="3234335"/>
            <a:ext cx="7953059" cy="30610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9224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6957078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394851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23174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8785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5571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5571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CC075-4742-4115-A9A7-46E80E620B9D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58003-0832-4B8F-AC28-C46471801F5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643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CCD57-E368-437D-A49D-99B998552C0F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7BD57-5264-49F1-88F5-A428D914D31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54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DCEE4-0B4B-4D8E-ACE8-CAD42E51ECD7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47D7C-BD3D-489B-BFEB-74B1BBC08C7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567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CACF-83AA-497D-8BE4-69B4B2DAC1C5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A1F3B-9421-47A1-8D59-149C4B86EE0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610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9A94F-493F-4DC2-A10F-A98DCB95A4DB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4DF05-09CD-493B-BF23-29248E41734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7152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A89A4-B4B5-492F-9E97-A100457F68D0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7A22A-7EA4-4229-BDE6-3C64D644539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69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0A390-FA9E-44EC-ADB3-5F15E2A15114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C8835-7A9F-49B0-A4F3-0EDFF4BF84D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448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79071-F9A0-4627-8315-E39E0800E8DE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FF10F-973F-4EB7-89B5-A88F2A93F03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354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4E236-3C5F-45EB-975E-BC9D81C755FF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6E738-572A-4D43-9E9D-8BEA7E9645E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9949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5D35-869B-4E7D-9D2D-EDADED272389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E40E7-6F65-45E6-8B3C-2D32B044BE1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28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5D831-77E6-4504-B553-0F6EA07E55DA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DC54E-EF5E-4465-BCC4-E19A193988E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015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>
                  <a:solidFill>
                    <a:srgbClr val="40458C"/>
                  </a:solidFill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9325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9325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95A654B-8297-4B5F-8778-1FD54BBE0B6D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D43A1F-F144-4FD5-9453-CCA95E8A5A3A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462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13887-3542-4ABF-A4C6-756459C67941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F2340-561F-4B59-A023-5CC34A0DFA0A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548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CC1AD-B870-48E0-9779-044612BBE1EA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D399D-69CB-40FD-8E1C-83BE4193D180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685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5B692-CF2C-46CA-8B07-3995E6839E61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69FF2-DDBB-43E9-9166-1C0CFF2A4A7C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800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28977-FA2A-4D0A-B89B-BAC754A42D00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652CB-A4B6-4AE1-A5A3-9847AD45CA8A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115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CB94FB-89A6-469E-A66F-794D46589C31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A8895-40AF-450D-9BBF-F6CA94C47F4B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41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FF22E-2C72-49A7-8F08-5F6272D0BC19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A9775-6221-4E9C-B352-4572D34EE7E4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802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27D98-0CB2-4317-AB69-91C402785C8E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030EC-2AAE-44B4-9A0E-9C78CAF80D9E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161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EFDE5-97D4-49DC-8328-FC61917DA1C7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5D229-CB00-494A-86D5-31EF719C3A67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3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EE26D-75CB-4D0E-9D81-41251C22CB38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6222-1943-4A7B-B5F0-AEAD055B85A7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098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9BF07-A6FA-4D1E-9D86-F70706B059B0}" type="datetime1">
              <a:rPr lang="zh-TW" altLang="en-US" smtClean="0">
                <a:solidFill>
                  <a:srgbClr val="40458C"/>
                </a:solidFill>
              </a:rPr>
              <a:t>2018/5/21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</a:rPr>
              <a:t>OS12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3D3C1-5BFC-4CDE-8F24-E19445204A53}" type="slidenum">
              <a:rPr lang="zh-TW" alt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4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5468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charset="-120"/>
              </a:defRPr>
            </a:lvl1pPr>
          </a:lstStyle>
          <a:p>
            <a:pPr>
              <a:defRPr/>
            </a:pPr>
            <a:fld id="{E51667BA-06ED-431F-A6AC-BEC82CCA3165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15469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OS12 2018</a:t>
            </a:r>
            <a:endParaRPr lang="en-US" altLang="zh-TW"/>
          </a:p>
        </p:txBody>
      </p:sp>
      <p:sp>
        <p:nvSpPr>
          <p:cNvPr id="154691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新細明體" charset="-120"/>
              </a:defRPr>
            </a:lvl1pPr>
          </a:lstStyle>
          <a:p>
            <a:pPr>
              <a:defRPr/>
            </a:pPr>
            <a:fld id="{92793FB2-8AB0-4DDF-B553-926864060C1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TW" altLang="en-US">
                    <a:solidFill>
                      <a:srgbClr val="40458C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>
                <a:solidFill>
                  <a:srgbClr val="40458C"/>
                </a:solidFill>
              </a:endParaRPr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TW" altLang="en-US">
                <a:solidFill>
                  <a:srgbClr val="40458C"/>
                </a:solidFill>
                <a:ea typeface="新細明體" panose="02020500000000000000" pitchFamily="18" charset="-120"/>
              </a:endParaRPr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TW" altLang="en-US">
                  <a:solidFill>
                    <a:srgbClr val="40458C"/>
                  </a:solidFill>
                  <a:ea typeface="新細明體" panose="02020500000000000000" pitchFamily="18" charset="-120"/>
                </a:endParaRPr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92225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smtClean="0"/>
            </a:lvl1pPr>
          </a:lstStyle>
          <a:p>
            <a:pPr>
              <a:defRPr/>
            </a:pPr>
            <a:fld id="{4291BF74-93B3-4B66-9FB7-4F33A4BDDE74}" type="datetime1">
              <a:rPr lang="zh-TW" altLang="en-US" smtClean="0">
                <a:solidFill>
                  <a:srgbClr val="40458C"/>
                </a:solidFill>
                <a:ea typeface="新細明體" panose="02020500000000000000" pitchFamily="18" charset="-120"/>
              </a:rPr>
              <a:t>2018/5/21</a:t>
            </a:fld>
            <a:endParaRPr lang="en-US" altLang="zh-TW">
              <a:solidFill>
                <a:srgbClr val="40458C"/>
              </a:solidFill>
              <a:ea typeface="新細明體" panose="02020500000000000000" pitchFamily="18" charset="-120"/>
            </a:endParaRPr>
          </a:p>
        </p:txBody>
      </p:sp>
      <p:sp>
        <p:nvSpPr>
          <p:cNvPr id="9222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r>
              <a:rPr lang="en-US" altLang="zh-TW" smtClean="0">
                <a:solidFill>
                  <a:srgbClr val="40458C"/>
                </a:solidFill>
                <a:ea typeface="新細明體" panose="02020500000000000000" pitchFamily="18" charset="-120"/>
              </a:rPr>
              <a:t>OS12 2018</a:t>
            </a:r>
            <a:endParaRPr lang="en-US" altLang="zh-TW">
              <a:solidFill>
                <a:srgbClr val="40458C"/>
              </a:solidFill>
              <a:ea typeface="新細明體" panose="02020500000000000000" pitchFamily="18" charset="-120"/>
            </a:endParaRPr>
          </a:p>
        </p:txBody>
      </p:sp>
      <p:sp>
        <p:nvSpPr>
          <p:cNvPr id="9222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AF02FEE0-EFBD-4776-885F-FF28030E9386}" type="slidenum">
              <a:rPr lang="zh-TW" altLang="en-US">
                <a:solidFill>
                  <a:srgbClr val="40458C"/>
                </a:solidFill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40458C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282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JS\Desktop\OS%202016\Slices\os11-2016.pptx#-1,32,File Sharing&#8211;Consistency Semantics(2)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JS\Desktop\OS%202016\Slices\os11-2016.pptx#-1,32,File Sharing&#8211;Consistency Semantics(2)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DD83AFA-F05B-41D8-912D-05AEC97394F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6B3B751-0857-4EEB-88BA-E626D0C207B6}" type="slidenum">
              <a:rPr kumimoji="0" lang="zh-TW" altLang="en-US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2246313"/>
            <a:ext cx="7688263" cy="1792287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Chapter 12 </a:t>
            </a:r>
            <a:br>
              <a:rPr lang="en-US" altLang="zh-TW" smtClean="0"/>
            </a:br>
            <a:r>
              <a:rPr lang="en-US" altLang="zh-TW" smtClean="0"/>
              <a:t>File-System Implementation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84DADE0-004C-45EC-BEA6-CC108E68BC1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228D269-782C-44D7-B0FE-F7A4E8845629}" type="slidenum">
              <a:rPr kumimoji="0" lang="zh-TW" altLang="en-US" sz="1400" smtClean="0"/>
              <a:pPr eaLnBrk="1" hangingPunct="1"/>
              <a:t>2</a:t>
            </a:fld>
            <a:endParaRPr kumimoji="0" lang="en-US" altLang="zh-TW" sz="14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157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0" y="1133475"/>
            <a:ext cx="8145463" cy="5165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File System Structure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File System Implementation 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FF"/>
                </a:solidFill>
              </a:rPr>
              <a:t>Directory Implementation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Allocation Methods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Free-Space Management 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Efficiency and Performance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/>
              <a:t>Recovery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/>
              <a:t>Log-Structured File Systems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/>
              <a:t>NFS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dirty="0" smtClean="0"/>
              <a:t>Example: WAFL File System</a:t>
            </a:r>
          </a:p>
        </p:txBody>
      </p:sp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endParaRPr kumimoji="0" lang="zh-TW" altLang="en-US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5341E2C-8960-49A7-8187-5B781138013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D9D0678-C5F6-47C7-9271-704496CBCE3D}" type="slidenum">
              <a:rPr kumimoji="0" lang="zh-TW" altLang="en-US" sz="1400" smtClean="0"/>
              <a:pPr eaLnBrk="1" hangingPunct="1"/>
              <a:t>3</a:t>
            </a:fld>
            <a:endParaRPr kumimoji="0" lang="en-US" altLang="zh-TW" sz="1400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936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File-System Structure</a:t>
            </a:r>
          </a:p>
        </p:txBody>
      </p:sp>
      <p:sp>
        <p:nvSpPr>
          <p:cNvPr id="71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5775" y="1338263"/>
            <a:ext cx="8032750" cy="456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File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Logical storage unit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Collection of related information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File system resides on secondary storage (disks)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File system organized into </a:t>
            </a:r>
            <a:r>
              <a:rPr lang="en-US" altLang="zh-TW" smtClean="0">
                <a:solidFill>
                  <a:srgbClr val="0000FF"/>
                </a:solidFill>
              </a:rPr>
              <a:t>layers</a:t>
            </a:r>
            <a:endParaRPr lang="en-US" altLang="zh-TW" b="1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b="1" smtClean="0">
                <a:solidFill>
                  <a:srgbClr val="FF0000"/>
                </a:solidFill>
              </a:rPr>
              <a:t>File control block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storage structure consisting of information about a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D92C4E8-2F97-48E9-A86A-B953B1A3D24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EBDD78A-4C3D-48EE-BA1F-5C4DCADEE197}" type="slidenum">
              <a:rPr kumimoji="0" lang="zh-TW" altLang="en-US" sz="1400" smtClean="0"/>
              <a:pPr eaLnBrk="1" hangingPunct="1"/>
              <a:t>4</a:t>
            </a:fld>
            <a:endParaRPr kumimoji="0" lang="en-US" altLang="zh-TW" sz="1400" smtClean="0"/>
          </a:p>
        </p:txBody>
      </p:sp>
      <p:sp>
        <p:nvSpPr>
          <p:cNvPr id="6149" name="Rectangle 4098"/>
          <p:cNvSpPr>
            <a:spLocks noGrp="1" noChangeArrowheads="1"/>
          </p:cNvSpPr>
          <p:nvPr>
            <p:ph type="title"/>
          </p:nvPr>
        </p:nvSpPr>
        <p:spPr>
          <a:xfrm>
            <a:off x="230188" y="392113"/>
            <a:ext cx="8316912" cy="560387"/>
          </a:xfrm>
          <a:noFill/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mtClean="0"/>
              <a:t>Layered File System</a:t>
            </a:r>
          </a:p>
        </p:txBody>
      </p:sp>
      <p:sp>
        <p:nvSpPr>
          <p:cNvPr id="158724" name="Rectangle 4100"/>
          <p:cNvSpPr>
            <a:spLocks noChangeArrowheads="1"/>
          </p:cNvSpPr>
          <p:nvPr/>
        </p:nvSpPr>
        <p:spPr bwMode="auto">
          <a:xfrm>
            <a:off x="2500313" y="2316163"/>
            <a:ext cx="248443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Logical File System</a:t>
            </a:r>
          </a:p>
        </p:txBody>
      </p:sp>
      <p:sp>
        <p:nvSpPr>
          <p:cNvPr id="158725" name="Rectangle 4101"/>
          <p:cNvSpPr>
            <a:spLocks noChangeArrowheads="1"/>
          </p:cNvSpPr>
          <p:nvPr/>
        </p:nvSpPr>
        <p:spPr bwMode="auto">
          <a:xfrm>
            <a:off x="2589213" y="1411288"/>
            <a:ext cx="25844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Application Programs</a:t>
            </a:r>
          </a:p>
        </p:txBody>
      </p:sp>
      <p:sp>
        <p:nvSpPr>
          <p:cNvPr id="158726" name="AutoShape 4102"/>
          <p:cNvSpPr>
            <a:spLocks noChangeArrowheads="1"/>
          </p:cNvSpPr>
          <p:nvPr/>
        </p:nvSpPr>
        <p:spPr bwMode="auto">
          <a:xfrm rot="16200000" flipH="1">
            <a:off x="3543300" y="1916113"/>
            <a:ext cx="403225" cy="355600"/>
          </a:xfrm>
          <a:prstGeom prst="rightArrow">
            <a:avLst>
              <a:gd name="adj1" fmla="val 50000"/>
              <a:gd name="adj2" fmla="val 56702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vert="eaVert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en-US" sz="2000" b="1">
              <a:latin typeface="Times New Roman" pitchFamily="18" charset="0"/>
            </a:endParaRPr>
          </a:p>
        </p:txBody>
      </p:sp>
      <p:sp>
        <p:nvSpPr>
          <p:cNvPr id="158727" name="AutoShape 4103"/>
          <p:cNvSpPr>
            <a:spLocks noChangeArrowheads="1"/>
          </p:cNvSpPr>
          <p:nvPr/>
        </p:nvSpPr>
        <p:spPr bwMode="auto">
          <a:xfrm rot="16200000" flipH="1">
            <a:off x="3537743" y="2837657"/>
            <a:ext cx="404813" cy="355600"/>
          </a:xfrm>
          <a:prstGeom prst="rightArrow">
            <a:avLst>
              <a:gd name="adj1" fmla="val 50000"/>
              <a:gd name="adj2" fmla="val 56925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8728" name="Rectangle 4104"/>
          <p:cNvSpPr>
            <a:spLocks noChangeArrowheads="1"/>
          </p:cNvSpPr>
          <p:nvPr/>
        </p:nvSpPr>
        <p:spPr bwMode="auto">
          <a:xfrm>
            <a:off x="2579688" y="3260725"/>
            <a:ext cx="30051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File-Organization Module</a:t>
            </a:r>
          </a:p>
        </p:txBody>
      </p:sp>
      <p:sp>
        <p:nvSpPr>
          <p:cNvPr id="158729" name="AutoShape 4105"/>
          <p:cNvSpPr>
            <a:spLocks noChangeArrowheads="1"/>
          </p:cNvSpPr>
          <p:nvPr/>
        </p:nvSpPr>
        <p:spPr bwMode="auto">
          <a:xfrm rot="16200000" flipH="1">
            <a:off x="3552031" y="3731420"/>
            <a:ext cx="403225" cy="354012"/>
          </a:xfrm>
          <a:prstGeom prst="rightArrow">
            <a:avLst>
              <a:gd name="adj1" fmla="val 50000"/>
              <a:gd name="adj2" fmla="val 56956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8730" name="Rectangle 4106"/>
          <p:cNvSpPr>
            <a:spLocks noChangeArrowheads="1"/>
          </p:cNvSpPr>
          <p:nvPr/>
        </p:nvSpPr>
        <p:spPr bwMode="auto">
          <a:xfrm>
            <a:off x="2509838" y="4130675"/>
            <a:ext cx="25130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Basic File System</a:t>
            </a:r>
          </a:p>
        </p:txBody>
      </p:sp>
      <p:sp>
        <p:nvSpPr>
          <p:cNvPr id="158731" name="AutoShape 4107"/>
          <p:cNvSpPr>
            <a:spLocks noChangeArrowheads="1"/>
          </p:cNvSpPr>
          <p:nvPr/>
        </p:nvSpPr>
        <p:spPr bwMode="auto">
          <a:xfrm rot="16200000" flipH="1">
            <a:off x="3560763" y="4652963"/>
            <a:ext cx="404812" cy="354012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8732" name="Rectangle 4108"/>
          <p:cNvSpPr>
            <a:spLocks noChangeArrowheads="1"/>
          </p:cNvSpPr>
          <p:nvPr/>
        </p:nvSpPr>
        <p:spPr bwMode="auto">
          <a:xfrm>
            <a:off x="2566988" y="5127625"/>
            <a:ext cx="20907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      </a:t>
            </a:r>
            <a:r>
              <a:rPr lang="en-US" altLang="zh-TW" sz="2000" b="1">
                <a:latin typeface="Times New Roman" pitchFamily="18" charset="0"/>
              </a:rPr>
              <a:t>I/O Control</a:t>
            </a:r>
          </a:p>
        </p:txBody>
      </p:sp>
      <p:sp>
        <p:nvSpPr>
          <p:cNvPr id="158733" name="AutoShape 4109"/>
          <p:cNvSpPr>
            <a:spLocks noChangeArrowheads="1"/>
          </p:cNvSpPr>
          <p:nvPr/>
        </p:nvSpPr>
        <p:spPr bwMode="auto">
          <a:xfrm rot="16200000" flipH="1">
            <a:off x="3575050" y="5651500"/>
            <a:ext cx="404813" cy="354013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8734" name="Rectangle 4110"/>
          <p:cNvSpPr>
            <a:spLocks noChangeArrowheads="1"/>
          </p:cNvSpPr>
          <p:nvPr/>
        </p:nvSpPr>
        <p:spPr bwMode="auto">
          <a:xfrm>
            <a:off x="3295650" y="6067425"/>
            <a:ext cx="10620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</a:t>
            </a:r>
            <a:r>
              <a:rPr lang="en-US" altLang="zh-TW" sz="2000" b="1">
                <a:latin typeface="Times New Roman" pitchFamily="18" charset="0"/>
              </a:rPr>
              <a:t>Devices</a:t>
            </a:r>
          </a:p>
        </p:txBody>
      </p:sp>
      <p:sp>
        <p:nvSpPr>
          <p:cNvPr id="158735" name="Text Box 4111"/>
          <p:cNvSpPr txBox="1">
            <a:spLocks noChangeArrowheads="1"/>
          </p:cNvSpPr>
          <p:nvPr/>
        </p:nvSpPr>
        <p:spPr bwMode="auto">
          <a:xfrm>
            <a:off x="5551488" y="1797050"/>
            <a:ext cx="32258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Given a symbolic file name,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  use directory to provide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  values needed by FOM</a:t>
            </a:r>
          </a:p>
          <a:p>
            <a:endParaRPr lang="zh-TW" altLang="en-US" sz="20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58736" name="Text Box 4112"/>
          <p:cNvSpPr txBox="1">
            <a:spLocks noChangeArrowheads="1"/>
          </p:cNvSpPr>
          <p:nvPr/>
        </p:nvSpPr>
        <p:spPr bwMode="auto">
          <a:xfrm>
            <a:off x="5459413" y="3060700"/>
            <a:ext cx="33686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Transform logical address to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   physical  block address</a:t>
            </a:r>
            <a:r>
              <a:rPr lang="en-US" altLang="zh-TW" sz="2000" b="1">
                <a:latin typeface="Times New Roman" pitchFamily="18" charset="0"/>
              </a:rPr>
              <a:t> </a:t>
            </a:r>
          </a:p>
        </p:txBody>
      </p:sp>
      <p:sp>
        <p:nvSpPr>
          <p:cNvPr id="158737" name="Text Box 4113"/>
          <p:cNvSpPr txBox="1">
            <a:spLocks noChangeArrowheads="1"/>
          </p:cNvSpPr>
          <p:nvPr/>
        </p:nvSpPr>
        <p:spPr bwMode="auto">
          <a:xfrm>
            <a:off x="5459413" y="4149725"/>
            <a:ext cx="2665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</a:t>
            </a:r>
            <a:r>
              <a:rPr lang="en-US" altLang="zh-TW" sz="2000" b="1">
                <a:solidFill>
                  <a:srgbClr val="CC00FF"/>
                </a:solidFill>
                <a:latin typeface="Times New Roman" pitchFamily="18" charset="0"/>
              </a:rPr>
              <a:t>Numeric disk address</a:t>
            </a:r>
          </a:p>
        </p:txBody>
      </p:sp>
      <p:sp>
        <p:nvSpPr>
          <p:cNvPr id="158738" name="Text Box 4114"/>
          <p:cNvSpPr txBox="1">
            <a:spLocks noChangeArrowheads="1"/>
          </p:cNvSpPr>
          <p:nvPr/>
        </p:nvSpPr>
        <p:spPr bwMode="auto">
          <a:xfrm>
            <a:off x="5461000" y="5135563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</a:t>
            </a: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Driver: hardware instructions</a:t>
            </a:r>
          </a:p>
        </p:txBody>
      </p:sp>
      <p:sp>
        <p:nvSpPr>
          <p:cNvPr id="158739" name="Text Box 4115"/>
          <p:cNvSpPr txBox="1">
            <a:spLocks noChangeArrowheads="1"/>
          </p:cNvSpPr>
          <p:nvPr/>
        </p:nvSpPr>
        <p:spPr bwMode="auto">
          <a:xfrm>
            <a:off x="230188" y="1865313"/>
            <a:ext cx="2527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</a:t>
            </a:r>
            <a:r>
              <a:rPr lang="en-US" altLang="zh-TW" sz="2000" b="1">
                <a:latin typeface="Times New Roman" pitchFamily="18" charset="0"/>
              </a:rPr>
              <a:t>write(data_file, item)</a:t>
            </a:r>
          </a:p>
        </p:txBody>
      </p:sp>
      <p:sp>
        <p:nvSpPr>
          <p:cNvPr id="158740" name="Line 4116"/>
          <p:cNvSpPr>
            <a:spLocks noChangeShapeType="1"/>
          </p:cNvSpPr>
          <p:nvPr/>
        </p:nvSpPr>
        <p:spPr bwMode="auto">
          <a:xfrm>
            <a:off x="1079500" y="1603375"/>
            <a:ext cx="387350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41" name="Text Box 4117"/>
          <p:cNvSpPr txBox="1">
            <a:spLocks noChangeArrowheads="1"/>
          </p:cNvSpPr>
          <p:nvPr/>
        </p:nvSpPr>
        <p:spPr bwMode="auto">
          <a:xfrm>
            <a:off x="404813" y="1300163"/>
            <a:ext cx="1176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file name</a:t>
            </a:r>
          </a:p>
        </p:txBody>
      </p:sp>
      <p:sp>
        <p:nvSpPr>
          <p:cNvPr id="158742" name="Text Box 4118"/>
          <p:cNvSpPr txBox="1">
            <a:spLocks noChangeArrowheads="1"/>
          </p:cNvSpPr>
          <p:nvPr/>
        </p:nvSpPr>
        <p:spPr bwMode="auto">
          <a:xfrm>
            <a:off x="366713" y="2695575"/>
            <a:ext cx="15430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information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of data_file</a:t>
            </a:r>
          </a:p>
        </p:txBody>
      </p:sp>
      <p:sp>
        <p:nvSpPr>
          <p:cNvPr id="158743" name="Text Box 4119"/>
          <p:cNvSpPr txBox="1">
            <a:spLocks noChangeArrowheads="1"/>
          </p:cNvSpPr>
          <p:nvPr/>
        </p:nvSpPr>
        <p:spPr bwMode="auto">
          <a:xfrm>
            <a:off x="414338" y="3748088"/>
            <a:ext cx="1573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2144</a:t>
            </a: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th block</a:t>
            </a:r>
          </a:p>
        </p:txBody>
      </p:sp>
      <p:sp>
        <p:nvSpPr>
          <p:cNvPr id="158744" name="Text Box 4120"/>
          <p:cNvSpPr txBox="1">
            <a:spLocks noChangeArrowheads="1"/>
          </p:cNvSpPr>
          <p:nvPr/>
        </p:nvSpPr>
        <p:spPr bwMode="auto">
          <a:xfrm>
            <a:off x="331788" y="4600575"/>
            <a:ext cx="2509837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driver 1,  cylinder 73,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itchFamily="18" charset="0"/>
              </a:rPr>
              <a:t>surface 2, sector 10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en-US" sz="200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5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5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5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5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5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/>
      <p:bldP spid="158725" grpId="0"/>
      <p:bldP spid="158726" grpId="0" animBg="1"/>
      <p:bldP spid="158727" grpId="0" animBg="1"/>
      <p:bldP spid="158728" grpId="0"/>
      <p:bldP spid="158729" grpId="0" animBg="1"/>
      <p:bldP spid="158730" grpId="0"/>
      <p:bldP spid="158731" grpId="0" animBg="1"/>
      <p:bldP spid="158732" grpId="0"/>
      <p:bldP spid="158733" grpId="0" animBg="1"/>
      <p:bldP spid="158734" grpId="0"/>
      <p:bldP spid="158735" grpId="0"/>
      <p:bldP spid="158736" grpId="0"/>
      <p:bldP spid="158737" grpId="0"/>
      <p:bldP spid="158739" grpId="0"/>
      <p:bldP spid="158740" grpId="0" animBg="1"/>
      <p:bldP spid="158741" grpId="0"/>
      <p:bldP spid="158742" grpId="0"/>
      <p:bldP spid="158743" grpId="0"/>
      <p:bldP spid="1587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ECDF8F3-278B-4490-AD9F-80024605C9E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717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71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9E4358D-9B82-4198-B68D-675BAB1C3F3F}" type="slidenum">
              <a:rPr kumimoji="0" lang="zh-TW" altLang="en-US" sz="1400" smtClean="0"/>
              <a:pPr eaLnBrk="1" hangingPunct="1"/>
              <a:t>5</a:t>
            </a:fld>
            <a:endParaRPr kumimoji="0" lang="en-US" altLang="zh-TW" sz="1400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2325"/>
          </a:xfrm>
        </p:spPr>
        <p:txBody>
          <a:bodyPr/>
          <a:lstStyle/>
          <a:p>
            <a:pPr eaLnBrk="1" hangingPunct="1"/>
            <a:r>
              <a:rPr lang="en-US" altLang="zh-TW" smtClean="0"/>
              <a:t>A Typical File Control Block</a:t>
            </a:r>
            <a:endParaRPr lang="en-US" altLang="zh-TW" sz="3600" smtClean="0"/>
          </a:p>
        </p:txBody>
      </p:sp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t="2654" r="462" b="1990"/>
          <a:stretch>
            <a:fillRect/>
          </a:stretch>
        </p:blipFill>
        <p:spPr bwMode="auto">
          <a:xfrm>
            <a:off x="1409700" y="1323975"/>
            <a:ext cx="6313488" cy="45704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1859622" y="4993241"/>
            <a:ext cx="2075379" cy="6356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51F53B2-76D5-4EE7-A8E0-AC2A3CB07D4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27D4E4E-BBDE-4DF1-A149-6374F181D1C9}" type="slidenum">
              <a:rPr kumimoji="0" lang="zh-TW" altLang="en-US" sz="1400" smtClean="0"/>
              <a:pPr eaLnBrk="1" hangingPunct="1"/>
              <a:t>6</a:t>
            </a:fld>
            <a:endParaRPr kumimoji="0" lang="en-US" altLang="zh-TW" sz="1400" smtClean="0"/>
          </a:p>
        </p:txBody>
      </p:sp>
      <p:sp>
        <p:nvSpPr>
          <p:cNvPr id="819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On-Disk and In-Memory</a:t>
            </a:r>
          </a:p>
        </p:txBody>
      </p:sp>
      <p:sp>
        <p:nvSpPr>
          <p:cNvPr id="168963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3375" y="993775"/>
            <a:ext cx="8482013" cy="5173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00"/>
                </a:solidFill>
              </a:rPr>
              <a:t>On-disk</a:t>
            </a:r>
            <a:r>
              <a:rPr lang="en-US" altLang="zh-TW" sz="2800" smtClean="0"/>
              <a:t>: </a:t>
            </a:r>
            <a:r>
              <a:rPr lang="en-US" altLang="zh-TW" sz="2800" smtClean="0">
                <a:solidFill>
                  <a:srgbClr val="FF0000"/>
                </a:solidFill>
              </a:rPr>
              <a:t>boot control block, partition control block</a:t>
            </a:r>
            <a:r>
              <a:rPr lang="en-US" altLang="zh-TW" sz="2800" smtClean="0"/>
              <a:t>, </a:t>
            </a:r>
            <a:r>
              <a:rPr lang="en-US" altLang="zh-TW" sz="2800" b="1" smtClean="0"/>
              <a:t>directory structure</a:t>
            </a:r>
            <a:r>
              <a:rPr lang="en-US" altLang="zh-TW" sz="2800" smtClean="0"/>
              <a:t>, FCB (</a:t>
            </a:r>
            <a:r>
              <a:rPr lang="en-US" altLang="zh-TW" sz="2800" b="1" smtClean="0"/>
              <a:t>inode</a:t>
            </a:r>
            <a:r>
              <a:rPr lang="en-US" altLang="zh-TW" sz="2800" smtClean="0"/>
              <a:t>)</a:t>
            </a:r>
            <a:endParaRPr lang="en-US" altLang="zh-TW" sz="24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Partition control block (</a:t>
            </a:r>
            <a:r>
              <a:rPr lang="en-US" altLang="zh-TW" sz="2400" b="1" smtClean="0"/>
              <a:t>superblocks</a:t>
            </a:r>
            <a:r>
              <a:rPr lang="en-US" altLang="zh-TW" sz="2400" smtClean="0"/>
              <a:t> in UFS, </a:t>
            </a:r>
            <a:r>
              <a:rPr lang="en-US" altLang="zh-TW" sz="2400" b="1" smtClean="0"/>
              <a:t>Master File Table in NTFS</a:t>
            </a:r>
            <a:r>
              <a:rPr lang="en-US" altLang="zh-TW" sz="2400" smtClean="0"/>
              <a:t>): # of blocks, size of the blocks, free-block count and pointers, and free FCB count and pointers</a:t>
            </a:r>
            <a:r>
              <a:rPr lang="en-US" altLang="zh-TW" smtClean="0"/>
              <a:t>. </a:t>
            </a:r>
            <a:endParaRPr lang="en-US" altLang="zh-TW" sz="32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b="1" smtClean="0">
                <a:solidFill>
                  <a:srgbClr val="FF0000"/>
                </a:solidFill>
              </a:rPr>
              <a:t>In-memory</a:t>
            </a:r>
            <a:r>
              <a:rPr lang="en-US" altLang="zh-TW" sz="2800" smtClean="0"/>
              <a:t>: in-memory partition table (mounted), in-memory directory structure (recently accessed), system-wide open-file table (FCB for each open file), per-process open-file table</a:t>
            </a:r>
            <a:endParaRPr lang="en-US" altLang="zh-TW" sz="3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DD46278-EB5A-4AEF-B9CE-56D2418C6221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921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92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0EBA70F-9587-430D-AFF9-8E1A60D1C1BF}" type="slidenum">
              <a:rPr kumimoji="0" lang="zh-TW" altLang="en-US" sz="1400" smtClean="0"/>
              <a:pPr eaLnBrk="1" hangingPunct="1"/>
              <a:t>7</a:t>
            </a:fld>
            <a:endParaRPr kumimoji="0" lang="en-US" altLang="zh-TW" sz="1400" smtClean="0"/>
          </a:p>
        </p:txBody>
      </p:sp>
      <p:sp>
        <p:nvSpPr>
          <p:cNvPr id="922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58800" y="304800"/>
            <a:ext cx="8029575" cy="5064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In-Memory File System Structures</a:t>
            </a:r>
            <a:endParaRPr lang="en-US" altLang="zh-TW" sz="3200" smtClean="0"/>
          </a:p>
        </p:txBody>
      </p:sp>
      <p:pic>
        <p:nvPicPr>
          <p:cNvPr id="9222" name="Picture 20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7" t="919" r="4572" b="716"/>
          <a:stretch>
            <a:fillRect/>
          </a:stretch>
        </p:blipFill>
        <p:spPr bwMode="auto">
          <a:xfrm>
            <a:off x="698500" y="1023938"/>
            <a:ext cx="7864475" cy="505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EF75D0B-4228-484F-88A7-0A38970F16E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1DC7EEC-4889-4E76-9509-59C82D5606E6}" type="slidenum">
              <a:rPr kumimoji="0" lang="zh-TW" altLang="en-US" sz="1400" smtClean="0"/>
              <a:pPr eaLnBrk="1" hangingPunct="1"/>
              <a:t>8</a:t>
            </a:fld>
            <a:endParaRPr kumimoji="0" lang="en-US" altLang="zh-TW" sz="1400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188913"/>
            <a:ext cx="6992937" cy="954087"/>
          </a:xfrm>
        </p:spPr>
        <p:txBody>
          <a:bodyPr/>
          <a:lstStyle/>
          <a:p>
            <a:pPr eaLnBrk="1" hangingPunct="1"/>
            <a:r>
              <a:rPr lang="en-US" altLang="zh-TW" smtClean="0"/>
              <a:t>Virtual File Systems</a:t>
            </a:r>
          </a:p>
        </p:txBody>
      </p:sp>
      <p:sp>
        <p:nvSpPr>
          <p:cNvPr id="1218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1038" y="137636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Virtual File Systems (VFS) provide an </a:t>
            </a:r>
            <a:r>
              <a:rPr lang="en-US" altLang="zh-TW" sz="2800" dirty="0" smtClean="0">
                <a:solidFill>
                  <a:srgbClr val="FF0000"/>
                </a:solidFill>
              </a:rPr>
              <a:t>object-oriented way</a:t>
            </a:r>
            <a:r>
              <a:rPr lang="en-US" altLang="zh-TW" sz="2800" dirty="0" smtClean="0"/>
              <a:t> of implementing file systems.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VFS allows the </a:t>
            </a:r>
            <a:r>
              <a:rPr lang="en-US" altLang="zh-TW" sz="2800" dirty="0" smtClean="0">
                <a:solidFill>
                  <a:srgbClr val="0000FF"/>
                </a:solidFill>
              </a:rPr>
              <a:t>same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system call interface</a:t>
            </a:r>
            <a:r>
              <a:rPr lang="en-US" altLang="zh-TW" sz="2800" dirty="0" smtClean="0"/>
              <a:t> (the </a:t>
            </a:r>
            <a:r>
              <a:rPr lang="en-US" altLang="zh-TW" sz="2800" dirty="0" smtClean="0">
                <a:solidFill>
                  <a:srgbClr val="FF0000"/>
                </a:solidFill>
              </a:rPr>
              <a:t>API</a:t>
            </a:r>
            <a:r>
              <a:rPr lang="en-US" altLang="zh-TW" sz="2800" dirty="0" smtClean="0"/>
              <a:t>) to be used for different types of file systems.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The API is to the VFS interface, rather than any specific type of file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E7EF645-1BF5-4F3F-837A-E439C5996F8B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126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126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6B5DB7B-C13A-4F0F-9192-C8DE0FE81E6D}" type="slidenum">
              <a:rPr kumimoji="0" lang="zh-TW" altLang="en-US" sz="1400" smtClean="0"/>
              <a:pPr eaLnBrk="1" hangingPunct="1"/>
              <a:t>9</a:t>
            </a:fld>
            <a:endParaRPr kumimoji="0" lang="en-US" altLang="zh-TW" sz="14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304800"/>
            <a:ext cx="8326438" cy="665163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Schematic View of Virtual File System</a:t>
            </a:r>
            <a:endParaRPr lang="en-US" altLang="zh-TW" sz="2800" smtClean="0"/>
          </a:p>
        </p:txBody>
      </p:sp>
      <p:pic>
        <p:nvPicPr>
          <p:cNvPr id="1127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147" r="2631" b="1653"/>
          <a:stretch>
            <a:fillRect/>
          </a:stretch>
        </p:blipFill>
        <p:spPr bwMode="auto">
          <a:xfrm>
            <a:off x="752475" y="1146175"/>
            <a:ext cx="7358063" cy="486568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5062538" y="2268538"/>
            <a:ext cx="38877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generic operations</a:t>
            </a:r>
          </a:p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vnode: network-wide uniqueness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E2D47AE-5FE3-4B6B-8F9A-592FDB0A642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8A59E4C-9E59-4C2E-A038-24EC1ADC50D3}" type="slidenum">
              <a:rPr kumimoji="0" lang="zh-TW" altLang="en-US" sz="1400" smtClean="0"/>
              <a:pPr eaLnBrk="1" hangingPunct="1"/>
              <a:t>10</a:t>
            </a:fld>
            <a:endParaRPr kumimoji="0" lang="en-US" altLang="zh-TW" sz="1400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9138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Directory Implementation</a:t>
            </a:r>
          </a:p>
        </p:txBody>
      </p:sp>
      <p:sp>
        <p:nvSpPr>
          <p:cNvPr id="1239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7988" y="957263"/>
            <a:ext cx="8401050" cy="53705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0000FF"/>
                </a:solidFill>
              </a:rPr>
              <a:t>Linear list</a:t>
            </a:r>
            <a:r>
              <a:rPr lang="en-US" altLang="zh-TW" sz="2800" dirty="0" smtClean="0"/>
              <a:t> of file names with pointer to the data blocks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simple to program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sz="2400" dirty="0" smtClean="0">
                <a:sym typeface="Wingdings" pitchFamily="2" charset="2"/>
              </a:rPr>
              <a:t></a:t>
            </a:r>
            <a:r>
              <a:rPr lang="en-US" altLang="zh-TW" sz="2400" dirty="0" smtClean="0"/>
              <a:t> time-consuming to execute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Hash Table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latin typeface="Helvetica"/>
              </a:rPr>
              <a:t>–</a:t>
            </a:r>
            <a:r>
              <a:rPr lang="en-US" altLang="zh-TW" sz="2800" dirty="0" smtClean="0"/>
              <a:t> linear list with hash data structure</a:t>
            </a:r>
          </a:p>
          <a:p>
            <a:pPr lvl="1" eaLnBrk="1" hangingPunct="1">
              <a:defRPr/>
            </a:pPr>
            <a:r>
              <a:rPr lang="en-US" altLang="zh-TW" sz="2400" i="1" dirty="0" smtClean="0">
                <a:latin typeface="Times New Roman" charset="0"/>
              </a:rPr>
              <a:t>f</a:t>
            </a:r>
            <a:r>
              <a:rPr lang="en-US" altLang="zh-TW" sz="2400" dirty="0" smtClean="0">
                <a:latin typeface="Times New Roman" charset="0"/>
              </a:rPr>
              <a:t>(</a:t>
            </a:r>
            <a:r>
              <a:rPr lang="en-US" altLang="zh-TW" sz="2400" dirty="0" smtClean="0"/>
              <a:t>file name</a:t>
            </a:r>
            <a:r>
              <a:rPr lang="en-US" altLang="zh-TW" sz="2400" dirty="0" smtClean="0">
                <a:latin typeface="Times New Roman" charset="0"/>
              </a:rPr>
              <a:t>)</a:t>
            </a:r>
            <a:r>
              <a:rPr lang="en-US" altLang="zh-TW" sz="2400" dirty="0" smtClean="0"/>
              <a:t> = pointer of the list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en-US" altLang="zh-TW" sz="2400" dirty="0" smtClean="0"/>
              <a:t>fixed size 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decreases directory search time</a:t>
            </a:r>
            <a:endParaRPr lang="en-US" altLang="zh-TW" sz="240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zh-TW" sz="2400" dirty="0" smtClean="0">
                <a:sym typeface="Wingdings" pitchFamily="2" charset="2"/>
              </a:rPr>
              <a:t>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collisions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en-US" altLang="zh-TW" sz="2400" dirty="0" smtClean="0"/>
              <a:t> situations where two file names hash to the same location</a:t>
            </a:r>
          </a:p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Advanced structures: B-tree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latin typeface="Helvetica"/>
              </a:rPr>
              <a:t>…</a:t>
            </a: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E5CE8CB-DF97-47BA-9D44-C0B71293B26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0E2E9FE-A485-40F7-8EA0-98473ECC311F}" type="slidenum">
              <a:rPr kumimoji="0" lang="zh-TW" altLang="en-US" sz="1400" smtClean="0"/>
              <a:pPr eaLnBrk="1" hangingPunct="1"/>
              <a:t>11</a:t>
            </a:fld>
            <a:endParaRPr kumimoji="0" lang="en-US" altLang="zh-TW" sz="1400" smtClean="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017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Allocation Methods</a:t>
            </a:r>
          </a:p>
        </p:txBody>
      </p:sp>
      <p:sp>
        <p:nvSpPr>
          <p:cNvPr id="1249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2438" y="1247775"/>
            <a:ext cx="8183562" cy="4598988"/>
          </a:xfrm>
        </p:spPr>
        <p:txBody>
          <a:bodyPr/>
          <a:lstStyle/>
          <a:p>
            <a:pPr eaLnBrk="1" hangingPunct="1"/>
            <a:r>
              <a:rPr lang="en-US" altLang="zh-TW" smtClean="0"/>
              <a:t>An allocation method refers to how disk blocks are allocated for files</a:t>
            </a:r>
          </a:p>
          <a:p>
            <a:pPr eaLnBrk="1" hangingPunct="1"/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Contiguous allocation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Linked allocation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FAT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Indexed allocation</a:t>
            </a:r>
            <a:endParaRPr lang="zh-TW" altLang="en-US" smtClean="0"/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2606675" y="2728913"/>
            <a:ext cx="5902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0000"/>
                </a:solidFill>
              </a:rPr>
              <a:t>Block = 32 ~ 4096 bytes, 512 usually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C3A0725-FBC0-4E9D-83CD-46E2CC4B605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D00A7D6-30F3-409E-854F-5EBC9DBB9859}" type="slidenum">
              <a:rPr kumimoji="0" lang="zh-TW" altLang="en-US" sz="1400" smtClean="0"/>
              <a:pPr eaLnBrk="1" hangingPunct="1"/>
              <a:t>12</a:t>
            </a:fld>
            <a:endParaRPr kumimoji="0" lang="en-US" altLang="zh-TW" sz="1400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01613"/>
            <a:ext cx="7772400" cy="67945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Contiguous Allocation</a:t>
            </a:r>
          </a:p>
        </p:txBody>
      </p:sp>
      <p:sp>
        <p:nvSpPr>
          <p:cNvPr id="72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841375"/>
            <a:ext cx="8578850" cy="51292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Wingdings" pitchFamily="2" charset="2"/>
              </a:rPr>
              <a:t>J</a:t>
            </a:r>
            <a:r>
              <a:rPr lang="en-US" altLang="zh-TW" sz="2400" smtClean="0"/>
              <a:t>: </a:t>
            </a:r>
            <a:r>
              <a:rPr lang="en-US" altLang="zh-TW" smtClean="0"/>
              <a:t>	</a:t>
            </a:r>
            <a:r>
              <a:rPr lang="en-US" altLang="zh-TW" sz="2800" smtClean="0"/>
              <a:t>1. Reduce seek time for contiguous access</a:t>
            </a:r>
            <a:endParaRPr lang="en-US" altLang="zh-TW" smtClean="0"/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smtClean="0"/>
              <a:t>2. Access is easy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smtClean="0"/>
              <a:t>3. Support both sequential and direct access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L</a:t>
            </a:r>
            <a:r>
              <a:rPr lang="en-US" altLang="zh-TW" smtClean="0"/>
              <a:t>: 	1. </a:t>
            </a:r>
            <a:r>
              <a:rPr lang="en-US" altLang="zh-TW" smtClean="0">
                <a:solidFill>
                  <a:srgbClr val="FF0000"/>
                </a:solidFill>
              </a:rPr>
              <a:t>dynamic allocation problem</a:t>
            </a:r>
            <a:endParaRPr lang="en-US" altLang="zh-TW" sz="3600" smtClean="0">
              <a:solidFill>
                <a:srgbClr val="FF0000"/>
              </a:solidFill>
            </a:endParaRPr>
          </a:p>
          <a:p>
            <a:pPr lvl="3" eaLnBrk="1" hangingPunct="1"/>
            <a:r>
              <a:rPr lang="en-US" altLang="zh-TW" sz="2400" smtClean="0"/>
              <a:t>first-fit, best-fit, worst-fit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smtClean="0"/>
              <a:t>2. external fragmentation</a:t>
            </a:r>
          </a:p>
          <a:p>
            <a:pPr lvl="3" eaLnBrk="1" hangingPunct="1"/>
            <a:r>
              <a:rPr lang="en-US" altLang="zh-TW" sz="2400" smtClean="0"/>
              <a:t>compaction (expensive)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smtClean="0"/>
              <a:t>3. file cannot grow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smtClean="0"/>
              <a:t>4. size estimation (for extension later)</a:t>
            </a:r>
          </a:p>
          <a:p>
            <a:pPr lvl="3" eaLnBrk="1" hangingPunct="1"/>
            <a:r>
              <a:rPr lang="en-US" altLang="zh-TW" sz="2400" smtClean="0"/>
              <a:t>declaration and pre-allocation (inefficient usage of space</a:t>
            </a:r>
            <a:r>
              <a:rPr lang="en-US" altLang="zh-TW" sz="1800" smtClean="0"/>
              <a:t>)</a:t>
            </a:r>
          </a:p>
          <a:p>
            <a:pPr lvl="2" eaLnBrk="1" hangingPunct="1"/>
            <a:endParaRPr lang="en-US" altLang="zh-TW" sz="2000" smtClean="0"/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882650" y="5399088"/>
            <a:ext cx="70294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endParaRPr kumimoji="0" lang="zh-TW" altLang="en-US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EBAA016-E076-43C7-8209-1C808154B40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536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536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D517EA4-6686-4BD9-915C-0DACB4472C47}" type="slidenum">
              <a:rPr kumimoji="0" lang="zh-TW" altLang="en-US" sz="1400" smtClean="0"/>
              <a:pPr eaLnBrk="1" hangingPunct="1"/>
              <a:t>13</a:t>
            </a:fld>
            <a:endParaRPr kumimoji="0" lang="en-US" altLang="zh-TW" sz="14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257175"/>
            <a:ext cx="8326438" cy="88582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Contiguous Allocation of Disk Space</a:t>
            </a:r>
            <a:endParaRPr lang="en-US" altLang="zh-TW" sz="3200" smtClean="0"/>
          </a:p>
        </p:txBody>
      </p:sp>
      <p:pic>
        <p:nvPicPr>
          <p:cNvPr id="1536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9" t="5881" r="14653" b="1823"/>
          <a:stretch>
            <a:fillRect/>
          </a:stretch>
        </p:blipFill>
        <p:spPr bwMode="auto">
          <a:xfrm>
            <a:off x="820738" y="1127125"/>
            <a:ext cx="7339012" cy="50657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9FEC3AF-838B-439C-86CB-E212669C4AD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2D44FA5-C4B1-4636-A248-A44CB3770FA7}" type="slidenum">
              <a:rPr kumimoji="0" lang="zh-TW" altLang="en-US" sz="1400" smtClean="0"/>
              <a:pPr eaLnBrk="1" hangingPunct="1"/>
              <a:t>14</a:t>
            </a:fld>
            <a:endParaRPr kumimoji="0" lang="en-US" altLang="zh-TW" sz="1400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23925"/>
          </a:xfrm>
        </p:spPr>
        <p:txBody>
          <a:bodyPr/>
          <a:lstStyle/>
          <a:p>
            <a:pPr eaLnBrk="1" hangingPunct="1"/>
            <a:r>
              <a:rPr lang="en-US" altLang="zh-TW" smtClean="0"/>
              <a:t>Extent-Based Systems</a:t>
            </a:r>
          </a:p>
        </p:txBody>
      </p:sp>
      <p:sp>
        <p:nvSpPr>
          <p:cNvPr id="128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7988" y="1317625"/>
            <a:ext cx="8323262" cy="5148263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Many newer file systems (i.e. Veritas File System) use a </a:t>
            </a:r>
            <a:r>
              <a:rPr lang="en-US" altLang="zh-TW" sz="2800" dirty="0" smtClean="0">
                <a:solidFill>
                  <a:srgbClr val="FF0000"/>
                </a:solidFill>
              </a:rPr>
              <a:t>modified contiguous allocation scheme</a:t>
            </a:r>
            <a:endParaRPr lang="en-US" altLang="zh-TW" sz="2800" dirty="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Extent-based file systems allocate disk blocks in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extents</a:t>
            </a:r>
            <a:endParaRPr lang="en-US" altLang="zh-TW" sz="2800" dirty="0" smtClean="0">
              <a:solidFill>
                <a:srgbClr val="0000FF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An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extent</a:t>
            </a:r>
            <a:r>
              <a:rPr lang="en-US" altLang="zh-TW" sz="2800" dirty="0" smtClean="0"/>
              <a:t> is a </a:t>
            </a:r>
            <a:r>
              <a:rPr lang="en-US" altLang="zh-TW" sz="2800" dirty="0" smtClean="0">
                <a:solidFill>
                  <a:srgbClr val="00CC00"/>
                </a:solidFill>
              </a:rPr>
              <a:t>contiguous block of disks</a:t>
            </a:r>
            <a:r>
              <a:rPr lang="en-US" altLang="zh-TW" sz="2800" dirty="0" smtClean="0"/>
              <a:t>. Extents are allocated for file allocation. A file consists of </a:t>
            </a:r>
            <a:r>
              <a:rPr lang="en-US" altLang="zh-TW" sz="2800" dirty="0" smtClean="0">
                <a:solidFill>
                  <a:srgbClr val="00CC00"/>
                </a:solidFill>
              </a:rPr>
              <a:t>one or more extents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00"/>
                </a:solidFill>
              </a:rPr>
              <a:t>Internal fragmentation and external fragmentation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C941A28-1FE5-42B2-ACC2-08517F4F2D2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B31C83B-065B-4D9E-9A46-375C8EDFC96D}" type="slidenum">
              <a:rPr kumimoji="0" lang="zh-TW" altLang="en-US" sz="1400" smtClean="0"/>
              <a:pPr eaLnBrk="1" hangingPunct="1"/>
              <a:t>15</a:t>
            </a:fld>
            <a:endParaRPr kumimoji="0" lang="en-US" altLang="zh-TW" sz="1400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TW" smtClean="0"/>
              <a:t>Linked Allocation (1)</a:t>
            </a: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1200150"/>
            <a:ext cx="8874125" cy="52593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mtClean="0"/>
              <a:t>Each file is a </a:t>
            </a:r>
            <a:r>
              <a:rPr lang="en-US" altLang="zh-TW" smtClean="0">
                <a:solidFill>
                  <a:srgbClr val="FF0000"/>
                </a:solidFill>
              </a:rPr>
              <a:t>linked list of disk blocks</a:t>
            </a:r>
            <a:r>
              <a:rPr lang="en-US" altLang="zh-TW" smtClean="0"/>
              <a:t>: blocks may be scattered anywhere on the disk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mtClean="0">
                <a:latin typeface="Wingdings" pitchFamily="2" charset="2"/>
              </a:rPr>
              <a:t>J</a:t>
            </a:r>
            <a:r>
              <a:rPr lang="en-US" altLang="zh-TW" smtClean="0"/>
              <a:t>: </a:t>
            </a:r>
            <a:r>
              <a:rPr lang="en-US" altLang="zh-TW" sz="2800" smtClean="0"/>
              <a:t>	1. </a:t>
            </a:r>
            <a:r>
              <a:rPr lang="en-US" altLang="zh-TW" smtClean="0">
                <a:solidFill>
                  <a:srgbClr val="0000FF"/>
                </a:solidFill>
              </a:rPr>
              <a:t>Simple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need only starting address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smtClean="0"/>
              <a:t>		2. </a:t>
            </a:r>
            <a:r>
              <a:rPr lang="en-US" altLang="zh-TW" smtClean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Free-space management</a:t>
            </a:r>
            <a:r>
              <a:rPr lang="en-US" altLang="zh-TW" smtClean="0"/>
              <a:t> system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0000FF"/>
                </a:solidFill>
              </a:rPr>
              <a:t>no 	   		waste of space</a:t>
            </a:r>
            <a:r>
              <a:rPr lang="en-US" altLang="zh-TW" smtClean="0"/>
              <a:t> 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smtClean="0"/>
              <a:t>		3. No external fragmentation</a:t>
            </a:r>
            <a:endParaRPr lang="en-US" altLang="zh-TW" smtClean="0"/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smtClean="0"/>
              <a:t>2. </a:t>
            </a:r>
            <a:r>
              <a:rPr lang="en-US" altLang="zh-TW" sz="2800" smtClean="0">
                <a:solidFill>
                  <a:srgbClr val="0000FF"/>
                </a:solidFill>
              </a:rPr>
              <a:t>Easy to create a file</a:t>
            </a:r>
            <a:r>
              <a:rPr lang="en-US" altLang="zh-TW" sz="2800" smtClean="0"/>
              <a:t> (no allocation problem)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mtClean="0">
                <a:latin typeface="Wingdings" pitchFamily="2" charset="2"/>
              </a:rPr>
              <a:t>L</a:t>
            </a:r>
            <a:r>
              <a:rPr lang="en-US" altLang="zh-TW" smtClean="0"/>
              <a:t>: </a:t>
            </a:r>
            <a:r>
              <a:rPr lang="en-US" altLang="zh-TW" sz="2800" smtClean="0"/>
              <a:t>	1. only better for </a:t>
            </a:r>
            <a:r>
              <a:rPr lang="en-US" altLang="zh-TW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sequentially access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smtClean="0"/>
              <a:t>2. </a:t>
            </a:r>
            <a:r>
              <a:rPr lang="en-US" altLang="zh-TW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pointers require space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smtClean="0"/>
              <a:t>3. </a:t>
            </a:r>
            <a:r>
              <a:rPr lang="en-US" altLang="zh-TW" sz="2800" smtClean="0">
                <a:solidFill>
                  <a:srgbClr val="FF0000"/>
                </a:solidFill>
              </a:rPr>
              <a:t>reliability</a:t>
            </a:r>
            <a:r>
              <a:rPr lang="en-US" altLang="zh-TW" sz="2800" smtClean="0"/>
              <a:t> (damaged pointers)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608D60C-9DF8-4E9D-8D89-FDA070FB2A47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843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843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0BB0252-07F4-4452-857E-53049731BB31}" type="slidenum">
              <a:rPr kumimoji="0" lang="zh-TW" altLang="en-US" sz="1400" smtClean="0"/>
              <a:pPr eaLnBrk="1" hangingPunct="1"/>
              <a:t>16</a:t>
            </a:fld>
            <a:endParaRPr kumimoji="0" lang="en-US" altLang="zh-TW" sz="1400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/>
              <a:t>Linked Allocation (2)</a:t>
            </a:r>
            <a:endParaRPr lang="en-US" altLang="zh-TW" sz="3600" smtClean="0"/>
          </a:p>
        </p:txBody>
      </p:sp>
      <p:pic>
        <p:nvPicPr>
          <p:cNvPr id="1843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t="801" r="10583" b="534"/>
          <a:stretch>
            <a:fillRect/>
          </a:stretch>
        </p:blipFill>
        <p:spPr bwMode="auto">
          <a:xfrm>
            <a:off x="904875" y="1143000"/>
            <a:ext cx="7364413" cy="47736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16ACB6A-1B5E-49C2-82EE-B7F0F59062D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945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1946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D09775D-0BEC-4A0D-8C0D-26C603D5B86B}" type="slidenum">
              <a:rPr kumimoji="0" lang="zh-TW" altLang="en-US" sz="1400" smtClean="0"/>
              <a:pPr eaLnBrk="1" hangingPunct="1"/>
              <a:t>17</a:t>
            </a:fld>
            <a:endParaRPr kumimoji="0" lang="en-US" altLang="zh-TW" sz="1400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38213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</a:rPr>
              <a:t>File-Allocation Table</a:t>
            </a:r>
            <a:endParaRPr lang="en-US" altLang="zh-TW" sz="3600" smtClean="0">
              <a:solidFill>
                <a:srgbClr val="0000FF"/>
              </a:solidFill>
            </a:endParaRPr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606425" y="1500188"/>
            <a:ext cx="7408863" cy="387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TW" sz="3600" dirty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simple but efficient method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/>
            </a:pPr>
            <a:r>
              <a:rPr lang="en-US" altLang="zh-TW" sz="3600" dirty="0"/>
              <a:t>an variation used by DOS and 	OS/2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/>
            </a:pPr>
            <a:r>
              <a:rPr lang="en-US" altLang="zh-TW" sz="3600" dirty="0">
                <a:solidFill>
                  <a:srgbClr val="FF0000"/>
                </a:solidFill>
              </a:rPr>
              <a:t>one entry for each disk block, 	indexed by block number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/>
            </a:pPr>
            <a:r>
              <a:rPr lang="en-US" altLang="zh-TW" sz="3600" dirty="0"/>
              <a:t>the table is used as a </a:t>
            </a:r>
            <a:r>
              <a:rPr lang="en-US" altLang="zh-TW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linked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72808B3-6C35-490A-9E21-3A726B24C02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49CAF20-5DAC-4EB1-80DC-8468084AD27A}" type="slidenum">
              <a:rPr kumimoji="0" lang="zh-TW" altLang="en-US" sz="1400" smtClean="0"/>
              <a:pPr eaLnBrk="1" hangingPunct="1"/>
              <a:t>18</a:t>
            </a:fld>
            <a:endParaRPr kumimoji="0" lang="en-US" altLang="zh-TW" sz="1400" smtClean="0"/>
          </a:p>
        </p:txBody>
      </p:sp>
      <p:sp>
        <p:nvSpPr>
          <p:cNvPr id="20485" name="Text Box 2"/>
          <p:cNvSpPr txBox="1">
            <a:spLocks noChangeArrowheads="1"/>
          </p:cNvSpPr>
          <p:nvPr/>
        </p:nvSpPr>
        <p:spPr bwMode="auto">
          <a:xfrm>
            <a:off x="1668463" y="381000"/>
            <a:ext cx="49085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File Allocation Table</a:t>
            </a:r>
          </a:p>
        </p:txBody>
      </p:sp>
      <p:sp>
        <p:nvSpPr>
          <p:cNvPr id="20486" name="Rectangle 3" descr="大棋盤格"/>
          <p:cNvSpPr>
            <a:spLocks noChangeArrowheads="1"/>
          </p:cNvSpPr>
          <p:nvPr/>
        </p:nvSpPr>
        <p:spPr bwMode="auto">
          <a:xfrm>
            <a:off x="1304925" y="3349625"/>
            <a:ext cx="493713" cy="387350"/>
          </a:xfrm>
          <a:prstGeom prst="rect">
            <a:avLst/>
          </a:prstGeom>
          <a:pattFill prst="lgCheck">
            <a:fgClr>
              <a:srgbClr val="E8E8E8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487" name="Text Box 4"/>
          <p:cNvSpPr txBox="1">
            <a:spLocks noChangeArrowheads="1"/>
          </p:cNvSpPr>
          <p:nvPr/>
        </p:nvSpPr>
        <p:spPr bwMode="auto">
          <a:xfrm>
            <a:off x="895350" y="3370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0</a:t>
            </a:r>
          </a:p>
        </p:txBody>
      </p:sp>
      <p:sp>
        <p:nvSpPr>
          <p:cNvPr id="20488" name="Rectangle 5"/>
          <p:cNvSpPr>
            <a:spLocks noChangeArrowheads="1"/>
          </p:cNvSpPr>
          <p:nvPr/>
        </p:nvSpPr>
        <p:spPr bwMode="auto">
          <a:xfrm>
            <a:off x="2360613" y="3370263"/>
            <a:ext cx="493712" cy="38735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(3)</a:t>
            </a:r>
          </a:p>
        </p:txBody>
      </p:sp>
      <p:sp>
        <p:nvSpPr>
          <p:cNvPr id="20489" name="Text Box 6"/>
          <p:cNvSpPr txBox="1">
            <a:spLocks noChangeArrowheads="1"/>
          </p:cNvSpPr>
          <p:nvPr/>
        </p:nvSpPr>
        <p:spPr bwMode="auto">
          <a:xfrm>
            <a:off x="1951038" y="3390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</a:t>
            </a:r>
          </a:p>
        </p:txBody>
      </p:sp>
      <p:grpSp>
        <p:nvGrpSpPr>
          <p:cNvPr id="20490" name="Group 7"/>
          <p:cNvGrpSpPr>
            <a:grpSpLocks/>
          </p:cNvGrpSpPr>
          <p:nvPr/>
        </p:nvGrpSpPr>
        <p:grpSpPr bwMode="auto">
          <a:xfrm>
            <a:off x="3074988" y="3349625"/>
            <a:ext cx="903287" cy="387350"/>
            <a:chOff x="705" y="607"/>
            <a:chExt cx="569" cy="244"/>
          </a:xfrm>
        </p:grpSpPr>
        <p:sp>
          <p:nvSpPr>
            <p:cNvPr id="20541" name="Rectangle 8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42" name="Text Box 9"/>
            <p:cNvSpPr txBox="1">
              <a:spLocks noChangeArrowheads="1"/>
            </p:cNvSpPr>
            <p:nvPr/>
          </p:nvSpPr>
          <p:spPr bwMode="auto">
            <a:xfrm>
              <a:off x="705" y="6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20491" name="Group 10"/>
          <p:cNvGrpSpPr>
            <a:grpSpLocks/>
          </p:cNvGrpSpPr>
          <p:nvPr/>
        </p:nvGrpSpPr>
        <p:grpSpPr bwMode="auto">
          <a:xfrm>
            <a:off x="4130675" y="3390900"/>
            <a:ext cx="903288" cy="387350"/>
            <a:chOff x="705" y="607"/>
            <a:chExt cx="569" cy="244"/>
          </a:xfrm>
        </p:grpSpPr>
        <p:sp>
          <p:nvSpPr>
            <p:cNvPr id="20539" name="Rectangle 11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40" name="Text Box 12"/>
            <p:cNvSpPr txBox="1">
              <a:spLocks noChangeArrowheads="1"/>
            </p:cNvSpPr>
            <p:nvPr/>
          </p:nvSpPr>
          <p:spPr bwMode="auto">
            <a:xfrm>
              <a:off x="705" y="6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20492" name="Rectangle 13"/>
          <p:cNvSpPr>
            <a:spLocks noChangeArrowheads="1"/>
          </p:cNvSpPr>
          <p:nvPr/>
        </p:nvSpPr>
        <p:spPr bwMode="auto">
          <a:xfrm>
            <a:off x="1298575" y="4065588"/>
            <a:ext cx="493713" cy="38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493" name="Text Box 14"/>
          <p:cNvSpPr txBox="1">
            <a:spLocks noChangeArrowheads="1"/>
          </p:cNvSpPr>
          <p:nvPr/>
        </p:nvSpPr>
        <p:spPr bwMode="auto">
          <a:xfrm>
            <a:off x="889000" y="4086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4</a:t>
            </a:r>
          </a:p>
        </p:txBody>
      </p:sp>
      <p:grpSp>
        <p:nvGrpSpPr>
          <p:cNvPr id="20494" name="Group 15"/>
          <p:cNvGrpSpPr>
            <a:grpSpLocks/>
          </p:cNvGrpSpPr>
          <p:nvPr/>
        </p:nvGrpSpPr>
        <p:grpSpPr bwMode="auto">
          <a:xfrm>
            <a:off x="1944688" y="4086225"/>
            <a:ext cx="903287" cy="387350"/>
            <a:chOff x="705" y="607"/>
            <a:chExt cx="569" cy="244"/>
          </a:xfrm>
        </p:grpSpPr>
        <p:sp>
          <p:nvSpPr>
            <p:cNvPr id="20537" name="Rectangle 16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38" name="Text Box 17"/>
            <p:cNvSpPr txBox="1">
              <a:spLocks noChangeArrowheads="1"/>
            </p:cNvSpPr>
            <p:nvPr/>
          </p:nvSpPr>
          <p:spPr bwMode="auto">
            <a:xfrm>
              <a:off x="705" y="6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20495" name="Group 18"/>
          <p:cNvGrpSpPr>
            <a:grpSpLocks/>
          </p:cNvGrpSpPr>
          <p:nvPr/>
        </p:nvGrpSpPr>
        <p:grpSpPr bwMode="auto">
          <a:xfrm>
            <a:off x="3068638" y="4065588"/>
            <a:ext cx="903287" cy="387350"/>
            <a:chOff x="705" y="607"/>
            <a:chExt cx="569" cy="244"/>
          </a:xfrm>
        </p:grpSpPr>
        <p:sp>
          <p:nvSpPr>
            <p:cNvPr id="20535" name="Rectangle 19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36" name="Text Box 20"/>
            <p:cNvSpPr txBox="1">
              <a:spLocks noChangeArrowheads="1"/>
            </p:cNvSpPr>
            <p:nvPr/>
          </p:nvSpPr>
          <p:spPr bwMode="auto">
            <a:xfrm>
              <a:off x="705" y="62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20496" name="Rectangle 21"/>
          <p:cNvSpPr>
            <a:spLocks noChangeArrowheads="1"/>
          </p:cNvSpPr>
          <p:nvPr/>
        </p:nvSpPr>
        <p:spPr bwMode="auto">
          <a:xfrm>
            <a:off x="4533900" y="4106863"/>
            <a:ext cx="493713" cy="387350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(4)</a:t>
            </a:r>
          </a:p>
        </p:txBody>
      </p:sp>
      <p:sp>
        <p:nvSpPr>
          <p:cNvPr id="20497" name="Text Box 22"/>
          <p:cNvSpPr txBox="1">
            <a:spLocks noChangeArrowheads="1"/>
          </p:cNvSpPr>
          <p:nvPr/>
        </p:nvSpPr>
        <p:spPr bwMode="auto">
          <a:xfrm>
            <a:off x="4124325" y="41275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7</a:t>
            </a:r>
          </a:p>
        </p:txBody>
      </p:sp>
      <p:sp>
        <p:nvSpPr>
          <p:cNvPr id="20498" name="Rectangle 23"/>
          <p:cNvSpPr>
            <a:spLocks noChangeArrowheads="1"/>
          </p:cNvSpPr>
          <p:nvPr/>
        </p:nvSpPr>
        <p:spPr bwMode="auto">
          <a:xfrm>
            <a:off x="1333500" y="4822825"/>
            <a:ext cx="493713" cy="38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499" name="Text Box 24"/>
          <p:cNvSpPr txBox="1">
            <a:spLocks noChangeArrowheads="1"/>
          </p:cNvSpPr>
          <p:nvPr/>
        </p:nvSpPr>
        <p:spPr bwMode="auto">
          <a:xfrm>
            <a:off x="923925" y="48434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8</a:t>
            </a:r>
          </a:p>
        </p:txBody>
      </p:sp>
      <p:sp>
        <p:nvSpPr>
          <p:cNvPr id="20500" name="Rectangle 25"/>
          <p:cNvSpPr>
            <a:spLocks noChangeArrowheads="1"/>
          </p:cNvSpPr>
          <p:nvPr/>
        </p:nvSpPr>
        <p:spPr bwMode="auto">
          <a:xfrm>
            <a:off x="2389188" y="4843463"/>
            <a:ext cx="493712" cy="387350"/>
          </a:xfrm>
          <a:prstGeom prst="rect">
            <a:avLst/>
          </a:prstGeom>
          <a:solidFill>
            <a:srgbClr val="E6E6E6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FF0000"/>
                </a:solidFill>
                <a:latin typeface="Times New Roman" pitchFamily="18" charset="0"/>
              </a:rPr>
              <a:t>(1)</a:t>
            </a:r>
          </a:p>
        </p:txBody>
      </p:sp>
      <p:sp>
        <p:nvSpPr>
          <p:cNvPr id="20501" name="Text Box 26"/>
          <p:cNvSpPr txBox="1">
            <a:spLocks noChangeArrowheads="1"/>
          </p:cNvSpPr>
          <p:nvPr/>
        </p:nvSpPr>
        <p:spPr bwMode="auto">
          <a:xfrm>
            <a:off x="1979613" y="48641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9</a:t>
            </a:r>
          </a:p>
        </p:txBody>
      </p:sp>
      <p:sp>
        <p:nvSpPr>
          <p:cNvPr id="20502" name="Rectangle 27"/>
          <p:cNvSpPr>
            <a:spLocks noChangeArrowheads="1"/>
          </p:cNvSpPr>
          <p:nvPr/>
        </p:nvSpPr>
        <p:spPr bwMode="auto">
          <a:xfrm>
            <a:off x="3513138" y="4822825"/>
            <a:ext cx="493712" cy="38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503" name="Text Box 28"/>
          <p:cNvSpPr txBox="1">
            <a:spLocks noChangeArrowheads="1"/>
          </p:cNvSpPr>
          <p:nvPr/>
        </p:nvSpPr>
        <p:spPr bwMode="auto">
          <a:xfrm>
            <a:off x="3103563" y="484346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10</a:t>
            </a:r>
          </a:p>
        </p:txBody>
      </p:sp>
      <p:grpSp>
        <p:nvGrpSpPr>
          <p:cNvPr id="20504" name="Group 29"/>
          <p:cNvGrpSpPr>
            <a:grpSpLocks/>
          </p:cNvGrpSpPr>
          <p:nvPr/>
        </p:nvGrpSpPr>
        <p:grpSpPr bwMode="auto">
          <a:xfrm>
            <a:off x="4159250" y="4864100"/>
            <a:ext cx="903288" cy="387350"/>
            <a:chOff x="705" y="607"/>
            <a:chExt cx="569" cy="244"/>
          </a:xfrm>
        </p:grpSpPr>
        <p:sp>
          <p:nvSpPr>
            <p:cNvPr id="20533" name="Rectangle 30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34" name="Text Box 31"/>
            <p:cNvSpPr txBox="1">
              <a:spLocks noChangeArrowheads="1"/>
            </p:cNvSpPr>
            <p:nvPr/>
          </p:nvSpPr>
          <p:spPr bwMode="auto">
            <a:xfrm>
              <a:off x="705" y="62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11</a:t>
              </a:r>
            </a:p>
          </p:txBody>
        </p:sp>
      </p:grpSp>
      <p:sp>
        <p:nvSpPr>
          <p:cNvPr id="20505" name="Rectangle 32"/>
          <p:cNvSpPr>
            <a:spLocks noChangeArrowheads="1"/>
          </p:cNvSpPr>
          <p:nvPr/>
        </p:nvSpPr>
        <p:spPr bwMode="auto">
          <a:xfrm>
            <a:off x="1327150" y="5538788"/>
            <a:ext cx="493713" cy="38735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(2)</a:t>
            </a:r>
          </a:p>
        </p:txBody>
      </p:sp>
      <p:sp>
        <p:nvSpPr>
          <p:cNvPr id="20506" name="Text Box 33"/>
          <p:cNvSpPr txBox="1">
            <a:spLocks noChangeArrowheads="1"/>
          </p:cNvSpPr>
          <p:nvPr/>
        </p:nvSpPr>
        <p:spPr bwMode="auto">
          <a:xfrm>
            <a:off x="917575" y="55594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12</a:t>
            </a:r>
          </a:p>
        </p:txBody>
      </p:sp>
      <p:grpSp>
        <p:nvGrpSpPr>
          <p:cNvPr id="20507" name="Group 34"/>
          <p:cNvGrpSpPr>
            <a:grpSpLocks/>
          </p:cNvGrpSpPr>
          <p:nvPr/>
        </p:nvGrpSpPr>
        <p:grpSpPr bwMode="auto">
          <a:xfrm>
            <a:off x="1973263" y="5559425"/>
            <a:ext cx="903287" cy="387350"/>
            <a:chOff x="705" y="607"/>
            <a:chExt cx="569" cy="244"/>
          </a:xfrm>
        </p:grpSpPr>
        <p:sp>
          <p:nvSpPr>
            <p:cNvPr id="20531" name="Rectangle 35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32" name="Text Box 36"/>
            <p:cNvSpPr txBox="1">
              <a:spLocks noChangeArrowheads="1"/>
            </p:cNvSpPr>
            <p:nvPr/>
          </p:nvSpPr>
          <p:spPr bwMode="auto">
            <a:xfrm>
              <a:off x="705" y="62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13</a:t>
              </a:r>
            </a:p>
          </p:txBody>
        </p:sp>
      </p:grpSp>
      <p:sp>
        <p:nvSpPr>
          <p:cNvPr id="20508" name="Rectangle 37"/>
          <p:cNvSpPr>
            <a:spLocks noChangeArrowheads="1"/>
          </p:cNvSpPr>
          <p:nvPr/>
        </p:nvSpPr>
        <p:spPr bwMode="auto">
          <a:xfrm>
            <a:off x="3506788" y="5538788"/>
            <a:ext cx="493712" cy="387350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(5)</a:t>
            </a:r>
          </a:p>
        </p:txBody>
      </p:sp>
      <p:sp>
        <p:nvSpPr>
          <p:cNvPr id="20509" name="Text Box 38"/>
          <p:cNvSpPr txBox="1">
            <a:spLocks noChangeArrowheads="1"/>
          </p:cNvSpPr>
          <p:nvPr/>
        </p:nvSpPr>
        <p:spPr bwMode="auto">
          <a:xfrm>
            <a:off x="3097213" y="55594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14</a:t>
            </a:r>
          </a:p>
        </p:txBody>
      </p:sp>
      <p:grpSp>
        <p:nvGrpSpPr>
          <p:cNvPr id="20510" name="Group 39"/>
          <p:cNvGrpSpPr>
            <a:grpSpLocks/>
          </p:cNvGrpSpPr>
          <p:nvPr/>
        </p:nvGrpSpPr>
        <p:grpSpPr bwMode="auto">
          <a:xfrm>
            <a:off x="4152900" y="5580063"/>
            <a:ext cx="903288" cy="387350"/>
            <a:chOff x="705" y="607"/>
            <a:chExt cx="569" cy="244"/>
          </a:xfrm>
        </p:grpSpPr>
        <p:sp>
          <p:nvSpPr>
            <p:cNvPr id="20529" name="Rectangle 40"/>
            <p:cNvSpPr>
              <a:spLocks noChangeArrowheads="1"/>
            </p:cNvSpPr>
            <p:nvPr/>
          </p:nvSpPr>
          <p:spPr bwMode="auto">
            <a:xfrm>
              <a:off x="963" y="607"/>
              <a:ext cx="311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530" name="Text Box 41"/>
            <p:cNvSpPr txBox="1">
              <a:spLocks noChangeArrowheads="1"/>
            </p:cNvSpPr>
            <p:nvPr/>
          </p:nvSpPr>
          <p:spPr bwMode="auto">
            <a:xfrm>
              <a:off x="705" y="62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15</a:t>
              </a:r>
            </a:p>
          </p:txBody>
        </p:sp>
      </p:grpSp>
      <p:sp>
        <p:nvSpPr>
          <p:cNvPr id="20511" name="Oval 42"/>
          <p:cNvSpPr>
            <a:spLocks noChangeArrowheads="1"/>
          </p:cNvSpPr>
          <p:nvPr/>
        </p:nvSpPr>
        <p:spPr bwMode="auto">
          <a:xfrm>
            <a:off x="687388" y="2435225"/>
            <a:ext cx="4851400" cy="2111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512" name="Oval 43"/>
          <p:cNvSpPr>
            <a:spLocks noChangeArrowheads="1"/>
          </p:cNvSpPr>
          <p:nvPr/>
        </p:nvSpPr>
        <p:spPr bwMode="auto">
          <a:xfrm>
            <a:off x="735013" y="6097588"/>
            <a:ext cx="4851400" cy="2111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0513" name="Line 44"/>
          <p:cNvSpPr>
            <a:spLocks noChangeShapeType="1"/>
          </p:cNvSpPr>
          <p:nvPr/>
        </p:nvSpPr>
        <p:spPr bwMode="auto">
          <a:xfrm>
            <a:off x="722313" y="2540000"/>
            <a:ext cx="34925" cy="3668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4" name="Line 45"/>
          <p:cNvSpPr>
            <a:spLocks noChangeShapeType="1"/>
          </p:cNvSpPr>
          <p:nvPr/>
        </p:nvSpPr>
        <p:spPr bwMode="auto">
          <a:xfrm>
            <a:off x="5514975" y="2586038"/>
            <a:ext cx="0" cy="3597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5858669" y="2364572"/>
            <a:ext cx="2944812" cy="1128713"/>
            <a:chOff x="5745163" y="3482975"/>
            <a:chExt cx="2944812" cy="1128713"/>
          </a:xfrm>
        </p:grpSpPr>
        <p:sp>
          <p:nvSpPr>
            <p:cNvPr id="20515" name="Text Box 46"/>
            <p:cNvSpPr txBox="1">
              <a:spLocks noChangeArrowheads="1"/>
            </p:cNvSpPr>
            <p:nvPr/>
          </p:nvSpPr>
          <p:spPr bwMode="auto">
            <a:xfrm>
              <a:off x="5745163" y="3482975"/>
              <a:ext cx="2551112" cy="1100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 dirty="0">
                  <a:latin typeface="Times New Roman" pitchFamily="18" charset="0"/>
                </a:rPr>
                <a:t>                   </a:t>
              </a:r>
              <a:r>
                <a:rPr lang="en-US" altLang="zh-TW" sz="2000" b="1" dirty="0">
                  <a:latin typeface="Times New Roman" pitchFamily="18" charset="0"/>
                </a:rPr>
                <a:t>directory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Times New Roman" pitchFamily="18" charset="0"/>
                </a:rPr>
                <a:t>                file        start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Times New Roman" pitchFamily="18" charset="0"/>
                </a:rPr>
                <a:t>                jeep          </a:t>
              </a:r>
              <a:r>
                <a:rPr lang="en-US" altLang="zh-TW" sz="2000" b="1" dirty="0">
                  <a:solidFill>
                    <a:srgbClr val="FF00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0516" name="Line 47"/>
            <p:cNvSpPr>
              <a:spLocks noChangeShapeType="1"/>
            </p:cNvSpPr>
            <p:nvPr/>
          </p:nvSpPr>
          <p:spPr bwMode="auto">
            <a:xfrm>
              <a:off x="5961063" y="3836988"/>
              <a:ext cx="2717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517" name="Line 48"/>
            <p:cNvSpPr>
              <a:spLocks noChangeShapeType="1"/>
            </p:cNvSpPr>
            <p:nvPr/>
          </p:nvSpPr>
          <p:spPr bwMode="auto">
            <a:xfrm>
              <a:off x="5972175" y="4219575"/>
              <a:ext cx="2717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518" name="Line 49"/>
            <p:cNvSpPr>
              <a:spLocks noChangeShapeType="1"/>
            </p:cNvSpPr>
            <p:nvPr/>
          </p:nvSpPr>
          <p:spPr bwMode="auto">
            <a:xfrm>
              <a:off x="5954713" y="4611688"/>
              <a:ext cx="2717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0519" name="Text Box 50"/>
          <p:cNvSpPr txBox="1">
            <a:spLocks noChangeArrowheads="1"/>
          </p:cNvSpPr>
          <p:nvPr/>
        </p:nvSpPr>
        <p:spPr bwMode="auto">
          <a:xfrm>
            <a:off x="1036638" y="1144588"/>
            <a:ext cx="67881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0    1    2     3    4    5    6   7    8    9    10    11    12    13    14    15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  7                                 14        12                     1             </a:t>
            </a:r>
            <a:r>
              <a:rPr lang="zh-TW" altLang="en-US" sz="2000" b="1">
                <a:solidFill>
                  <a:srgbClr val="CC00FF"/>
                </a:solidFill>
                <a:latin typeface="Times New Roman" pitchFamily="18" charset="0"/>
              </a:rPr>
              <a:t>-1</a:t>
            </a:r>
            <a:r>
              <a:rPr lang="zh-TW" altLang="en-US" sz="2000" b="1">
                <a:latin typeface="Times New Roman" pitchFamily="18" charset="0"/>
              </a:rPr>
              <a:t> </a:t>
            </a:r>
          </a:p>
        </p:txBody>
      </p:sp>
      <p:sp>
        <p:nvSpPr>
          <p:cNvPr id="20520" name="Line 53"/>
          <p:cNvSpPr>
            <a:spLocks noChangeShapeType="1"/>
          </p:cNvSpPr>
          <p:nvPr/>
        </p:nvSpPr>
        <p:spPr bwMode="auto">
          <a:xfrm>
            <a:off x="1004888" y="1146175"/>
            <a:ext cx="68278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1" name="Line 54"/>
          <p:cNvSpPr>
            <a:spLocks noChangeShapeType="1"/>
          </p:cNvSpPr>
          <p:nvPr/>
        </p:nvSpPr>
        <p:spPr bwMode="auto">
          <a:xfrm>
            <a:off x="981075" y="1492250"/>
            <a:ext cx="68278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2" name="Line 55"/>
          <p:cNvSpPr>
            <a:spLocks noChangeShapeType="1"/>
          </p:cNvSpPr>
          <p:nvPr/>
        </p:nvSpPr>
        <p:spPr bwMode="auto">
          <a:xfrm>
            <a:off x="1027113" y="1857375"/>
            <a:ext cx="68278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2872" name="Text Box 56"/>
          <p:cNvSpPr txBox="1">
            <a:spLocks noChangeArrowheads="1"/>
          </p:cNvSpPr>
          <p:nvPr/>
        </p:nvSpPr>
        <p:spPr bwMode="auto">
          <a:xfrm>
            <a:off x="4464050" y="10969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62873" name="Text Box 57"/>
          <p:cNvSpPr txBox="1">
            <a:spLocks noChangeArrowheads="1"/>
          </p:cNvSpPr>
          <p:nvPr/>
        </p:nvSpPr>
        <p:spPr bwMode="auto">
          <a:xfrm>
            <a:off x="5840413" y="1100138"/>
            <a:ext cx="481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162874" name="Text Box 58"/>
          <p:cNvSpPr txBox="1">
            <a:spLocks noChangeArrowheads="1"/>
          </p:cNvSpPr>
          <p:nvPr/>
        </p:nvSpPr>
        <p:spPr bwMode="auto">
          <a:xfrm>
            <a:off x="1419225" y="1111250"/>
            <a:ext cx="293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2876" name="Text Box 60"/>
          <p:cNvSpPr txBox="1">
            <a:spLocks noChangeArrowheads="1"/>
          </p:cNvSpPr>
          <p:nvPr/>
        </p:nvSpPr>
        <p:spPr bwMode="auto">
          <a:xfrm>
            <a:off x="3700463" y="1092200"/>
            <a:ext cx="277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62877" name="Text Box 61"/>
          <p:cNvSpPr txBox="1">
            <a:spLocks noChangeArrowheads="1"/>
          </p:cNvSpPr>
          <p:nvPr/>
        </p:nvSpPr>
        <p:spPr bwMode="auto">
          <a:xfrm>
            <a:off x="6854825" y="1112838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162878" name="Line 62"/>
          <p:cNvSpPr>
            <a:spLocks noChangeShapeType="1"/>
          </p:cNvSpPr>
          <p:nvPr/>
        </p:nvSpPr>
        <p:spPr bwMode="auto">
          <a:xfrm>
            <a:off x="1649413" y="1543050"/>
            <a:ext cx="727075" cy="17383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3660540"/>
            <a:ext cx="3592909" cy="307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72" grpId="0"/>
      <p:bldP spid="162873" grpId="0"/>
      <p:bldP spid="162874" grpId="0"/>
      <p:bldP spid="162876" grpId="0"/>
      <p:bldP spid="162877" grpId="0"/>
      <p:bldP spid="16287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2B671FB-8BCB-49ED-B9D9-0F595FA8368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07FDF30-1A9A-4CE7-BE82-3745369F5D12}" type="slidenum">
              <a:rPr kumimoji="0" lang="zh-TW" altLang="en-US" sz="1400" smtClean="0"/>
              <a:pPr eaLnBrk="1" hangingPunct="1"/>
              <a:t>19</a:t>
            </a:fld>
            <a:endParaRPr kumimoji="0" lang="en-US" altLang="zh-TW" sz="1400" smtClean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176213"/>
            <a:ext cx="7772400" cy="825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Indexed Allocation</a:t>
            </a:r>
          </a:p>
        </p:txBody>
      </p:sp>
      <p:sp>
        <p:nvSpPr>
          <p:cNvPr id="76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8938" y="1084263"/>
            <a:ext cx="8504237" cy="546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Bring all the pointers together into one location: the </a:t>
            </a:r>
            <a:r>
              <a:rPr lang="en-US" altLang="zh-TW" smtClean="0">
                <a:solidFill>
                  <a:srgbClr val="FF0000"/>
                </a:solidFill>
              </a:rPr>
              <a:t>index block</a:t>
            </a:r>
            <a:r>
              <a:rPr lang="en-US" altLang="zh-TW" i="1" smtClean="0">
                <a:solidFill>
                  <a:srgbClr val="FFCC00"/>
                </a:solidFill>
              </a:rPr>
              <a:t> </a:t>
            </a:r>
            <a:r>
              <a:rPr lang="en-US" altLang="zh-TW" smtClean="0"/>
              <a:t>(one for each file)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J</a:t>
            </a:r>
            <a:r>
              <a:rPr lang="en-US" altLang="zh-TW" smtClean="0"/>
              <a:t>: </a:t>
            </a:r>
            <a:r>
              <a:rPr lang="en-US" altLang="zh-TW" sz="2800" smtClean="0"/>
              <a:t>	1. </a:t>
            </a:r>
            <a:r>
              <a:rPr lang="en-US" altLang="zh-TW" sz="2800" b="1" smtClean="0">
                <a:solidFill>
                  <a:srgbClr val="FF0000"/>
                </a:solidFill>
              </a:rPr>
              <a:t>Direct access</a:t>
            </a:r>
            <a:endParaRPr lang="en-US" altLang="zh-TW" b="1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2. No external fragmentation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2. Easy to create a file (no allocation problem)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3. </a:t>
            </a:r>
            <a:r>
              <a:rPr lang="en-US" altLang="zh-TW" sz="2800" smtClean="0">
                <a:solidFill>
                  <a:srgbClr val="FF0000"/>
                </a:solidFill>
              </a:rPr>
              <a:t>Support both sequential and direct access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L</a:t>
            </a:r>
            <a:r>
              <a:rPr lang="en-US" altLang="zh-TW" smtClean="0"/>
              <a:t>: </a:t>
            </a:r>
            <a:r>
              <a:rPr lang="en-US" altLang="zh-TW" sz="2800" smtClean="0"/>
              <a:t>	1. Space for index blocks</a:t>
            </a:r>
            <a:endParaRPr lang="en-US" altLang="zh-TW" smtClean="0"/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2. </a:t>
            </a:r>
            <a:r>
              <a:rPr lang="en-US" altLang="zh-TW" sz="2800" smtClean="0">
                <a:solidFill>
                  <a:srgbClr val="FF0000"/>
                </a:solidFill>
              </a:rPr>
              <a:t>How large the index block should be</a:t>
            </a:r>
            <a:r>
              <a:rPr lang="en-US" altLang="zh-TW" sz="2800" smtClean="0"/>
              <a:t> ?</a:t>
            </a:r>
            <a:endParaRPr lang="en-US" altLang="zh-TW" sz="3200" smtClean="0"/>
          </a:p>
          <a:p>
            <a:pPr lvl="3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linked scheme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multilevel index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combined scheme</a:t>
            </a:r>
            <a:r>
              <a:rPr lang="en-US" altLang="zh-TW" sz="2400" smtClean="0"/>
              <a:t>  (BSD UNIX)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C604759-AEEB-4834-967E-BA6A6BD32D5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253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253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AF478A7-1B25-47E6-80CE-DF0E2B0FE405}" type="slidenum">
              <a:rPr kumimoji="0" lang="zh-TW" altLang="en-US" sz="1400" smtClean="0"/>
              <a:pPr eaLnBrk="1" hangingPunct="1"/>
              <a:t>20</a:t>
            </a:fld>
            <a:endParaRPr kumimoji="0" lang="en-US" altLang="zh-TW" sz="1400" smtClean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Example of Indexed Allocation</a:t>
            </a:r>
            <a:endParaRPr lang="en-US" altLang="zh-TW" sz="3600" dirty="0" smtClean="0"/>
          </a:p>
        </p:txBody>
      </p:sp>
      <p:pic>
        <p:nvPicPr>
          <p:cNvPr id="225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" t="871" r="4906" b="581"/>
          <a:stretch>
            <a:fillRect/>
          </a:stretch>
        </p:blipFill>
        <p:spPr bwMode="auto">
          <a:xfrm>
            <a:off x="844550" y="1166813"/>
            <a:ext cx="7618413" cy="48926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3110239-BEAF-4681-9B48-53FFBC00469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62DD171-B4E0-47A3-86B0-232809F4362F}" type="slidenum">
              <a:rPr kumimoji="0" lang="zh-TW" altLang="en-US" sz="1400" smtClean="0"/>
              <a:pPr eaLnBrk="1" hangingPunct="1"/>
              <a:t>21</a:t>
            </a:fld>
            <a:endParaRPr kumimoji="0" lang="en-US" altLang="zh-TW" sz="1400" smtClean="0"/>
          </a:p>
        </p:txBody>
      </p:sp>
      <p:sp>
        <p:nvSpPr>
          <p:cNvPr id="23557" name="Text Box 2"/>
          <p:cNvSpPr txBox="1">
            <a:spLocks noChangeArrowheads="1"/>
          </p:cNvSpPr>
          <p:nvPr/>
        </p:nvSpPr>
        <p:spPr bwMode="auto">
          <a:xfrm>
            <a:off x="469900" y="230188"/>
            <a:ext cx="33718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3600" b="1">
                <a:solidFill>
                  <a:srgbClr val="FF0000"/>
                </a:solidFill>
                <a:latin typeface="Times New Roman" pitchFamily="18" charset="0"/>
              </a:rPr>
              <a:t>Indexed Scheme</a:t>
            </a: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8224838" y="19700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</a:t>
            </a:r>
            <a:endParaRPr lang="zh-TW" altLang="en-US" sz="20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174625" y="930275"/>
            <a:ext cx="3170238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         </a:t>
            </a:r>
            <a:r>
              <a:rPr lang="en-US" altLang="zh-TW" sz="2000" b="1">
                <a:latin typeface="Times New Roman" pitchFamily="18" charset="0"/>
              </a:rPr>
              <a:t>directory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 file        first index block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     jeep                 </a:t>
            </a: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19</a:t>
            </a:r>
            <a:r>
              <a:rPr lang="en-US" altLang="zh-TW" sz="2000" b="1">
                <a:latin typeface="Times New Roman" pitchFamily="18" charset="0"/>
              </a:rPr>
              <a:t>             </a:t>
            </a:r>
          </a:p>
        </p:txBody>
      </p:sp>
      <p:sp>
        <p:nvSpPr>
          <p:cNvPr id="23560" name="Line 5"/>
          <p:cNvSpPr>
            <a:spLocks noChangeShapeType="1"/>
          </p:cNvSpPr>
          <p:nvPr/>
        </p:nvSpPr>
        <p:spPr bwMode="auto">
          <a:xfrm>
            <a:off x="390525" y="1284288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1" name="Line 6"/>
          <p:cNvSpPr>
            <a:spLocks noChangeShapeType="1"/>
          </p:cNvSpPr>
          <p:nvPr/>
        </p:nvSpPr>
        <p:spPr bwMode="auto">
          <a:xfrm>
            <a:off x="401638" y="1666875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2" name="Line 7"/>
          <p:cNvSpPr>
            <a:spLocks noChangeShapeType="1"/>
          </p:cNvSpPr>
          <p:nvPr/>
        </p:nvSpPr>
        <p:spPr bwMode="auto">
          <a:xfrm>
            <a:off x="384175" y="2058988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48" name="Line 8"/>
          <p:cNvSpPr>
            <a:spLocks noChangeShapeType="1"/>
          </p:cNvSpPr>
          <p:nvPr/>
        </p:nvSpPr>
        <p:spPr bwMode="auto">
          <a:xfrm flipH="1">
            <a:off x="1830388" y="1962150"/>
            <a:ext cx="460375" cy="43973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363663" y="2414588"/>
            <a:ext cx="2098675" cy="3146425"/>
            <a:chOff x="749" y="1686"/>
            <a:chExt cx="1322" cy="1982"/>
          </a:xfrm>
        </p:grpSpPr>
        <p:sp>
          <p:nvSpPr>
            <p:cNvPr id="23593" name="Rectangle 10"/>
            <p:cNvSpPr>
              <a:spLocks noChangeArrowheads="1"/>
            </p:cNvSpPr>
            <p:nvPr/>
          </p:nvSpPr>
          <p:spPr bwMode="auto">
            <a:xfrm>
              <a:off x="764" y="1912"/>
              <a:ext cx="408" cy="1756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23594" name="Group 11"/>
            <p:cNvGrpSpPr>
              <a:grpSpLocks/>
            </p:cNvGrpSpPr>
            <p:nvPr/>
          </p:nvGrpSpPr>
          <p:grpSpPr bwMode="auto">
            <a:xfrm>
              <a:off x="749" y="1686"/>
              <a:ext cx="419" cy="231"/>
              <a:chOff x="1070" y="3876"/>
              <a:chExt cx="419" cy="231"/>
            </a:xfrm>
          </p:grpSpPr>
          <p:sp>
            <p:nvSpPr>
              <p:cNvPr id="23601" name="Text Box 12"/>
              <p:cNvSpPr txBox="1">
                <a:spLocks noChangeArrowheads="1"/>
              </p:cNvSpPr>
              <p:nvPr/>
            </p:nvSpPr>
            <p:spPr bwMode="auto">
              <a:xfrm>
                <a:off x="1070" y="3876"/>
                <a:ext cx="40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next</a:t>
                </a:r>
              </a:p>
            </p:txBody>
          </p:sp>
          <p:sp>
            <p:nvSpPr>
              <p:cNvPr id="23602" name="Rectangle 13"/>
              <p:cNvSpPr>
                <a:spLocks noChangeArrowheads="1"/>
              </p:cNvSpPr>
              <p:nvPr/>
            </p:nvSpPr>
            <p:spPr bwMode="auto">
              <a:xfrm>
                <a:off x="1090" y="3922"/>
                <a:ext cx="399" cy="16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23595" name="Rectangle 14"/>
            <p:cNvSpPr>
              <a:spLocks noChangeArrowheads="1"/>
            </p:cNvSpPr>
            <p:nvPr/>
          </p:nvSpPr>
          <p:spPr bwMode="auto">
            <a:xfrm>
              <a:off x="1324" y="193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96" name="Line 15"/>
            <p:cNvSpPr>
              <a:spLocks noChangeShapeType="1"/>
            </p:cNvSpPr>
            <p:nvPr/>
          </p:nvSpPr>
          <p:spPr bwMode="auto">
            <a:xfrm flipV="1">
              <a:off x="968" y="2016"/>
              <a:ext cx="327" cy="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97" name="Rectangle 16"/>
            <p:cNvSpPr>
              <a:spLocks noChangeArrowheads="1"/>
            </p:cNvSpPr>
            <p:nvPr/>
          </p:nvSpPr>
          <p:spPr bwMode="auto">
            <a:xfrm>
              <a:off x="1321" y="3409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98" name="Line 17"/>
            <p:cNvSpPr>
              <a:spLocks noChangeShapeType="1"/>
            </p:cNvSpPr>
            <p:nvPr/>
          </p:nvSpPr>
          <p:spPr bwMode="auto">
            <a:xfrm flipV="1">
              <a:off x="964" y="3481"/>
              <a:ext cx="383" cy="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99" name="Rectangle 18"/>
            <p:cNvSpPr>
              <a:spLocks noChangeArrowheads="1"/>
            </p:cNvSpPr>
            <p:nvPr/>
          </p:nvSpPr>
          <p:spPr bwMode="auto">
            <a:xfrm>
              <a:off x="1327" y="2287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600" name="Rectangle 19"/>
            <p:cNvSpPr>
              <a:spLocks noChangeArrowheads="1"/>
            </p:cNvSpPr>
            <p:nvPr/>
          </p:nvSpPr>
          <p:spPr bwMode="auto">
            <a:xfrm>
              <a:off x="1333" y="271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</p:grpSp>
      <p:sp>
        <p:nvSpPr>
          <p:cNvPr id="163860" name="Line 20"/>
          <p:cNvSpPr>
            <a:spLocks noChangeShapeType="1"/>
          </p:cNvSpPr>
          <p:nvPr/>
        </p:nvSpPr>
        <p:spPr bwMode="auto">
          <a:xfrm flipV="1">
            <a:off x="7216775" y="2295525"/>
            <a:ext cx="1020763" cy="387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075113" y="2478088"/>
            <a:ext cx="2098675" cy="3146425"/>
            <a:chOff x="749" y="1686"/>
            <a:chExt cx="1322" cy="1982"/>
          </a:xfrm>
        </p:grpSpPr>
        <p:sp>
          <p:nvSpPr>
            <p:cNvPr id="23583" name="Rectangle 22"/>
            <p:cNvSpPr>
              <a:spLocks noChangeArrowheads="1"/>
            </p:cNvSpPr>
            <p:nvPr/>
          </p:nvSpPr>
          <p:spPr bwMode="auto">
            <a:xfrm>
              <a:off x="764" y="1912"/>
              <a:ext cx="408" cy="1756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23584" name="Group 23"/>
            <p:cNvGrpSpPr>
              <a:grpSpLocks/>
            </p:cNvGrpSpPr>
            <p:nvPr/>
          </p:nvGrpSpPr>
          <p:grpSpPr bwMode="auto">
            <a:xfrm>
              <a:off x="749" y="1686"/>
              <a:ext cx="419" cy="231"/>
              <a:chOff x="1070" y="3876"/>
              <a:chExt cx="419" cy="231"/>
            </a:xfrm>
          </p:grpSpPr>
          <p:sp>
            <p:nvSpPr>
              <p:cNvPr id="23591" name="Text Box 24"/>
              <p:cNvSpPr txBox="1">
                <a:spLocks noChangeArrowheads="1"/>
              </p:cNvSpPr>
              <p:nvPr/>
            </p:nvSpPr>
            <p:spPr bwMode="auto">
              <a:xfrm>
                <a:off x="1070" y="3876"/>
                <a:ext cx="40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next</a:t>
                </a:r>
              </a:p>
            </p:txBody>
          </p:sp>
          <p:sp>
            <p:nvSpPr>
              <p:cNvPr id="23592" name="Rectangle 25"/>
              <p:cNvSpPr>
                <a:spLocks noChangeArrowheads="1"/>
              </p:cNvSpPr>
              <p:nvPr/>
            </p:nvSpPr>
            <p:spPr bwMode="auto">
              <a:xfrm>
                <a:off x="1090" y="3922"/>
                <a:ext cx="399" cy="16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23585" name="Rectangle 26"/>
            <p:cNvSpPr>
              <a:spLocks noChangeArrowheads="1"/>
            </p:cNvSpPr>
            <p:nvPr/>
          </p:nvSpPr>
          <p:spPr bwMode="auto">
            <a:xfrm>
              <a:off x="1324" y="193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86" name="Line 27"/>
            <p:cNvSpPr>
              <a:spLocks noChangeShapeType="1"/>
            </p:cNvSpPr>
            <p:nvPr/>
          </p:nvSpPr>
          <p:spPr bwMode="auto">
            <a:xfrm flipV="1">
              <a:off x="968" y="2016"/>
              <a:ext cx="327" cy="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7" name="Rectangle 28"/>
            <p:cNvSpPr>
              <a:spLocks noChangeArrowheads="1"/>
            </p:cNvSpPr>
            <p:nvPr/>
          </p:nvSpPr>
          <p:spPr bwMode="auto">
            <a:xfrm>
              <a:off x="1321" y="3409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88" name="Line 29"/>
            <p:cNvSpPr>
              <a:spLocks noChangeShapeType="1"/>
            </p:cNvSpPr>
            <p:nvPr/>
          </p:nvSpPr>
          <p:spPr bwMode="auto">
            <a:xfrm flipV="1">
              <a:off x="964" y="3481"/>
              <a:ext cx="383" cy="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89" name="Rectangle 30"/>
            <p:cNvSpPr>
              <a:spLocks noChangeArrowheads="1"/>
            </p:cNvSpPr>
            <p:nvPr/>
          </p:nvSpPr>
          <p:spPr bwMode="auto">
            <a:xfrm>
              <a:off x="1327" y="2287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90" name="Rectangle 31"/>
            <p:cNvSpPr>
              <a:spLocks noChangeArrowheads="1"/>
            </p:cNvSpPr>
            <p:nvPr/>
          </p:nvSpPr>
          <p:spPr bwMode="auto">
            <a:xfrm>
              <a:off x="1333" y="271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626225" y="2506663"/>
            <a:ext cx="2098675" cy="3146425"/>
            <a:chOff x="749" y="1686"/>
            <a:chExt cx="1322" cy="1982"/>
          </a:xfrm>
        </p:grpSpPr>
        <p:sp>
          <p:nvSpPr>
            <p:cNvPr id="23573" name="Rectangle 33"/>
            <p:cNvSpPr>
              <a:spLocks noChangeArrowheads="1"/>
            </p:cNvSpPr>
            <p:nvPr/>
          </p:nvSpPr>
          <p:spPr bwMode="auto">
            <a:xfrm>
              <a:off x="764" y="1912"/>
              <a:ext cx="408" cy="1756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23574" name="Group 34"/>
            <p:cNvGrpSpPr>
              <a:grpSpLocks/>
            </p:cNvGrpSpPr>
            <p:nvPr/>
          </p:nvGrpSpPr>
          <p:grpSpPr bwMode="auto">
            <a:xfrm>
              <a:off x="749" y="1686"/>
              <a:ext cx="419" cy="231"/>
              <a:chOff x="1070" y="3876"/>
              <a:chExt cx="419" cy="231"/>
            </a:xfrm>
          </p:grpSpPr>
          <p:sp>
            <p:nvSpPr>
              <p:cNvPr id="23581" name="Text Box 35"/>
              <p:cNvSpPr txBox="1">
                <a:spLocks noChangeArrowheads="1"/>
              </p:cNvSpPr>
              <p:nvPr/>
            </p:nvSpPr>
            <p:spPr bwMode="auto">
              <a:xfrm>
                <a:off x="1070" y="3876"/>
                <a:ext cx="40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next</a:t>
                </a:r>
              </a:p>
            </p:txBody>
          </p:sp>
          <p:sp>
            <p:nvSpPr>
              <p:cNvPr id="23582" name="Rectangle 36"/>
              <p:cNvSpPr>
                <a:spLocks noChangeArrowheads="1"/>
              </p:cNvSpPr>
              <p:nvPr/>
            </p:nvSpPr>
            <p:spPr bwMode="auto">
              <a:xfrm>
                <a:off x="1090" y="3922"/>
                <a:ext cx="399" cy="16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23575" name="Rectangle 37"/>
            <p:cNvSpPr>
              <a:spLocks noChangeArrowheads="1"/>
            </p:cNvSpPr>
            <p:nvPr/>
          </p:nvSpPr>
          <p:spPr bwMode="auto">
            <a:xfrm>
              <a:off x="1324" y="193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76" name="Line 38"/>
            <p:cNvSpPr>
              <a:spLocks noChangeShapeType="1"/>
            </p:cNvSpPr>
            <p:nvPr/>
          </p:nvSpPr>
          <p:spPr bwMode="auto">
            <a:xfrm flipV="1">
              <a:off x="968" y="2016"/>
              <a:ext cx="327" cy="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7" name="Rectangle 39"/>
            <p:cNvSpPr>
              <a:spLocks noChangeArrowheads="1"/>
            </p:cNvSpPr>
            <p:nvPr/>
          </p:nvSpPr>
          <p:spPr bwMode="auto">
            <a:xfrm>
              <a:off x="1321" y="3409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78" name="Line 40"/>
            <p:cNvSpPr>
              <a:spLocks noChangeShapeType="1"/>
            </p:cNvSpPr>
            <p:nvPr/>
          </p:nvSpPr>
          <p:spPr bwMode="auto">
            <a:xfrm flipV="1">
              <a:off x="964" y="3481"/>
              <a:ext cx="383" cy="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579" name="Rectangle 41"/>
            <p:cNvSpPr>
              <a:spLocks noChangeArrowheads="1"/>
            </p:cNvSpPr>
            <p:nvPr/>
          </p:nvSpPr>
          <p:spPr bwMode="auto">
            <a:xfrm>
              <a:off x="1327" y="2287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3580" name="Rectangle 42"/>
            <p:cNvSpPr>
              <a:spLocks noChangeArrowheads="1"/>
            </p:cNvSpPr>
            <p:nvPr/>
          </p:nvSpPr>
          <p:spPr bwMode="auto">
            <a:xfrm>
              <a:off x="1333" y="2713"/>
              <a:ext cx="738" cy="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</p:grpSp>
      <p:sp>
        <p:nvSpPr>
          <p:cNvPr id="163883" name="Line 43"/>
          <p:cNvSpPr>
            <a:spLocks noChangeShapeType="1"/>
          </p:cNvSpPr>
          <p:nvPr/>
        </p:nvSpPr>
        <p:spPr bwMode="auto">
          <a:xfrm flipV="1">
            <a:off x="2027238" y="2560638"/>
            <a:ext cx="1939925" cy="5238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84" name="Line 44"/>
          <p:cNvSpPr>
            <a:spLocks noChangeShapeType="1"/>
          </p:cNvSpPr>
          <p:nvPr/>
        </p:nvSpPr>
        <p:spPr bwMode="auto">
          <a:xfrm>
            <a:off x="4814888" y="2647950"/>
            <a:ext cx="17637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70" name="Text Box 45"/>
          <p:cNvSpPr txBox="1">
            <a:spLocks noChangeArrowheads="1"/>
          </p:cNvSpPr>
          <p:nvPr/>
        </p:nvSpPr>
        <p:spPr bwMode="auto">
          <a:xfrm>
            <a:off x="1528763" y="568007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19</a:t>
            </a:r>
          </a:p>
        </p:txBody>
      </p:sp>
      <p:sp>
        <p:nvSpPr>
          <p:cNvPr id="23571" name="Text Box 46"/>
          <p:cNvSpPr txBox="1">
            <a:spLocks noChangeArrowheads="1"/>
          </p:cNvSpPr>
          <p:nvPr/>
        </p:nvSpPr>
        <p:spPr bwMode="auto">
          <a:xfrm>
            <a:off x="4246563" y="57499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24</a:t>
            </a:r>
          </a:p>
        </p:txBody>
      </p:sp>
      <p:sp>
        <p:nvSpPr>
          <p:cNvPr id="23572" name="Text Box 47"/>
          <p:cNvSpPr txBox="1">
            <a:spLocks noChangeArrowheads="1"/>
          </p:cNvSpPr>
          <p:nvPr/>
        </p:nvSpPr>
        <p:spPr bwMode="auto">
          <a:xfrm>
            <a:off x="6715125" y="57673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/>
      <p:bldP spid="163848" grpId="0" animBg="1"/>
      <p:bldP spid="163860" grpId="0" animBg="1"/>
      <p:bldP spid="163883" grpId="0" animBg="1"/>
      <p:bldP spid="16388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7A67940-E774-4178-AEB8-DC8B20F4B95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112F73B-446B-497D-B7EE-C38079810FE2}" type="slidenum">
              <a:rPr kumimoji="0" lang="zh-TW" altLang="en-US" sz="1400" smtClean="0"/>
              <a:pPr eaLnBrk="1" hangingPunct="1"/>
              <a:t>22</a:t>
            </a:fld>
            <a:endParaRPr kumimoji="0" lang="en-US" altLang="zh-TW" sz="1400" smtClean="0"/>
          </a:p>
        </p:txBody>
      </p:sp>
      <p:sp>
        <p:nvSpPr>
          <p:cNvPr id="24581" name="Text Box 1026"/>
          <p:cNvSpPr txBox="1">
            <a:spLocks noChangeArrowheads="1"/>
          </p:cNvSpPr>
          <p:nvPr/>
        </p:nvSpPr>
        <p:spPr bwMode="auto">
          <a:xfrm>
            <a:off x="463550" y="279400"/>
            <a:ext cx="3890963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3200" b="1" dirty="0">
                <a:solidFill>
                  <a:srgbClr val="FF0000"/>
                </a:solidFill>
                <a:latin typeface="Times New Roman" pitchFamily="18" charset="0"/>
              </a:rPr>
              <a:t>Multilevel Scheme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3200" b="1" dirty="0">
                <a:solidFill>
                  <a:srgbClr val="FF0000"/>
                </a:solidFill>
                <a:latin typeface="Times New Roman" pitchFamily="18" charset="0"/>
              </a:rPr>
              <a:t>(two-level)</a:t>
            </a:r>
          </a:p>
        </p:txBody>
      </p:sp>
      <p:grpSp>
        <p:nvGrpSpPr>
          <p:cNvPr id="24582" name="Group 1027"/>
          <p:cNvGrpSpPr>
            <a:grpSpLocks/>
          </p:cNvGrpSpPr>
          <p:nvPr/>
        </p:nvGrpSpPr>
        <p:grpSpPr bwMode="auto">
          <a:xfrm>
            <a:off x="0" y="1349375"/>
            <a:ext cx="3170238" cy="1122363"/>
            <a:chOff x="0" y="528"/>
            <a:chExt cx="1997" cy="707"/>
          </a:xfrm>
        </p:grpSpPr>
        <p:sp>
          <p:nvSpPr>
            <p:cNvPr id="24621" name="Text Box 1028"/>
            <p:cNvSpPr txBox="1">
              <a:spLocks noChangeArrowheads="1"/>
            </p:cNvSpPr>
            <p:nvPr/>
          </p:nvSpPr>
          <p:spPr bwMode="auto">
            <a:xfrm>
              <a:off x="0" y="528"/>
              <a:ext cx="1997" cy="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         </a:t>
              </a:r>
              <a:r>
                <a:rPr lang="en-US" altLang="zh-TW" sz="2000" b="1">
                  <a:latin typeface="Times New Roman" pitchFamily="18" charset="0"/>
                </a:rPr>
                <a:t>directory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 file        first index block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     jeep                </a:t>
              </a:r>
              <a:r>
                <a:rPr lang="en-US" altLang="zh-TW" sz="2000" b="1">
                  <a:solidFill>
                    <a:srgbClr val="FF0000"/>
                  </a:solidFill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4622" name="Line 1029"/>
            <p:cNvSpPr>
              <a:spLocks noChangeShapeType="1"/>
            </p:cNvSpPr>
            <p:nvPr/>
          </p:nvSpPr>
          <p:spPr bwMode="auto">
            <a:xfrm>
              <a:off x="136" y="746"/>
              <a:ext cx="17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3" name="Line 1030"/>
            <p:cNvSpPr>
              <a:spLocks noChangeShapeType="1"/>
            </p:cNvSpPr>
            <p:nvPr/>
          </p:nvSpPr>
          <p:spPr bwMode="auto">
            <a:xfrm>
              <a:off x="143" y="987"/>
              <a:ext cx="17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4" name="Line 1031"/>
            <p:cNvSpPr>
              <a:spLocks noChangeShapeType="1"/>
            </p:cNvSpPr>
            <p:nvPr/>
          </p:nvSpPr>
          <p:spPr bwMode="auto">
            <a:xfrm>
              <a:off x="132" y="1234"/>
              <a:ext cx="17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4583" name="Text Box 1033"/>
          <p:cNvSpPr txBox="1">
            <a:spLocks noChangeArrowheads="1"/>
          </p:cNvSpPr>
          <p:nvPr/>
        </p:nvSpPr>
        <p:spPr bwMode="auto">
          <a:xfrm>
            <a:off x="3368675" y="25415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en-US" sz="2000" b="1">
              <a:latin typeface="Times New Roman" pitchFamily="18" charset="0"/>
            </a:endParaRPr>
          </a:p>
        </p:txBody>
      </p:sp>
      <p:sp>
        <p:nvSpPr>
          <p:cNvPr id="164874" name="Text Box 1034"/>
          <p:cNvSpPr txBox="1">
            <a:spLocks noChangeArrowheads="1"/>
          </p:cNvSpPr>
          <p:nvPr/>
        </p:nvSpPr>
        <p:spPr bwMode="auto">
          <a:xfrm>
            <a:off x="3509963" y="2889250"/>
            <a:ext cx="450850" cy="221297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19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24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 8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-1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-1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-1</a:t>
            </a:r>
          </a:p>
        </p:txBody>
      </p:sp>
      <p:sp>
        <p:nvSpPr>
          <p:cNvPr id="24585" name="Text Box 1035"/>
          <p:cNvSpPr txBox="1">
            <a:spLocks noChangeArrowheads="1"/>
          </p:cNvSpPr>
          <p:nvPr/>
        </p:nvSpPr>
        <p:spPr bwMode="auto">
          <a:xfrm>
            <a:off x="3406775" y="24352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FF0000"/>
                </a:solidFill>
                <a:latin typeface="Times New Roman" pitchFamily="18" charset="0"/>
              </a:rPr>
              <a:t>16</a:t>
            </a:r>
          </a:p>
        </p:txBody>
      </p:sp>
      <p:sp>
        <p:nvSpPr>
          <p:cNvPr id="24586" name="Text Box 1037"/>
          <p:cNvSpPr txBox="1">
            <a:spLocks noChangeArrowheads="1"/>
          </p:cNvSpPr>
          <p:nvPr/>
        </p:nvSpPr>
        <p:spPr bwMode="auto">
          <a:xfrm>
            <a:off x="5865813" y="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itchFamily="18" charset="0"/>
              </a:rPr>
              <a:t>19</a:t>
            </a:r>
          </a:p>
        </p:txBody>
      </p:sp>
      <p:grpSp>
        <p:nvGrpSpPr>
          <p:cNvPr id="3" name="Group 1038"/>
          <p:cNvGrpSpPr>
            <a:grpSpLocks/>
          </p:cNvGrpSpPr>
          <p:nvPr/>
        </p:nvGrpSpPr>
        <p:grpSpPr bwMode="auto">
          <a:xfrm>
            <a:off x="5748338" y="346075"/>
            <a:ext cx="2065337" cy="1941513"/>
            <a:chOff x="367" y="361"/>
            <a:chExt cx="1301" cy="1223"/>
          </a:xfrm>
        </p:grpSpPr>
        <p:sp>
          <p:nvSpPr>
            <p:cNvPr id="24615" name="Rectangle 1039"/>
            <p:cNvSpPr>
              <a:spLocks noChangeArrowheads="1"/>
            </p:cNvSpPr>
            <p:nvPr/>
          </p:nvSpPr>
          <p:spPr bwMode="auto">
            <a:xfrm>
              <a:off x="367" y="361"/>
              <a:ext cx="408" cy="1223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4616" name="Rectangle 1040"/>
            <p:cNvSpPr>
              <a:spLocks noChangeArrowheads="1"/>
            </p:cNvSpPr>
            <p:nvPr/>
          </p:nvSpPr>
          <p:spPr bwMode="auto">
            <a:xfrm>
              <a:off x="927" y="382"/>
              <a:ext cx="738" cy="20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4617" name="Line 1041"/>
            <p:cNvSpPr>
              <a:spLocks noChangeShapeType="1"/>
            </p:cNvSpPr>
            <p:nvPr/>
          </p:nvSpPr>
          <p:spPr bwMode="auto">
            <a:xfrm flipV="1">
              <a:off x="571" y="465"/>
              <a:ext cx="327" cy="1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18" name="Rectangle 1042"/>
            <p:cNvSpPr>
              <a:spLocks noChangeArrowheads="1"/>
            </p:cNvSpPr>
            <p:nvPr/>
          </p:nvSpPr>
          <p:spPr bwMode="auto">
            <a:xfrm>
              <a:off x="924" y="1347"/>
              <a:ext cx="738" cy="20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  <p:sp>
          <p:nvSpPr>
            <p:cNvPr id="24619" name="Line 1043"/>
            <p:cNvSpPr>
              <a:spLocks noChangeShapeType="1"/>
            </p:cNvSpPr>
            <p:nvPr/>
          </p:nvSpPr>
          <p:spPr bwMode="auto">
            <a:xfrm flipV="1">
              <a:off x="567" y="1419"/>
              <a:ext cx="383" cy="23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0" name="Rectangle 1044"/>
            <p:cNvSpPr>
              <a:spLocks noChangeArrowheads="1"/>
            </p:cNvSpPr>
            <p:nvPr/>
          </p:nvSpPr>
          <p:spPr bwMode="auto">
            <a:xfrm>
              <a:off x="930" y="736"/>
              <a:ext cx="738" cy="20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Times New Roman" pitchFamily="18" charset="0"/>
                </a:rPr>
                <a:t>data</a:t>
              </a:r>
            </a:p>
          </p:txBody>
        </p:sp>
      </p:grpSp>
      <p:grpSp>
        <p:nvGrpSpPr>
          <p:cNvPr id="4" name="Group 1045"/>
          <p:cNvGrpSpPr>
            <a:grpSpLocks/>
          </p:cNvGrpSpPr>
          <p:nvPr/>
        </p:nvGrpSpPr>
        <p:grpSpPr bwMode="auto">
          <a:xfrm>
            <a:off x="6988175" y="2327275"/>
            <a:ext cx="2065338" cy="2228850"/>
            <a:chOff x="4459" y="1698"/>
            <a:chExt cx="1301" cy="1404"/>
          </a:xfrm>
        </p:grpSpPr>
        <p:sp>
          <p:nvSpPr>
            <p:cNvPr id="24607" name="Text Box 1046"/>
            <p:cNvSpPr txBox="1">
              <a:spLocks noChangeArrowheads="1"/>
            </p:cNvSpPr>
            <p:nvPr/>
          </p:nvSpPr>
          <p:spPr bwMode="auto">
            <a:xfrm>
              <a:off x="4547" y="169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24</a:t>
              </a:r>
            </a:p>
          </p:txBody>
        </p:sp>
        <p:grpSp>
          <p:nvGrpSpPr>
            <p:cNvPr id="24608" name="Group 1047"/>
            <p:cNvGrpSpPr>
              <a:grpSpLocks/>
            </p:cNvGrpSpPr>
            <p:nvPr/>
          </p:nvGrpSpPr>
          <p:grpSpPr bwMode="auto">
            <a:xfrm>
              <a:off x="4459" y="1879"/>
              <a:ext cx="1301" cy="1223"/>
              <a:chOff x="367" y="361"/>
              <a:chExt cx="1301" cy="1223"/>
            </a:xfrm>
          </p:grpSpPr>
          <p:sp>
            <p:nvSpPr>
              <p:cNvPr id="24609" name="Rectangle 1048"/>
              <p:cNvSpPr>
                <a:spLocks noChangeArrowheads="1"/>
              </p:cNvSpPr>
              <p:nvPr/>
            </p:nvSpPr>
            <p:spPr bwMode="auto">
              <a:xfrm>
                <a:off x="367" y="361"/>
                <a:ext cx="408" cy="1223"/>
              </a:xfrm>
              <a:prstGeom prst="rect">
                <a:avLst/>
              </a:prstGeom>
              <a:solidFill>
                <a:srgbClr val="E8E8E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24610" name="Rectangle 1049"/>
              <p:cNvSpPr>
                <a:spLocks noChangeArrowheads="1"/>
              </p:cNvSpPr>
              <p:nvPr/>
            </p:nvSpPr>
            <p:spPr bwMode="auto">
              <a:xfrm>
                <a:off x="927" y="382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  <p:sp>
            <p:nvSpPr>
              <p:cNvPr id="24611" name="Line 1050"/>
              <p:cNvSpPr>
                <a:spLocks noChangeShapeType="1"/>
              </p:cNvSpPr>
              <p:nvPr/>
            </p:nvSpPr>
            <p:spPr bwMode="auto">
              <a:xfrm flipV="1">
                <a:off x="571" y="465"/>
                <a:ext cx="327" cy="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4612" name="Rectangle 1051"/>
              <p:cNvSpPr>
                <a:spLocks noChangeArrowheads="1"/>
              </p:cNvSpPr>
              <p:nvPr/>
            </p:nvSpPr>
            <p:spPr bwMode="auto">
              <a:xfrm>
                <a:off x="924" y="1347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  <p:sp>
            <p:nvSpPr>
              <p:cNvPr id="24613" name="Line 1052"/>
              <p:cNvSpPr>
                <a:spLocks noChangeShapeType="1"/>
              </p:cNvSpPr>
              <p:nvPr/>
            </p:nvSpPr>
            <p:spPr bwMode="auto">
              <a:xfrm flipV="1">
                <a:off x="567" y="1419"/>
                <a:ext cx="383" cy="2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4614" name="Rectangle 1053"/>
              <p:cNvSpPr>
                <a:spLocks noChangeArrowheads="1"/>
              </p:cNvSpPr>
              <p:nvPr/>
            </p:nvSpPr>
            <p:spPr bwMode="auto">
              <a:xfrm>
                <a:off x="930" y="736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</p:grpSp>
      </p:grpSp>
      <p:grpSp>
        <p:nvGrpSpPr>
          <p:cNvPr id="6" name="Group 1054"/>
          <p:cNvGrpSpPr>
            <a:grpSpLocks/>
          </p:cNvGrpSpPr>
          <p:nvPr/>
        </p:nvGrpSpPr>
        <p:grpSpPr bwMode="auto">
          <a:xfrm>
            <a:off x="4708525" y="4010025"/>
            <a:ext cx="2065338" cy="2263775"/>
            <a:chOff x="2955" y="2760"/>
            <a:chExt cx="1301" cy="1426"/>
          </a:xfrm>
        </p:grpSpPr>
        <p:sp>
          <p:nvSpPr>
            <p:cNvPr id="24599" name="Text Box 1055"/>
            <p:cNvSpPr txBox="1">
              <a:spLocks noChangeArrowheads="1"/>
            </p:cNvSpPr>
            <p:nvPr/>
          </p:nvSpPr>
          <p:spPr bwMode="auto">
            <a:xfrm>
              <a:off x="3043" y="276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zh-TW" altLang="en-US" sz="2000" b="1">
                  <a:latin typeface="Times New Roman" pitchFamily="18" charset="0"/>
                </a:rPr>
                <a:t>8</a:t>
              </a:r>
            </a:p>
          </p:txBody>
        </p:sp>
        <p:grpSp>
          <p:nvGrpSpPr>
            <p:cNvPr id="24600" name="Group 1056"/>
            <p:cNvGrpSpPr>
              <a:grpSpLocks/>
            </p:cNvGrpSpPr>
            <p:nvPr/>
          </p:nvGrpSpPr>
          <p:grpSpPr bwMode="auto">
            <a:xfrm>
              <a:off x="2955" y="2963"/>
              <a:ext cx="1301" cy="1223"/>
              <a:chOff x="367" y="361"/>
              <a:chExt cx="1301" cy="1223"/>
            </a:xfrm>
          </p:grpSpPr>
          <p:sp>
            <p:nvSpPr>
              <p:cNvPr id="24601" name="Rectangle 1057"/>
              <p:cNvSpPr>
                <a:spLocks noChangeArrowheads="1"/>
              </p:cNvSpPr>
              <p:nvPr/>
            </p:nvSpPr>
            <p:spPr bwMode="auto">
              <a:xfrm>
                <a:off x="367" y="361"/>
                <a:ext cx="408" cy="1223"/>
              </a:xfrm>
              <a:prstGeom prst="rect">
                <a:avLst/>
              </a:prstGeom>
              <a:solidFill>
                <a:srgbClr val="E8E8E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24602" name="Rectangle 1058"/>
              <p:cNvSpPr>
                <a:spLocks noChangeArrowheads="1"/>
              </p:cNvSpPr>
              <p:nvPr/>
            </p:nvSpPr>
            <p:spPr bwMode="auto">
              <a:xfrm>
                <a:off x="927" y="382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  <p:sp>
            <p:nvSpPr>
              <p:cNvPr id="24603" name="Line 1059"/>
              <p:cNvSpPr>
                <a:spLocks noChangeShapeType="1"/>
              </p:cNvSpPr>
              <p:nvPr/>
            </p:nvSpPr>
            <p:spPr bwMode="auto">
              <a:xfrm flipV="1">
                <a:off x="571" y="465"/>
                <a:ext cx="327" cy="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4604" name="Rectangle 1060"/>
              <p:cNvSpPr>
                <a:spLocks noChangeArrowheads="1"/>
              </p:cNvSpPr>
              <p:nvPr/>
            </p:nvSpPr>
            <p:spPr bwMode="auto">
              <a:xfrm>
                <a:off x="924" y="1347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  <p:sp>
            <p:nvSpPr>
              <p:cNvPr id="24605" name="Line 1061"/>
              <p:cNvSpPr>
                <a:spLocks noChangeShapeType="1"/>
              </p:cNvSpPr>
              <p:nvPr/>
            </p:nvSpPr>
            <p:spPr bwMode="auto">
              <a:xfrm flipV="1">
                <a:off x="567" y="1419"/>
                <a:ext cx="383" cy="2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4606" name="Rectangle 1062"/>
              <p:cNvSpPr>
                <a:spLocks noChangeArrowheads="1"/>
              </p:cNvSpPr>
              <p:nvPr/>
            </p:nvSpPr>
            <p:spPr bwMode="auto">
              <a:xfrm>
                <a:off x="930" y="736"/>
                <a:ext cx="738" cy="20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SzPct val="75000"/>
                  <a:buFont typeface="Wingdings" pitchFamily="2" charset="2"/>
                  <a:buNone/>
                </a:pPr>
                <a:r>
                  <a:rPr lang="en-US" altLang="zh-TW" sz="2000" b="1">
                    <a:latin typeface="Times New Roman" pitchFamily="18" charset="0"/>
                  </a:rPr>
                  <a:t>data</a:t>
                </a:r>
              </a:p>
            </p:txBody>
          </p:sp>
        </p:grpSp>
      </p:grpSp>
      <p:sp>
        <p:nvSpPr>
          <p:cNvPr id="164903" name="Line 1063"/>
          <p:cNvSpPr>
            <a:spLocks noChangeShapeType="1"/>
          </p:cNvSpPr>
          <p:nvPr/>
        </p:nvSpPr>
        <p:spPr bwMode="auto">
          <a:xfrm flipV="1">
            <a:off x="3913188" y="776288"/>
            <a:ext cx="1781175" cy="20113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4" name="Line 1064"/>
          <p:cNvSpPr>
            <a:spLocks noChangeShapeType="1"/>
          </p:cNvSpPr>
          <p:nvPr/>
        </p:nvSpPr>
        <p:spPr bwMode="auto">
          <a:xfrm flipV="1">
            <a:off x="4002088" y="3182938"/>
            <a:ext cx="2928937" cy="300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5" name="Line 1065"/>
          <p:cNvSpPr>
            <a:spLocks noChangeShapeType="1"/>
          </p:cNvSpPr>
          <p:nvPr/>
        </p:nvSpPr>
        <p:spPr bwMode="auto">
          <a:xfrm>
            <a:off x="4048125" y="3938588"/>
            <a:ext cx="722313" cy="352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6" name="Line 1066"/>
          <p:cNvSpPr>
            <a:spLocks noChangeShapeType="1"/>
          </p:cNvSpPr>
          <p:nvPr/>
        </p:nvSpPr>
        <p:spPr bwMode="auto">
          <a:xfrm>
            <a:off x="2168525" y="2433638"/>
            <a:ext cx="1095375" cy="387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7" name="Line 1067"/>
          <p:cNvSpPr>
            <a:spLocks noChangeShapeType="1"/>
          </p:cNvSpPr>
          <p:nvPr/>
        </p:nvSpPr>
        <p:spPr bwMode="auto">
          <a:xfrm flipV="1">
            <a:off x="3509963" y="3209925"/>
            <a:ext cx="433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8" name="Line 1068"/>
          <p:cNvSpPr>
            <a:spLocks noChangeShapeType="1"/>
          </p:cNvSpPr>
          <p:nvPr/>
        </p:nvSpPr>
        <p:spPr bwMode="auto">
          <a:xfrm flipV="1">
            <a:off x="3509963" y="3979863"/>
            <a:ext cx="433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09" name="Line 1069"/>
          <p:cNvSpPr>
            <a:spLocks noChangeShapeType="1"/>
          </p:cNvSpPr>
          <p:nvPr/>
        </p:nvSpPr>
        <p:spPr bwMode="auto">
          <a:xfrm flipV="1">
            <a:off x="3509963" y="3621088"/>
            <a:ext cx="45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10" name="Line 1070"/>
          <p:cNvSpPr>
            <a:spLocks noChangeShapeType="1"/>
          </p:cNvSpPr>
          <p:nvPr/>
        </p:nvSpPr>
        <p:spPr bwMode="auto">
          <a:xfrm>
            <a:off x="3509963" y="4376738"/>
            <a:ext cx="450850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911" name="Line 1071"/>
          <p:cNvSpPr>
            <a:spLocks noChangeShapeType="1"/>
          </p:cNvSpPr>
          <p:nvPr/>
        </p:nvSpPr>
        <p:spPr bwMode="auto">
          <a:xfrm flipV="1">
            <a:off x="3509963" y="4737100"/>
            <a:ext cx="45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4" grpId="0" animBg="1"/>
      <p:bldP spid="164874" grpId="1" animBg="1"/>
      <p:bldP spid="164903" grpId="0" animBg="1"/>
      <p:bldP spid="164904" grpId="0" animBg="1"/>
      <p:bldP spid="164905" grpId="0" animBg="1"/>
      <p:bldP spid="164906" grpId="0" animBg="1"/>
      <p:bldP spid="164906" grpId="1" animBg="1"/>
      <p:bldP spid="164907" grpId="0" animBg="1"/>
      <p:bldP spid="164908" grpId="0" animBg="1"/>
      <p:bldP spid="164909" grpId="0" animBg="1"/>
      <p:bldP spid="164910" grpId="0" animBg="1"/>
      <p:bldP spid="1649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62656F6-AB27-4A26-82DD-161A8BB6332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560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560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FC8B8A9-6A87-4333-A3B3-D5401291C15B}" type="slidenum">
              <a:rPr kumimoji="0" lang="zh-TW" altLang="en-US" sz="1400" smtClean="0"/>
              <a:pPr eaLnBrk="1" hangingPunct="1"/>
              <a:t>23</a:t>
            </a:fld>
            <a:endParaRPr kumimoji="0" lang="en-US" altLang="zh-TW" sz="1400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42888"/>
            <a:ext cx="8555037" cy="555625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Combined Scheme:  UNIX (4K bytes per block)</a:t>
            </a:r>
            <a:endParaRPr lang="en-US" altLang="zh-TW" sz="2800" smtClean="0"/>
          </a:p>
        </p:txBody>
      </p:sp>
      <p:pic>
        <p:nvPicPr>
          <p:cNvPr id="2560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" t="858" r="1321" b="319"/>
          <a:stretch>
            <a:fillRect/>
          </a:stretch>
        </p:blipFill>
        <p:spPr bwMode="auto">
          <a:xfrm>
            <a:off x="676275" y="1517650"/>
            <a:ext cx="6076950" cy="49371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7" name="Text Box 5"/>
          <p:cNvSpPr txBox="1">
            <a:spLocks noChangeArrowheads="1"/>
          </p:cNvSpPr>
          <p:nvPr/>
        </p:nvSpPr>
        <p:spPr bwMode="auto">
          <a:xfrm>
            <a:off x="6908800" y="5068888"/>
            <a:ext cx="17938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 sz="2000">
                <a:solidFill>
                  <a:srgbClr val="000000"/>
                </a:solidFill>
              </a:rPr>
              <a:t>&gt;</a:t>
            </a:r>
            <a:r>
              <a:rPr lang="en-US" altLang="zh-TW" sz="2000">
                <a:solidFill>
                  <a:srgbClr val="000000"/>
                </a:solidFill>
              </a:rPr>
              <a:t>&gt; 2</a:t>
            </a:r>
            <a:r>
              <a:rPr lang="en-US" altLang="zh-TW" sz="2000" baseline="30000">
                <a:solidFill>
                  <a:srgbClr val="000000"/>
                </a:solidFill>
              </a:rPr>
              <a:t>32</a:t>
            </a:r>
            <a:r>
              <a:rPr lang="en-US" altLang="zh-TW" sz="2000">
                <a:solidFill>
                  <a:srgbClr val="000000"/>
                </a:solidFill>
              </a:rPr>
              <a:t> (4GB) for 32-bit file system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562100" y="3513138"/>
            <a:ext cx="52705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4270375" y="2609850"/>
            <a:ext cx="2124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>
                <a:solidFill>
                  <a:srgbClr val="FF0000"/>
                </a:solidFill>
              </a:rPr>
              <a:t>12</a:t>
            </a:r>
            <a:r>
              <a:rPr lang="zh-TW" altLang="en-US">
                <a:solidFill>
                  <a:srgbClr val="FF0000"/>
                </a:solidFill>
                <a:sym typeface="Symbol" pitchFamily="18" charset="2"/>
              </a:rPr>
              <a:t>4</a:t>
            </a:r>
            <a:r>
              <a:rPr lang="en-US" altLang="zh-TW">
                <a:solidFill>
                  <a:srgbClr val="FF0000"/>
                </a:solidFill>
                <a:sym typeface="Symbol" pitchFamily="18" charset="2"/>
              </a:rPr>
              <a:t>KB=48KB</a:t>
            </a:r>
            <a:endParaRPr lang="en-US" altLang="zh-TW">
              <a:solidFill>
                <a:srgbClr val="FF0000"/>
              </a:solidFill>
            </a:endParaRPr>
          </a:p>
        </p:txBody>
      </p:sp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4813300" y="798513"/>
            <a:ext cx="4095750" cy="495300"/>
          </a:xfrm>
          <a:prstGeom prst="rect">
            <a:avLst/>
          </a:prstGeom>
          <a:noFill/>
          <a:ln w="3810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/>
              <a:t>4</a:t>
            </a:r>
            <a:r>
              <a:rPr lang="en-US" altLang="zh-TW"/>
              <a:t>B = </a:t>
            </a:r>
            <a:r>
              <a:rPr lang="en-US" altLang="zh-TW">
                <a:solidFill>
                  <a:srgbClr val="FF0000"/>
                </a:solidFill>
              </a:rPr>
              <a:t>32 bits</a:t>
            </a:r>
            <a:r>
              <a:rPr lang="en-US" altLang="zh-TW"/>
              <a:t> per file pointer</a:t>
            </a:r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 flipV="1">
            <a:off x="3163888" y="3657600"/>
            <a:ext cx="1597025" cy="14652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2954" name="Text Box 10"/>
          <p:cNvSpPr txBox="1">
            <a:spLocks noChangeArrowheads="1"/>
          </p:cNvSpPr>
          <p:nvPr/>
        </p:nvSpPr>
        <p:spPr bwMode="auto">
          <a:xfrm>
            <a:off x="4762500" y="3387725"/>
            <a:ext cx="3567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>
                <a:solidFill>
                  <a:srgbClr val="0000FF"/>
                </a:solidFill>
                <a:sym typeface="Symbol" pitchFamily="18" charset="2"/>
              </a:rPr>
              <a:t>4096/4)4KB=2</a:t>
            </a:r>
            <a:r>
              <a:rPr lang="en-US" altLang="zh-TW" baseline="30000">
                <a:solidFill>
                  <a:srgbClr val="0000FF"/>
                </a:solidFill>
                <a:sym typeface="Symbol" pitchFamily="18" charset="2"/>
              </a:rPr>
              <a:t>10 </a:t>
            </a:r>
            <a:r>
              <a:rPr lang="zh-TW" altLang="en-US">
                <a:solidFill>
                  <a:srgbClr val="0000FF"/>
                </a:solidFill>
                <a:sym typeface="Symbol" pitchFamily="18" charset="2"/>
              </a:rPr>
              <a:t>2</a:t>
            </a:r>
            <a:r>
              <a:rPr lang="zh-TW" altLang="en-US" baseline="30000">
                <a:solidFill>
                  <a:srgbClr val="0000FF"/>
                </a:solidFill>
                <a:sym typeface="Symbol" pitchFamily="18" charset="2"/>
              </a:rPr>
              <a:t>12 </a:t>
            </a:r>
            <a:r>
              <a:rPr lang="en-US" altLang="zh-TW">
                <a:solidFill>
                  <a:srgbClr val="0000FF"/>
                </a:solidFill>
                <a:sym typeface="Symbol" pitchFamily="18" charset="2"/>
              </a:rPr>
              <a:t>B</a:t>
            </a:r>
            <a:endParaRPr lang="en-US" altLang="zh-TW" baseline="3000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541338" y="6132513"/>
            <a:ext cx="2432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altLang="zh-TW" sz="2000" baseline="30000">
                <a:solidFill>
                  <a:srgbClr val="0000FF"/>
                </a:solidFill>
                <a:sym typeface="Symbol" pitchFamily="18" charset="2"/>
              </a:rPr>
              <a:t>10 </a:t>
            </a:r>
            <a:r>
              <a:rPr lang="zh-TW" altLang="en-US" sz="2000">
                <a:solidFill>
                  <a:srgbClr val="0000FF"/>
                </a:solidFill>
                <a:sym typeface="Symbol" pitchFamily="18" charset="2"/>
              </a:rPr>
              <a:t></a:t>
            </a:r>
            <a:r>
              <a:rPr lang="en-US" altLang="zh-TW" sz="2000">
                <a:solidFill>
                  <a:srgbClr val="0000FF"/>
                </a:solidFill>
                <a:sym typeface="Symbol" pitchFamily="18" charset="2"/>
              </a:rPr>
              <a:t> 2</a:t>
            </a:r>
            <a:r>
              <a:rPr lang="en-US" altLang="zh-TW" sz="2000" baseline="30000">
                <a:solidFill>
                  <a:srgbClr val="0000FF"/>
                </a:solidFill>
                <a:sym typeface="Symbol" pitchFamily="18" charset="2"/>
              </a:rPr>
              <a:t>10 </a:t>
            </a:r>
            <a:r>
              <a:rPr lang="zh-TW" altLang="en-US" sz="2000">
                <a:solidFill>
                  <a:srgbClr val="0000FF"/>
                </a:solidFill>
                <a:sym typeface="Symbol" pitchFamily="18" charset="2"/>
              </a:rPr>
              <a:t></a:t>
            </a:r>
            <a:r>
              <a:rPr lang="en-US" altLang="zh-TW" sz="2000">
                <a:solidFill>
                  <a:srgbClr val="0000FF"/>
                </a:solidFill>
                <a:sym typeface="Symbol" pitchFamily="18" charset="2"/>
              </a:rPr>
              <a:t> 2</a:t>
            </a:r>
            <a:r>
              <a:rPr lang="en-US" altLang="zh-TW" sz="2000" baseline="30000">
                <a:solidFill>
                  <a:srgbClr val="0000FF"/>
                </a:solidFill>
                <a:sym typeface="Symbol" pitchFamily="18" charset="2"/>
              </a:rPr>
              <a:t>10 </a:t>
            </a:r>
            <a:r>
              <a:rPr lang="zh-TW" altLang="en-US" sz="2000">
                <a:solidFill>
                  <a:srgbClr val="0000FF"/>
                </a:solidFill>
                <a:sym typeface="Symbol" pitchFamily="18" charset="2"/>
              </a:rPr>
              <a:t>2</a:t>
            </a:r>
            <a:r>
              <a:rPr lang="zh-TW" altLang="en-US" sz="2000" baseline="30000">
                <a:solidFill>
                  <a:srgbClr val="0000FF"/>
                </a:solidFill>
                <a:sym typeface="Symbol" pitchFamily="18" charset="2"/>
              </a:rPr>
              <a:t>12 </a:t>
            </a:r>
            <a:r>
              <a:rPr lang="en-US" altLang="zh-TW" sz="2000">
                <a:solidFill>
                  <a:srgbClr val="0000FF"/>
                </a:solidFill>
                <a:sym typeface="Symbol" pitchFamily="18" charset="2"/>
              </a:rPr>
              <a:t>B</a:t>
            </a:r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1582738" y="5994400"/>
            <a:ext cx="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>
            <a:off x="7421563" y="1355725"/>
            <a:ext cx="73025" cy="407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6867525" y="1739900"/>
            <a:ext cx="2136775" cy="1258888"/>
          </a:xfrm>
          <a:prstGeom prst="rect">
            <a:avLst/>
          </a:prstGeom>
          <a:noFill/>
          <a:ln w="3810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</a:rPr>
              <a:t>A 32-bit file pointer reaches only </a:t>
            </a:r>
            <a:r>
              <a:rPr lang="en-US" altLang="zh-TW" sz="2000">
                <a:solidFill>
                  <a:srgbClr val="FF0000"/>
                </a:solidFill>
              </a:rPr>
              <a:t>2</a:t>
            </a:r>
            <a:r>
              <a:rPr lang="en-US" altLang="zh-TW" sz="2000" baseline="30000">
                <a:solidFill>
                  <a:srgbClr val="FF0000"/>
                </a:solidFill>
              </a:rPr>
              <a:t>32</a:t>
            </a:r>
            <a:r>
              <a:rPr lang="en-US" altLang="zh-TW" sz="2000">
                <a:solidFill>
                  <a:srgbClr val="FF0000"/>
                </a:solidFill>
              </a:rPr>
              <a:t>=4</a:t>
            </a:r>
            <a:r>
              <a:rPr lang="en-US" altLang="zh-TW" sz="2000">
                <a:solidFill>
                  <a:srgbClr val="FF0000"/>
                </a:solidFill>
                <a:sym typeface="Symbol" pitchFamily="18" charset="2"/>
              </a:rPr>
              <a:t></a:t>
            </a:r>
            <a:r>
              <a:rPr lang="en-US" altLang="zh-TW" sz="2000">
                <a:solidFill>
                  <a:srgbClr val="FF0000"/>
                </a:solidFill>
              </a:rPr>
              <a:t>2</a:t>
            </a:r>
            <a:r>
              <a:rPr lang="en-US" altLang="zh-TW" sz="2000" baseline="30000">
                <a:solidFill>
                  <a:srgbClr val="FF0000"/>
                </a:solidFill>
              </a:rPr>
              <a:t>30</a:t>
            </a:r>
            <a:r>
              <a:rPr lang="en-US" altLang="zh-TW" sz="2000">
                <a:solidFill>
                  <a:srgbClr val="FF0000"/>
                </a:solidFill>
                <a:sym typeface="Symbol" pitchFamily="18" charset="2"/>
              </a:rPr>
              <a:t>=</a:t>
            </a:r>
            <a:r>
              <a:rPr lang="en-US" altLang="zh-TW" sz="2000">
                <a:solidFill>
                  <a:srgbClr val="0000FF"/>
                </a:solidFill>
                <a:sym typeface="Symbol" pitchFamily="18" charset="2"/>
              </a:rPr>
              <a:t>4G</a:t>
            </a:r>
            <a:r>
              <a:rPr lang="en-US" altLang="zh-TW" sz="2000">
                <a:sym typeface="Symbol" pitchFamily="18" charset="2"/>
              </a:rPr>
              <a:t>B</a:t>
            </a:r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2874963" y="5529263"/>
            <a:ext cx="1814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2</a:t>
            </a:r>
            <a:r>
              <a:rPr lang="en-US" altLang="zh-TW" sz="1800" baseline="30000">
                <a:solidFill>
                  <a:srgbClr val="00CC00"/>
                </a:solidFill>
                <a:sym typeface="Symbol" pitchFamily="18" charset="2"/>
              </a:rPr>
              <a:t>10</a:t>
            </a:r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 </a:t>
            </a:r>
            <a:r>
              <a:rPr lang="zh-TW" altLang="en-US" sz="1800">
                <a:solidFill>
                  <a:srgbClr val="00CC00"/>
                </a:solidFill>
                <a:sym typeface="Symbol" pitchFamily="18" charset="2"/>
              </a:rPr>
              <a:t></a:t>
            </a:r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 2</a:t>
            </a:r>
            <a:r>
              <a:rPr lang="en-US" altLang="zh-TW" sz="1800" baseline="30000">
                <a:solidFill>
                  <a:srgbClr val="00CC00"/>
                </a:solidFill>
                <a:sym typeface="Symbol" pitchFamily="18" charset="2"/>
              </a:rPr>
              <a:t>10</a:t>
            </a:r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 </a:t>
            </a:r>
            <a:r>
              <a:rPr lang="zh-TW" altLang="en-US" sz="1800">
                <a:solidFill>
                  <a:srgbClr val="00CC00"/>
                </a:solidFill>
                <a:sym typeface="Symbol" pitchFamily="18" charset="2"/>
              </a:rPr>
              <a:t></a:t>
            </a:r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 </a:t>
            </a:r>
            <a:r>
              <a:rPr lang="zh-TW" altLang="en-US" sz="1800">
                <a:solidFill>
                  <a:srgbClr val="00CC00"/>
                </a:solidFill>
                <a:sym typeface="Symbol" pitchFamily="18" charset="2"/>
              </a:rPr>
              <a:t>2</a:t>
            </a:r>
            <a:r>
              <a:rPr lang="zh-TW" altLang="en-US" sz="1800" baseline="30000">
                <a:solidFill>
                  <a:srgbClr val="00CC00"/>
                </a:solidFill>
                <a:sym typeface="Symbol" pitchFamily="18" charset="2"/>
              </a:rPr>
              <a:t>12</a:t>
            </a:r>
            <a:r>
              <a:rPr lang="zh-TW" altLang="en-US" sz="1800">
                <a:solidFill>
                  <a:srgbClr val="00CC00"/>
                </a:solidFill>
                <a:sym typeface="Symbol" pitchFamily="18" charset="2"/>
              </a:rPr>
              <a:t> </a:t>
            </a:r>
            <a:r>
              <a:rPr lang="en-US" altLang="zh-TW" sz="1800">
                <a:solidFill>
                  <a:srgbClr val="00CC00"/>
                </a:solidFill>
                <a:sym typeface="Symbol" pitchFamily="18" charset="2"/>
              </a:rPr>
              <a:t>B</a:t>
            </a:r>
            <a:endParaRPr lang="zh-TW" altLang="en-US" sz="1800">
              <a:solidFill>
                <a:srgbClr val="00CC00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 animBg="1"/>
      <p:bldP spid="82951" grpId="0"/>
      <p:bldP spid="82952" grpId="0" animBg="1"/>
      <p:bldP spid="82953" grpId="0" animBg="1"/>
      <p:bldP spid="82954" grpId="0"/>
      <p:bldP spid="82956" grpId="0"/>
      <p:bldP spid="82957" grpId="0" animBg="1"/>
      <p:bldP spid="82958" grpId="0" animBg="1"/>
      <p:bldP spid="82959" grpId="0" animBg="1"/>
      <p:bldP spid="829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A189C37-F217-4646-BFE8-96921EA1910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3DF1DB2-46B5-4E22-83D1-3C385CC33F99}" type="slidenum">
              <a:rPr kumimoji="0" lang="zh-TW" altLang="en-US" sz="1400" smtClean="0"/>
              <a:pPr eaLnBrk="1" hangingPunct="1"/>
              <a:t>24</a:t>
            </a:fld>
            <a:endParaRPr kumimoji="0" lang="en-US" altLang="zh-TW" sz="1400" smtClean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937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Performance</a:t>
            </a:r>
            <a:r>
              <a:rPr lang="en-US" altLang="zh-TW" sz="4000" dirty="0" smtClean="0"/>
              <a:t> (1)</a:t>
            </a:r>
          </a:p>
        </p:txBody>
      </p:sp>
      <p:sp>
        <p:nvSpPr>
          <p:cNvPr id="2396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896938"/>
            <a:ext cx="8569325" cy="5459412"/>
          </a:xfrm>
        </p:spPr>
        <p:txBody>
          <a:bodyPr/>
          <a:lstStyle/>
          <a:p>
            <a:pPr eaLnBrk="1" hangingPunct="1">
              <a:tabLst>
                <a:tab pos="1312863" algn="l"/>
              </a:tabLst>
            </a:pPr>
            <a:r>
              <a:rPr lang="en-US" altLang="zh-TW" smtClean="0"/>
              <a:t>Contiguous vs. Indexed allocation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smtClean="0">
                <a:solidFill>
                  <a:srgbClr val="0000FF"/>
                </a:solidFill>
              </a:rPr>
              <a:t>Contiguous</a:t>
            </a:r>
            <a:r>
              <a:rPr lang="en-US" altLang="zh-TW" smtClean="0"/>
              <a:t>: </a:t>
            </a:r>
            <a:r>
              <a:rPr lang="en-US" altLang="zh-TW" smtClean="0">
                <a:solidFill>
                  <a:srgbClr val="0000FF"/>
                </a:solidFill>
              </a:rPr>
              <a:t>one</a:t>
            </a:r>
            <a:r>
              <a:rPr lang="en-US" altLang="zh-TW" smtClean="0"/>
              <a:t> access to get a disk block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smtClean="0">
                <a:solidFill>
                  <a:srgbClr val="FF0000"/>
                </a:solidFill>
              </a:rPr>
              <a:t>Indexed</a:t>
            </a:r>
            <a:r>
              <a:rPr lang="en-US" altLang="zh-TW" smtClean="0"/>
              <a:t>: read (</a:t>
            </a:r>
            <a:r>
              <a:rPr lang="en-US" altLang="zh-TW" smtClean="0">
                <a:solidFill>
                  <a:srgbClr val="FF0000"/>
                </a:solidFill>
              </a:rPr>
              <a:t>2</a:t>
            </a:r>
            <a:r>
              <a:rPr lang="en-US" altLang="zh-TW" smtClean="0"/>
              <a:t> for two-level) first the index block then desired data block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smtClean="0"/>
              <a:t>extremely large file, accessing a block near the end: require reading in all the index blocks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smtClean="0">
                <a:solidFill>
                  <a:srgbClr val="FF0000"/>
                </a:solidFill>
              </a:rPr>
              <a:t>The performance depend on: </a:t>
            </a:r>
            <a:r>
              <a:rPr lang="en-US" altLang="zh-TW" smtClean="0">
                <a:solidFill>
                  <a:srgbClr val="0000FF"/>
                </a:solidFill>
              </a:rPr>
              <a:t>index structure</a:t>
            </a:r>
            <a:r>
              <a:rPr lang="en-US" altLang="zh-TW" smtClean="0">
                <a:solidFill>
                  <a:srgbClr val="FF0000"/>
                </a:solidFill>
              </a:rPr>
              <a:t>, </a:t>
            </a:r>
            <a:r>
              <a:rPr lang="en-US" altLang="zh-TW" smtClean="0">
                <a:solidFill>
                  <a:srgbClr val="0000FF"/>
                </a:solidFill>
              </a:rPr>
              <a:t>the size of the file</a:t>
            </a:r>
            <a:r>
              <a:rPr lang="en-US" altLang="zh-TW" smtClean="0">
                <a:solidFill>
                  <a:srgbClr val="FF0000"/>
                </a:solidFill>
              </a:rPr>
              <a:t>, and on </a:t>
            </a:r>
            <a:r>
              <a:rPr lang="en-US" altLang="zh-TW" smtClean="0">
                <a:solidFill>
                  <a:srgbClr val="0000FF"/>
                </a:solidFill>
              </a:rPr>
              <a:t>the position of the block desired.</a:t>
            </a:r>
            <a:r>
              <a:rPr lang="en-US" altLang="zh-TW" smtClean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BD9F4B7-F1FC-402C-B409-E2A5188560B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43377E5-8542-4983-8C93-6936CD50BE09}" type="slidenum">
              <a:rPr kumimoji="0" lang="zh-TW" altLang="en-US" sz="1400" smtClean="0"/>
              <a:pPr eaLnBrk="1" hangingPunct="1"/>
              <a:t>25</a:t>
            </a:fld>
            <a:endParaRPr kumimoji="0" lang="en-US" altLang="zh-TW" sz="1400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937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Performance</a:t>
            </a:r>
            <a:r>
              <a:rPr lang="en-US" altLang="zh-TW" sz="4000" dirty="0" smtClean="0"/>
              <a:t> (2)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896938"/>
            <a:ext cx="8569325" cy="5459412"/>
          </a:xfrm>
        </p:spPr>
        <p:txBody>
          <a:bodyPr/>
          <a:lstStyle/>
          <a:p>
            <a:pPr eaLnBrk="1" hangingPunct="1">
              <a:tabLst>
                <a:tab pos="1312863" algn="l"/>
              </a:tabLst>
            </a:pPr>
            <a:r>
              <a:rPr lang="en-US" altLang="zh-TW" dirty="0" smtClean="0">
                <a:solidFill>
                  <a:srgbClr val="0000FF"/>
                </a:solidFill>
              </a:rPr>
              <a:t>Combine contiguous allocation with indexed allocation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dirty="0" smtClean="0"/>
              <a:t>Contiguous allocation for small files (3 or 4 blocks) and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dirty="0" smtClean="0">
                <a:solidFill>
                  <a:srgbClr val="0000FF"/>
                </a:solidFill>
              </a:rPr>
              <a:t>Automatically switch to an indexed allocation if the file grows large</a:t>
            </a:r>
          </a:p>
          <a:p>
            <a:pPr lvl="1" eaLnBrk="1" hangingPunct="1">
              <a:spcBef>
                <a:spcPct val="60000"/>
              </a:spcBef>
              <a:tabLst>
                <a:tab pos="1312863" algn="l"/>
              </a:tabLst>
            </a:pPr>
            <a:r>
              <a:rPr lang="en-US" altLang="zh-TW" dirty="0" smtClean="0"/>
              <a:t>Since most files are small, and </a:t>
            </a:r>
            <a:r>
              <a:rPr lang="en-US" altLang="zh-TW" dirty="0" smtClean="0">
                <a:solidFill>
                  <a:srgbClr val="FF0000"/>
                </a:solidFill>
              </a:rPr>
              <a:t>contiguous allocation is efficiency for small files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0000FF"/>
                </a:solidFill>
              </a:rPr>
              <a:t>average performance can be quite good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BDF24D9-41FF-4089-B4E5-0529127965C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E0EF7A7-045B-4354-B491-C347EB216E01}" type="slidenum">
              <a:rPr kumimoji="0" lang="zh-TW" altLang="en-US" sz="1400" smtClean="0"/>
              <a:pPr eaLnBrk="1" hangingPunct="1"/>
              <a:t>26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60350"/>
            <a:ext cx="7497762" cy="6858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Free-Space Management (1)</a:t>
            </a:r>
          </a:p>
        </p:txBody>
      </p:sp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5750" y="1036638"/>
            <a:ext cx="8459788" cy="53260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free-space list</a:t>
            </a:r>
            <a:r>
              <a:rPr lang="en-US" altLang="zh-TW" sz="2800" smtClean="0"/>
              <a:t>: used to keep track of free disk space</a:t>
            </a:r>
            <a:endParaRPr lang="en-US" altLang="zh-TW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Bit vector (bit map)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mtClean="0"/>
              <a:t>one bit for a block (1: free, 0: allocated)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J</a:t>
            </a:r>
            <a:r>
              <a:rPr lang="en-US" altLang="zh-TW" smtClean="0"/>
              <a:t>: easy to get contiguous files</a:t>
            </a:r>
            <a:endParaRPr lang="en-US" altLang="zh-TW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ct val="10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Linked list</a:t>
            </a:r>
            <a:r>
              <a:rPr lang="en-US" altLang="zh-TW" smtClean="0"/>
              <a:t>: each free block points to the next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L</a:t>
            </a:r>
            <a:r>
              <a:rPr lang="en-US" altLang="zh-TW" smtClean="0"/>
              <a:t>: not easy to traverse the list (infrequent action)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mtClean="0">
                <a:latin typeface="Wingdings" pitchFamily="2" charset="2"/>
              </a:rPr>
              <a:t>J</a:t>
            </a:r>
            <a:r>
              <a:rPr lang="en-US" altLang="zh-TW" smtClean="0"/>
              <a:t>: No waste of space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E6EB009-C30B-47BE-B0A1-13A352EC92C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86AECA6-7411-4571-A6E0-3F832E82C9BF}" type="slidenum">
              <a:rPr kumimoji="0" lang="zh-TW" altLang="en-US" sz="1400" smtClean="0"/>
              <a:pPr eaLnBrk="1" hangingPunct="1"/>
              <a:t>27</a:t>
            </a:fld>
            <a:endParaRPr kumimoji="0" lang="en-US" altLang="zh-TW" sz="14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60350"/>
            <a:ext cx="7497762" cy="6858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Free-Space Management (2)</a:t>
            </a:r>
          </a:p>
        </p:txBody>
      </p:sp>
      <p:sp>
        <p:nvSpPr>
          <p:cNvPr id="2375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5750" y="1036638"/>
            <a:ext cx="8459788" cy="5326062"/>
          </a:xfrm>
          <a:noFill/>
        </p:spPr>
        <p:txBody>
          <a:bodyPr lIns="90488" tIns="44450" rIns="90488" bIns="44450"/>
          <a:lstStyle/>
          <a:p>
            <a:pPr lvl="1" eaLnBrk="1" hangingPunct="1"/>
            <a:r>
              <a:rPr lang="en-US" altLang="zh-TW" dirty="0" smtClean="0">
                <a:solidFill>
                  <a:srgbClr val="FF0000"/>
                </a:solidFill>
              </a:rPr>
              <a:t>Grouping</a:t>
            </a:r>
            <a:r>
              <a:rPr lang="en-US" altLang="zh-TW" dirty="0" smtClean="0"/>
              <a:t>:</a:t>
            </a:r>
            <a:endParaRPr lang="en-US" altLang="zh-TW" sz="3200" dirty="0" smtClean="0"/>
          </a:p>
          <a:p>
            <a:pPr lvl="3" eaLnBrk="1" hangingPunct="1"/>
            <a:r>
              <a:rPr lang="en-US" altLang="zh-TW" sz="2400" dirty="0" smtClean="0"/>
              <a:t>first: store </a:t>
            </a:r>
            <a:r>
              <a:rPr lang="en-US" altLang="zh-TW" sz="2400" i="1" dirty="0" smtClean="0">
                <a:latin typeface="Times New Roman" pitchFamily="18" charset="0"/>
              </a:rPr>
              <a:t>n</a:t>
            </a:r>
            <a:r>
              <a:rPr lang="en-US" altLang="zh-TW" sz="2400" dirty="0" smtClean="0"/>
              <a:t> free blocks;</a:t>
            </a:r>
          </a:p>
          <a:p>
            <a:pPr lvl="3" eaLnBrk="1" hangingPunct="1"/>
            <a:r>
              <a:rPr lang="en-US" altLang="zh-TW" sz="2400" i="1" dirty="0" smtClean="0">
                <a:latin typeface="Times New Roman" pitchFamily="18" charset="0"/>
              </a:rPr>
              <a:t>n</a:t>
            </a:r>
            <a:r>
              <a:rPr lang="en-US" altLang="zh-TW" sz="2400" dirty="0" smtClean="0"/>
              <a:t>-</a:t>
            </a:r>
            <a:r>
              <a:rPr lang="en-US" altLang="zh-TW" sz="2400" dirty="0" err="1" smtClean="0"/>
              <a:t>th</a:t>
            </a:r>
            <a:r>
              <a:rPr lang="en-US" altLang="zh-TW" sz="2400" dirty="0" smtClean="0"/>
              <a:t> free block: store another </a:t>
            </a:r>
            <a:r>
              <a:rPr lang="en-US" altLang="zh-TW" sz="2400" i="1" dirty="0" smtClean="0">
                <a:latin typeface="Times New Roman" pitchFamily="18" charset="0"/>
              </a:rPr>
              <a:t>n</a:t>
            </a:r>
            <a:r>
              <a:rPr lang="en-US" altLang="zh-TW" sz="2400" dirty="0" smtClean="0"/>
              <a:t> free blocks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800" dirty="0" smtClean="0">
                <a:latin typeface="Wingdings" pitchFamily="2" charset="2"/>
              </a:rPr>
              <a:t>J</a:t>
            </a:r>
            <a:r>
              <a:rPr lang="en-US" altLang="zh-TW" sz="2800" dirty="0" smtClean="0"/>
              <a:t>: find a large number of free blocks quickly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zh-TW" dirty="0" smtClean="0">
                <a:solidFill>
                  <a:srgbClr val="FF0000"/>
                </a:solidFill>
              </a:rPr>
              <a:t>Counting</a:t>
            </a:r>
            <a:r>
              <a:rPr lang="en-US" altLang="zh-TW" dirty="0" smtClean="0"/>
              <a:t>: several contiguous blocks may be allocated or free simultaneously</a:t>
            </a:r>
          </a:p>
          <a:p>
            <a:pPr lvl="3" eaLnBrk="1" hangingPunct="1"/>
            <a:r>
              <a:rPr lang="en-US" altLang="zh-TW" sz="2400" dirty="0" smtClean="0"/>
              <a:t>a </a:t>
            </a:r>
            <a:r>
              <a:rPr lang="en-US" altLang="zh-TW" dirty="0" smtClean="0"/>
              <a:t>list</a:t>
            </a:r>
            <a:r>
              <a:rPr lang="en-US" altLang="zh-TW" sz="2400" dirty="0" smtClean="0"/>
              <a:t> of (first + no. of free blocks)</a:t>
            </a:r>
            <a:endParaRPr lang="en-US" altLang="zh-TW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36FAAC0-D70E-4394-B23D-15A012AC5B8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9C83C8F-1C9C-4D1D-A0BF-708998D505EB}" type="slidenum">
              <a:rPr kumimoji="0" lang="zh-TW" altLang="en-US" sz="1400" smtClean="0"/>
              <a:pPr eaLnBrk="1" hangingPunct="1"/>
              <a:t>28</a:t>
            </a:fld>
            <a:endParaRPr kumimoji="0" lang="en-US" altLang="zh-TW" sz="1400" smtClean="0"/>
          </a:p>
        </p:txBody>
      </p:sp>
      <p:sp>
        <p:nvSpPr>
          <p:cNvPr id="30725" name="Rectangle 1026"/>
          <p:cNvSpPr>
            <a:spLocks noChangeArrowheads="1"/>
          </p:cNvSpPr>
          <p:nvPr/>
        </p:nvSpPr>
        <p:spPr bwMode="auto">
          <a:xfrm>
            <a:off x="2036763" y="1843088"/>
            <a:ext cx="404812" cy="280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26" name="Text Box 1027"/>
          <p:cNvSpPr txBox="1">
            <a:spLocks noChangeArrowheads="1"/>
          </p:cNvSpPr>
          <p:nvPr/>
        </p:nvSpPr>
        <p:spPr bwMode="auto">
          <a:xfrm>
            <a:off x="1700213" y="18573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0</a:t>
            </a:r>
          </a:p>
        </p:txBody>
      </p:sp>
      <p:sp>
        <p:nvSpPr>
          <p:cNvPr id="30727" name="Rectangle 1028"/>
          <p:cNvSpPr>
            <a:spLocks noChangeArrowheads="1"/>
          </p:cNvSpPr>
          <p:nvPr/>
        </p:nvSpPr>
        <p:spPr bwMode="auto">
          <a:xfrm>
            <a:off x="2901950" y="1857375"/>
            <a:ext cx="404813" cy="2809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zh-TW" altLang="en-US" sz="2000" b="1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28" name="Text Box 1029"/>
          <p:cNvSpPr txBox="1">
            <a:spLocks noChangeArrowheads="1"/>
          </p:cNvSpPr>
          <p:nvPr/>
        </p:nvSpPr>
        <p:spPr bwMode="auto">
          <a:xfrm>
            <a:off x="2566988" y="1873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</a:t>
            </a:r>
          </a:p>
        </p:txBody>
      </p:sp>
      <p:sp>
        <p:nvSpPr>
          <p:cNvPr id="30729" name="Rectangle 1030"/>
          <p:cNvSpPr>
            <a:spLocks noChangeArrowheads="1"/>
          </p:cNvSpPr>
          <p:nvPr/>
        </p:nvSpPr>
        <p:spPr bwMode="auto">
          <a:xfrm>
            <a:off x="3822700" y="1843088"/>
            <a:ext cx="404813" cy="2809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30" name="Text Box 1031"/>
          <p:cNvSpPr txBox="1">
            <a:spLocks noChangeArrowheads="1"/>
          </p:cNvSpPr>
          <p:nvPr/>
        </p:nvSpPr>
        <p:spPr bwMode="auto">
          <a:xfrm>
            <a:off x="3505200" y="1874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</a:t>
            </a:r>
          </a:p>
        </p:txBody>
      </p:sp>
      <p:sp>
        <p:nvSpPr>
          <p:cNvPr id="30731" name="Rectangle 1032"/>
          <p:cNvSpPr>
            <a:spLocks noChangeArrowheads="1"/>
          </p:cNvSpPr>
          <p:nvPr/>
        </p:nvSpPr>
        <p:spPr bwMode="auto">
          <a:xfrm>
            <a:off x="4687888" y="1873250"/>
            <a:ext cx="404812" cy="279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32" name="Text Box 1033"/>
          <p:cNvSpPr txBox="1">
            <a:spLocks noChangeArrowheads="1"/>
          </p:cNvSpPr>
          <p:nvPr/>
        </p:nvSpPr>
        <p:spPr bwMode="auto">
          <a:xfrm>
            <a:off x="4352925" y="1887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3</a:t>
            </a:r>
          </a:p>
        </p:txBody>
      </p:sp>
      <p:sp>
        <p:nvSpPr>
          <p:cNvPr id="30733" name="Rectangle 1034"/>
          <p:cNvSpPr>
            <a:spLocks noChangeArrowheads="1"/>
          </p:cNvSpPr>
          <p:nvPr/>
        </p:nvSpPr>
        <p:spPr bwMode="auto">
          <a:xfrm>
            <a:off x="2032000" y="2362200"/>
            <a:ext cx="404813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34" name="Text Box 1035"/>
          <p:cNvSpPr txBox="1">
            <a:spLocks noChangeArrowheads="1"/>
          </p:cNvSpPr>
          <p:nvPr/>
        </p:nvSpPr>
        <p:spPr bwMode="auto">
          <a:xfrm>
            <a:off x="1695450" y="2376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4</a:t>
            </a:r>
          </a:p>
        </p:txBody>
      </p:sp>
      <p:sp>
        <p:nvSpPr>
          <p:cNvPr id="30735" name="Rectangle 1036"/>
          <p:cNvSpPr>
            <a:spLocks noChangeArrowheads="1"/>
          </p:cNvSpPr>
          <p:nvPr/>
        </p:nvSpPr>
        <p:spPr bwMode="auto">
          <a:xfrm>
            <a:off x="2897188" y="2376488"/>
            <a:ext cx="404812" cy="280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36" name="Text Box 1037"/>
          <p:cNvSpPr txBox="1">
            <a:spLocks noChangeArrowheads="1"/>
          </p:cNvSpPr>
          <p:nvPr/>
        </p:nvSpPr>
        <p:spPr bwMode="auto">
          <a:xfrm>
            <a:off x="2560638" y="2390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5</a:t>
            </a:r>
          </a:p>
        </p:txBody>
      </p:sp>
      <p:sp>
        <p:nvSpPr>
          <p:cNvPr id="30737" name="Rectangle 1038"/>
          <p:cNvSpPr>
            <a:spLocks noChangeArrowheads="1"/>
          </p:cNvSpPr>
          <p:nvPr/>
        </p:nvSpPr>
        <p:spPr bwMode="auto">
          <a:xfrm>
            <a:off x="3817938" y="2362200"/>
            <a:ext cx="404812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38" name="Text Box 1039"/>
          <p:cNvSpPr txBox="1">
            <a:spLocks noChangeArrowheads="1"/>
          </p:cNvSpPr>
          <p:nvPr/>
        </p:nvSpPr>
        <p:spPr bwMode="auto">
          <a:xfrm>
            <a:off x="3482975" y="2376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6</a:t>
            </a:r>
          </a:p>
        </p:txBody>
      </p:sp>
      <p:sp>
        <p:nvSpPr>
          <p:cNvPr id="30739" name="Rectangle 1040"/>
          <p:cNvSpPr>
            <a:spLocks noChangeArrowheads="1"/>
          </p:cNvSpPr>
          <p:nvPr/>
        </p:nvSpPr>
        <p:spPr bwMode="auto">
          <a:xfrm>
            <a:off x="4683125" y="2392363"/>
            <a:ext cx="404813" cy="279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zh-TW" altLang="en-US" sz="2000" b="1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40" name="Text Box 1041"/>
          <p:cNvSpPr txBox="1">
            <a:spLocks noChangeArrowheads="1"/>
          </p:cNvSpPr>
          <p:nvPr/>
        </p:nvSpPr>
        <p:spPr bwMode="auto">
          <a:xfrm>
            <a:off x="4346575" y="240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7</a:t>
            </a:r>
          </a:p>
        </p:txBody>
      </p:sp>
      <p:sp>
        <p:nvSpPr>
          <p:cNvPr id="30741" name="Rectangle 1042"/>
          <p:cNvSpPr>
            <a:spLocks noChangeArrowheads="1"/>
          </p:cNvSpPr>
          <p:nvPr/>
        </p:nvSpPr>
        <p:spPr bwMode="auto">
          <a:xfrm>
            <a:off x="2060575" y="2911475"/>
            <a:ext cx="404813" cy="279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42" name="Text Box 1043"/>
          <p:cNvSpPr txBox="1">
            <a:spLocks noChangeArrowheads="1"/>
          </p:cNvSpPr>
          <p:nvPr/>
        </p:nvSpPr>
        <p:spPr bwMode="auto">
          <a:xfrm>
            <a:off x="1724025" y="29257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8</a:t>
            </a:r>
          </a:p>
        </p:txBody>
      </p:sp>
      <p:sp>
        <p:nvSpPr>
          <p:cNvPr id="30743" name="Rectangle 1044"/>
          <p:cNvSpPr>
            <a:spLocks noChangeArrowheads="1"/>
          </p:cNvSpPr>
          <p:nvPr/>
        </p:nvSpPr>
        <p:spPr bwMode="auto">
          <a:xfrm>
            <a:off x="2925763" y="2925763"/>
            <a:ext cx="404812" cy="2809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zh-TW" altLang="en-US" sz="2000" b="1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44" name="Text Box 1045"/>
          <p:cNvSpPr txBox="1">
            <a:spLocks noChangeArrowheads="1"/>
          </p:cNvSpPr>
          <p:nvPr/>
        </p:nvSpPr>
        <p:spPr bwMode="auto">
          <a:xfrm>
            <a:off x="2589213" y="2940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9</a:t>
            </a:r>
          </a:p>
        </p:txBody>
      </p:sp>
      <p:sp>
        <p:nvSpPr>
          <p:cNvPr id="30745" name="Rectangle 1046"/>
          <p:cNvSpPr>
            <a:spLocks noChangeArrowheads="1"/>
          </p:cNvSpPr>
          <p:nvPr/>
        </p:nvSpPr>
        <p:spPr bwMode="auto">
          <a:xfrm>
            <a:off x="3846513" y="2911475"/>
            <a:ext cx="404812" cy="279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46" name="Text Box 1047"/>
          <p:cNvSpPr txBox="1">
            <a:spLocks noChangeArrowheads="1"/>
          </p:cNvSpPr>
          <p:nvPr/>
        </p:nvSpPr>
        <p:spPr bwMode="auto">
          <a:xfrm>
            <a:off x="3511550" y="292576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10</a:t>
            </a:r>
          </a:p>
        </p:txBody>
      </p:sp>
      <p:sp>
        <p:nvSpPr>
          <p:cNvPr id="30747" name="Rectangle 1048"/>
          <p:cNvSpPr>
            <a:spLocks noChangeArrowheads="1"/>
          </p:cNvSpPr>
          <p:nvPr/>
        </p:nvSpPr>
        <p:spPr bwMode="auto">
          <a:xfrm>
            <a:off x="4711700" y="2940050"/>
            <a:ext cx="404813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48" name="Text Box 1049"/>
          <p:cNvSpPr txBox="1">
            <a:spLocks noChangeArrowheads="1"/>
          </p:cNvSpPr>
          <p:nvPr/>
        </p:nvSpPr>
        <p:spPr bwMode="auto">
          <a:xfrm>
            <a:off x="4376738" y="295433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11</a:t>
            </a:r>
          </a:p>
        </p:txBody>
      </p:sp>
      <p:sp>
        <p:nvSpPr>
          <p:cNvPr id="30749" name="Rectangle 1050"/>
          <p:cNvSpPr>
            <a:spLocks noChangeArrowheads="1"/>
          </p:cNvSpPr>
          <p:nvPr/>
        </p:nvSpPr>
        <p:spPr bwMode="auto">
          <a:xfrm>
            <a:off x="2055813" y="3430588"/>
            <a:ext cx="404812" cy="279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zh-TW" altLang="en-US" sz="2000" b="1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50" name="Text Box 1051"/>
          <p:cNvSpPr txBox="1">
            <a:spLocks noChangeArrowheads="1"/>
          </p:cNvSpPr>
          <p:nvPr/>
        </p:nvSpPr>
        <p:spPr bwMode="auto">
          <a:xfrm>
            <a:off x="1719263" y="344487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12</a:t>
            </a:r>
          </a:p>
        </p:txBody>
      </p:sp>
      <p:sp>
        <p:nvSpPr>
          <p:cNvPr id="30751" name="Rectangle 1052"/>
          <p:cNvSpPr>
            <a:spLocks noChangeArrowheads="1"/>
          </p:cNvSpPr>
          <p:nvPr/>
        </p:nvSpPr>
        <p:spPr bwMode="auto">
          <a:xfrm>
            <a:off x="2921000" y="3444875"/>
            <a:ext cx="404813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52" name="Text Box 1053"/>
          <p:cNvSpPr txBox="1">
            <a:spLocks noChangeArrowheads="1"/>
          </p:cNvSpPr>
          <p:nvPr/>
        </p:nvSpPr>
        <p:spPr bwMode="auto">
          <a:xfrm>
            <a:off x="2584450" y="34607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13</a:t>
            </a:r>
          </a:p>
        </p:txBody>
      </p:sp>
      <p:sp>
        <p:nvSpPr>
          <p:cNvPr id="30753" name="Rectangle 1054"/>
          <p:cNvSpPr>
            <a:spLocks noChangeArrowheads="1"/>
          </p:cNvSpPr>
          <p:nvPr/>
        </p:nvSpPr>
        <p:spPr bwMode="auto">
          <a:xfrm>
            <a:off x="3841750" y="3430588"/>
            <a:ext cx="404813" cy="279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zh-TW" altLang="en-US" sz="2000" b="1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754" name="Text Box 1055"/>
          <p:cNvSpPr txBox="1">
            <a:spLocks noChangeArrowheads="1"/>
          </p:cNvSpPr>
          <p:nvPr/>
        </p:nvSpPr>
        <p:spPr bwMode="auto">
          <a:xfrm>
            <a:off x="3505200" y="344487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14</a:t>
            </a:r>
          </a:p>
        </p:txBody>
      </p:sp>
      <p:sp>
        <p:nvSpPr>
          <p:cNvPr id="30755" name="Rectangle 1056"/>
          <p:cNvSpPr>
            <a:spLocks noChangeArrowheads="1"/>
          </p:cNvSpPr>
          <p:nvPr/>
        </p:nvSpPr>
        <p:spPr bwMode="auto">
          <a:xfrm>
            <a:off x="4706938" y="3459163"/>
            <a:ext cx="404812" cy="2809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56" name="Text Box 1057"/>
          <p:cNvSpPr txBox="1">
            <a:spLocks noChangeArrowheads="1"/>
          </p:cNvSpPr>
          <p:nvPr/>
        </p:nvSpPr>
        <p:spPr bwMode="auto">
          <a:xfrm>
            <a:off x="4370388" y="3473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15</a:t>
            </a:r>
          </a:p>
        </p:txBody>
      </p:sp>
      <p:sp>
        <p:nvSpPr>
          <p:cNvPr id="30757" name="Rectangle 1058"/>
          <p:cNvSpPr>
            <a:spLocks noChangeArrowheads="1"/>
          </p:cNvSpPr>
          <p:nvPr/>
        </p:nvSpPr>
        <p:spPr bwMode="auto">
          <a:xfrm>
            <a:off x="2027238" y="3981450"/>
            <a:ext cx="403225" cy="2809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58" name="Text Box 1059"/>
          <p:cNvSpPr txBox="1">
            <a:spLocks noChangeArrowheads="1"/>
          </p:cNvSpPr>
          <p:nvPr/>
        </p:nvSpPr>
        <p:spPr bwMode="auto">
          <a:xfrm>
            <a:off x="1690688" y="399573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16</a:t>
            </a:r>
          </a:p>
        </p:txBody>
      </p:sp>
      <p:sp>
        <p:nvSpPr>
          <p:cNvPr id="30759" name="Rectangle 1060"/>
          <p:cNvSpPr>
            <a:spLocks noChangeArrowheads="1"/>
          </p:cNvSpPr>
          <p:nvPr/>
        </p:nvSpPr>
        <p:spPr bwMode="auto">
          <a:xfrm>
            <a:off x="2892425" y="3995738"/>
            <a:ext cx="404813" cy="2809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60" name="Text Box 1061"/>
          <p:cNvSpPr txBox="1">
            <a:spLocks noChangeArrowheads="1"/>
          </p:cNvSpPr>
          <p:nvPr/>
        </p:nvSpPr>
        <p:spPr bwMode="auto">
          <a:xfrm>
            <a:off x="2557463" y="40100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17</a:t>
            </a:r>
          </a:p>
        </p:txBody>
      </p:sp>
      <p:sp>
        <p:nvSpPr>
          <p:cNvPr id="30761" name="Rectangle 1062"/>
          <p:cNvSpPr>
            <a:spLocks noChangeArrowheads="1"/>
          </p:cNvSpPr>
          <p:nvPr/>
        </p:nvSpPr>
        <p:spPr bwMode="auto">
          <a:xfrm>
            <a:off x="3813175" y="3981450"/>
            <a:ext cx="404813" cy="28098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30762" name="Text Box 1063"/>
          <p:cNvSpPr txBox="1">
            <a:spLocks noChangeArrowheads="1"/>
          </p:cNvSpPr>
          <p:nvPr/>
        </p:nvSpPr>
        <p:spPr bwMode="auto">
          <a:xfrm>
            <a:off x="3476625" y="399573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18</a:t>
            </a:r>
          </a:p>
        </p:txBody>
      </p:sp>
      <p:sp>
        <p:nvSpPr>
          <p:cNvPr id="30763" name="Rectangle 1064"/>
          <p:cNvSpPr>
            <a:spLocks noChangeArrowheads="1"/>
          </p:cNvSpPr>
          <p:nvPr/>
        </p:nvSpPr>
        <p:spPr bwMode="auto">
          <a:xfrm>
            <a:off x="4678363" y="4011613"/>
            <a:ext cx="404812" cy="280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64" name="Text Box 1065"/>
          <p:cNvSpPr txBox="1">
            <a:spLocks noChangeArrowheads="1"/>
          </p:cNvSpPr>
          <p:nvPr/>
        </p:nvSpPr>
        <p:spPr bwMode="auto">
          <a:xfrm>
            <a:off x="4341813" y="40259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19</a:t>
            </a:r>
          </a:p>
        </p:txBody>
      </p:sp>
      <p:sp>
        <p:nvSpPr>
          <p:cNvPr id="30765" name="Rectangle 1066"/>
          <p:cNvSpPr>
            <a:spLocks noChangeArrowheads="1"/>
          </p:cNvSpPr>
          <p:nvPr/>
        </p:nvSpPr>
        <p:spPr bwMode="auto">
          <a:xfrm>
            <a:off x="2020888" y="4500563"/>
            <a:ext cx="404812" cy="280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66" name="Text Box 1067"/>
          <p:cNvSpPr txBox="1">
            <a:spLocks noChangeArrowheads="1"/>
          </p:cNvSpPr>
          <p:nvPr/>
        </p:nvSpPr>
        <p:spPr bwMode="auto">
          <a:xfrm>
            <a:off x="1685925" y="45148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20</a:t>
            </a:r>
          </a:p>
        </p:txBody>
      </p:sp>
      <p:sp>
        <p:nvSpPr>
          <p:cNvPr id="30767" name="Rectangle 1068"/>
          <p:cNvSpPr>
            <a:spLocks noChangeArrowheads="1"/>
          </p:cNvSpPr>
          <p:nvPr/>
        </p:nvSpPr>
        <p:spPr bwMode="auto">
          <a:xfrm>
            <a:off x="2916238" y="4514850"/>
            <a:ext cx="404812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68" name="Text Box 1069"/>
          <p:cNvSpPr txBox="1">
            <a:spLocks noChangeArrowheads="1"/>
          </p:cNvSpPr>
          <p:nvPr/>
        </p:nvSpPr>
        <p:spPr bwMode="auto">
          <a:xfrm>
            <a:off x="2581275" y="452913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21</a:t>
            </a:r>
          </a:p>
        </p:txBody>
      </p:sp>
      <p:sp>
        <p:nvSpPr>
          <p:cNvPr id="30769" name="Rectangle 1070"/>
          <p:cNvSpPr>
            <a:spLocks noChangeArrowheads="1"/>
          </p:cNvSpPr>
          <p:nvPr/>
        </p:nvSpPr>
        <p:spPr bwMode="auto">
          <a:xfrm>
            <a:off x="3808413" y="4500563"/>
            <a:ext cx="404812" cy="280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70" name="Text Box 1071"/>
          <p:cNvSpPr txBox="1">
            <a:spLocks noChangeArrowheads="1"/>
          </p:cNvSpPr>
          <p:nvPr/>
        </p:nvSpPr>
        <p:spPr bwMode="auto">
          <a:xfrm>
            <a:off x="3470275" y="45148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22</a:t>
            </a:r>
          </a:p>
        </p:txBody>
      </p:sp>
      <p:sp>
        <p:nvSpPr>
          <p:cNvPr id="30771" name="Rectangle 1072"/>
          <p:cNvSpPr>
            <a:spLocks noChangeArrowheads="1"/>
          </p:cNvSpPr>
          <p:nvPr/>
        </p:nvSpPr>
        <p:spPr bwMode="auto">
          <a:xfrm>
            <a:off x="4673600" y="4530725"/>
            <a:ext cx="404813" cy="280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72" name="Text Box 1073"/>
          <p:cNvSpPr txBox="1">
            <a:spLocks noChangeArrowheads="1"/>
          </p:cNvSpPr>
          <p:nvPr/>
        </p:nvSpPr>
        <p:spPr bwMode="auto">
          <a:xfrm>
            <a:off x="4337050" y="4546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pitchFamily="18" charset="0"/>
              </a:rPr>
              <a:t>23</a:t>
            </a:r>
          </a:p>
        </p:txBody>
      </p:sp>
      <p:sp>
        <p:nvSpPr>
          <p:cNvPr id="30773" name="Oval 1074"/>
          <p:cNvSpPr>
            <a:spLocks noChangeArrowheads="1"/>
          </p:cNvSpPr>
          <p:nvPr/>
        </p:nvSpPr>
        <p:spPr bwMode="auto">
          <a:xfrm>
            <a:off x="1530350" y="1179513"/>
            <a:ext cx="3976688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74" name="Oval 1075"/>
          <p:cNvSpPr>
            <a:spLocks noChangeArrowheads="1"/>
          </p:cNvSpPr>
          <p:nvPr/>
        </p:nvSpPr>
        <p:spPr bwMode="auto">
          <a:xfrm>
            <a:off x="1497013" y="5026025"/>
            <a:ext cx="3976687" cy="152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775" name="Line 1076"/>
          <p:cNvSpPr>
            <a:spLocks noChangeShapeType="1"/>
          </p:cNvSpPr>
          <p:nvPr/>
        </p:nvSpPr>
        <p:spPr bwMode="auto">
          <a:xfrm>
            <a:off x="1558925" y="1255713"/>
            <a:ext cx="0" cy="3849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76" name="Line 1077"/>
          <p:cNvSpPr>
            <a:spLocks noChangeShapeType="1"/>
          </p:cNvSpPr>
          <p:nvPr/>
        </p:nvSpPr>
        <p:spPr bwMode="auto">
          <a:xfrm>
            <a:off x="5487988" y="1289050"/>
            <a:ext cx="0" cy="3849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77" name="Text Box 1078"/>
          <p:cNvSpPr txBox="1">
            <a:spLocks noChangeArrowheads="1"/>
          </p:cNvSpPr>
          <p:nvPr/>
        </p:nvSpPr>
        <p:spPr bwMode="auto">
          <a:xfrm>
            <a:off x="0" y="1139825"/>
            <a:ext cx="159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itchFamily="18" charset="0"/>
              </a:rPr>
              <a:t>free-list head</a:t>
            </a:r>
          </a:p>
        </p:txBody>
      </p:sp>
      <p:sp>
        <p:nvSpPr>
          <p:cNvPr id="167991" name="Line 1079"/>
          <p:cNvSpPr>
            <a:spLocks noChangeShapeType="1"/>
          </p:cNvSpPr>
          <p:nvPr/>
        </p:nvSpPr>
        <p:spPr bwMode="auto">
          <a:xfrm>
            <a:off x="1538288" y="1343025"/>
            <a:ext cx="1482725" cy="45243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2" name="Freeform 1080"/>
          <p:cNvSpPr>
            <a:spLocks/>
          </p:cNvSpPr>
          <p:nvPr/>
        </p:nvSpPr>
        <p:spPr bwMode="auto">
          <a:xfrm>
            <a:off x="3338513" y="1690688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3" name="Freeform 1081"/>
          <p:cNvSpPr>
            <a:spLocks/>
          </p:cNvSpPr>
          <p:nvPr/>
        </p:nvSpPr>
        <p:spPr bwMode="auto">
          <a:xfrm>
            <a:off x="4214813" y="1612900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4" name="Freeform 1082"/>
          <p:cNvSpPr>
            <a:spLocks/>
          </p:cNvSpPr>
          <p:nvPr/>
        </p:nvSpPr>
        <p:spPr bwMode="auto">
          <a:xfrm flipV="1">
            <a:off x="2393950" y="3232150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5" name="Freeform 1083"/>
          <p:cNvSpPr>
            <a:spLocks/>
          </p:cNvSpPr>
          <p:nvPr/>
        </p:nvSpPr>
        <p:spPr bwMode="auto">
          <a:xfrm flipV="1">
            <a:off x="3227388" y="4344988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6" name="Freeform 1084"/>
          <p:cNvSpPr>
            <a:spLocks/>
          </p:cNvSpPr>
          <p:nvPr/>
        </p:nvSpPr>
        <p:spPr bwMode="auto">
          <a:xfrm>
            <a:off x="4078288" y="3257550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7" name="Freeform 1085"/>
          <p:cNvSpPr>
            <a:spLocks/>
          </p:cNvSpPr>
          <p:nvPr/>
        </p:nvSpPr>
        <p:spPr bwMode="auto">
          <a:xfrm flipV="1">
            <a:off x="2332038" y="4357688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8" name="Freeform 1086"/>
          <p:cNvSpPr>
            <a:spLocks/>
          </p:cNvSpPr>
          <p:nvPr/>
        </p:nvSpPr>
        <p:spPr bwMode="auto">
          <a:xfrm rot="5400000">
            <a:off x="4926012" y="2166938"/>
            <a:ext cx="581025" cy="139700"/>
          </a:xfrm>
          <a:custGeom>
            <a:avLst/>
            <a:gdLst>
              <a:gd name="T0" fmla="*/ 0 w 366"/>
              <a:gd name="T1" fmla="*/ 2147483647 h 88"/>
              <a:gd name="T2" fmla="*/ 2147483647 w 366"/>
              <a:gd name="T3" fmla="*/ 0 h 88"/>
              <a:gd name="T4" fmla="*/ 2147483647 w 366"/>
              <a:gd name="T5" fmla="*/ 2147483647 h 88"/>
              <a:gd name="T6" fmla="*/ 2147483647 w 366"/>
              <a:gd name="T7" fmla="*/ 2147483647 h 88"/>
              <a:gd name="T8" fmla="*/ 0 60000 65536"/>
              <a:gd name="T9" fmla="*/ 0 60000 65536"/>
              <a:gd name="T10" fmla="*/ 0 60000 65536"/>
              <a:gd name="T11" fmla="*/ 0 60000 65536"/>
              <a:gd name="T12" fmla="*/ 0 w 366"/>
              <a:gd name="T13" fmla="*/ 0 h 88"/>
              <a:gd name="T14" fmla="*/ 366 w 366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6" h="88">
                <a:moveTo>
                  <a:pt x="0" y="88"/>
                </a:moveTo>
                <a:lnTo>
                  <a:pt x="144" y="0"/>
                </a:lnTo>
                <a:lnTo>
                  <a:pt x="255" y="11"/>
                </a:lnTo>
                <a:lnTo>
                  <a:pt x="366" y="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99" name="Line 1087"/>
          <p:cNvSpPr>
            <a:spLocks noChangeShapeType="1"/>
          </p:cNvSpPr>
          <p:nvPr/>
        </p:nvSpPr>
        <p:spPr bwMode="auto">
          <a:xfrm flipH="1">
            <a:off x="2190750" y="2632075"/>
            <a:ext cx="2487613" cy="2397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8000" name="Line 1088"/>
          <p:cNvSpPr>
            <a:spLocks noChangeShapeType="1"/>
          </p:cNvSpPr>
          <p:nvPr/>
        </p:nvSpPr>
        <p:spPr bwMode="auto">
          <a:xfrm flipH="1">
            <a:off x="2455863" y="3259138"/>
            <a:ext cx="793750" cy="3000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8001" name="Line 1089"/>
          <p:cNvSpPr>
            <a:spLocks noChangeShapeType="1"/>
          </p:cNvSpPr>
          <p:nvPr/>
        </p:nvSpPr>
        <p:spPr bwMode="auto">
          <a:xfrm flipV="1">
            <a:off x="2455863" y="3594100"/>
            <a:ext cx="1093787" cy="1063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8002" name="Line 1090"/>
          <p:cNvSpPr>
            <a:spLocks noChangeShapeType="1"/>
          </p:cNvSpPr>
          <p:nvPr/>
        </p:nvSpPr>
        <p:spPr bwMode="auto">
          <a:xfrm flipH="1">
            <a:off x="2438400" y="3752850"/>
            <a:ext cx="2416175" cy="3175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90" name="Text Box 1091"/>
          <p:cNvSpPr txBox="1">
            <a:spLocks noChangeArrowheads="1"/>
          </p:cNvSpPr>
          <p:nvPr/>
        </p:nvSpPr>
        <p:spPr bwMode="auto">
          <a:xfrm>
            <a:off x="609600" y="301625"/>
            <a:ext cx="75326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chemeClr val="tx2"/>
                </a:solidFill>
                <a:latin typeface="Times New Roman" pitchFamily="18" charset="0"/>
              </a:rPr>
              <a:t>Bit Map/Linked List/Grouping/Counting</a:t>
            </a:r>
          </a:p>
        </p:txBody>
      </p:sp>
      <p:sp>
        <p:nvSpPr>
          <p:cNvPr id="168004" name="Text Box 1092"/>
          <p:cNvSpPr txBox="1">
            <a:spLocks noChangeArrowheads="1"/>
          </p:cNvSpPr>
          <p:nvPr/>
        </p:nvSpPr>
        <p:spPr bwMode="auto">
          <a:xfrm>
            <a:off x="1049338" y="5462588"/>
            <a:ext cx="4281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itchFamily="18" charset="0"/>
              </a:rPr>
              <a:t>bit map:  011100011100101111100000</a:t>
            </a:r>
          </a:p>
        </p:txBody>
      </p:sp>
      <p:sp>
        <p:nvSpPr>
          <p:cNvPr id="168005" name="Text Box 1093"/>
          <p:cNvSpPr txBox="1">
            <a:spLocks noChangeArrowheads="1"/>
          </p:cNvSpPr>
          <p:nvPr/>
        </p:nvSpPr>
        <p:spPr bwMode="auto">
          <a:xfrm>
            <a:off x="1049338" y="5765800"/>
            <a:ext cx="46513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000" b="1" dirty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counting:    (1,3), (7, 3), (12, 1), (14, 5)</a:t>
            </a:r>
          </a:p>
        </p:txBody>
      </p:sp>
      <p:grpSp>
        <p:nvGrpSpPr>
          <p:cNvPr id="2" name="Group 1094"/>
          <p:cNvGrpSpPr>
            <a:grpSpLocks/>
          </p:cNvGrpSpPr>
          <p:nvPr/>
        </p:nvGrpSpPr>
        <p:grpSpPr bwMode="auto">
          <a:xfrm>
            <a:off x="6611938" y="1728788"/>
            <a:ext cx="1816100" cy="3341687"/>
            <a:chOff x="3687" y="1865"/>
            <a:chExt cx="1144" cy="2105"/>
          </a:xfrm>
        </p:grpSpPr>
        <p:sp>
          <p:nvSpPr>
            <p:cNvPr id="30794" name="Rectangle 1095"/>
            <p:cNvSpPr>
              <a:spLocks noChangeArrowheads="1"/>
            </p:cNvSpPr>
            <p:nvPr/>
          </p:nvSpPr>
          <p:spPr bwMode="auto">
            <a:xfrm>
              <a:off x="4027" y="2309"/>
              <a:ext cx="665" cy="289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0795" name="Rectangle 1096"/>
            <p:cNvSpPr>
              <a:spLocks noChangeArrowheads="1"/>
            </p:cNvSpPr>
            <p:nvPr/>
          </p:nvSpPr>
          <p:spPr bwMode="auto">
            <a:xfrm>
              <a:off x="4050" y="3681"/>
              <a:ext cx="665" cy="289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0796" name="Rectangle 1097"/>
            <p:cNvSpPr>
              <a:spLocks noChangeArrowheads="1"/>
            </p:cNvSpPr>
            <p:nvPr/>
          </p:nvSpPr>
          <p:spPr bwMode="auto">
            <a:xfrm>
              <a:off x="4043" y="3207"/>
              <a:ext cx="665" cy="289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0797" name="Rectangle 1098"/>
            <p:cNvSpPr>
              <a:spLocks noChangeArrowheads="1"/>
            </p:cNvSpPr>
            <p:nvPr/>
          </p:nvSpPr>
          <p:spPr bwMode="auto">
            <a:xfrm>
              <a:off x="4036" y="2744"/>
              <a:ext cx="665" cy="289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0798" name="Text Box 1099"/>
            <p:cNvSpPr txBox="1">
              <a:spLocks noChangeArrowheads="1"/>
            </p:cNvSpPr>
            <p:nvPr/>
          </p:nvSpPr>
          <p:spPr bwMode="auto">
            <a:xfrm>
              <a:off x="3687" y="1865"/>
              <a:ext cx="1144" cy="2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grouping (</a:t>
              </a:r>
              <a:r>
                <a:rPr lang="en-US" altLang="zh-TW" sz="2000" b="1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=3)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en-US" altLang="zh-TW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   1    2,3,7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en-US" altLang="zh-TW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   7    8,9,12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   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  12  14,15,16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en-US" altLang="zh-TW" sz="20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solidFill>
                    <a:srgbClr val="000000"/>
                  </a:solidFill>
                  <a:latin typeface="Times New Roman" pitchFamily="18" charset="0"/>
                </a:rPr>
                <a:t>   16  17,18,-1  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7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7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67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67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7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67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67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7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7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7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67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67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7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68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68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68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68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67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67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6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6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67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67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67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67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4" presetClass="exit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6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91" grpId="0" animBg="1"/>
      <p:bldP spid="167991" grpId="1" animBg="1"/>
      <p:bldP spid="167992" grpId="0" animBg="1"/>
      <p:bldP spid="167992" grpId="1" animBg="1"/>
      <p:bldP spid="167993" grpId="0" animBg="1"/>
      <p:bldP spid="167993" grpId="1" animBg="1"/>
      <p:bldP spid="167994" grpId="0" animBg="1"/>
      <p:bldP spid="167994" grpId="1" animBg="1"/>
      <p:bldP spid="167995" grpId="0" animBg="1"/>
      <p:bldP spid="167995" grpId="1" animBg="1"/>
      <p:bldP spid="167996" grpId="0" animBg="1"/>
      <p:bldP spid="167996" grpId="1" animBg="1"/>
      <p:bldP spid="167997" grpId="0" animBg="1"/>
      <p:bldP spid="167997" grpId="1" animBg="1"/>
      <p:bldP spid="167998" grpId="0" animBg="1"/>
      <p:bldP spid="167998" grpId="1" animBg="1"/>
      <p:bldP spid="167999" grpId="0" animBg="1"/>
      <p:bldP spid="167999" grpId="1" animBg="1"/>
      <p:bldP spid="168000" grpId="0" animBg="1"/>
      <p:bldP spid="168000" grpId="1" animBg="1"/>
      <p:bldP spid="168001" grpId="0" animBg="1"/>
      <p:bldP spid="168001" grpId="1" animBg="1"/>
      <p:bldP spid="168002" grpId="0" animBg="1"/>
      <p:bldP spid="16800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AEC0042-F380-4EBC-9AF9-DA073E622E6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99E7F66-A963-4692-8CFC-C1057BD0DE09}" type="slidenum">
              <a:rPr kumimoji="0" lang="zh-TW" altLang="en-US" sz="1400" smtClean="0"/>
              <a:pPr eaLnBrk="1" hangingPunct="1"/>
              <a:t>29</a:t>
            </a:fld>
            <a:endParaRPr kumimoji="0" lang="en-US" altLang="zh-TW" sz="14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60350"/>
            <a:ext cx="7497762" cy="6858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Free-Space Management (3)</a:t>
            </a:r>
          </a:p>
        </p:txBody>
      </p:sp>
      <p:sp>
        <p:nvSpPr>
          <p:cNvPr id="2498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5750" y="1036638"/>
            <a:ext cx="8459788" cy="5508625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Space Maps (ZFS)</a:t>
            </a:r>
            <a:r>
              <a:rPr lang="en-US" altLang="zh-TW" sz="2400" dirty="0" smtClean="0"/>
              <a:t>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200" dirty="0" smtClean="0"/>
              <a:t>ZFS creates </a:t>
            </a:r>
            <a:r>
              <a:rPr lang="en-US" altLang="zh-TW" sz="2200" dirty="0" err="1" smtClean="0"/>
              <a:t>metaslabs</a:t>
            </a:r>
            <a:r>
              <a:rPr lang="en-US" altLang="zh-TW" sz="2200" dirty="0" smtClean="0"/>
              <a:t> to divide the space into chunks of </a:t>
            </a:r>
            <a:r>
              <a:rPr lang="en-US" altLang="zh-TW" sz="2200" dirty="0" smtClean="0">
                <a:solidFill>
                  <a:srgbClr val="0000FF"/>
                </a:solidFill>
              </a:rPr>
              <a:t>manageable size</a:t>
            </a:r>
            <a:r>
              <a:rPr lang="en-US" altLang="zh-TW" sz="2200" dirty="0" smtClean="0"/>
              <a:t>. Each </a:t>
            </a:r>
            <a:r>
              <a:rPr lang="en-US" altLang="zh-TW" sz="2200" dirty="0" err="1" smtClean="0"/>
              <a:t>metaslab</a:t>
            </a:r>
            <a:r>
              <a:rPr lang="en-US" altLang="zh-TW" sz="2200" dirty="0" smtClean="0"/>
              <a:t> has an associated </a:t>
            </a:r>
            <a:r>
              <a:rPr lang="en-US" altLang="zh-TW" sz="2200" dirty="0" smtClean="0">
                <a:solidFill>
                  <a:srgbClr val="FF0000"/>
                </a:solidFill>
              </a:rPr>
              <a:t>space map</a:t>
            </a:r>
            <a:r>
              <a:rPr lang="en-US" altLang="zh-TW" sz="2200" dirty="0" smtClean="0"/>
              <a:t>.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200" dirty="0" smtClean="0"/>
              <a:t>ZFS uses the </a:t>
            </a:r>
            <a:r>
              <a:rPr lang="en-US" altLang="zh-TW" sz="2200" dirty="0" smtClean="0">
                <a:solidFill>
                  <a:srgbClr val="0000FF"/>
                </a:solidFill>
              </a:rPr>
              <a:t>counting algorithm</a:t>
            </a:r>
            <a:r>
              <a:rPr lang="en-US" altLang="zh-TW" sz="2200" dirty="0" smtClean="0"/>
              <a:t> to store info about free blocks. Rather than write count structures to disk, it uses </a:t>
            </a:r>
            <a:r>
              <a:rPr lang="en-US" altLang="zh-TW" sz="2200" dirty="0" smtClean="0">
                <a:solidFill>
                  <a:srgbClr val="0000FF"/>
                </a:solidFill>
              </a:rPr>
              <a:t>log-structured</a:t>
            </a:r>
            <a:r>
              <a:rPr lang="en-US" altLang="zh-TW" sz="2200" dirty="0" smtClean="0"/>
              <a:t> file-system to record them.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200" dirty="0" smtClean="0"/>
              <a:t>The </a:t>
            </a:r>
            <a:r>
              <a:rPr lang="en-US" altLang="zh-TW" sz="2200" dirty="0" smtClean="0">
                <a:solidFill>
                  <a:srgbClr val="00CC00"/>
                </a:solidFill>
              </a:rPr>
              <a:t>space map is a log of all block activity </a:t>
            </a:r>
            <a:r>
              <a:rPr lang="en-US" altLang="zh-TW" sz="2200" dirty="0" smtClean="0"/>
              <a:t>(allocating and freeing), in time order, in counting format.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200" dirty="0" smtClean="0">
                <a:solidFill>
                  <a:srgbClr val="0000FF"/>
                </a:solidFill>
              </a:rPr>
              <a:t>When ZFS decides to allocate or free space from a </a:t>
            </a:r>
            <a:r>
              <a:rPr lang="en-US" altLang="zh-TW" sz="2200" dirty="0" err="1" smtClean="0">
                <a:solidFill>
                  <a:srgbClr val="0000FF"/>
                </a:solidFill>
              </a:rPr>
              <a:t>metaslab</a:t>
            </a:r>
            <a:r>
              <a:rPr lang="en-US" altLang="zh-TW" sz="2200" dirty="0" smtClean="0"/>
              <a:t>, it </a:t>
            </a:r>
            <a:r>
              <a:rPr lang="en-US" altLang="zh-TW" sz="2200" dirty="0" smtClean="0">
                <a:solidFill>
                  <a:srgbClr val="0000FF"/>
                </a:solidFill>
              </a:rPr>
              <a:t>loads</a:t>
            </a:r>
            <a:r>
              <a:rPr lang="en-US" altLang="zh-TW" sz="2200" dirty="0" smtClean="0"/>
              <a:t> the associated space map into memory in a balanced-tree structure, indexed by offset, </a:t>
            </a:r>
            <a:r>
              <a:rPr lang="en-US" altLang="zh-TW" sz="2200" dirty="0" smtClean="0">
                <a:solidFill>
                  <a:srgbClr val="FF0000"/>
                </a:solidFill>
              </a:rPr>
              <a:t>and replays the log into that structure</a:t>
            </a:r>
            <a:r>
              <a:rPr lang="en-US" altLang="zh-TW" sz="2200" dirty="0" smtClean="0"/>
              <a:t>.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200" dirty="0" smtClean="0"/>
              <a:t>The in-memory space map is then an </a:t>
            </a:r>
            <a:r>
              <a:rPr lang="en-US" altLang="zh-TW" sz="2200" dirty="0" smtClean="0">
                <a:solidFill>
                  <a:srgbClr val="FF0000"/>
                </a:solidFill>
              </a:rPr>
              <a:t>accurate</a:t>
            </a:r>
            <a:r>
              <a:rPr lang="en-US" altLang="zh-TW" sz="2200" dirty="0" smtClean="0"/>
              <a:t> representation of the allocated and free space in the </a:t>
            </a:r>
            <a:r>
              <a:rPr lang="en-US" altLang="zh-TW" sz="2200" dirty="0" err="1" smtClean="0"/>
              <a:t>metaslab</a:t>
            </a:r>
            <a:r>
              <a:rPr lang="en-US" altLang="zh-TW" sz="2200" dirty="0" smtClean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9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9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81E818E-1C46-4132-A42C-3E29F68B6F0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924DAE5-709A-45BB-899F-8C707611F286}" type="slidenum">
              <a:rPr kumimoji="0" lang="zh-TW" altLang="en-US" sz="1400" smtClean="0"/>
              <a:pPr eaLnBrk="1" hangingPunct="1"/>
              <a:t>30</a:t>
            </a:fld>
            <a:endParaRPr kumimoji="0" lang="en-US" altLang="zh-TW" sz="14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234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Free-Space Management (4)</a:t>
            </a:r>
          </a:p>
        </p:txBody>
      </p:sp>
      <p:sp>
        <p:nvSpPr>
          <p:cNvPr id="849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1212351"/>
            <a:ext cx="8607835" cy="5116529"/>
          </a:xfrm>
        </p:spPr>
        <p:txBody>
          <a:bodyPr/>
          <a:lstStyle/>
          <a:p>
            <a:pPr eaLnBrk="1" hangingPunct="1">
              <a:tabLst>
                <a:tab pos="1312863" algn="l"/>
              </a:tabLst>
            </a:pPr>
            <a:r>
              <a:rPr lang="en-US" altLang="zh-TW" dirty="0" smtClean="0">
                <a:solidFill>
                  <a:srgbClr val="0000FF"/>
                </a:solidFill>
              </a:rPr>
              <a:t>Bit map requires extra space</a:t>
            </a:r>
            <a:r>
              <a:rPr lang="en-US" altLang="zh-TW" dirty="0" smtClean="0"/>
              <a:t>  </a:t>
            </a:r>
          </a:p>
          <a:p>
            <a:pPr eaLnBrk="1" hangingPunct="1">
              <a:buFont typeface="Wingdings" pitchFamily="2" charset="2"/>
              <a:buNone/>
              <a:tabLst>
                <a:tab pos="1312863" algn="l"/>
              </a:tabLst>
            </a:pPr>
            <a:r>
              <a:rPr lang="en-US" altLang="zh-TW" dirty="0" smtClean="0"/>
              <a:t>		block size = 2</a:t>
            </a:r>
            <a:r>
              <a:rPr lang="en-US" altLang="zh-TW" baseline="30000" dirty="0" smtClean="0"/>
              <a:t>12</a:t>
            </a:r>
            <a:r>
              <a:rPr lang="en-US" altLang="zh-TW" dirty="0" smtClean="0"/>
              <a:t> bytes (4 KB)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  <a:tabLst>
                <a:tab pos="1312863" algn="l"/>
              </a:tabLst>
            </a:pPr>
            <a:r>
              <a:rPr lang="en-US" altLang="zh-TW" dirty="0" smtClean="0"/>
              <a:t>		disk size = 2</a:t>
            </a:r>
            <a:r>
              <a:rPr lang="en-US" altLang="zh-TW" baseline="30000" dirty="0" smtClean="0"/>
              <a:t>30</a:t>
            </a:r>
            <a:r>
              <a:rPr lang="en-US" altLang="zh-TW" dirty="0" smtClean="0"/>
              <a:t> bytes (1 GB)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  <a:tabLst>
                <a:tab pos="1312863" algn="l"/>
              </a:tabLst>
            </a:pPr>
            <a:r>
              <a:rPr lang="en-US" altLang="zh-TW" dirty="0" smtClean="0"/>
              <a:t>		</a:t>
            </a:r>
            <a:r>
              <a:rPr lang="en-US" altLang="zh-TW" i="1" dirty="0" smtClean="0">
                <a:solidFill>
                  <a:srgbClr val="0000FF"/>
                </a:solidFill>
                <a:latin typeface="Times New Roman" pitchFamily="18" charset="0"/>
              </a:rPr>
              <a:t>n</a:t>
            </a:r>
            <a:r>
              <a:rPr lang="en-US" altLang="zh-TW" dirty="0" smtClean="0">
                <a:solidFill>
                  <a:srgbClr val="0000FF"/>
                </a:solidFill>
              </a:rPr>
              <a:t> = 2</a:t>
            </a:r>
            <a:r>
              <a:rPr lang="en-US" altLang="zh-TW" baseline="30000" dirty="0" smtClean="0">
                <a:solidFill>
                  <a:srgbClr val="0000FF"/>
                </a:solidFill>
              </a:rPr>
              <a:t>30</a:t>
            </a:r>
            <a:r>
              <a:rPr lang="en-US" altLang="zh-TW" dirty="0" smtClean="0">
                <a:solidFill>
                  <a:srgbClr val="0000FF"/>
                </a:solidFill>
              </a:rPr>
              <a:t>/2</a:t>
            </a:r>
            <a:r>
              <a:rPr lang="en-US" altLang="zh-TW" baseline="30000" dirty="0" smtClean="0">
                <a:solidFill>
                  <a:srgbClr val="0000FF"/>
                </a:solidFill>
              </a:rPr>
              <a:t>12</a:t>
            </a:r>
            <a:r>
              <a:rPr lang="en-US" altLang="zh-TW" dirty="0" smtClean="0">
                <a:solidFill>
                  <a:srgbClr val="0000FF"/>
                </a:solidFill>
              </a:rPr>
              <a:t> = 2</a:t>
            </a:r>
            <a:r>
              <a:rPr lang="en-US" altLang="zh-TW" baseline="30000" dirty="0" smtClean="0">
                <a:solidFill>
                  <a:srgbClr val="0000FF"/>
                </a:solidFill>
              </a:rPr>
              <a:t>18</a:t>
            </a:r>
            <a:r>
              <a:rPr lang="en-US" altLang="zh-TW" dirty="0" smtClean="0">
                <a:solidFill>
                  <a:srgbClr val="0000FF"/>
                </a:solidFill>
              </a:rPr>
              <a:t> bits (or 32K bytes)</a:t>
            </a:r>
          </a:p>
          <a:p>
            <a:pPr eaLnBrk="1" hangingPunct="1">
              <a:spcBef>
                <a:spcPts val="3000"/>
              </a:spcBef>
              <a:buFont typeface="Arial" panose="020B0604020202020204" pitchFamily="34" charset="0"/>
              <a:buChar char="•"/>
              <a:tabLst>
                <a:tab pos="1312863" algn="l"/>
              </a:tabLst>
            </a:pPr>
            <a:r>
              <a:rPr lang="en-US" altLang="zh-TW" dirty="0" smtClean="0">
                <a:solidFill>
                  <a:srgbClr val="0000FF"/>
                </a:solidFill>
              </a:rPr>
              <a:t>Clustering </a:t>
            </a:r>
            <a:r>
              <a:rPr lang="en-US" altLang="zh-TW" dirty="0">
                <a:solidFill>
                  <a:srgbClr val="0000FF"/>
                </a:solidFill>
              </a:rPr>
              <a:t>the blocks in groups of four </a:t>
            </a:r>
            <a:r>
              <a:rPr lang="en-US" altLang="zh-TW" dirty="0" smtClean="0">
                <a:solidFill>
                  <a:srgbClr val="0000FF"/>
                </a:solidFill>
              </a:rPr>
              <a:t>reduces this number.</a:t>
            </a:r>
          </a:p>
        </p:txBody>
      </p:sp>
      <p:sp>
        <p:nvSpPr>
          <p:cNvPr id="2" name="矩形 1"/>
          <p:cNvSpPr/>
          <p:nvPr/>
        </p:nvSpPr>
        <p:spPr>
          <a:xfrm>
            <a:off x="2722880" y="3902695"/>
            <a:ext cx="696976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TW" dirty="0" smtClean="0"/>
              <a:t>1-TB </a:t>
            </a:r>
            <a:r>
              <a:rPr lang="en-US" altLang="zh-TW" dirty="0"/>
              <a:t>disk with 4-KB blocks requires </a:t>
            </a:r>
            <a:r>
              <a:rPr lang="en-US" altLang="zh-TW" dirty="0" smtClean="0"/>
              <a:t>256 MB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CF8D74B-5ABF-4C06-9DA8-69AF1888D76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F5C87F2-764F-4F15-8E75-91586E26C220}" type="slidenum">
              <a:rPr kumimoji="0" lang="zh-TW" altLang="en-US" sz="1400" smtClean="0"/>
              <a:pPr eaLnBrk="1" hangingPunct="1"/>
              <a:t>31</a:t>
            </a:fld>
            <a:endParaRPr kumimoji="0" lang="en-US" altLang="zh-TW" sz="14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6450"/>
          </a:xfrm>
        </p:spPr>
        <p:txBody>
          <a:bodyPr/>
          <a:lstStyle/>
          <a:p>
            <a:pPr eaLnBrk="1" hangingPunct="1"/>
            <a:r>
              <a:rPr lang="en-US" altLang="zh-TW" smtClean="0"/>
              <a:t>Free-Space Management (5)</a:t>
            </a:r>
          </a:p>
        </p:txBody>
      </p:sp>
      <p:sp>
        <p:nvSpPr>
          <p:cNvPr id="860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9900" y="1238250"/>
            <a:ext cx="8226425" cy="5103813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Need to protect</a:t>
            </a:r>
            <a:endParaRPr lang="en-US" altLang="zh-TW" sz="3600" dirty="0" smtClean="0"/>
          </a:p>
          <a:p>
            <a:pPr lvl="1" eaLnBrk="1" hangingPunct="1">
              <a:spcBef>
                <a:spcPct val="60000"/>
              </a:spcBef>
            </a:pPr>
            <a:r>
              <a:rPr lang="en-US" altLang="zh-TW" sz="3200" dirty="0" smtClean="0"/>
              <a:t>Pointer to free list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3200" dirty="0" smtClean="0"/>
              <a:t>Bit map</a:t>
            </a:r>
          </a:p>
          <a:p>
            <a:pPr lvl="2" eaLnBrk="1" hangingPunct="1"/>
            <a:r>
              <a:rPr lang="en-US" altLang="zh-TW" sz="2800" dirty="0" smtClean="0"/>
              <a:t>Must be kept on disk</a:t>
            </a:r>
            <a:endParaRPr lang="en-US" altLang="zh-TW" sz="2800" dirty="0" smtClean="0">
              <a:solidFill>
                <a:srgbClr val="FF0000"/>
              </a:solidFill>
            </a:endParaRPr>
          </a:p>
          <a:p>
            <a:pPr lvl="2" eaLnBrk="1" hangingPunct="1"/>
            <a:r>
              <a:rPr lang="en-US" altLang="zh-TW" sz="2800" dirty="0" smtClean="0">
                <a:solidFill>
                  <a:srgbClr val="FF0000"/>
                </a:solidFill>
              </a:rPr>
              <a:t>Copy in memory and disk may differ</a:t>
            </a: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F424A96-8862-46AD-86BE-AC0621FDA45C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F82BB1D-17B6-4C35-A2E4-01373D8E5049}" type="slidenum">
              <a:rPr kumimoji="0" lang="zh-TW" altLang="en-US" sz="1400" smtClean="0"/>
              <a:pPr eaLnBrk="1" hangingPunct="1"/>
              <a:t>32</a:t>
            </a:fld>
            <a:endParaRPr kumimoji="0" lang="en-US" altLang="zh-TW" sz="1400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953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Efficiency and Performance</a:t>
            </a:r>
          </a:p>
        </p:txBody>
      </p:sp>
      <p:sp>
        <p:nvSpPr>
          <p:cNvPr id="880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2588" y="958850"/>
            <a:ext cx="835025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Efficiency dependent 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FF0000"/>
                </a:solidFill>
              </a:rPr>
              <a:t>disk allocation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directory</a:t>
            </a:r>
            <a:r>
              <a:rPr lang="en-US" altLang="zh-TW" dirty="0" smtClean="0"/>
              <a:t> 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FF0000"/>
                </a:solidFill>
              </a:rPr>
              <a:t>types of data</a:t>
            </a:r>
            <a:r>
              <a:rPr lang="en-US" altLang="zh-TW" dirty="0" smtClean="0"/>
              <a:t> kept in file</a:t>
            </a:r>
            <a:r>
              <a:rPr lang="en-US" altLang="zh-TW" dirty="0" smtClean="0">
                <a:latin typeface="Helvetica" pitchFamily="34" charset="0"/>
              </a:rPr>
              <a:t>’</a:t>
            </a:r>
            <a:r>
              <a:rPr lang="en-US" altLang="zh-TW" dirty="0" smtClean="0"/>
              <a:t>s directory entry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dirty="0" smtClean="0"/>
              <a:t>Pointer size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dirty="0" smtClean="0"/>
              <a:t>Performance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disk cache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separate section of main memory for frequently used blocks (e.g., LRU)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FF0000"/>
                </a:solidFill>
              </a:rPr>
              <a:t>free-behind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read-ahead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techniques to optimize sequential access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improve PC performance by dedicating section of memory as </a:t>
            </a:r>
            <a:r>
              <a:rPr lang="en-US" altLang="zh-TW" dirty="0" smtClean="0">
                <a:solidFill>
                  <a:srgbClr val="FF0000"/>
                </a:solidFill>
              </a:rPr>
              <a:t>virtual disk</a:t>
            </a:r>
            <a:r>
              <a:rPr lang="en-US" altLang="zh-TW" dirty="0" smtClean="0"/>
              <a:t>, or RAM disk.</a:t>
            </a: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0" y="1684338"/>
            <a:ext cx="928688" cy="10795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1600">
                <a:solidFill>
                  <a:srgbClr val="000000"/>
                </a:solidFill>
              </a:rPr>
              <a:t>Last write (access) date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058988" y="2309813"/>
            <a:ext cx="4727575" cy="339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1600">
                <a:solidFill>
                  <a:srgbClr val="000000"/>
                </a:solidFill>
              </a:rPr>
              <a:t>Directory entry must be read and rewritten also.</a:t>
            </a:r>
          </a:p>
        </p:txBody>
      </p:sp>
      <p:sp>
        <p:nvSpPr>
          <p:cNvPr id="2" name="矩形 1"/>
          <p:cNvSpPr/>
          <p:nvPr/>
        </p:nvSpPr>
        <p:spPr>
          <a:xfrm>
            <a:off x="25400" y="-60672"/>
            <a:ext cx="368671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/>
              <a:t>efficient use of disk space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350358" y="2725379"/>
            <a:ext cx="405123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/>
              <a:t>32-bit? 64-bit? 128-bit (ZFS)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183239" y="-60673"/>
            <a:ext cx="3673121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/>
              <a:t>optimize I/O performance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0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build="allAtOnce" animBg="1"/>
      <p:bldP spid="8" grpId="0" build="allAtOnce" animBg="1"/>
      <p:bldP spid="2" grpId="0" animBg="1"/>
      <p:bldP spid="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05B1188-6826-42E4-92E0-7E0B7D80D25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584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584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7D53C5A-7AA1-4525-96AD-2F39D27350F3}" type="slidenum">
              <a:rPr kumimoji="0" lang="zh-TW" altLang="en-US" sz="1400" smtClean="0"/>
              <a:pPr eaLnBrk="1" hangingPunct="1"/>
              <a:t>33</a:t>
            </a:fld>
            <a:endParaRPr kumimoji="0" lang="en-US" altLang="zh-TW" sz="1400" smtClean="0"/>
          </a:p>
        </p:txBody>
      </p:sp>
      <p:sp>
        <p:nvSpPr>
          <p:cNvPr id="3584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Various Disk-Caching Locations</a:t>
            </a:r>
            <a:endParaRPr lang="en-US" altLang="zh-TW" sz="3600" smtClean="0"/>
          </a:p>
        </p:txBody>
      </p:sp>
      <p:pic>
        <p:nvPicPr>
          <p:cNvPr id="35846" name="Picture 10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" t="27713" r="481" b="27913"/>
          <a:stretch>
            <a:fillRect/>
          </a:stretch>
        </p:blipFill>
        <p:spPr bwMode="auto">
          <a:xfrm>
            <a:off x="373063" y="1703388"/>
            <a:ext cx="8472487" cy="45624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7" name="Text Box 1033"/>
          <p:cNvSpPr txBox="1">
            <a:spLocks noChangeArrowheads="1"/>
          </p:cNvSpPr>
          <p:nvPr/>
        </p:nvSpPr>
        <p:spPr bwMode="auto">
          <a:xfrm>
            <a:off x="2570163" y="4760913"/>
            <a:ext cx="262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b="1">
                <a:solidFill>
                  <a:srgbClr val="FF0000"/>
                </a:solidFill>
              </a:rPr>
              <a:t>Page Cache</a:t>
            </a:r>
          </a:p>
        </p:txBody>
      </p:sp>
      <p:sp>
        <p:nvSpPr>
          <p:cNvPr id="89099" name="Text Box 1035"/>
          <p:cNvSpPr txBox="1">
            <a:spLocks noChangeArrowheads="1"/>
          </p:cNvSpPr>
          <p:nvPr/>
        </p:nvSpPr>
        <p:spPr bwMode="auto">
          <a:xfrm>
            <a:off x="4645025" y="1946275"/>
            <a:ext cx="2132013" cy="3460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00FF"/>
                </a:solidFill>
              </a:rPr>
              <a:t>totally user controlled</a:t>
            </a:r>
          </a:p>
        </p:txBody>
      </p:sp>
      <p:sp>
        <p:nvSpPr>
          <p:cNvPr id="89100" name="Line 1036"/>
          <p:cNvSpPr>
            <a:spLocks noChangeShapeType="1"/>
          </p:cNvSpPr>
          <p:nvPr/>
        </p:nvSpPr>
        <p:spPr bwMode="auto">
          <a:xfrm flipH="1">
            <a:off x="4449763" y="2166938"/>
            <a:ext cx="193675" cy="195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90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9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7" grpId="0"/>
      <p:bldP spid="89099" grpId="0" build="allAtOnce" animBg="1"/>
      <p:bldP spid="8910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961427F-EDBF-4787-9131-67289DF63626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6E1D774-CF8B-4295-B04F-E5FB6FA4CCEF}" type="slidenum">
              <a:rPr kumimoji="0" lang="zh-TW" altLang="en-US" sz="1400" smtClean="0"/>
              <a:pPr eaLnBrk="1" hangingPunct="1"/>
              <a:t>34</a:t>
            </a:fld>
            <a:endParaRPr kumimoji="0" lang="en-US" altLang="zh-TW" sz="14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22313"/>
          </a:xfrm>
        </p:spPr>
        <p:txBody>
          <a:bodyPr/>
          <a:lstStyle/>
          <a:p>
            <a:pPr eaLnBrk="1" hangingPunct="1"/>
            <a:r>
              <a:rPr lang="en-US" altLang="zh-TW" smtClean="0"/>
              <a:t>Page Cache</a:t>
            </a:r>
          </a:p>
        </p:txBody>
      </p:sp>
      <p:sp>
        <p:nvSpPr>
          <p:cNvPr id="1331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5613" y="1106488"/>
            <a:ext cx="8410575" cy="5229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page cache</a:t>
            </a:r>
            <a:r>
              <a:rPr lang="en-US" altLang="zh-TW" sz="2800" dirty="0" smtClean="0"/>
              <a:t> caches pages rather than disk blocks using </a:t>
            </a:r>
            <a:r>
              <a:rPr lang="en-US" altLang="zh-TW" sz="2800" dirty="0" smtClean="0">
                <a:solidFill>
                  <a:srgbClr val="FF0000"/>
                </a:solidFill>
              </a:rPr>
              <a:t>virtual memory techniques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Memory-mapped I/O uses a page cache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Routine I/O through the file system uses the buffer (disk) cache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Unified VM</a:t>
            </a:r>
            <a:r>
              <a:rPr lang="en-US" altLang="zh-TW" sz="2800" dirty="0" smtClean="0"/>
              <a:t>: process pages and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file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5D45BB8-15CD-485E-AABF-0B70F6F12B12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789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789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8E2D78B-1263-4C99-BB1D-784ADA21693A}" type="slidenum">
              <a:rPr kumimoji="0" lang="zh-TW" altLang="en-US" sz="1400" smtClean="0"/>
              <a:pPr eaLnBrk="1" hangingPunct="1"/>
              <a:t>35</a:t>
            </a:fld>
            <a:endParaRPr kumimoji="0" lang="en-US" altLang="zh-TW" sz="14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26413" cy="65405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I/O Without a Unified Buffer Cache</a:t>
            </a:r>
            <a:endParaRPr lang="en-US" altLang="zh-TW" sz="3200" smtClean="0"/>
          </a:p>
        </p:txBody>
      </p:sp>
      <p:pic>
        <p:nvPicPr>
          <p:cNvPr id="3789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2" t="2037" r="12906" b="1994"/>
          <a:stretch>
            <a:fillRect/>
          </a:stretch>
        </p:blipFill>
        <p:spPr bwMode="auto">
          <a:xfrm>
            <a:off x="2114550" y="1143000"/>
            <a:ext cx="6300788" cy="52244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327025" y="2913063"/>
            <a:ext cx="1963738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1800">
                <a:solidFill>
                  <a:srgbClr val="0000FF"/>
                </a:solidFill>
              </a:rPr>
              <a:t>Drawbacks: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1800">
                <a:solidFill>
                  <a:srgbClr val="0000FF"/>
                </a:solidFill>
              </a:rPr>
              <a:t>inconsistencies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1800">
                <a:solidFill>
                  <a:srgbClr val="0000FF"/>
                </a:solidFill>
              </a:rPr>
              <a:t>waste MM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1800">
                <a:solidFill>
                  <a:srgbClr val="0000FF"/>
                </a:solidFill>
              </a:rPr>
              <a:t>waste CPU&amp;I/O</a:t>
            </a: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2322513" y="3482975"/>
            <a:ext cx="2525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FF0000"/>
                </a:solidFill>
              </a:rPr>
              <a:t>Double caching</a:t>
            </a:r>
          </a:p>
        </p:txBody>
      </p:sp>
      <p:sp>
        <p:nvSpPr>
          <p:cNvPr id="134150" name="Line 6"/>
          <p:cNvSpPr>
            <a:spLocks noChangeShapeType="1"/>
          </p:cNvSpPr>
          <p:nvPr/>
        </p:nvSpPr>
        <p:spPr bwMode="auto">
          <a:xfrm flipH="1">
            <a:off x="1538288" y="3817938"/>
            <a:ext cx="798512" cy="10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151" name="Line 7"/>
          <p:cNvSpPr>
            <a:spLocks noChangeShapeType="1"/>
          </p:cNvSpPr>
          <p:nvPr/>
        </p:nvSpPr>
        <p:spPr bwMode="auto">
          <a:xfrm flipH="1">
            <a:off x="2046288" y="3919538"/>
            <a:ext cx="34925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887913" y="2452688"/>
            <a:ext cx="2306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400">
                <a:solidFill>
                  <a:srgbClr val="0000FF"/>
                </a:solidFill>
              </a:rPr>
              <a:t>Virtual memory controlled</a:t>
            </a:r>
            <a:r>
              <a:rPr lang="en-US" altLang="zh-TW"/>
              <a:t> </a:t>
            </a:r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6303963" y="4057650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400">
                <a:solidFill>
                  <a:srgbClr val="0000FF"/>
                </a:solidFill>
              </a:rPr>
              <a:t>I/O controlled</a:t>
            </a:r>
            <a:r>
              <a:rPr lang="en-US" altLang="zh-TW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/>
      <p:bldP spid="134149" grpId="0"/>
      <p:bldP spid="134150" grpId="0" animBg="1"/>
      <p:bldP spid="134151" grpId="0" animBg="1"/>
      <p:bldP spid="134152" grpId="0"/>
      <p:bldP spid="1341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DBA6C0A-2D7B-4745-A739-6DBF506CB35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CCBCEF9-A106-4AF1-809F-F2E579C4CCA6}" type="slidenum">
              <a:rPr kumimoji="0" lang="zh-TW" altLang="en-US" sz="1400" smtClean="0"/>
              <a:pPr eaLnBrk="1" hangingPunct="1"/>
              <a:t>36</a:t>
            </a:fld>
            <a:endParaRPr kumimoji="0" lang="en-US" altLang="zh-TW" sz="14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/>
              <a:t>Unified Buffer Cache</a:t>
            </a:r>
          </a:p>
        </p:txBody>
      </p:sp>
      <p:sp>
        <p:nvSpPr>
          <p:cNvPr id="136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3538" y="1265238"/>
            <a:ext cx="8367712" cy="5140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400" dirty="0" smtClean="0"/>
              <a:t>Uses the </a:t>
            </a:r>
            <a:r>
              <a:rPr lang="en-US" altLang="zh-TW" sz="2400" dirty="0" smtClean="0">
                <a:solidFill>
                  <a:srgbClr val="00B050"/>
                </a:solidFill>
              </a:rPr>
              <a:t>same page </a:t>
            </a:r>
            <a:r>
              <a:rPr lang="en-US" altLang="zh-TW" sz="2400" dirty="0" smtClean="0"/>
              <a:t>cache to </a:t>
            </a:r>
            <a:r>
              <a:rPr lang="en-US" altLang="zh-TW" sz="2400" dirty="0" smtClean="0">
                <a:solidFill>
                  <a:srgbClr val="FF0000"/>
                </a:solidFill>
              </a:rPr>
              <a:t>cache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both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00FF"/>
                </a:solidFill>
              </a:rPr>
              <a:t>memory-mapped pages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000000"/>
                </a:solidFill>
              </a:rPr>
              <a:t>ordinary file system I/O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Solaris 7</a:t>
            </a:r>
            <a:r>
              <a:rPr lang="en-US" altLang="zh-TW" sz="2400" dirty="0" smtClean="0"/>
              <a:t>: </a:t>
            </a:r>
            <a:r>
              <a:rPr lang="en-US" altLang="zh-TW" sz="2000" dirty="0" smtClean="0"/>
              <a:t>(when free memory runs low</a:t>
            </a:r>
            <a:r>
              <a:rPr lang="en-US" altLang="zh-TW" sz="2400" dirty="0" smtClean="0"/>
              <a:t>)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Priority paging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000" dirty="0" smtClean="0">
                <a:solidFill>
                  <a:srgbClr val="FF0000"/>
                </a:solidFill>
              </a:rPr>
              <a:t>Page scanner</a:t>
            </a:r>
            <a:r>
              <a:rPr lang="en-US" altLang="zh-TW" sz="2000" dirty="0" smtClean="0"/>
              <a:t> gives priority to process pages over the page cache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Solaris 8</a:t>
            </a:r>
            <a:r>
              <a:rPr lang="en-US" altLang="zh-TW" sz="2400" dirty="0" smtClean="0"/>
              <a:t>: a fixed limit to process pages and the page cache, preventing either from forcing other out of memory.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Solaris 9, 10</a:t>
            </a:r>
            <a:r>
              <a:rPr lang="en-US" altLang="zh-TW" sz="2400" dirty="0" smtClean="0"/>
              <a:t>: </a:t>
            </a:r>
            <a:r>
              <a:rPr lang="en-US" altLang="zh-TW" sz="2000" dirty="0" smtClean="0"/>
              <a:t>changes the algorithm to maximize memory use and minimize thrashing. </a:t>
            </a: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8A109A1-E3D2-4D4C-B05F-4A03F1B2C30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993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3994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A6FE6AB-FACF-428C-AD11-520B4E7417B1}" type="slidenum">
              <a:rPr kumimoji="0" lang="zh-TW" altLang="en-US" sz="1400" smtClean="0"/>
              <a:pPr eaLnBrk="1" hangingPunct="1"/>
              <a:t>37</a:t>
            </a:fld>
            <a:endParaRPr kumimoji="0" lang="en-US" altLang="zh-TW" sz="14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I/O Using a Unified Buffer Cache</a:t>
            </a:r>
            <a:endParaRPr lang="en-US" altLang="zh-TW" sz="3200" smtClean="0"/>
          </a:p>
        </p:txBody>
      </p:sp>
      <p:pic>
        <p:nvPicPr>
          <p:cNvPr id="399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" t="4654" r="1923" b="4654"/>
          <a:stretch>
            <a:fillRect/>
          </a:stretch>
        </p:blipFill>
        <p:spPr bwMode="auto">
          <a:xfrm>
            <a:off x="1100138" y="1263650"/>
            <a:ext cx="6799262" cy="45148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D0F123C-5770-4DE2-807E-67A1F4D9FDD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CEE8BB6-4665-4B4C-9A39-46BF33284C3E}" type="slidenum">
              <a:rPr kumimoji="0" lang="zh-TW" altLang="en-US" sz="1400" smtClean="0"/>
              <a:pPr eaLnBrk="1" hangingPunct="1"/>
              <a:t>38</a:t>
            </a:fld>
            <a:endParaRPr kumimoji="0" lang="en-US" altLang="zh-TW" sz="1400" smtClean="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93750"/>
          </a:xfrm>
        </p:spPr>
        <p:txBody>
          <a:bodyPr/>
          <a:lstStyle/>
          <a:p>
            <a:pPr eaLnBrk="1" hangingPunct="1"/>
            <a:r>
              <a:rPr lang="en-US" altLang="zh-TW" smtClean="0"/>
              <a:t>Recovery</a:t>
            </a:r>
          </a:p>
        </p:txBody>
      </p:sp>
      <p:sp>
        <p:nvSpPr>
          <p:cNvPr id="901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8625" y="1122363"/>
            <a:ext cx="8375650" cy="5302250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Consistency checking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compares data in directory structure with data blocks on disk, and tries to fix inconsistencies.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/>
            <a:r>
              <a:rPr lang="en-US" altLang="zh-TW" sz="2800" smtClean="0"/>
              <a:t>Use system programs to </a:t>
            </a:r>
            <a:r>
              <a:rPr lang="en-US" altLang="zh-TW" sz="2800" smtClean="0">
                <a:solidFill>
                  <a:srgbClr val="FF0000"/>
                </a:solidFill>
              </a:rPr>
              <a:t>back up</a:t>
            </a:r>
            <a:r>
              <a:rPr lang="en-US" altLang="zh-TW" sz="2800" smtClean="0"/>
              <a:t> data from disk to another storage device (floppy disk, magnetic tape)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smtClean="0"/>
          </a:p>
          <a:p>
            <a:pPr eaLnBrk="1" hangingPunct="1"/>
            <a:r>
              <a:rPr lang="en-US" altLang="zh-TW" sz="2800" smtClean="0"/>
              <a:t>Recover lost file or disk by </a:t>
            </a:r>
            <a:r>
              <a:rPr lang="en-US" altLang="zh-TW" sz="2800" smtClean="0">
                <a:solidFill>
                  <a:srgbClr val="FF0000"/>
                </a:solidFill>
              </a:rPr>
              <a:t>restoring</a:t>
            </a:r>
            <a:r>
              <a:rPr lang="en-US" altLang="zh-TW" sz="2800" smtClean="0"/>
              <a:t> data from backup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C81A827-39AD-415B-ABDF-1A2F0215D99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D6CAAD5-5AFB-452C-9E0B-F7685BCCA145}" type="slidenum">
              <a:rPr kumimoji="0" lang="zh-TW" altLang="en-US" sz="1400" smtClean="0"/>
              <a:pPr eaLnBrk="1" hangingPunct="1"/>
              <a:t>39</a:t>
            </a:fld>
            <a:endParaRPr kumimoji="0" lang="en-US" altLang="zh-TW" sz="1400" smtClean="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/>
              <a:t>Log Structured File Systems</a:t>
            </a:r>
          </a:p>
        </p:txBody>
      </p:sp>
      <p:sp>
        <p:nvSpPr>
          <p:cNvPr id="1372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2425" y="1289050"/>
            <a:ext cx="8426450" cy="51593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b="1" smtClean="0">
                <a:solidFill>
                  <a:srgbClr val="FF0000"/>
                </a:solidFill>
              </a:rPr>
              <a:t>Log structured</a:t>
            </a:r>
            <a:r>
              <a:rPr lang="en-US" altLang="zh-TW" sz="2400" smtClean="0"/>
              <a:t> (or journaling) file systems record each update to the file system as a </a:t>
            </a:r>
            <a:r>
              <a:rPr lang="en-US" altLang="zh-TW" sz="2400" b="1" smtClean="0">
                <a:solidFill>
                  <a:srgbClr val="0000FF"/>
                </a:solidFill>
              </a:rPr>
              <a:t>transaction</a:t>
            </a:r>
            <a:endParaRPr lang="en-US" altLang="zh-TW" sz="240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All transactions are written to a </a:t>
            </a:r>
            <a:r>
              <a:rPr lang="en-US" altLang="zh-TW" sz="2400" b="1" smtClean="0">
                <a:solidFill>
                  <a:srgbClr val="FF0000"/>
                </a:solidFill>
              </a:rPr>
              <a:t>log</a:t>
            </a:r>
            <a:r>
              <a:rPr lang="en-US" altLang="zh-TW" sz="2400" smtClean="0"/>
              <a:t>. A transaction is considered </a:t>
            </a:r>
            <a:r>
              <a:rPr lang="en-US" altLang="zh-TW" sz="2400" b="1" smtClean="0">
                <a:solidFill>
                  <a:srgbClr val="0000FF"/>
                </a:solidFill>
              </a:rPr>
              <a:t>committed</a:t>
            </a:r>
            <a:r>
              <a:rPr lang="en-US" altLang="zh-TW" sz="2400" smtClean="0"/>
              <a:t> once it is written to the log. However, the file system may not yet be updated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The transactions in the log are asynchronously written to the file system. </a:t>
            </a:r>
            <a:r>
              <a:rPr lang="en-US" altLang="zh-TW" sz="2400" smtClean="0">
                <a:solidFill>
                  <a:srgbClr val="0000FF"/>
                </a:solidFill>
              </a:rPr>
              <a:t>When the file system is modified, the transaction is removed from the log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CC00FF"/>
                </a:solidFill>
              </a:rPr>
              <a:t>If the file system crashes, all remaining transactions in the log must still be performed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smtClean="0">
              <a:solidFill>
                <a:srgbClr val="CC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ABF3AAA-E68B-4B94-9B4A-716EAFA16BF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DDAA534-B7C3-4D1A-948D-2FF3B081E43E}" type="slidenum">
              <a:rPr kumimoji="0" lang="zh-TW" altLang="en-US" sz="1400" smtClean="0"/>
              <a:pPr eaLnBrk="1" hangingPunct="1"/>
              <a:t>40</a:t>
            </a:fld>
            <a:endParaRPr kumimoji="0" lang="en-US" altLang="zh-TW" sz="1400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34925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The Sun Network File System</a:t>
            </a:r>
            <a:r>
              <a:rPr lang="en-US" altLang="zh-TW" smtClean="0"/>
              <a:t> 	</a:t>
            </a:r>
            <a:r>
              <a:rPr lang="en-US" altLang="zh-TW" smtClean="0">
                <a:solidFill>
                  <a:srgbClr val="FF0000"/>
                </a:solidFill>
              </a:rPr>
              <a:t>	</a:t>
            </a:r>
            <a:r>
              <a:rPr lang="en-US" altLang="zh-TW" sz="4000" smtClean="0">
                <a:solidFill>
                  <a:srgbClr val="FF0000"/>
                </a:solidFill>
              </a:rPr>
              <a:t>Client-Server</a:t>
            </a:r>
          </a:p>
        </p:txBody>
      </p:sp>
      <p:sp>
        <p:nvSpPr>
          <p:cNvPr id="4301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5313" y="1866900"/>
            <a:ext cx="8145462" cy="4432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An implementation and a specification of a software system for </a:t>
            </a:r>
            <a:r>
              <a:rPr lang="en-US" altLang="zh-TW" sz="2800" smtClean="0">
                <a:solidFill>
                  <a:srgbClr val="0000FF"/>
                </a:solidFill>
              </a:rPr>
              <a:t>accessing remote files across LANs</a:t>
            </a:r>
            <a:r>
              <a:rPr lang="en-US" altLang="zh-TW" sz="2800" smtClean="0"/>
              <a:t> (or WANs)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implementation is part of the Solaris and SunOS operating systems running on Sun workstations using an unreliable datagram protocol (</a:t>
            </a:r>
            <a:r>
              <a:rPr lang="en-US" altLang="zh-TW" sz="2800" smtClean="0">
                <a:solidFill>
                  <a:srgbClr val="FF0000"/>
                </a:solidFill>
              </a:rPr>
              <a:t>UDP</a:t>
            </a:r>
            <a:r>
              <a:rPr lang="en-US" altLang="zh-TW" sz="2800" smtClean="0"/>
              <a:t>/IP) or </a:t>
            </a:r>
            <a:r>
              <a:rPr lang="en-US" altLang="zh-TW" sz="2800" smtClean="0">
                <a:solidFill>
                  <a:schemeClr val="tx2"/>
                </a:solidFill>
              </a:rPr>
              <a:t>TCP</a:t>
            </a:r>
            <a:r>
              <a:rPr lang="en-US" altLang="zh-TW" sz="2800" smtClean="0"/>
              <a:t>/IP protocol and Ethernet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1720816-B982-4515-8A46-9045A740E74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0744A37-6186-4BED-AB0A-7CB17BD8B9A3}" type="slidenum">
              <a:rPr kumimoji="0" lang="zh-TW" altLang="en-US" sz="1400" smtClean="0"/>
              <a:pPr eaLnBrk="1" hangingPunct="1"/>
              <a:t>41</a:t>
            </a:fld>
            <a:endParaRPr kumimoji="0" lang="en-US" altLang="zh-TW" sz="1400" smtClean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NFS (1)</a:t>
            </a:r>
          </a:p>
        </p:txBody>
      </p:sp>
      <p:sp>
        <p:nvSpPr>
          <p:cNvPr id="139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5275" y="877888"/>
            <a:ext cx="8574088" cy="5627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Interconnected workstations viewed as a set of independent machines with independent file systems, which allows </a:t>
            </a:r>
            <a:r>
              <a:rPr lang="en-US" altLang="zh-TW" sz="2800" smtClean="0">
                <a:solidFill>
                  <a:srgbClr val="FF0000"/>
                </a:solidFill>
              </a:rPr>
              <a:t>sharing</a:t>
            </a:r>
            <a:r>
              <a:rPr lang="en-US" altLang="zh-TW" sz="2800" smtClean="0"/>
              <a:t> among these file systems </a:t>
            </a:r>
            <a:r>
              <a:rPr lang="en-US" altLang="zh-TW" sz="2800" smtClean="0">
                <a:solidFill>
                  <a:srgbClr val="FF0000"/>
                </a:solidFill>
              </a:rPr>
              <a:t>in a transparent manner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A remote directory is mounted over a local file system directory</a:t>
            </a:r>
            <a:r>
              <a:rPr lang="en-US" altLang="zh-TW" sz="2400" smtClean="0"/>
              <a:t>.  The mounted directory looks like an integral  subtree of the local file system, replacing the subtree descending from the local directory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Specification of the remote directory for the mount operation is </a:t>
            </a:r>
            <a:r>
              <a:rPr lang="en-US" altLang="zh-TW" sz="2400" smtClean="0">
                <a:solidFill>
                  <a:srgbClr val="FF0000"/>
                </a:solidFill>
              </a:rPr>
              <a:t>nontransparent</a:t>
            </a:r>
            <a:r>
              <a:rPr lang="en-US" altLang="zh-TW" sz="2400" smtClean="0"/>
              <a:t>; the host name of the remote directory has to be provided.  Files in the remote directory can then be accessed in a transparent manner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Subject to </a:t>
            </a:r>
            <a:r>
              <a:rPr lang="en-US" altLang="zh-TW" sz="2400" smtClean="0">
                <a:solidFill>
                  <a:srgbClr val="FF0000"/>
                </a:solidFill>
              </a:rPr>
              <a:t>access-rights accreditation</a:t>
            </a:r>
            <a:r>
              <a:rPr lang="en-US" altLang="zh-TW" sz="2400" smtClean="0"/>
              <a:t>, potentially any file system (or directory within a file system), can be mounted remotely on top of any local directory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802DB1C-0126-4BE3-AE25-1F9F5BA1E7D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D55FAA9-A208-4E7B-8301-C2096EFE3DA7}" type="slidenum">
              <a:rPr kumimoji="0" lang="zh-TW" altLang="en-US" sz="1400" smtClean="0"/>
              <a:pPr eaLnBrk="1" hangingPunct="1"/>
              <a:t>42</a:t>
            </a:fld>
            <a:endParaRPr kumimoji="0" lang="en-US" altLang="zh-TW" sz="1400" smtClean="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6450"/>
          </a:xfrm>
        </p:spPr>
        <p:txBody>
          <a:bodyPr/>
          <a:lstStyle/>
          <a:p>
            <a:pPr eaLnBrk="1" hangingPunct="1"/>
            <a:r>
              <a:rPr lang="en-US" altLang="zh-TW" smtClean="0"/>
              <a:t>NFS (2)</a:t>
            </a:r>
          </a:p>
        </p:txBody>
      </p:sp>
      <p:sp>
        <p:nvSpPr>
          <p:cNvPr id="140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3375" y="1084263"/>
            <a:ext cx="8443913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 smtClean="0"/>
              <a:t>NFS is designed to operate in a </a:t>
            </a:r>
            <a:r>
              <a:rPr lang="en-US" altLang="zh-TW" sz="2400" dirty="0" smtClean="0">
                <a:solidFill>
                  <a:srgbClr val="FF0000"/>
                </a:solidFill>
              </a:rPr>
              <a:t>heterogeneous</a:t>
            </a:r>
            <a:r>
              <a:rPr lang="en-US" altLang="zh-TW" sz="2400" dirty="0" smtClean="0"/>
              <a:t> environment of </a:t>
            </a:r>
            <a:r>
              <a:rPr lang="en-US" altLang="zh-TW" sz="2400" dirty="0" smtClean="0">
                <a:solidFill>
                  <a:schemeClr val="tx2"/>
                </a:solidFill>
              </a:rPr>
              <a:t>different machines, operating systems, and network architectures</a:t>
            </a:r>
            <a:r>
              <a:rPr lang="en-US" altLang="zh-TW" sz="2400" dirty="0" smtClean="0"/>
              <a:t>; the NFS specifications independent of these media 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This 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independence</a:t>
            </a:r>
            <a:r>
              <a:rPr lang="en-US" altLang="zh-TW" sz="2400" dirty="0" smtClean="0"/>
              <a:t> is achieved through the use of </a:t>
            </a:r>
            <a:r>
              <a:rPr lang="en-US" altLang="zh-TW" sz="2400" dirty="0" smtClean="0">
                <a:solidFill>
                  <a:srgbClr val="FF0000"/>
                </a:solidFill>
              </a:rPr>
              <a:t>RPC primitives</a:t>
            </a:r>
            <a:r>
              <a:rPr lang="en-US" altLang="zh-TW" sz="2400" dirty="0" smtClean="0"/>
              <a:t> built on top of an </a:t>
            </a:r>
            <a:r>
              <a:rPr lang="en-US" altLang="zh-TW" sz="2400" dirty="0" smtClean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External Data Representation (XDR)</a:t>
            </a:r>
            <a:r>
              <a:rPr lang="en-US" altLang="zh-TW" sz="2400" dirty="0" smtClean="0"/>
              <a:t> protocol used between two implementation-independent interfaces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The NFS specification </a:t>
            </a:r>
            <a:r>
              <a:rPr lang="en-US" altLang="zh-TW" sz="2400" dirty="0" smtClean="0">
                <a:solidFill>
                  <a:srgbClr val="FF0000"/>
                </a:solidFill>
              </a:rPr>
              <a:t>distinguishes between the services provided by a mount mechanism and the actual remote-file-access services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Two protocols: mount protocol and NFS 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CA0BB27-6F46-483E-9996-B2FBBFFAED8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CEFBB05-5FFF-4C74-BF5A-1D02C15342FD}" type="slidenum">
              <a:rPr kumimoji="0" lang="zh-TW" altLang="en-US" sz="1400" smtClean="0"/>
              <a:pPr eaLnBrk="1" hangingPunct="1"/>
              <a:t>43</a:t>
            </a:fld>
            <a:endParaRPr kumimoji="0" lang="en-US" altLang="zh-TW" sz="1400" smtClean="0"/>
          </a:p>
        </p:txBody>
      </p:sp>
      <p:sp>
        <p:nvSpPr>
          <p:cNvPr id="471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smtClean="0"/>
              <a:t>NFS Mount Protocol (1)</a:t>
            </a:r>
          </a:p>
        </p:txBody>
      </p:sp>
      <p:sp>
        <p:nvSpPr>
          <p:cNvPr id="14131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8613" y="881063"/>
            <a:ext cx="8588375" cy="5719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</a:rPr>
              <a:t>Establishes initial logical </a:t>
            </a:r>
            <a:r>
              <a:rPr lang="en-US" altLang="zh-TW" sz="2800" b="1" smtClean="0">
                <a:solidFill>
                  <a:srgbClr val="FF0000"/>
                </a:solidFill>
              </a:rPr>
              <a:t>connection</a:t>
            </a:r>
            <a:r>
              <a:rPr lang="en-US" altLang="zh-TW" sz="2800" smtClean="0">
                <a:solidFill>
                  <a:srgbClr val="FF0000"/>
                </a:solidFill>
              </a:rPr>
              <a:t> between server and client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/>
              <a:t>Mount operation includes </a:t>
            </a:r>
            <a:r>
              <a:rPr lang="en-US" altLang="zh-TW" sz="2800" smtClean="0">
                <a:solidFill>
                  <a:srgbClr val="0000FF"/>
                </a:solidFill>
              </a:rPr>
              <a:t>name of remote directory to be mounted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FF0000"/>
                </a:solidFill>
              </a:rPr>
              <a:t>name of server machine storing it</a:t>
            </a:r>
            <a:r>
              <a:rPr lang="en-US" altLang="zh-TW" sz="2800" smtClean="0"/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Mount request is </a:t>
            </a:r>
            <a:r>
              <a:rPr lang="en-US" altLang="zh-TW" sz="2400" smtClean="0">
                <a:solidFill>
                  <a:srgbClr val="0000FF"/>
                </a:solidFill>
              </a:rPr>
              <a:t>mapped to corresponding RPC</a:t>
            </a:r>
            <a:r>
              <a:rPr lang="en-US" altLang="zh-TW" sz="2400" smtClean="0"/>
              <a:t> and forwarded to mount server running on server machine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i="1" smtClean="0">
                <a:solidFill>
                  <a:srgbClr val="0000FF"/>
                </a:solidFill>
              </a:rPr>
              <a:t>Export list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 pitchFamily="34" charset="0"/>
              </a:rPr>
              <a:t>–</a:t>
            </a:r>
            <a:r>
              <a:rPr lang="en-US" altLang="zh-TW" sz="2400" smtClean="0"/>
              <a:t> specifies local file systems that server exports for mounting, along with names of machines that are permitted to mount them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606550" y="5359400"/>
            <a:ext cx="4757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server maintains, such as /etc/dfs/dfstab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714B79E-65F9-4719-AB0E-767E457CE0F6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94741C6-D9E9-444A-85B7-49F2BA146124}" type="slidenum">
              <a:rPr kumimoji="0" lang="zh-TW" altLang="en-US" sz="1400" smtClean="0"/>
              <a:pPr eaLnBrk="1" hangingPunct="1"/>
              <a:t>44</a:t>
            </a:fld>
            <a:endParaRPr kumimoji="0" lang="en-US" altLang="zh-TW" sz="1400" smtClean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NFS Mount Protocol (2)</a:t>
            </a:r>
          </a:p>
        </p:txBody>
      </p:sp>
      <p:sp>
        <p:nvSpPr>
          <p:cNvPr id="2457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8613" y="881063"/>
            <a:ext cx="8588375" cy="5719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Following a mount request that conforms to its export list, the server returns 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file handle</a:t>
            </a:r>
            <a:r>
              <a:rPr lang="en-US" altLang="zh-TW" sz="2800" dirty="0" smtClean="0">
                <a:latin typeface="Helvetica" pitchFamily="34" charset="0"/>
              </a:rPr>
              <a:t>—</a:t>
            </a:r>
            <a:r>
              <a:rPr lang="en-US" altLang="zh-TW" sz="2800" dirty="0" smtClean="0"/>
              <a:t>a key for further accesses</a:t>
            </a:r>
          </a:p>
          <a:p>
            <a:pPr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altLang="zh-TW" sz="2800" dirty="0" smtClean="0"/>
              <a:t>File handle </a:t>
            </a:r>
            <a:r>
              <a:rPr lang="en-US" altLang="zh-TW" sz="2800" dirty="0" smtClean="0">
                <a:latin typeface="Helvetica" pitchFamily="34" charset="0"/>
              </a:rPr>
              <a:t>–</a:t>
            </a:r>
            <a:r>
              <a:rPr lang="en-US" altLang="zh-TW" sz="2800" dirty="0" smtClean="0"/>
              <a:t> a file-system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identifier</a:t>
            </a:r>
            <a:r>
              <a:rPr lang="en-US" altLang="zh-TW" sz="2800" dirty="0" smtClean="0"/>
              <a:t>, and an </a:t>
            </a:r>
            <a:r>
              <a:rPr lang="en-US" altLang="zh-TW" sz="2800" i="1" dirty="0" err="1" smtClean="0">
                <a:solidFill>
                  <a:srgbClr val="0000FF"/>
                </a:solidFill>
                <a:latin typeface="Times New Roman" pitchFamily="18" charset="0"/>
              </a:rPr>
              <a:t>inode</a:t>
            </a:r>
            <a:r>
              <a:rPr lang="en-US" altLang="zh-TW" sz="2800" dirty="0" smtClean="0"/>
              <a:t> number to identify the mounted directory within the exported file system</a:t>
            </a:r>
          </a:p>
          <a:p>
            <a:pPr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altLang="zh-TW" sz="2800" dirty="0" smtClean="0"/>
              <a:t>The mount operation changes only the user</a:t>
            </a:r>
            <a:r>
              <a:rPr lang="en-US" altLang="zh-TW" sz="2800" dirty="0" smtClean="0">
                <a:latin typeface="Helvetica" pitchFamily="34" charset="0"/>
              </a:rPr>
              <a:t>’</a:t>
            </a:r>
            <a:r>
              <a:rPr lang="en-US" altLang="zh-TW" sz="2800" dirty="0" smtClean="0"/>
              <a:t>s view and does not affect the server side</a:t>
            </a:r>
          </a:p>
        </p:txBody>
      </p:sp>
      <p:sp>
        <p:nvSpPr>
          <p:cNvPr id="245764" name="Text Box 4"/>
          <p:cNvSpPr txBox="1">
            <a:spLocks noChangeArrowheads="1"/>
          </p:cNvSpPr>
          <p:nvPr/>
        </p:nvSpPr>
        <p:spPr bwMode="auto">
          <a:xfrm>
            <a:off x="4638675" y="1933575"/>
            <a:ext cx="178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to the client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838F6E7-54CA-4744-9777-C7AB24945A1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EAB8773-D00F-4F83-9862-0CBDB70BCF59}" type="slidenum">
              <a:rPr kumimoji="0" lang="zh-TW" altLang="en-US" sz="1400" smtClean="0"/>
              <a:pPr eaLnBrk="1" hangingPunct="1"/>
              <a:t>45</a:t>
            </a:fld>
            <a:endParaRPr kumimoji="0" lang="en-US" altLang="zh-TW" sz="1400" smtClean="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TW" smtClean="0"/>
              <a:t>NFS Protocol</a:t>
            </a:r>
          </a:p>
        </p:txBody>
      </p:sp>
      <p:sp>
        <p:nvSpPr>
          <p:cNvPr id="1423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6863" y="896938"/>
            <a:ext cx="8593137" cy="56086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Provides a set of remote procedure calls for remote file operations.  The procedures support the following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searching</a:t>
            </a:r>
            <a:r>
              <a:rPr lang="en-US" altLang="zh-TW" sz="2400" dirty="0" smtClean="0"/>
              <a:t> for a file within a directory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reading</a:t>
            </a:r>
            <a:r>
              <a:rPr lang="en-US" altLang="zh-TW" sz="2400" dirty="0" smtClean="0"/>
              <a:t> a set of directory entries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manipulating</a:t>
            </a:r>
            <a:r>
              <a:rPr lang="en-US" altLang="zh-TW" sz="2400" dirty="0" smtClean="0"/>
              <a:t> links and directories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accessing</a:t>
            </a:r>
            <a:r>
              <a:rPr lang="en-US" altLang="zh-TW" sz="2400" dirty="0" smtClean="0"/>
              <a:t> file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reading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FF0000"/>
                </a:solidFill>
              </a:rPr>
              <a:t>writing</a:t>
            </a:r>
            <a:r>
              <a:rPr lang="en-US" altLang="zh-TW" sz="2400" dirty="0" smtClean="0"/>
              <a:t> files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NFS servers are </a:t>
            </a:r>
            <a:r>
              <a:rPr lang="en-US" altLang="zh-TW" sz="2400" dirty="0" smtClean="0">
                <a:solidFill>
                  <a:srgbClr val="FF0000"/>
                </a:solidFill>
              </a:rPr>
              <a:t>stateless</a:t>
            </a:r>
            <a:r>
              <a:rPr lang="en-US" altLang="zh-TW" sz="2400" dirty="0" smtClean="0"/>
              <a:t>; each request has to provide </a:t>
            </a:r>
            <a:r>
              <a:rPr lang="en-US" altLang="zh-TW" sz="2400" dirty="0" smtClean="0">
                <a:solidFill>
                  <a:schemeClr val="tx2"/>
                </a:solidFill>
              </a:rPr>
              <a:t>a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chemeClr val="tx2"/>
                </a:solidFill>
              </a:rPr>
              <a:t>full set of arguments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Modified data must be committed to the server</a:t>
            </a:r>
            <a:r>
              <a:rPr lang="en-US" altLang="zh-TW" sz="2400" dirty="0" smtClean="0">
                <a:latin typeface="Helvetica" pitchFamily="34" charset="0"/>
              </a:rPr>
              <a:t>’</a:t>
            </a:r>
            <a:r>
              <a:rPr lang="en-US" altLang="zh-TW" sz="2400" dirty="0" smtClean="0"/>
              <a:t>s disk before results are returned to the client </a:t>
            </a:r>
            <a:r>
              <a:rPr lang="en-US" altLang="zh-TW" sz="2400" dirty="0" smtClean="0">
                <a:solidFill>
                  <a:schemeClr val="tx2"/>
                </a:solidFill>
              </a:rPr>
              <a:t>(</a:t>
            </a:r>
            <a:r>
              <a:rPr lang="en-US" altLang="zh-TW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lose advantages of caching</a:t>
            </a:r>
            <a:r>
              <a:rPr lang="en-US" altLang="zh-TW" sz="2400" dirty="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The NFS protocol does not provide concurrency-control mechanisms</a:t>
            </a:r>
          </a:p>
        </p:txBody>
      </p:sp>
      <p:sp>
        <p:nvSpPr>
          <p:cNvPr id="2" name="矩形 1"/>
          <p:cNvSpPr/>
          <p:nvPr/>
        </p:nvSpPr>
        <p:spPr>
          <a:xfrm>
            <a:off x="3593766" y="5382568"/>
            <a:ext cx="1697709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 smtClean="0"/>
              <a:t>validity check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291475" y="3594408"/>
            <a:ext cx="1937966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/>
              <a:t>s</a:t>
            </a:r>
            <a:r>
              <a:rPr lang="en-US" altLang="zh-TW" sz="2000" dirty="0" smtClean="0"/>
              <a:t>tateless server</a:t>
            </a:r>
            <a:endParaRPr lang="zh-TW" altLang="en-US" sz="2000" dirty="0"/>
          </a:p>
        </p:txBody>
      </p:sp>
      <p:sp>
        <p:nvSpPr>
          <p:cNvPr id="3" name="動作按鈕: 終點 2">
            <a:hlinkClick r:id="rId3" action="ppaction://hlinkpres?slideindex=32&amp;slidetitle=File Sharing–Consistency Semantics(2)" highlightClick="1"/>
          </p:cNvPr>
          <p:cNvSpPr/>
          <p:nvPr/>
        </p:nvSpPr>
        <p:spPr bwMode="auto">
          <a:xfrm>
            <a:off x="8234680" y="5416918"/>
            <a:ext cx="353698" cy="365760"/>
          </a:xfrm>
          <a:prstGeom prst="actionButtonEnd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C144D89-EB04-410A-88CF-B4952315FD9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460E847-1A02-4E37-9F3A-EAA02A824041}" type="slidenum">
              <a:rPr kumimoji="0" lang="zh-TW" altLang="en-US" sz="1400" smtClean="0"/>
              <a:pPr eaLnBrk="1" hangingPunct="1"/>
              <a:t>46</a:t>
            </a:fld>
            <a:endParaRPr kumimoji="0" lang="en-US" altLang="zh-TW" sz="1400" smtClean="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88938" y="223838"/>
            <a:ext cx="8485187" cy="766762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Three Major Layers of NFS Architecture</a:t>
            </a:r>
            <a:r>
              <a:rPr lang="en-US" altLang="zh-TW" sz="4000" smtClean="0"/>
              <a:t> </a:t>
            </a:r>
          </a:p>
        </p:txBody>
      </p:sp>
      <p:sp>
        <p:nvSpPr>
          <p:cNvPr id="143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5438" y="957263"/>
            <a:ext cx="8612187" cy="5178425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UNIX file-system interface</a:t>
            </a:r>
            <a:r>
              <a:rPr lang="en-US" altLang="zh-TW" sz="2800" smtClean="0"/>
              <a:t> (based on the </a:t>
            </a:r>
            <a:r>
              <a:rPr lang="en-US" altLang="zh-TW" sz="2800" b="1" smtClean="0"/>
              <a:t>open, read, write</a:t>
            </a:r>
            <a:r>
              <a:rPr lang="en-US" altLang="zh-TW" sz="2800" smtClean="0"/>
              <a:t>, and </a:t>
            </a:r>
            <a:r>
              <a:rPr lang="en-US" altLang="zh-TW" sz="2800" b="1" smtClean="0"/>
              <a:t>close</a:t>
            </a:r>
            <a:r>
              <a:rPr lang="en-US" altLang="zh-TW" sz="2800" smtClean="0"/>
              <a:t> calls, and file descriptors)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Virtual File System</a:t>
            </a:r>
            <a:r>
              <a:rPr lang="en-US" altLang="zh-TW" sz="2800" smtClean="0"/>
              <a:t> (VFS) layer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distinguishes local files from remote ones, and local files are further distinguished according to their file-system types.</a:t>
            </a:r>
          </a:p>
          <a:p>
            <a:pPr lvl="1" eaLnBrk="1" hangingPunct="1"/>
            <a:r>
              <a:rPr lang="en-US" altLang="zh-TW" sz="2400" smtClean="0"/>
              <a:t>The VFS activates file-system-specific operations to handle local requests according to their file-system types. </a:t>
            </a:r>
          </a:p>
          <a:p>
            <a:pPr lvl="1" eaLnBrk="1" hangingPunct="1"/>
            <a:r>
              <a:rPr lang="en-US" altLang="zh-TW" sz="2400" smtClean="0"/>
              <a:t>Calls the NFS protocol procedures for remote requests.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NFS service layer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bottom layer of the architecture; implements the NFS 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0F8DA8D-4F87-40A7-93C5-367082B1AB51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120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120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6C6D31C-B5D3-4058-B038-084ED4741F86}" type="slidenum">
              <a:rPr kumimoji="0" lang="zh-TW" altLang="en-US" sz="1400" smtClean="0"/>
              <a:pPr eaLnBrk="1" hangingPunct="1"/>
              <a:t>47</a:t>
            </a:fld>
            <a:endParaRPr kumimoji="0" lang="en-US" altLang="zh-TW" sz="1400" smtClean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8" y="304800"/>
            <a:ext cx="8410575" cy="82232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Schematic View of NFS Architecture </a:t>
            </a:r>
            <a:endParaRPr lang="en-US" altLang="zh-TW" sz="3200" smtClean="0"/>
          </a:p>
        </p:txBody>
      </p:sp>
      <p:pic>
        <p:nvPicPr>
          <p:cNvPr id="5120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1296" r="562" b="11589"/>
          <a:stretch>
            <a:fillRect/>
          </a:stretch>
        </p:blipFill>
        <p:spPr bwMode="auto">
          <a:xfrm>
            <a:off x="430213" y="1430338"/>
            <a:ext cx="7805737" cy="486886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7" name="Text Box 4"/>
          <p:cNvSpPr txBox="1">
            <a:spLocks noChangeArrowheads="1"/>
          </p:cNvSpPr>
          <p:nvPr/>
        </p:nvSpPr>
        <p:spPr bwMode="auto">
          <a:xfrm>
            <a:off x="3232150" y="1516063"/>
            <a:ext cx="3106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UNIX file-system interface</a:t>
            </a:r>
          </a:p>
        </p:txBody>
      </p:sp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3971925" y="179228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sym typeface="Wingdings" pitchFamily="2" charset="2"/>
              </a:rPr>
              <a:t></a:t>
            </a:r>
          </a:p>
        </p:txBody>
      </p:sp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4602163" y="2582863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sym typeface="Wingdings" pitchFamily="2" charset="2"/>
              </a:rPr>
              <a:t></a:t>
            </a:r>
          </a:p>
        </p:txBody>
      </p:sp>
      <p:sp>
        <p:nvSpPr>
          <p:cNvPr id="144391" name="Text Box 7"/>
          <p:cNvSpPr txBox="1">
            <a:spLocks noChangeArrowheads="1"/>
          </p:cNvSpPr>
          <p:nvPr/>
        </p:nvSpPr>
        <p:spPr bwMode="auto">
          <a:xfrm>
            <a:off x="4652963" y="3606800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sym typeface="Wingdings" pitchFamily="2" charset="2"/>
              </a:rPr>
              <a:t></a:t>
            </a:r>
            <a:endParaRPr lang="en-US" altLang="zh-TW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37932" y="1647735"/>
            <a:ext cx="1969129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/>
              <a:t>Mount Protocol </a:t>
            </a:r>
            <a:endParaRPr lang="zh-TW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6237932" y="2121198"/>
            <a:ext cx="1162498" cy="400110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TW" sz="2000" dirty="0"/>
              <a:t>stateless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38472" y="3080692"/>
            <a:ext cx="1355115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/>
              <a:t>file </a:t>
            </a:r>
            <a:r>
              <a:rPr lang="en-US" altLang="zh-TW" sz="2000" dirty="0" smtClean="0"/>
              <a:t>handle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/>
      <p:bldP spid="144390" grpId="0"/>
      <p:bldP spid="144391" grpId="0"/>
      <p:bldP spid="2" grpId="0" animBg="1"/>
      <p:bldP spid="3" grpId="0" animBg="1"/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46C50D6-E971-4696-9850-0857F05145B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0DC3C12-E18C-4102-9410-B715A3B7F469}" type="slidenum">
              <a:rPr kumimoji="0" lang="zh-TW" altLang="en-US" sz="1400" smtClean="0"/>
              <a:pPr eaLnBrk="1" hangingPunct="1"/>
              <a:t>48</a:t>
            </a:fld>
            <a:endParaRPr kumimoji="0" lang="en-US" altLang="zh-TW" sz="1400" smtClean="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NFS Path-Name Translation</a:t>
            </a:r>
          </a:p>
        </p:txBody>
      </p:sp>
      <p:sp>
        <p:nvSpPr>
          <p:cNvPr id="5223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 smtClean="0"/>
              <a:t>Performed by breaking the path into component names and performing a separate NFS lookup call for every pair of </a:t>
            </a:r>
            <a:r>
              <a:rPr lang="en-US" altLang="zh-TW" sz="2800" dirty="0" smtClean="0">
                <a:solidFill>
                  <a:srgbClr val="FF0000"/>
                </a:solidFill>
              </a:rPr>
              <a:t>component name</a:t>
            </a:r>
            <a:r>
              <a:rPr lang="en-US" altLang="zh-TW" sz="2800" dirty="0" smtClean="0"/>
              <a:t> and </a:t>
            </a:r>
            <a:r>
              <a:rPr lang="en-US" altLang="zh-TW" sz="2800" dirty="0" smtClean="0">
                <a:solidFill>
                  <a:srgbClr val="FF0000"/>
                </a:solidFill>
              </a:rPr>
              <a:t>directory 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vnode</a:t>
            </a: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To make lookup faster, a directory name </a:t>
            </a:r>
            <a:r>
              <a:rPr lang="en-US" altLang="zh-TW" sz="2800" dirty="0" smtClean="0">
                <a:solidFill>
                  <a:srgbClr val="0000FF"/>
                </a:solidFill>
              </a:rPr>
              <a:t>lookup cache </a:t>
            </a:r>
            <a:r>
              <a:rPr lang="en-US" altLang="zh-TW" sz="2800" dirty="0" smtClean="0"/>
              <a:t>on the client</a:t>
            </a:r>
            <a:r>
              <a:rPr lang="en-US" altLang="zh-TW" sz="2800" dirty="0" smtClean="0">
                <a:latin typeface="Helvetica" pitchFamily="34" charset="0"/>
              </a:rPr>
              <a:t>’</a:t>
            </a:r>
            <a:r>
              <a:rPr lang="en-US" altLang="zh-TW" sz="2800" dirty="0" smtClean="0"/>
              <a:t>s side holds the </a:t>
            </a:r>
            <a:r>
              <a:rPr lang="en-US" altLang="zh-TW" sz="2800" dirty="0" err="1" smtClean="0"/>
              <a:t>vnodes</a:t>
            </a:r>
            <a:r>
              <a:rPr lang="en-US" altLang="zh-TW" sz="2800" dirty="0" smtClean="0"/>
              <a:t> for remote directory names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981640D-BE31-46A4-835E-FB63F17EC44B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0AE7356-8D84-42B4-A65D-CF0CBE18E9A8}" type="slidenum">
              <a:rPr kumimoji="0" lang="zh-TW" altLang="en-US" sz="1400" smtClean="0"/>
              <a:pPr eaLnBrk="1" hangingPunct="1"/>
              <a:t>49</a:t>
            </a:fld>
            <a:endParaRPr kumimoji="0" lang="en-US" altLang="zh-TW" sz="1400" smtClean="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1663"/>
          </a:xfrm>
        </p:spPr>
        <p:txBody>
          <a:bodyPr/>
          <a:lstStyle/>
          <a:p>
            <a:pPr eaLnBrk="1" hangingPunct="1"/>
            <a:r>
              <a:rPr lang="en-US" altLang="zh-TW" smtClean="0"/>
              <a:t>NFS Remote Operations</a:t>
            </a:r>
          </a:p>
        </p:txBody>
      </p:sp>
      <p:sp>
        <p:nvSpPr>
          <p:cNvPr id="1495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8763" y="841375"/>
            <a:ext cx="8650287" cy="5738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500" dirty="0" smtClean="0"/>
              <a:t>Nearly </a:t>
            </a:r>
            <a:r>
              <a:rPr lang="en-US" altLang="zh-TW" sz="2500" dirty="0" smtClean="0">
                <a:solidFill>
                  <a:srgbClr val="FF0000"/>
                </a:solidFill>
              </a:rPr>
              <a:t>one-to-one</a:t>
            </a:r>
            <a:r>
              <a:rPr lang="en-US" altLang="zh-TW" sz="2500" dirty="0" smtClean="0"/>
              <a:t> correspondence between regular </a:t>
            </a:r>
            <a:r>
              <a:rPr lang="en-US" altLang="zh-TW" sz="2500" dirty="0" smtClean="0">
                <a:solidFill>
                  <a:srgbClr val="FF0000"/>
                </a:solidFill>
              </a:rPr>
              <a:t>UNIX  system calls</a:t>
            </a:r>
            <a:r>
              <a:rPr lang="en-US" altLang="zh-TW" sz="2500" dirty="0" smtClean="0"/>
              <a:t> and the </a:t>
            </a:r>
            <a:r>
              <a:rPr lang="en-US" altLang="zh-TW" sz="2500" dirty="0" smtClean="0">
                <a:solidFill>
                  <a:srgbClr val="FF0000"/>
                </a:solidFill>
              </a:rPr>
              <a:t>NFS protocol RPCs</a:t>
            </a:r>
            <a:r>
              <a:rPr lang="en-US" altLang="zh-TW" sz="2500" dirty="0" smtClean="0"/>
              <a:t> (except opening and closing files)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500" dirty="0" smtClean="0"/>
              <a:t>NFS adheres to the remote-service paradigm, but employs </a:t>
            </a:r>
            <a:r>
              <a:rPr lang="en-US" altLang="zh-TW" sz="2500" dirty="0" smtClean="0">
                <a:solidFill>
                  <a:srgbClr val="FF0000"/>
                </a:solidFill>
              </a:rPr>
              <a:t>buffering </a:t>
            </a:r>
            <a:r>
              <a:rPr lang="en-US" altLang="zh-TW" sz="2500" dirty="0" smtClean="0"/>
              <a:t>and</a:t>
            </a:r>
            <a:r>
              <a:rPr lang="en-US" altLang="zh-TW" sz="2500" dirty="0" smtClean="0">
                <a:solidFill>
                  <a:srgbClr val="FF0000"/>
                </a:solidFill>
              </a:rPr>
              <a:t> caching</a:t>
            </a:r>
            <a:r>
              <a:rPr lang="en-US" altLang="zh-TW" sz="2500" dirty="0" smtClean="0"/>
              <a:t> techniques for the sake of performance</a:t>
            </a:r>
            <a:endParaRPr lang="en-US" altLang="zh-TW" sz="25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500" dirty="0" smtClean="0">
                <a:solidFill>
                  <a:srgbClr val="FF0000"/>
                </a:solidFill>
              </a:rPr>
              <a:t>File-</a:t>
            </a:r>
            <a:r>
              <a:rPr lang="en-US" altLang="zh-TW" sz="2500" dirty="0" smtClean="0">
                <a:solidFill>
                  <a:srgbClr val="0000FF"/>
                </a:solidFill>
              </a:rPr>
              <a:t>blocks</a:t>
            </a:r>
            <a:r>
              <a:rPr lang="en-US" altLang="zh-TW" sz="2500" dirty="0" smtClean="0">
                <a:solidFill>
                  <a:srgbClr val="FF0000"/>
                </a:solidFill>
              </a:rPr>
              <a:t> cache</a:t>
            </a:r>
            <a:r>
              <a:rPr lang="en-US" altLang="zh-TW" sz="2500" dirty="0" smtClean="0"/>
              <a:t> </a:t>
            </a:r>
            <a:r>
              <a:rPr lang="en-US" altLang="zh-TW" sz="2500" dirty="0" smtClean="0">
                <a:latin typeface="Helvetica" pitchFamily="34" charset="0"/>
              </a:rPr>
              <a:t>–</a:t>
            </a:r>
            <a:r>
              <a:rPr lang="en-US" altLang="zh-TW" sz="2500" dirty="0" smtClean="0"/>
              <a:t> when a file is opened, the kernel </a:t>
            </a:r>
            <a:r>
              <a:rPr lang="en-US" altLang="zh-TW" sz="2500" dirty="0" smtClean="0">
                <a:solidFill>
                  <a:srgbClr val="0000FF"/>
                </a:solidFill>
              </a:rPr>
              <a:t>checks with the remote server whether to fetch or revalidate the cached attributes</a:t>
            </a:r>
            <a:r>
              <a:rPr lang="en-US" altLang="zh-TW" sz="2500" dirty="0" smtClean="0"/>
              <a:t>.  Cached file blocks are used only if the corresponding cached attributes are up to date</a:t>
            </a:r>
            <a:endParaRPr lang="en-US" altLang="zh-TW" sz="25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500" dirty="0" smtClean="0">
                <a:solidFill>
                  <a:srgbClr val="FF0000"/>
                </a:solidFill>
              </a:rPr>
              <a:t>File-attribute cache</a:t>
            </a:r>
            <a:r>
              <a:rPr lang="en-US" altLang="zh-TW" sz="2500" dirty="0" smtClean="0"/>
              <a:t> </a:t>
            </a:r>
            <a:r>
              <a:rPr lang="en-US" altLang="zh-TW" sz="2500" dirty="0" smtClean="0">
                <a:latin typeface="Helvetica" pitchFamily="34" charset="0"/>
              </a:rPr>
              <a:t>–</a:t>
            </a:r>
            <a:r>
              <a:rPr lang="en-US" altLang="zh-TW" sz="2500" dirty="0" smtClean="0"/>
              <a:t> the attribute cache is </a:t>
            </a:r>
            <a:r>
              <a:rPr lang="en-US" altLang="zh-TW" sz="2500" dirty="0" smtClean="0">
                <a:solidFill>
                  <a:srgbClr val="0000FF"/>
                </a:solidFill>
              </a:rPr>
              <a:t>updated whenever new attributes arrive from the server</a:t>
            </a:r>
            <a:r>
              <a:rPr lang="en-US" altLang="zh-TW" sz="2500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500" dirty="0" smtClean="0"/>
              <a:t>Clients </a:t>
            </a:r>
            <a:r>
              <a:rPr lang="en-US" altLang="zh-TW" sz="2500" dirty="0" smtClean="0">
                <a:solidFill>
                  <a:srgbClr val="FF0000"/>
                </a:solidFill>
              </a:rPr>
              <a:t>do not free delayed-write blocks</a:t>
            </a:r>
            <a:r>
              <a:rPr lang="en-US" altLang="zh-TW" sz="2500" dirty="0" smtClean="0"/>
              <a:t> until the server confirms that the data have been written to disk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2473325" y="4470400"/>
            <a:ext cx="151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inode info</a:t>
            </a:r>
          </a:p>
        </p:txBody>
      </p:sp>
      <p:sp>
        <p:nvSpPr>
          <p:cNvPr id="8" name="動作按鈕: 終點 7">
            <a:hlinkClick r:id="rId3" action="ppaction://hlinkpres?slideindex=32&amp;slidetitle=File Sharing–Consistency Semantics(2)" highlightClick="1"/>
          </p:cNvPr>
          <p:cNvSpPr/>
          <p:nvPr/>
        </p:nvSpPr>
        <p:spPr bwMode="auto">
          <a:xfrm>
            <a:off x="8281351" y="5213718"/>
            <a:ext cx="353698" cy="365760"/>
          </a:xfrm>
          <a:prstGeom prst="actionButtonEnd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144617C-D4F6-473F-8D37-05BA73CB3F3C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38CDF67-86C6-451F-85FF-B3CA8C4BB4D7}" type="slidenum">
              <a:rPr kumimoji="0" lang="zh-TW" altLang="en-US" sz="1400" smtClean="0"/>
              <a:pPr eaLnBrk="1" hangingPunct="1"/>
              <a:t>50</a:t>
            </a:fld>
            <a:endParaRPr kumimoji="0" lang="en-US" altLang="zh-TW" sz="1400" smtClean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12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Example: WAFL File System</a:t>
            </a:r>
          </a:p>
        </p:txBody>
      </p:sp>
      <p:sp>
        <p:nvSpPr>
          <p:cNvPr id="228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2113" y="1328738"/>
            <a:ext cx="8285162" cy="4810125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Used on Network Appliance </a:t>
            </a:r>
            <a:r>
              <a:rPr lang="en-US" altLang="zh-TW" sz="2800" dirty="0" smtClean="0">
                <a:latin typeface="Helvetica" pitchFamily="34" charset="0"/>
              </a:rPr>
              <a:t>“</a:t>
            </a:r>
            <a:r>
              <a:rPr lang="en-US" altLang="zh-TW" sz="2800" dirty="0" smtClean="0"/>
              <a:t>Filers</a:t>
            </a:r>
            <a:r>
              <a:rPr lang="en-US" altLang="zh-TW" sz="2800" dirty="0" smtClean="0">
                <a:latin typeface="Helvetica" pitchFamily="34" charset="0"/>
              </a:rPr>
              <a:t>”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latin typeface="Helvetica" pitchFamily="34" charset="0"/>
              </a:rPr>
              <a:t>–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distributed file system</a:t>
            </a:r>
            <a:r>
              <a:rPr lang="en-US" altLang="zh-TW" sz="2800" dirty="0" smtClean="0"/>
              <a:t> appliances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latin typeface="Helvetica" pitchFamily="34" charset="0"/>
              </a:rPr>
              <a:t>“</a:t>
            </a:r>
            <a:r>
              <a:rPr lang="en-US" altLang="zh-TW" sz="2800" dirty="0" smtClean="0">
                <a:solidFill>
                  <a:srgbClr val="FF0000"/>
                </a:solidFill>
              </a:rPr>
              <a:t>W</a:t>
            </a:r>
            <a:r>
              <a:rPr lang="en-US" altLang="zh-TW" sz="2800" dirty="0" smtClean="0"/>
              <a:t>rite-</a:t>
            </a:r>
            <a:r>
              <a:rPr lang="en-US" altLang="zh-TW" sz="2800" dirty="0" smtClean="0">
                <a:solidFill>
                  <a:srgbClr val="FF0000"/>
                </a:solidFill>
              </a:rPr>
              <a:t>a</a:t>
            </a:r>
            <a:r>
              <a:rPr lang="en-US" altLang="zh-TW" sz="2800" dirty="0" smtClean="0"/>
              <a:t>nywhere </a:t>
            </a:r>
            <a:r>
              <a:rPr lang="en-US" altLang="zh-TW" sz="2800" dirty="0" smtClean="0">
                <a:solidFill>
                  <a:srgbClr val="FF0000"/>
                </a:solidFill>
              </a:rPr>
              <a:t>f</a:t>
            </a:r>
            <a:r>
              <a:rPr lang="en-US" altLang="zh-TW" sz="2800" dirty="0" smtClean="0"/>
              <a:t>ile </a:t>
            </a:r>
            <a:r>
              <a:rPr lang="en-US" altLang="zh-TW" sz="2800" dirty="0" smtClean="0">
                <a:solidFill>
                  <a:srgbClr val="FF0000"/>
                </a:solidFill>
              </a:rPr>
              <a:t>l</a:t>
            </a:r>
            <a:r>
              <a:rPr lang="en-US" altLang="zh-TW" sz="2800" dirty="0" smtClean="0"/>
              <a:t>ayout</a:t>
            </a:r>
            <a:r>
              <a:rPr lang="en-US" altLang="zh-TW" sz="2800" dirty="0" smtClean="0">
                <a:latin typeface="Helvetica" pitchFamily="34" charset="0"/>
              </a:rPr>
              <a:t>”</a:t>
            </a:r>
            <a:endParaRPr lang="en-US" altLang="zh-TW" sz="2800" dirty="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Serves NFS, CIFS, http, ftp to the clients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00"/>
                </a:solidFill>
              </a:rPr>
              <a:t>Random I/O optimized</a:t>
            </a:r>
            <a:r>
              <a:rPr lang="en-US" altLang="zh-TW" sz="2800" dirty="0" smtClean="0"/>
              <a:t>, write optimized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dirty="0" smtClean="0"/>
              <a:t>NVRAM for write caching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Similar to Berkeley Fast File System, with extensive modifications</a:t>
            </a:r>
          </a:p>
        </p:txBody>
      </p:sp>
      <p:sp>
        <p:nvSpPr>
          <p:cNvPr id="2" name="矩形 1"/>
          <p:cNvSpPr/>
          <p:nvPr/>
        </p:nvSpPr>
        <p:spPr>
          <a:xfrm>
            <a:off x="7792736" y="809128"/>
            <a:ext cx="1178528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/>
              <a:t>NetApp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071833" y="4427528"/>
            <a:ext cx="2962734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/>
              <a:t>non-volatile memory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0C48126-38A6-43AD-AACC-4CF1748683DB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B4C34BB-71AC-4A96-BC39-4C2AECAE9D23}" type="slidenum">
              <a:rPr kumimoji="0" lang="zh-TW" altLang="en-US" sz="1400" smtClean="0"/>
              <a:pPr eaLnBrk="1" hangingPunct="1"/>
              <a:t>51</a:t>
            </a:fld>
            <a:endParaRPr kumimoji="0" lang="en-US" altLang="zh-TW" sz="1400" smtClean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The WAFL File Layout</a:t>
            </a:r>
          </a:p>
        </p:txBody>
      </p:sp>
      <p:pic>
        <p:nvPicPr>
          <p:cNvPr id="553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" t="27089" r="542" b="27776"/>
          <a:stretch>
            <a:fillRect/>
          </a:stretch>
        </p:blipFill>
        <p:spPr bwMode="auto">
          <a:xfrm>
            <a:off x="433388" y="1689100"/>
            <a:ext cx="7966075" cy="272573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282575" y="4706938"/>
            <a:ext cx="701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Each inode contains 16 pointers to blocks (or indirect blocks)</a:t>
            </a: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295275" y="5103813"/>
            <a:ext cx="3702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All of the metadata lives in files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95275" y="5494338"/>
            <a:ext cx="6783388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Free-block map has more than one bit per block, </a:t>
            </a:r>
          </a:p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a bit set for each snapshot.</a:t>
            </a:r>
          </a:p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Used blocks are never overwritten, so writes are very fast.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4" grpId="0"/>
      <p:bldP spid="55305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8E96A81-615E-4EA9-B600-EDF936F9A24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OS12 2018</a:t>
            </a:r>
            <a:endParaRPr kumimoji="0" lang="en-US" altLang="zh-TW" sz="1400" smtClean="0"/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3A077CE-C268-407F-B072-48E49940E4EA}" type="slidenum">
              <a:rPr kumimoji="0" lang="zh-TW" altLang="en-US" sz="1400" smtClean="0"/>
              <a:pPr eaLnBrk="1" hangingPunct="1"/>
              <a:t>52</a:t>
            </a:fld>
            <a:endParaRPr kumimoji="0" lang="en-US" altLang="zh-TW" sz="1400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7338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zh-TW" smtClean="0"/>
              <a:t>Snapshots in WAFL</a:t>
            </a:r>
          </a:p>
        </p:txBody>
      </p:sp>
      <p:pic>
        <p:nvPicPr>
          <p:cNvPr id="5632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1" t="581" r="26930" b="888"/>
          <a:stretch>
            <a:fillRect/>
          </a:stretch>
        </p:blipFill>
        <p:spPr bwMode="auto">
          <a:xfrm>
            <a:off x="1266825" y="989013"/>
            <a:ext cx="3354388" cy="53181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4876800" y="1165225"/>
            <a:ext cx="42814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Any updates (file or metadata) go to</a:t>
            </a:r>
          </a:p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new blocks rather than overwriting</a:t>
            </a:r>
          </a:p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their existing blocks.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4973638" y="2879725"/>
            <a:ext cx="32115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Clone</a:t>
            </a:r>
            <a:r>
              <a:rPr lang="en-US" altLang="zh-TW" sz="2000">
                <a:solidFill>
                  <a:srgbClr val="0000FF"/>
                </a:solidFill>
              </a:rPr>
              <a:t>: read-write snapshot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4935538" y="4364038"/>
            <a:ext cx="40608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replication</a:t>
            </a:r>
            <a:r>
              <a:rPr lang="en-US" altLang="zh-TW" sz="2000">
                <a:solidFill>
                  <a:srgbClr val="0000FF"/>
                </a:solidFill>
              </a:rPr>
              <a:t>: the duplication and </a:t>
            </a:r>
          </a:p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synchronization of a set of data </a:t>
            </a:r>
          </a:p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over a network to another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8" grpId="0"/>
      <p:bldP spid="56329" grpId="0"/>
      <p:bldP spid="563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EFD0B2-8817-49B4-B31D-A55FA6114C9B}" type="datetime1">
              <a:rPr kumimoji="0" lang="zh-TW" altLang="en-US" sz="1400" smtClean="0">
                <a:solidFill>
                  <a:srgbClr val="40458C"/>
                </a:solidFill>
              </a:rPr>
              <a:t>2018/5/21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OS12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EBC05-7BCF-4ADC-8DA7-DD580AB21AE5}" type="slidenum">
              <a:rPr kumimoji="0" lang="zh-TW" altLang="en-US" sz="140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8" y="139700"/>
            <a:ext cx="8847137" cy="7731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Representational State Transfer</a:t>
            </a:r>
            <a:r>
              <a:rPr lang="zh-TW" altLang="en-US" sz="4000" smtClean="0"/>
              <a:t> </a:t>
            </a:r>
            <a:r>
              <a:rPr lang="en-US" altLang="zh-TW" sz="4000" smtClean="0"/>
              <a:t>(REST)</a:t>
            </a:r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7513" y="993775"/>
            <a:ext cx="8193087" cy="5197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In computing, representational state transfer (REST) is an </a:t>
            </a:r>
            <a:r>
              <a:rPr lang="en-US" altLang="zh-TW" sz="2400" dirty="0" smtClean="0">
                <a:solidFill>
                  <a:srgbClr val="00B050"/>
                </a:solidFill>
              </a:rPr>
              <a:t>architectural</a:t>
            </a:r>
            <a:r>
              <a:rPr lang="en-US" altLang="zh-TW" sz="2400" dirty="0" smtClean="0">
                <a:solidFill>
                  <a:srgbClr val="0000FF"/>
                </a:solidFill>
              </a:rPr>
              <a:t> style of application programming interfaces consisting of a coordinated set of </a:t>
            </a:r>
            <a:r>
              <a:rPr lang="en-US" altLang="zh-TW" sz="2400" dirty="0" smtClean="0">
                <a:solidFill>
                  <a:srgbClr val="FF0000"/>
                </a:solidFill>
              </a:rPr>
              <a:t>components</a:t>
            </a:r>
            <a:r>
              <a:rPr lang="en-US" altLang="zh-TW" sz="2400" dirty="0" smtClean="0">
                <a:solidFill>
                  <a:srgbClr val="0000FF"/>
                </a:solidFill>
              </a:rPr>
              <a:t>, </a:t>
            </a:r>
            <a:r>
              <a:rPr lang="en-US" altLang="zh-TW" sz="2400" dirty="0" smtClean="0">
                <a:solidFill>
                  <a:srgbClr val="FF0000"/>
                </a:solidFill>
              </a:rPr>
              <a:t>connectors</a:t>
            </a:r>
            <a:r>
              <a:rPr lang="en-US" altLang="zh-TW" sz="2400" dirty="0" smtClean="0">
                <a:solidFill>
                  <a:srgbClr val="0000FF"/>
                </a:solidFill>
              </a:rPr>
              <a:t>, and </a:t>
            </a:r>
            <a:r>
              <a:rPr lang="en-US" altLang="zh-TW" sz="2400" dirty="0" smtClean="0">
                <a:solidFill>
                  <a:srgbClr val="FF0000"/>
                </a:solidFill>
              </a:rPr>
              <a:t>data elements</a:t>
            </a:r>
            <a:r>
              <a:rPr lang="en-US" altLang="zh-TW" sz="2400" dirty="0" smtClean="0">
                <a:solidFill>
                  <a:srgbClr val="0000FF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RESTful systems:</a:t>
            </a:r>
            <a:r>
              <a:rPr lang="zh-TW" altLang="en-US" sz="2400" dirty="0" smtClean="0">
                <a:solidFill>
                  <a:srgbClr val="0000FF"/>
                </a:solidFill>
              </a:rPr>
              <a:t> </a:t>
            </a:r>
            <a:r>
              <a:rPr lang="en-US" altLang="zh-TW" sz="2400" dirty="0" smtClean="0">
                <a:solidFill>
                  <a:srgbClr val="0000FF"/>
                </a:solidFill>
              </a:rPr>
              <a:t> communicate over HTTP with the same HTTP </a:t>
            </a:r>
            <a:r>
              <a:rPr lang="en-US" altLang="zh-TW" sz="2400" dirty="0" smtClean="0">
                <a:solidFill>
                  <a:srgbClr val="FF0000"/>
                </a:solidFill>
              </a:rPr>
              <a:t>verbs</a:t>
            </a:r>
            <a:r>
              <a:rPr lang="en-US" altLang="zh-TW" sz="2400" dirty="0" smtClean="0">
                <a:solidFill>
                  <a:srgbClr val="0000FF"/>
                </a:solidFill>
              </a:rPr>
              <a:t> (GET, POST, PUT, DELETE, etc.) that web browsers use to retrieve web pages and to send data to remote servers.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 constraints: Client–server, </a:t>
            </a:r>
            <a:r>
              <a:rPr lang="en-US" altLang="zh-TW" sz="2400" dirty="0" smtClean="0">
                <a:solidFill>
                  <a:srgbClr val="FF0000"/>
                </a:solidFill>
              </a:rPr>
              <a:t>Stateless</a:t>
            </a:r>
            <a:r>
              <a:rPr lang="en-US" altLang="zh-TW" sz="2400" dirty="0" smtClean="0">
                <a:solidFill>
                  <a:srgbClr val="0000FF"/>
                </a:solidFill>
              </a:rPr>
              <a:t>, </a:t>
            </a:r>
            <a:r>
              <a:rPr lang="en-US" altLang="zh-TW" sz="2400" dirty="0" smtClean="0">
                <a:solidFill>
                  <a:srgbClr val="00B050"/>
                </a:solidFill>
              </a:rPr>
              <a:t>Cacheable</a:t>
            </a:r>
            <a:r>
              <a:rPr lang="en-US" altLang="zh-TW" sz="2400" dirty="0" smtClean="0">
                <a:solidFill>
                  <a:srgbClr val="0000FF"/>
                </a:solidFill>
              </a:rPr>
              <a:t>, Layered system, Code on demand (optional), Uniform interface, Identification of resources (URI),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 vs. RPC(SOAP, XML-RPC)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 smtClean="0">
                <a:solidFill>
                  <a:srgbClr val="0000FF"/>
                </a:solidFill>
              </a:rPr>
              <a:t>REST is an architectural style, while SOAP is a protocol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 smtClean="0">
                <a:solidFill>
                  <a:srgbClr val="0000FF"/>
                </a:solidFill>
              </a:rPr>
              <a:t>REST is more predictable than RPC as it relies on the shared semantic of HTTP verbs.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271245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B65468-C079-44E9-B497-D65741521EA1}" type="datetime1">
              <a:rPr kumimoji="0" lang="zh-TW" altLang="en-US" sz="1400" smtClean="0">
                <a:solidFill>
                  <a:srgbClr val="40458C"/>
                </a:solidFill>
              </a:rPr>
              <a:t>2018/5/21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OS12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EBC05-7BCF-4ADC-8DA7-DD580AB21AE5}" type="slidenum">
              <a:rPr kumimoji="0" lang="zh-TW" altLang="en-US" sz="140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8" y="139700"/>
            <a:ext cx="8847137" cy="773113"/>
          </a:xfrm>
        </p:spPr>
        <p:txBody>
          <a:bodyPr/>
          <a:lstStyle/>
          <a:p>
            <a:pPr eaLnBrk="1" hangingPunct="1"/>
            <a:r>
              <a:rPr lang="en-US" altLang="zh-TW" sz="4000" dirty="0" smtClean="0"/>
              <a:t>Stateless Servers, NFS</a:t>
            </a:r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5113" y="1158240"/>
            <a:ext cx="8193087" cy="522224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rgbClr val="0000FF"/>
                </a:solidFill>
              </a:rPr>
              <a:t>Each </a:t>
            </a:r>
            <a:r>
              <a:rPr lang="en-US" altLang="zh-TW" sz="2800" dirty="0">
                <a:solidFill>
                  <a:srgbClr val="0000FF"/>
                </a:solidFill>
              </a:rPr>
              <a:t>request must be self-contained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Each request identifies the file and position in the file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No need to establish and terminate a connection by open and close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rgbClr val="0000FF"/>
                </a:solidFill>
              </a:rPr>
              <a:t>Advantages</a:t>
            </a:r>
            <a:r>
              <a:rPr lang="en-US" altLang="zh-TW" sz="2800" dirty="0">
                <a:solidFill>
                  <a:srgbClr val="0000FF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A file server crash does not affect clients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Simple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rgbClr val="0000FF"/>
                </a:solidFill>
              </a:rPr>
              <a:t>Disadvantage</a:t>
            </a:r>
            <a:r>
              <a:rPr lang="en-US" altLang="zh-TW" sz="2800" dirty="0">
                <a:solidFill>
                  <a:srgbClr val="0000FF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Impossible to enforce consistency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RPC needs to contain all state, </a:t>
            </a:r>
            <a:r>
              <a:rPr lang="en-US" altLang="zh-TW" sz="2400" dirty="0" smtClean="0">
                <a:solidFill>
                  <a:srgbClr val="0000FF"/>
                </a:solidFill>
              </a:rPr>
              <a:t>longer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381915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99D14A-F865-4B5E-A551-2C5E0E8C5043}" type="datetime1">
              <a:rPr kumimoji="0" lang="zh-TW" altLang="en-US" sz="1400" smtClean="0">
                <a:solidFill>
                  <a:srgbClr val="40458C"/>
                </a:solidFill>
              </a:rPr>
              <a:t>2018/5/21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OS12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EBC05-7BCF-4ADC-8DA7-DD580AB21AE5}" type="slidenum">
              <a:rPr kumimoji="0" lang="zh-TW" altLang="en-US" sz="140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8" y="139700"/>
            <a:ext cx="8847137" cy="773113"/>
          </a:xfrm>
        </p:spPr>
        <p:txBody>
          <a:bodyPr/>
          <a:lstStyle/>
          <a:p>
            <a:pPr eaLnBrk="1" hangingPunct="1"/>
            <a:r>
              <a:rPr lang="en-US" altLang="zh-TW" sz="4000" dirty="0" err="1"/>
              <a:t>Stateful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Servers, AFS</a:t>
            </a:r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5113" y="860426"/>
            <a:ext cx="8193087" cy="552005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Mechanism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Client opens a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Server fetches information about the file from its disk, store in memory, gives client a </a:t>
            </a:r>
            <a:r>
              <a:rPr lang="en-US" altLang="zh-TW" sz="2000" dirty="0">
                <a:solidFill>
                  <a:srgbClr val="FF0000"/>
                </a:solidFill>
              </a:rPr>
              <a:t>unique connection id </a:t>
            </a:r>
            <a:r>
              <a:rPr lang="en-US" altLang="zh-TW" sz="2000" dirty="0">
                <a:solidFill>
                  <a:srgbClr val="0000FF"/>
                </a:solidFill>
              </a:rPr>
              <a:t>and open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id is used for subsequent accesses until the session ends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Fewer disk access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Read-ahead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RPCs are small, contains only an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File may be cached entirely on client, invalidated by the server if there is a conflicting </a:t>
            </a:r>
            <a:r>
              <a:rPr lang="en-US" altLang="zh-TW" sz="2000" dirty="0" smtClean="0">
                <a:solidFill>
                  <a:srgbClr val="0000FF"/>
                </a:solidFill>
              </a:rPr>
              <a:t>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Disadvantage: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Server loses all its volatile state in </a:t>
            </a:r>
            <a:r>
              <a:rPr lang="en-US" altLang="zh-TW" sz="2000" dirty="0">
                <a:solidFill>
                  <a:srgbClr val="FF0000"/>
                </a:solidFill>
              </a:rPr>
              <a:t>crash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Restore state by dialog with clients, or abort operations that underway when crash occurred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Server needs to be aware of client failures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77274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094333-A3AB-4483-AA7C-645C47A03AE2}" type="datetime1">
              <a:rPr kumimoji="0" lang="zh-TW" altLang="en-US" sz="1400" smtClean="0">
                <a:solidFill>
                  <a:srgbClr val="40458C"/>
                </a:solidFill>
              </a:rPr>
              <a:t>2018/5/21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OS12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EBC05-7BCF-4ADC-8DA7-DD580AB21AE5}" type="slidenum">
              <a:rPr kumimoji="0" lang="zh-TW" altLang="en-US" sz="140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8" y="139700"/>
            <a:ext cx="8847137" cy="773113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Write-on-close</a:t>
            </a:r>
            <a:endParaRPr lang="en-US" altLang="zh-TW" sz="4000" dirty="0" smtClean="0"/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5113" y="1158240"/>
            <a:ext cx="8193087" cy="522224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rgbClr val="0000FF"/>
                </a:solidFill>
              </a:rPr>
              <a:t>Modification </a:t>
            </a:r>
            <a:r>
              <a:rPr lang="en-US" altLang="zh-TW" sz="2800" dirty="0">
                <a:solidFill>
                  <a:srgbClr val="0000FF"/>
                </a:solidFill>
              </a:rPr>
              <a:t>written back to server when file </a:t>
            </a:r>
            <a:r>
              <a:rPr lang="en-US" altLang="zh-TW" sz="2800" dirty="0" smtClean="0">
                <a:solidFill>
                  <a:srgbClr val="0000FF"/>
                </a:solidFill>
              </a:rPr>
              <a:t>close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00FF"/>
                </a:solidFill>
              </a:rPr>
              <a:t>Reduces intermediate read and write traffic while file is open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00FF"/>
                </a:solidFill>
              </a:rPr>
              <a:t>Write-on-close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00FF"/>
                </a:solidFill>
              </a:rPr>
              <a:t>Server load and network traffic reduced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Contacts server only on open and close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00FF"/>
                </a:solidFill>
              </a:rPr>
              <a:t>Retain across reboots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olidFill>
                  <a:srgbClr val="0000FF"/>
                </a:solidFill>
              </a:rPr>
              <a:t>Require local disk, large enough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TW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85990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12436</TotalTime>
  <Words>3127</Words>
  <Application>Microsoft Office PowerPoint</Application>
  <PresentationFormat>如螢幕大小 (4:3)</PresentationFormat>
  <Paragraphs>683</Paragraphs>
  <Slides>56</Slides>
  <Notes>56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56</vt:i4>
      </vt:variant>
    </vt:vector>
  </HeadingPairs>
  <TitlesOfParts>
    <vt:vector size="66" baseType="lpstr">
      <vt:lpstr>Adobe Gothic Std B</vt:lpstr>
      <vt:lpstr>新細明體</vt:lpstr>
      <vt:lpstr>Arial</vt:lpstr>
      <vt:lpstr>Helvetica</vt:lpstr>
      <vt:lpstr>Symbol</vt:lpstr>
      <vt:lpstr>Tahoma</vt:lpstr>
      <vt:lpstr>Times New Roman</vt:lpstr>
      <vt:lpstr>Wingdings</vt:lpstr>
      <vt:lpstr>Blueprint</vt:lpstr>
      <vt:lpstr>1_Blueprint</vt:lpstr>
      <vt:lpstr>Chapter 12  File-System Implementation</vt:lpstr>
      <vt:lpstr>Outline</vt:lpstr>
      <vt:lpstr>File-System Structure</vt:lpstr>
      <vt:lpstr>Layered File System</vt:lpstr>
      <vt:lpstr>A Typical File Control Block</vt:lpstr>
      <vt:lpstr>On-Disk and In-Memory</vt:lpstr>
      <vt:lpstr>In-Memory File System Structures</vt:lpstr>
      <vt:lpstr>Virtual File Systems</vt:lpstr>
      <vt:lpstr>Schematic View of Virtual File System</vt:lpstr>
      <vt:lpstr>Directory Implementation</vt:lpstr>
      <vt:lpstr>Allocation Methods</vt:lpstr>
      <vt:lpstr>Contiguous Allocation</vt:lpstr>
      <vt:lpstr>Contiguous Allocation of Disk Space</vt:lpstr>
      <vt:lpstr>Extent-Based Systems</vt:lpstr>
      <vt:lpstr>Linked Allocation (1)</vt:lpstr>
      <vt:lpstr>Linked Allocation (2)</vt:lpstr>
      <vt:lpstr>File-Allocation Table</vt:lpstr>
      <vt:lpstr>PowerPoint 簡報</vt:lpstr>
      <vt:lpstr>Indexed Allocation</vt:lpstr>
      <vt:lpstr>Example of Indexed Allocation</vt:lpstr>
      <vt:lpstr>PowerPoint 簡報</vt:lpstr>
      <vt:lpstr>PowerPoint 簡報</vt:lpstr>
      <vt:lpstr>Combined Scheme:  UNIX (4K bytes per block)</vt:lpstr>
      <vt:lpstr>Performance (1)</vt:lpstr>
      <vt:lpstr>Performance (2)</vt:lpstr>
      <vt:lpstr>Free-Space Management (1)</vt:lpstr>
      <vt:lpstr>Free-Space Management (2)</vt:lpstr>
      <vt:lpstr>PowerPoint 簡報</vt:lpstr>
      <vt:lpstr>Free-Space Management (3)</vt:lpstr>
      <vt:lpstr>Free-Space Management (4)</vt:lpstr>
      <vt:lpstr>Free-Space Management (5)</vt:lpstr>
      <vt:lpstr>Efficiency and Performance</vt:lpstr>
      <vt:lpstr>Various Disk-Caching Locations</vt:lpstr>
      <vt:lpstr>Page Cache</vt:lpstr>
      <vt:lpstr>I/O Without a Unified Buffer Cache</vt:lpstr>
      <vt:lpstr>Unified Buffer Cache</vt:lpstr>
      <vt:lpstr>I/O Using a Unified Buffer Cache</vt:lpstr>
      <vt:lpstr>Recovery</vt:lpstr>
      <vt:lpstr>Log Structured File Systems</vt:lpstr>
      <vt:lpstr>The Sun Network File System   Client-Server</vt:lpstr>
      <vt:lpstr>NFS (1)</vt:lpstr>
      <vt:lpstr>NFS (2)</vt:lpstr>
      <vt:lpstr>NFS Mount Protocol (1)</vt:lpstr>
      <vt:lpstr>NFS Mount Protocol (2)</vt:lpstr>
      <vt:lpstr>NFS Protocol</vt:lpstr>
      <vt:lpstr>Three Major Layers of NFS Architecture </vt:lpstr>
      <vt:lpstr>Schematic View of NFS Architecture </vt:lpstr>
      <vt:lpstr>NFS Path-Name Translation</vt:lpstr>
      <vt:lpstr>NFS Remote Operations</vt:lpstr>
      <vt:lpstr>Example: WAFL File System</vt:lpstr>
      <vt:lpstr>The WAFL File Layout</vt:lpstr>
      <vt:lpstr>Snapshots in WAFL</vt:lpstr>
      <vt:lpstr>Representational State Transfer (REST)</vt:lpstr>
      <vt:lpstr>Stateless Servers, NFS</vt:lpstr>
      <vt:lpstr>Stateful Servers, AFS</vt:lpstr>
      <vt:lpstr>Write-on-close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11.01</dc:title>
  <dc:creator>Jia-Shung WANG</dc:creator>
  <cp:lastModifiedBy>JS</cp:lastModifiedBy>
  <cp:revision>240</cp:revision>
  <cp:lastPrinted>2018-05-21T01:43:57Z</cp:lastPrinted>
  <dcterms:created xsi:type="dcterms:W3CDTF">1999-08-24T13:56:22Z</dcterms:created>
  <dcterms:modified xsi:type="dcterms:W3CDTF">2018-05-21T01:44:36Z</dcterms:modified>
</cp:coreProperties>
</file>