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31"/>
  </p:normalViewPr>
  <p:slideViewPr>
    <p:cSldViewPr snapToGrid="0" snapToObjects="1">
      <p:cViewPr varScale="1">
        <p:scale>
          <a:sx n="85" d="100"/>
          <a:sy n="85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4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3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7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5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8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9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8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2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5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F6B59-1DA0-C54F-97F4-F6B60C2B4420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5F17-D6A8-F140-8CA0-15DF53F4C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4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作業書面報告</a:t>
            </a:r>
            <a:r>
              <a:rPr lang="en-US" b="1" dirty="0"/>
              <a:t> &amp;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zh-TW" altLang="en-US" b="1" dirty="0" smtClean="0"/>
              <a:t>軟體</a:t>
            </a:r>
            <a:r>
              <a:rPr lang="zh-TW" altLang="en-US" b="1" dirty="0"/>
              <a:t>雛形設計</a:t>
            </a:r>
            <a:r>
              <a:rPr lang="en-US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8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本作業包含以下部分，詳細說明如後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User Analysis &amp; persona</a:t>
            </a:r>
            <a:endParaRPr lang="en-US" dirty="0"/>
          </a:p>
          <a:p>
            <a:pPr lvl="0"/>
            <a:r>
              <a:rPr lang="en-US" b="1" dirty="0"/>
              <a:t>Task Analysis</a:t>
            </a:r>
            <a:endParaRPr lang="en-US" dirty="0"/>
          </a:p>
          <a:p>
            <a:pPr lvl="0"/>
            <a:r>
              <a:rPr lang="en-US" b="1" dirty="0"/>
              <a:t>Conceptual Design Process &amp; Product  </a:t>
            </a:r>
            <a:endParaRPr lang="en-US" dirty="0"/>
          </a:p>
          <a:p>
            <a:pPr lvl="0"/>
            <a:r>
              <a:rPr lang="en-US" b="1" dirty="0"/>
              <a:t>Paper Prototype</a:t>
            </a:r>
            <a:endParaRPr lang="en-US" dirty="0"/>
          </a:p>
          <a:p>
            <a:pPr lvl="0"/>
            <a:r>
              <a:rPr lang="en-US" b="1" dirty="0"/>
              <a:t>Video or software  </a:t>
            </a:r>
            <a:r>
              <a:rPr lang="en-US" b="1" dirty="0" smtClean="0"/>
              <a:t>Prototype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7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Definition of user group</a:t>
            </a:r>
          </a:p>
          <a:p>
            <a:pPr lvl="1"/>
            <a:r>
              <a:rPr lang="en-US" dirty="0" smtClean="0"/>
              <a:t>Brief, narrative description defining user group (who is included, who is not)</a:t>
            </a:r>
          </a:p>
          <a:p>
            <a:pPr lvl="1"/>
            <a:endParaRPr lang="en-US" dirty="0"/>
          </a:p>
          <a:p>
            <a:r>
              <a:rPr lang="en-US" dirty="0" smtClean="0"/>
              <a:t>Checklist of important user characteristics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Physical characteristics</a:t>
            </a:r>
            <a:endParaRPr lang="en-US" dirty="0"/>
          </a:p>
          <a:p>
            <a:pPr lvl="2">
              <a:buFont typeface="Arial" charset="0"/>
              <a:buChar char="•"/>
            </a:pPr>
            <a:r>
              <a:rPr lang="en-US" dirty="0" smtClean="0"/>
              <a:t>Age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Sex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Perceptual abilities, e.g. perceptual handicaps (</a:t>
            </a:r>
            <a:r>
              <a:rPr lang="en-US" dirty="0"/>
              <a:t>e.g. </a:t>
            </a:r>
            <a:r>
              <a:rPr lang="zh-TW" altLang="en-US" dirty="0"/>
              <a:t>色盲、失憶症</a:t>
            </a:r>
            <a:r>
              <a:rPr lang="en-US" dirty="0"/>
              <a:t>)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Motor skills and physical disabilities (e.g. </a:t>
            </a:r>
            <a:r>
              <a:rPr lang="zh-TW" altLang="en-US" dirty="0"/>
              <a:t>肢體障礙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</a:p>
          <a:p>
            <a:pPr lvl="2">
              <a:buFont typeface="Arial" charset="0"/>
              <a:buChar char="•"/>
            </a:pP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Knowledge and experience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Level of education, reading level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Knowledge of particular (domain-specific) terminology </a:t>
            </a:r>
            <a:r>
              <a:rPr lang="en-US" dirty="0"/>
              <a:t>(e.g. </a:t>
            </a:r>
            <a:r>
              <a:rPr lang="zh-TW" altLang="en-US" dirty="0"/>
              <a:t>資工、人社</a:t>
            </a:r>
            <a:r>
              <a:rPr lang="en-US" dirty="0"/>
              <a:t>…)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838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Analysis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Checklist of important user characteristics (cont.)</a:t>
            </a:r>
          </a:p>
          <a:p>
            <a:pPr marL="914400" lvl="1" indent="-457200">
              <a:buFont typeface="+mj-lt"/>
              <a:buAutoNum type="arabicParenR" startAt="3"/>
            </a:pPr>
            <a:r>
              <a:rPr lang="en-US" dirty="0" smtClean="0"/>
              <a:t>Computer/Information </a:t>
            </a:r>
            <a:r>
              <a:rPr lang="en-US" dirty="0"/>
              <a:t>Technology experience or </a:t>
            </a:r>
            <a:r>
              <a:rPr lang="en-US" dirty="0" smtClean="0"/>
              <a:t>knowledge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Computer literacy</a:t>
            </a:r>
            <a:r>
              <a:rPr lang="zh-TW" altLang="en-US" dirty="0"/>
              <a:t>電腦素養</a:t>
            </a:r>
            <a:r>
              <a:rPr lang="en-US" dirty="0"/>
              <a:t>:  naive, novice, skilled, expert</a:t>
            </a:r>
            <a:r>
              <a:rPr lang="en-US" dirty="0" smtClean="0">
                <a:effectLst/>
              </a:rPr>
              <a:t> 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Level </a:t>
            </a:r>
            <a:r>
              <a:rPr lang="en-US" dirty="0"/>
              <a:t>of experience with similar systems (e.g. </a:t>
            </a:r>
            <a:r>
              <a:rPr lang="en-US" dirty="0" smtClean="0"/>
              <a:t>E-reader)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Level </a:t>
            </a:r>
            <a:r>
              <a:rPr lang="en-US" dirty="0"/>
              <a:t>of experience with other systems (e.g. E-book, </a:t>
            </a:r>
            <a:r>
              <a:rPr lang="zh-TW" altLang="en-US" dirty="0"/>
              <a:t>可上網手機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  <a:p>
            <a:pPr marL="914400" lvl="1" indent="-457200">
              <a:buFont typeface="+mj-lt"/>
              <a:buAutoNum type="arabicParenR" startAt="3"/>
            </a:pPr>
            <a:r>
              <a:rPr lang="en-US" dirty="0" smtClean="0"/>
              <a:t>Level </a:t>
            </a:r>
            <a:r>
              <a:rPr lang="en-US" dirty="0"/>
              <a:t>of experience with the task (e.g. </a:t>
            </a:r>
            <a:r>
              <a:rPr lang="zh-TW" altLang="en-US" dirty="0"/>
              <a:t>執行此任務</a:t>
            </a:r>
            <a:r>
              <a:rPr lang="en-US" dirty="0"/>
              <a:t> -- </a:t>
            </a:r>
            <a:r>
              <a:rPr lang="zh-TW" altLang="en-US" dirty="0"/>
              <a:t>操作電子閱讀器的熟悉度，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</a:p>
          <a:p>
            <a:pPr marL="914400" lvl="1" indent="-457200">
              <a:buFont typeface="+mj-lt"/>
              <a:buAutoNum type="arabicParenR" startAt="3"/>
            </a:pPr>
            <a:r>
              <a:rPr lang="en-US" dirty="0"/>
              <a:t>Psychological </a:t>
            </a:r>
            <a:r>
              <a:rPr lang="en-US" dirty="0" smtClean="0"/>
              <a:t>characteristics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Attitudes (e.g. </a:t>
            </a:r>
            <a:r>
              <a:rPr lang="zh-TW" altLang="en-US" dirty="0"/>
              <a:t>排斥、迫不及待</a:t>
            </a:r>
            <a:r>
              <a:rPr lang="en-US" dirty="0"/>
              <a:t>)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Motivation to use the system (e.g. </a:t>
            </a:r>
            <a:r>
              <a:rPr lang="zh-TW" altLang="en-US" dirty="0"/>
              <a:t>使用此系統的意願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9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寫兩個</a:t>
            </a:r>
            <a:r>
              <a:rPr lang="en-US" altLang="zh-TW" dirty="0" smtClean="0"/>
              <a:t> personas </a:t>
            </a:r>
            <a:r>
              <a:rPr lang="mr-IN" altLang="zh-TW" dirty="0" smtClean="0"/>
              <a:t>–</a:t>
            </a:r>
            <a:r>
              <a:rPr lang="en-US" altLang="zh-TW" dirty="0" smtClean="0"/>
              <a:t> primary &amp; secondary, </a:t>
            </a:r>
            <a:r>
              <a:rPr lang="zh-TW" altLang="en-US" dirty="0" smtClean="0"/>
              <a:t>明確描述個人細節及特性</a:t>
            </a:r>
            <a:endParaRPr lang="en-US" altLang="zh-TW" dirty="0" smtClean="0"/>
          </a:p>
          <a:p>
            <a:r>
              <a:rPr lang="en-US" dirty="0" smtClean="0"/>
              <a:t>Include all characteristics listed in the sidebar on p.17 of: Head, A. (2003). Personas: setting the stage for building usable information sites. </a:t>
            </a:r>
            <a:r>
              <a:rPr lang="en-US" i="1" dirty="0" smtClean="0"/>
              <a:t>Online, 27</a:t>
            </a:r>
            <a:r>
              <a:rPr lang="en-US" dirty="0" smtClean="0"/>
              <a:t>(4), 14-21. </a:t>
            </a:r>
            <a:r>
              <a:rPr lang="zh-TW" altLang="en-US" dirty="0" smtClean="0"/>
              <a:t>如下</a:t>
            </a:r>
            <a:endParaRPr lang="en-US" altLang="zh-TW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Essential Details for Defining Personas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8176"/>
            <a:ext cx="11228832" cy="5084064"/>
          </a:xfrm>
        </p:spPr>
        <p:txBody>
          <a:bodyPr numCol="2">
            <a:normAutofit fontScale="92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 name (a real name like Greg or Madeline, etc.)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Age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Photo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Personal information, including family and home life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Work environment (the tools used and the conditions worked under, rather than a job description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Computer proficiency and comfort level with using the Web </a:t>
            </a:r>
            <a:r>
              <a:rPr lang="zh-TW" altLang="en-US" dirty="0" smtClean="0"/>
              <a:t>電腦與網頁使用熟練度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altLang="zh-TW" dirty="0" smtClean="0"/>
              <a:t>Pet peeves and </a:t>
            </a:r>
            <a:r>
              <a:rPr lang="en-US" dirty="0"/>
              <a:t>technical frustrations  </a:t>
            </a:r>
            <a:r>
              <a:rPr lang="zh-TW" altLang="en-US" dirty="0"/>
              <a:t>個人生活習慣上的小毛病或容易感到挫折之處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Attitudes </a:t>
            </a:r>
            <a:r>
              <a:rPr lang="ko-KR" altLang="en-US" dirty="0"/>
              <a:t>對使用此系統</a:t>
            </a:r>
            <a:r>
              <a:rPr lang="en-US" dirty="0"/>
              <a:t>(</a:t>
            </a:r>
            <a:r>
              <a:rPr lang="ko-KR" altLang="en-US" dirty="0"/>
              <a:t>電子書</a:t>
            </a:r>
            <a:r>
              <a:rPr lang="en-US" dirty="0"/>
              <a:t>)</a:t>
            </a:r>
            <a:r>
              <a:rPr lang="ko-KR" altLang="en-US" dirty="0"/>
              <a:t>之態度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Motivation or "trigger" for using a high-tech product (not just tasks, but end results) </a:t>
            </a:r>
            <a:r>
              <a:rPr lang="ko-KR" altLang="en-US" dirty="0"/>
              <a:t>使用此系統對他的幫助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Information-seeking habits and favorite resources (e.g. </a:t>
            </a:r>
            <a:r>
              <a:rPr lang="ko-KR" altLang="en-US" dirty="0"/>
              <a:t>常上網查資料，上</a:t>
            </a:r>
            <a:r>
              <a:rPr lang="en-US" dirty="0"/>
              <a:t>BBS… </a:t>
            </a:r>
            <a:r>
              <a:rPr lang="ko-KR" altLang="en-US" dirty="0"/>
              <a:t>三姑六婆口耳相傳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Personal and professional goals (e.g. </a:t>
            </a:r>
            <a:r>
              <a:rPr lang="zh-TW" altLang="en-US" dirty="0"/>
              <a:t>理想的生活方式或生涯目標</a:t>
            </a:r>
            <a:r>
              <a:rPr lang="en-US" dirty="0"/>
              <a:t>: </a:t>
            </a:r>
            <a:r>
              <a:rPr lang="zh-TW" altLang="en-US" dirty="0"/>
              <a:t>如自然主義者</a:t>
            </a:r>
            <a:r>
              <a:rPr lang="en-US" dirty="0"/>
              <a:t>OR</a:t>
            </a:r>
            <a:r>
              <a:rPr lang="zh-TW" altLang="en-US" dirty="0"/>
              <a:t>成為房仲介領域的最佳</a:t>
            </a:r>
            <a:r>
              <a:rPr lang="en-US" dirty="0"/>
              <a:t>sales)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Candid quotes (e.g. </a:t>
            </a:r>
            <a:r>
              <a:rPr lang="zh-TW" altLang="en-US" dirty="0"/>
              <a:t>直接引用他說的一句話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871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Contextual inquiry &amp; affinity diagram</a:t>
            </a:r>
          </a:p>
          <a:p>
            <a:pPr lvl="1"/>
            <a:r>
              <a:rPr lang="zh-TW" altLang="en-US" dirty="0"/>
              <a:t>在作業中以文字描述你們進行</a:t>
            </a:r>
            <a:r>
              <a:rPr lang="en-US" dirty="0"/>
              <a:t> contextual inquiry </a:t>
            </a:r>
            <a:r>
              <a:rPr lang="zh-TW" altLang="en-US" dirty="0"/>
              <a:t>及製作</a:t>
            </a:r>
            <a:r>
              <a:rPr lang="en-US" dirty="0"/>
              <a:t>affinity diagram</a:t>
            </a:r>
            <a:r>
              <a:rPr lang="zh-TW" altLang="en-US" dirty="0"/>
              <a:t>過程。例如</a:t>
            </a:r>
            <a:endParaRPr lang="en-US" dirty="0"/>
          </a:p>
          <a:p>
            <a:pPr lvl="1"/>
            <a:r>
              <a:rPr lang="en-US" dirty="0"/>
              <a:t>Contextual inquiry (</a:t>
            </a:r>
            <a:r>
              <a:rPr lang="zh-TW" altLang="en-US" dirty="0"/>
              <a:t>人數、地點、進行方式與過程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Affinity diagram (</a:t>
            </a:r>
            <a:r>
              <a:rPr lang="zh-TW" altLang="en-US" dirty="0"/>
              <a:t>進行方式與過程，書面作業請附上</a:t>
            </a:r>
            <a:r>
              <a:rPr lang="en-US" dirty="0"/>
              <a:t> affinity diagram</a:t>
            </a:r>
            <a:r>
              <a:rPr lang="zh-TW" altLang="en-US" dirty="0"/>
              <a:t>的翻拍圖</a:t>
            </a:r>
            <a:r>
              <a:rPr lang="en-US" dirty="0"/>
              <a:t>(</a:t>
            </a:r>
            <a:r>
              <a:rPr lang="zh-TW" altLang="en-US" dirty="0"/>
              <a:t>此外也可附上</a:t>
            </a:r>
            <a:r>
              <a:rPr lang="en-US" dirty="0"/>
              <a:t>affinity diagram</a:t>
            </a:r>
            <a:r>
              <a:rPr lang="zh-TW" altLang="en-US" dirty="0"/>
              <a:t>大分類</a:t>
            </a:r>
            <a:r>
              <a:rPr lang="en-US" dirty="0"/>
              <a:t>)</a:t>
            </a:r>
            <a:r>
              <a:rPr lang="zh-TW" altLang="en-US" dirty="0"/>
              <a:t>。</a:t>
            </a:r>
            <a:r>
              <a:rPr lang="en-US" dirty="0" smtClean="0">
                <a:effectLst/>
              </a:rPr>
              <a:t> </a:t>
            </a:r>
            <a:endParaRPr lang="en-US" dirty="0"/>
          </a:p>
          <a:p>
            <a:pPr lvl="1"/>
            <a:endParaRPr lang="en-US" dirty="0" smtClean="0">
              <a:effectLst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Goals</a:t>
            </a:r>
            <a:r>
              <a:rPr lang="en-US" b="1" dirty="0"/>
              <a:t> </a:t>
            </a:r>
            <a:r>
              <a:rPr lang="en-US" dirty="0"/>
              <a:t>of users (e.g. </a:t>
            </a:r>
            <a:r>
              <a:rPr lang="zh-TW" altLang="en-US" dirty="0"/>
              <a:t>使用電子書目的</a:t>
            </a:r>
            <a:r>
              <a:rPr lang="en-US" dirty="0"/>
              <a:t>)</a:t>
            </a:r>
            <a:r>
              <a:rPr lang="en-US" dirty="0" smtClean="0">
                <a:effectLst/>
              </a:rPr>
              <a:t> </a:t>
            </a:r>
          </a:p>
          <a:p>
            <a:pPr marL="0" indent="0">
              <a:buNone/>
            </a:pPr>
            <a:endParaRPr lang="en-US" dirty="0" smtClean="0">
              <a:effectLst/>
            </a:endParaRPr>
          </a:p>
          <a:p>
            <a:pPr marL="514350" indent="-514350">
              <a:buFont typeface="+mj-lt"/>
              <a:buAutoNum type="alphaUcPeriod" startAt="3"/>
            </a:pPr>
            <a:r>
              <a:rPr lang="en-US" dirty="0" smtClean="0"/>
              <a:t>The</a:t>
            </a:r>
            <a:r>
              <a:rPr lang="en-US" b="1" dirty="0" smtClean="0"/>
              <a:t> </a:t>
            </a:r>
            <a:r>
              <a:rPr lang="en-US" b="1" dirty="0"/>
              <a:t>tasks </a:t>
            </a:r>
            <a:r>
              <a:rPr lang="en-US" dirty="0"/>
              <a:t>to be </a:t>
            </a:r>
            <a:r>
              <a:rPr lang="en-US" b="1" dirty="0"/>
              <a:t>performed: </a:t>
            </a:r>
            <a:r>
              <a:rPr lang="zh-TW" altLang="en-US" dirty="0"/>
              <a:t>請進行底下兩項</a:t>
            </a:r>
            <a:r>
              <a:rPr lang="zh-TW" altLang="en-US" dirty="0" smtClean="0"/>
              <a:t>分析</a:t>
            </a:r>
            <a:endParaRPr lang="en-US" altLang="zh-TW" dirty="0" smtClean="0"/>
          </a:p>
          <a:p>
            <a:pPr lvl="1">
              <a:buFont typeface="Arial" charset="0"/>
              <a:buChar char="•"/>
            </a:pPr>
            <a:r>
              <a:rPr lang="en-US" dirty="0" smtClean="0"/>
              <a:t>Task </a:t>
            </a:r>
            <a:r>
              <a:rPr lang="en-US" dirty="0"/>
              <a:t>description: Scenarios of use </a:t>
            </a:r>
          </a:p>
          <a:p>
            <a:pPr lvl="1"/>
            <a:r>
              <a:rPr lang="en-US" dirty="0"/>
              <a:t>Task analysis: Hierarchical description of activity</a:t>
            </a:r>
            <a:r>
              <a:rPr lang="en-US" dirty="0" smtClean="0"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316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 (cont.)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5488" y="1426464"/>
            <a:ext cx="11247120" cy="513892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UcPeriod" startAt="4"/>
            </a:pPr>
            <a:r>
              <a:rPr lang="en-US" dirty="0" smtClean="0"/>
              <a:t>Contextual inquiry &amp; affinity diagram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The frequency or timing of the task </a:t>
            </a:r>
          </a:p>
          <a:p>
            <a:pPr lvl="2"/>
            <a:r>
              <a:rPr lang="en-US" dirty="0"/>
              <a:t>How frequently do users perform the task? </a:t>
            </a:r>
          </a:p>
          <a:p>
            <a:pPr lvl="2"/>
            <a:r>
              <a:rPr lang="en-US" dirty="0"/>
              <a:t>What are the time constraints on the task</a:t>
            </a:r>
            <a:r>
              <a:rPr lang="en-US" dirty="0" smtClean="0"/>
              <a:t>?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The complexity and difficulty of the task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The </a:t>
            </a:r>
            <a:r>
              <a:rPr lang="en-US" b="1" dirty="0"/>
              <a:t>relationship</a:t>
            </a:r>
            <a:r>
              <a:rPr lang="en-US" dirty="0"/>
              <a:t> of the task to </a:t>
            </a:r>
            <a:r>
              <a:rPr lang="en-US" b="1" dirty="0"/>
              <a:t>other user tasks</a:t>
            </a:r>
            <a:r>
              <a:rPr lang="en-US" dirty="0"/>
              <a:t> (</a:t>
            </a:r>
            <a:r>
              <a:rPr lang="zh-TW" altLang="en-US" dirty="0"/>
              <a:t>例如與課堂上其他學習活動的關聯性</a:t>
            </a:r>
            <a:r>
              <a:rPr lang="en-US" dirty="0" smtClean="0"/>
              <a:t>)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The functional requirement of the system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The physical environment of task performance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Where is the task performed?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What other tools does the user have?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The social, organizational and cultural environment of the task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Relationships with other people in the workplace or on the work team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The organizational culture and its effects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dirty="0" smtClean="0"/>
              <a:t>The technical environment of the system</a:t>
            </a:r>
          </a:p>
        </p:txBody>
      </p:sp>
    </p:spTree>
    <p:extLst>
      <p:ext uri="{BB962C8B-B14F-4D97-AF65-F5344CB8AC3E}">
        <p14:creationId xmlns:p14="http://schemas.microsoft.com/office/powerpoint/2010/main" val="4856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Analysis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UcPeriod" startAt="5"/>
            </a:pPr>
            <a:r>
              <a:rPr lang="en-US" dirty="0" smtClean="0"/>
              <a:t>Planning for learning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What training will be provided? How is the task learned?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What happens when things go wrong?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lphaUcPeriod" startAt="6"/>
            </a:pPr>
            <a:r>
              <a:rPr lang="en-US" dirty="0" smtClean="0"/>
              <a:t>Usability goals and user experience goals</a:t>
            </a:r>
          </a:p>
        </p:txBody>
      </p:sp>
    </p:spTree>
    <p:extLst>
      <p:ext uri="{BB962C8B-B14F-4D97-AF65-F5344CB8AC3E}">
        <p14:creationId xmlns:p14="http://schemas.microsoft.com/office/powerpoint/2010/main" val="109089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Design Process and Product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3600" dirty="0" smtClean="0"/>
              <a:t>Interface Design Decisions </a:t>
            </a:r>
            <a:r>
              <a:rPr lang="en-US" sz="3600" dirty="0" smtClean="0">
                <a:solidFill>
                  <a:srgbClr val="FF0000"/>
                </a:solidFill>
              </a:rPr>
              <a:t>--- Process </a:t>
            </a:r>
            <a:r>
              <a:rPr lang="zh-TW" altLang="en-US" sz="3600" dirty="0" smtClean="0">
                <a:solidFill>
                  <a:srgbClr val="FF0000"/>
                </a:solidFill>
              </a:rPr>
              <a:t>過程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b="1" dirty="0" smtClean="0"/>
              <a:t>Process of idea generation </a:t>
            </a:r>
            <a:r>
              <a:rPr lang="zh-TW" altLang="en-US" b="1" dirty="0" smtClean="0"/>
              <a:t>腦力激盪過程中的主要考量</a:t>
            </a:r>
            <a:r>
              <a:rPr lang="en-US" altLang="zh-TW" b="1" dirty="0" smtClean="0"/>
              <a:t> (controversial areas</a:t>
            </a:r>
            <a:r>
              <a:rPr lang="mr-IN" altLang="zh-TW" b="1" dirty="0" smtClean="0"/>
              <a:t>…</a:t>
            </a:r>
            <a:r>
              <a:rPr lang="en-US" altLang="zh-TW" b="1" dirty="0" smtClean="0"/>
              <a:t>)</a:t>
            </a:r>
            <a:r>
              <a:rPr lang="en-US" altLang="zh-TW" dirty="0" smtClean="0"/>
              <a:t>, </a:t>
            </a:r>
            <a:r>
              <a:rPr lang="zh-TW" altLang="en-US" dirty="0" smtClean="0"/>
              <a:t>例如</a:t>
            </a:r>
            <a:r>
              <a:rPr lang="zh-TW" altLang="en-US" dirty="0" smtClean="0">
                <a:solidFill>
                  <a:srgbClr val="0432FF"/>
                </a:solidFill>
              </a:rPr>
              <a:t>紀錄你們在設計系統的過程中，有哪些考量想法</a:t>
            </a:r>
            <a:r>
              <a:rPr lang="en-US" altLang="zh-TW" dirty="0" smtClean="0">
                <a:solidFill>
                  <a:srgbClr val="0432FF"/>
                </a:solidFill>
              </a:rPr>
              <a:t> (C11</a:t>
            </a:r>
            <a:r>
              <a:rPr lang="zh-TW" altLang="en-US" dirty="0" smtClean="0">
                <a:solidFill>
                  <a:srgbClr val="0432FF"/>
                </a:solidFill>
              </a:rPr>
              <a:t>的講義中有說明</a:t>
            </a:r>
            <a:r>
              <a:rPr lang="en-US" altLang="zh-TW" dirty="0" smtClean="0">
                <a:solidFill>
                  <a:srgbClr val="0432FF"/>
                </a:solidFill>
              </a:rPr>
              <a:t>), </a:t>
            </a:r>
            <a:r>
              <a:rPr lang="zh-TW" altLang="en-US" dirty="0" smtClean="0">
                <a:solidFill>
                  <a:srgbClr val="0432FF"/>
                </a:solidFill>
              </a:rPr>
              <a:t>例如</a:t>
            </a:r>
            <a:r>
              <a:rPr lang="en-US" altLang="zh-TW" dirty="0" smtClean="0">
                <a:solidFill>
                  <a:srgbClr val="0432FF"/>
                </a:solidFill>
              </a:rPr>
              <a:t>&lt;</a:t>
            </a:r>
            <a:r>
              <a:rPr lang="zh-TW" altLang="en-US" dirty="0" smtClean="0">
                <a:solidFill>
                  <a:srgbClr val="0432FF"/>
                </a:solidFill>
              </a:rPr>
              <a:t>不限</a:t>
            </a:r>
            <a:r>
              <a:rPr lang="en-US" altLang="zh-TW" dirty="0" smtClean="0">
                <a:solidFill>
                  <a:srgbClr val="0432FF"/>
                </a:solidFill>
              </a:rPr>
              <a:t>&gt;</a:t>
            </a:r>
            <a:r>
              <a:rPr lang="zh-TW" altLang="en-US" dirty="0" smtClean="0">
                <a:solidFill>
                  <a:srgbClr val="0432FF"/>
                </a:solidFill>
              </a:rPr>
              <a:t>一下</a:t>
            </a:r>
            <a:r>
              <a:rPr lang="en-US" altLang="zh-TW" dirty="0" smtClean="0">
                <a:solidFill>
                  <a:srgbClr val="0432FF"/>
                </a:solidFill>
              </a:rPr>
              <a:t>3</a:t>
            </a:r>
            <a:r>
              <a:rPr lang="zh-TW" altLang="en-US" dirty="0" smtClean="0">
                <a:solidFill>
                  <a:srgbClr val="0432FF"/>
                </a:solidFill>
              </a:rPr>
              <a:t>點</a:t>
            </a:r>
          </a:p>
          <a:p>
            <a:pPr lvl="1"/>
            <a:r>
              <a:rPr lang="en-US" dirty="0" smtClean="0"/>
              <a:t>What main functions will the product perform? What will the product do and what will the human do (task allocation)?</a:t>
            </a:r>
            <a:br>
              <a:rPr lang="en-US" dirty="0" smtClean="0"/>
            </a:br>
            <a:r>
              <a:rPr lang="ko-KR" altLang="en-US" dirty="0">
                <a:solidFill>
                  <a:srgbClr val="0432FF"/>
                </a:solidFill>
              </a:rPr>
              <a:t> 產品應具備什麼</a:t>
            </a:r>
            <a:r>
              <a:rPr lang="zh-TW" altLang="en-US" dirty="0">
                <a:solidFill>
                  <a:srgbClr val="0432FF"/>
                </a:solidFill>
              </a:rPr>
              <a:t>主要</a:t>
            </a:r>
            <a:r>
              <a:rPr lang="ko-KR" altLang="en-US" dirty="0">
                <a:solidFill>
                  <a:srgbClr val="0432FF"/>
                </a:solidFill>
              </a:rPr>
              <a:t>功能，那些任務操作是由系統，那些是由</a:t>
            </a:r>
            <a:r>
              <a:rPr lang="zh-TW" altLang="en-US" dirty="0">
                <a:solidFill>
                  <a:srgbClr val="0432FF"/>
                </a:solidFill>
              </a:rPr>
              <a:t>使用者</a:t>
            </a:r>
            <a:r>
              <a:rPr lang="ko-KR" altLang="en-US" dirty="0">
                <a:solidFill>
                  <a:srgbClr val="0432FF"/>
                </a:solidFill>
              </a:rPr>
              <a:t>來負責執行</a:t>
            </a:r>
            <a:r>
              <a:rPr lang="en-US" dirty="0" smtClean="0">
                <a:effectLst/>
              </a:rPr>
              <a:t> </a:t>
            </a:r>
          </a:p>
          <a:p>
            <a:pPr lvl="1"/>
            <a:r>
              <a:rPr lang="en-US" dirty="0" smtClean="0"/>
              <a:t>How are the functions related to each other?</a:t>
            </a:r>
            <a:r>
              <a:rPr lang="zh-TW" altLang="en-US" dirty="0" smtClean="0"/>
              <a:t> 彼此間關係</a:t>
            </a:r>
            <a:endParaRPr lang="en-US" altLang="zh-TW" dirty="0" smtClean="0"/>
          </a:p>
          <a:p>
            <a:pPr lvl="2"/>
            <a:r>
              <a:rPr lang="en-US" dirty="0" smtClean="0"/>
              <a:t>Sequential or parallel? </a:t>
            </a:r>
            <a:r>
              <a:rPr lang="zh-TW" altLang="en-US" dirty="0" smtClean="0"/>
              <a:t>任務執行先後順序</a:t>
            </a:r>
            <a:endParaRPr lang="en-US" altLang="zh-TW" dirty="0" smtClean="0"/>
          </a:p>
          <a:p>
            <a:pPr lvl="2"/>
            <a:r>
              <a:rPr lang="en-US" dirty="0" smtClean="0"/>
              <a:t>Categorizations, e.g. all actions related to telephone memory storage</a:t>
            </a:r>
            <a:r>
              <a:rPr lang="en-US" dirty="0"/>
              <a:t/>
            </a:r>
            <a:br>
              <a:rPr lang="en-US" dirty="0"/>
            </a:br>
            <a:r>
              <a:rPr lang="ko-KR" altLang="en-US" dirty="0"/>
              <a:t> </a:t>
            </a:r>
            <a:r>
              <a:rPr lang="ko-KR" altLang="en-US" dirty="0">
                <a:solidFill>
                  <a:srgbClr val="0432FF"/>
                </a:solidFill>
              </a:rPr>
              <a:t>這些功能彼此間有什麼關係，有哪些執行的先後順序</a:t>
            </a:r>
            <a:r>
              <a:rPr lang="en-US" dirty="0">
                <a:solidFill>
                  <a:srgbClr val="0432FF"/>
                </a:solidFill>
              </a:rPr>
              <a:t>? (e.g. </a:t>
            </a:r>
            <a:r>
              <a:rPr lang="zh-TW" altLang="en-US" dirty="0">
                <a:solidFill>
                  <a:srgbClr val="0432FF"/>
                </a:solidFill>
              </a:rPr>
              <a:t>在行事曆系統中</a:t>
            </a:r>
            <a:r>
              <a:rPr lang="ko-KR" altLang="en-US" dirty="0">
                <a:solidFill>
                  <a:srgbClr val="0432FF"/>
                </a:solidFill>
              </a:rPr>
              <a:t>先輸入電話號碼，再儲存成聯絡人</a:t>
            </a:r>
            <a:r>
              <a:rPr lang="en-US" dirty="0">
                <a:solidFill>
                  <a:srgbClr val="0432FF"/>
                </a:solidFill>
              </a:rPr>
              <a:t>)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What information needs to be available?</a:t>
            </a:r>
          </a:p>
          <a:p>
            <a:pPr lvl="2"/>
            <a:r>
              <a:rPr lang="en-US" dirty="0" smtClean="0"/>
              <a:t>What data is required to perform the task?</a:t>
            </a:r>
          </a:p>
          <a:p>
            <a:pPr lvl="2"/>
            <a:r>
              <a:rPr lang="en-US" dirty="0" smtClean="0">
                <a:effectLst/>
              </a:rPr>
              <a:t>How is this data to be transformed by the system?</a:t>
            </a:r>
            <a:br>
              <a:rPr lang="en-US" dirty="0" smtClean="0">
                <a:effectLst/>
              </a:rPr>
            </a:br>
            <a:r>
              <a:rPr lang="ko-KR" altLang="en-US" dirty="0"/>
              <a:t> </a:t>
            </a:r>
            <a:r>
              <a:rPr lang="ko-KR" altLang="en-US" dirty="0">
                <a:solidFill>
                  <a:srgbClr val="0432FF"/>
                </a:solidFill>
              </a:rPr>
              <a:t>在執行任務中需要輸入什麼訊息</a:t>
            </a:r>
            <a:r>
              <a:rPr lang="en-US" dirty="0">
                <a:solidFill>
                  <a:srgbClr val="0432FF"/>
                </a:solidFill>
              </a:rPr>
              <a:t>? </a:t>
            </a:r>
            <a:r>
              <a:rPr lang="en-GB" dirty="0">
                <a:solidFill>
                  <a:srgbClr val="0432FF"/>
                </a:solidFill>
              </a:rPr>
              <a:t>(e.g. </a:t>
            </a:r>
            <a:r>
              <a:rPr lang="ko-KR" altLang="en-US" dirty="0">
                <a:solidFill>
                  <a:srgbClr val="0432FF"/>
                </a:solidFill>
              </a:rPr>
              <a:t>排定</a:t>
            </a:r>
            <a:r>
              <a:rPr lang="en-GB" dirty="0">
                <a:solidFill>
                  <a:srgbClr val="0432FF"/>
                </a:solidFill>
              </a:rPr>
              <a:t>meeting</a:t>
            </a:r>
            <a:r>
              <a:rPr lang="ko-KR" altLang="en-US" dirty="0">
                <a:solidFill>
                  <a:srgbClr val="0432FF"/>
                </a:solidFill>
              </a:rPr>
              <a:t>需知道時間地點</a:t>
            </a:r>
            <a:r>
              <a:rPr lang="en-GB" dirty="0">
                <a:solidFill>
                  <a:srgbClr val="0432FF"/>
                </a:solidFill>
              </a:rPr>
              <a:t>) </a:t>
            </a:r>
            <a:r>
              <a:rPr lang="ko-KR" altLang="en-US" dirty="0">
                <a:solidFill>
                  <a:srgbClr val="0432FF"/>
                </a:solidFill>
              </a:rPr>
              <a:t>系統如何轉換或處理這些訊息</a:t>
            </a:r>
            <a:r>
              <a:rPr lang="en-US" dirty="0">
                <a:solidFill>
                  <a:srgbClr val="0432FF"/>
                </a:solidFill>
              </a:rPr>
              <a:t>(e.g. GPS</a:t>
            </a:r>
            <a:r>
              <a:rPr lang="ko-KR" altLang="en-US" dirty="0">
                <a:solidFill>
                  <a:srgbClr val="0432FF"/>
                </a:solidFill>
              </a:rPr>
              <a:t>系統中需要輸入目的地的地址， 系統會根據這個資料比對地圖，並找出到達的途徑</a:t>
            </a:r>
            <a:r>
              <a:rPr lang="en-US" dirty="0">
                <a:solidFill>
                  <a:srgbClr val="0432FF"/>
                </a:solidFill>
              </a:rPr>
              <a:t>)</a:t>
            </a:r>
            <a:r>
              <a:rPr lang="ko-KR" altLang="en-US" dirty="0">
                <a:solidFill>
                  <a:srgbClr val="0432FF"/>
                </a:solidFill>
              </a:rPr>
              <a:t>。 </a:t>
            </a:r>
            <a:endParaRPr lang="en-US" dirty="0" smtClean="0">
              <a:solidFill>
                <a:srgbClr val="0432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6560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Design Process and Product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3600" dirty="0" smtClean="0"/>
              <a:t>Interface Design Decisions </a:t>
            </a:r>
            <a:r>
              <a:rPr lang="en-US" sz="3600" dirty="0" smtClean="0">
                <a:solidFill>
                  <a:srgbClr val="FF0000"/>
                </a:solidFill>
              </a:rPr>
              <a:t>--- Process </a:t>
            </a:r>
            <a:r>
              <a:rPr lang="zh-TW" altLang="en-US" sz="3600" dirty="0" smtClean="0">
                <a:solidFill>
                  <a:srgbClr val="FF0000"/>
                </a:solidFill>
              </a:rPr>
              <a:t>過程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en-US" b="1" dirty="0"/>
              <a:t>The most important design decisions </a:t>
            </a:r>
            <a:r>
              <a:rPr lang="ko-KR" altLang="en-US" dirty="0"/>
              <a:t>討論中有那些重要的設計決定</a:t>
            </a:r>
            <a:r>
              <a:rPr lang="en-US" dirty="0"/>
              <a:t> (</a:t>
            </a:r>
            <a:r>
              <a:rPr lang="ko-KR" altLang="en-US" dirty="0"/>
              <a:t>如功能、操作方式、操作流程</a:t>
            </a:r>
            <a:r>
              <a:rPr lang="en-GB" dirty="0"/>
              <a:t>Work flow</a:t>
            </a:r>
            <a:r>
              <a:rPr lang="en-US" altLang="ko-KR" dirty="0" smtClean="0"/>
              <a:t>…</a:t>
            </a:r>
            <a:r>
              <a:rPr lang="en-US" dirty="0" smtClean="0"/>
              <a:t>)</a:t>
            </a:r>
          </a:p>
          <a:p>
            <a:pPr lvl="1"/>
            <a:r>
              <a:rPr lang="zh-TW" altLang="en-US" dirty="0">
                <a:solidFill>
                  <a:srgbClr val="0432FF"/>
                </a:solidFill>
              </a:rPr>
              <a:t>主要功能</a:t>
            </a:r>
            <a:r>
              <a:rPr lang="en-US" dirty="0">
                <a:solidFill>
                  <a:srgbClr val="0432FF"/>
                </a:solidFill>
              </a:rPr>
              <a:t> (</a:t>
            </a:r>
            <a:r>
              <a:rPr lang="zh-TW" altLang="en-US" dirty="0">
                <a:solidFill>
                  <a:srgbClr val="0432FF"/>
                </a:solidFill>
              </a:rPr>
              <a:t>上面提到的</a:t>
            </a:r>
            <a:r>
              <a:rPr lang="en-US" dirty="0">
                <a:solidFill>
                  <a:srgbClr val="0432FF"/>
                </a:solidFill>
              </a:rPr>
              <a:t>)</a:t>
            </a:r>
          </a:p>
          <a:p>
            <a:pPr lvl="1"/>
            <a:r>
              <a:rPr lang="zh-TW" altLang="en-US" dirty="0">
                <a:solidFill>
                  <a:srgbClr val="0432FF"/>
                </a:solidFill>
              </a:rPr>
              <a:t>系統要如何操作，輸入資料或互動的方式為何並解釋原因</a:t>
            </a:r>
            <a:r>
              <a:rPr lang="en-US" dirty="0">
                <a:solidFill>
                  <a:srgbClr val="0432FF"/>
                </a:solidFill>
              </a:rPr>
              <a:t> (</a:t>
            </a:r>
            <a:r>
              <a:rPr lang="zh-TW" altLang="en-US" dirty="0">
                <a:solidFill>
                  <a:srgbClr val="0432FF"/>
                </a:solidFill>
              </a:rPr>
              <a:t>觸碰式</a:t>
            </a:r>
            <a:r>
              <a:rPr lang="en-US" dirty="0">
                <a:solidFill>
                  <a:srgbClr val="0432FF"/>
                </a:solidFill>
              </a:rPr>
              <a:t>… </a:t>
            </a:r>
            <a:r>
              <a:rPr lang="zh-TW" altLang="en-US" dirty="0">
                <a:solidFill>
                  <a:srgbClr val="0432FF"/>
                </a:solidFill>
              </a:rPr>
              <a:t>參考</a:t>
            </a:r>
            <a:r>
              <a:rPr lang="en-US" dirty="0">
                <a:solidFill>
                  <a:srgbClr val="0432FF"/>
                </a:solidFill>
              </a:rPr>
              <a:t>C2</a:t>
            </a:r>
            <a:r>
              <a:rPr lang="zh-TW" altLang="en-US" dirty="0">
                <a:solidFill>
                  <a:srgbClr val="0432FF"/>
                </a:solidFill>
              </a:rPr>
              <a:t>的</a:t>
            </a:r>
            <a:r>
              <a:rPr lang="en-US" dirty="0">
                <a:solidFill>
                  <a:srgbClr val="0432FF"/>
                </a:solidFill>
              </a:rPr>
              <a:t>2.3.4 interface type (instructing, conversing, manipulating, exploring </a:t>
            </a:r>
            <a:r>
              <a:rPr lang="zh-TW" altLang="en-US" dirty="0">
                <a:solidFill>
                  <a:srgbClr val="0432FF"/>
                </a:solidFill>
              </a:rPr>
              <a:t>屬於哪種介面型式</a:t>
            </a:r>
            <a:r>
              <a:rPr lang="en-US" dirty="0">
                <a:solidFill>
                  <a:srgbClr val="0432FF"/>
                </a:solidFill>
              </a:rPr>
              <a:t>)</a:t>
            </a:r>
          </a:p>
          <a:p>
            <a:pPr lvl="1"/>
            <a:r>
              <a:rPr lang="ko-KR" altLang="en-US" dirty="0">
                <a:solidFill>
                  <a:srgbClr val="0432FF"/>
                </a:solidFill>
              </a:rPr>
              <a:t>大致的系統操作流程為何</a:t>
            </a:r>
            <a:r>
              <a:rPr lang="en-US" dirty="0">
                <a:solidFill>
                  <a:srgbClr val="0432FF"/>
                </a:solidFill>
              </a:rPr>
              <a:t>? (e.g. </a:t>
            </a:r>
            <a:r>
              <a:rPr lang="ko-KR" altLang="en-US" dirty="0">
                <a:solidFill>
                  <a:srgbClr val="0432FF"/>
                </a:solidFill>
              </a:rPr>
              <a:t>如果是鐵路訂票系統，需要先查詢火車時刻，</a:t>
            </a:r>
            <a:r>
              <a:rPr lang="ko-KR" altLang="en-US" dirty="0" smtClean="0">
                <a:solidFill>
                  <a:srgbClr val="0432FF"/>
                </a:solidFill>
              </a:rPr>
              <a:t>再進行訂票</a:t>
            </a:r>
            <a:r>
              <a:rPr lang="en-US" dirty="0" smtClean="0">
                <a:solidFill>
                  <a:srgbClr val="0432FF"/>
                </a:solidFill>
              </a:rPr>
              <a:t>)</a:t>
            </a:r>
          </a:p>
          <a:p>
            <a:pPr lvl="1"/>
            <a:endParaRPr lang="en-US" altLang="zh-TW" dirty="0">
              <a:solidFill>
                <a:srgbClr val="0432FF"/>
              </a:solidFill>
            </a:endParaRPr>
          </a:p>
          <a:p>
            <a:pPr marL="514350" indent="-514350">
              <a:buFont typeface="+mj-lt"/>
              <a:buAutoNum type="arabicParenR" startAt="3"/>
            </a:pPr>
            <a:r>
              <a:rPr lang="en-US" b="1" dirty="0"/>
              <a:t>Rationale of design </a:t>
            </a:r>
            <a:r>
              <a:rPr lang="ko-KR" altLang="en-US" dirty="0"/>
              <a:t>這些設計所根據的理由</a:t>
            </a:r>
            <a:r>
              <a:rPr lang="en-US" dirty="0"/>
              <a:t> (</a:t>
            </a:r>
            <a:r>
              <a:rPr lang="zh-TW" altLang="en-US" dirty="0"/>
              <a:t>如研究使用者行為，參考文獻或設計原則</a:t>
            </a:r>
            <a:r>
              <a:rPr lang="en-US" dirty="0"/>
              <a:t>)  </a:t>
            </a:r>
            <a:r>
              <a:rPr lang="zh-TW" altLang="en-US" dirty="0">
                <a:solidFill>
                  <a:srgbClr val="0432FF"/>
                </a:solidFill>
              </a:rPr>
              <a:t>以上考量是基於哪些原因</a:t>
            </a:r>
            <a:r>
              <a:rPr lang="en-US" dirty="0">
                <a:solidFill>
                  <a:srgbClr val="0432FF"/>
                </a:solidFill>
              </a:rPr>
              <a:t>? </a:t>
            </a:r>
            <a:r>
              <a:rPr lang="zh-TW" altLang="en-US" dirty="0">
                <a:solidFill>
                  <a:srgbClr val="0432FF"/>
                </a:solidFill>
              </a:rPr>
              <a:t>符合哪些使用性原則或是文獻</a:t>
            </a:r>
            <a:r>
              <a:rPr lang="en-US" dirty="0">
                <a:solidFill>
                  <a:srgbClr val="0432FF"/>
                </a:solidFill>
              </a:rPr>
              <a:t>?</a:t>
            </a:r>
            <a:endParaRPr lang="zh-TW" altLang="en-US" dirty="0" smtClean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93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Design Process and Product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3600" dirty="0" smtClean="0"/>
              <a:t>Interface Design Description </a:t>
            </a:r>
            <a:r>
              <a:rPr lang="en-US" sz="3600" dirty="0" smtClean="0">
                <a:solidFill>
                  <a:srgbClr val="FF0000"/>
                </a:solidFill>
              </a:rPr>
              <a:t>--- Process </a:t>
            </a:r>
            <a:r>
              <a:rPr lang="zh-TW" altLang="en-US" sz="3600" dirty="0" smtClean="0">
                <a:solidFill>
                  <a:srgbClr val="FF0000"/>
                </a:solidFill>
              </a:rPr>
              <a:t>結果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Conceptual design (C11 </a:t>
            </a:r>
            <a:r>
              <a:rPr lang="zh-TW" altLang="en-US" dirty="0" smtClean="0"/>
              <a:t>後半部</a:t>
            </a:r>
            <a:r>
              <a:rPr lang="en-US" altLang="zh-TW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Main functions</a:t>
            </a:r>
            <a:r>
              <a:rPr lang="zh-TW" altLang="en-US" dirty="0"/>
              <a:t>系統主要功能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operation</a:t>
            </a:r>
            <a:r>
              <a:rPr lang="zh-TW" altLang="en-US" dirty="0"/>
              <a:t>系統操作方式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Interface structure </a:t>
            </a:r>
            <a:r>
              <a:rPr lang="zh-TW" altLang="en-US" dirty="0"/>
              <a:t>系統架構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 and feel </a:t>
            </a:r>
            <a:r>
              <a:rPr lang="zh-TW" altLang="en-US" dirty="0"/>
              <a:t>系統外觀</a:t>
            </a:r>
            <a:r>
              <a:rPr lang="en-US" dirty="0"/>
              <a:t> --- </a:t>
            </a:r>
            <a:r>
              <a:rPr lang="en-GB" dirty="0"/>
              <a:t>Screen layouts and information display</a:t>
            </a:r>
            <a:r>
              <a:rPr lang="en-US" dirty="0" smtClean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4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or Software Prototype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1463040"/>
            <a:ext cx="11576304" cy="521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請以</a:t>
            </a:r>
            <a:r>
              <a:rPr lang="en-US" dirty="0"/>
              <a:t> (video Prototype</a:t>
            </a:r>
            <a:r>
              <a:rPr lang="zh-TW" altLang="en-US" dirty="0"/>
              <a:t>情境演出</a:t>
            </a:r>
            <a:r>
              <a:rPr lang="en-US" dirty="0"/>
              <a:t>)</a:t>
            </a:r>
            <a:r>
              <a:rPr lang="zh-TW" altLang="en-US" dirty="0"/>
              <a:t>或是</a:t>
            </a:r>
            <a:r>
              <a:rPr lang="en-US" dirty="0"/>
              <a:t>(Software  Prototype)</a:t>
            </a:r>
            <a:r>
              <a:rPr lang="zh-TW" altLang="en-US" dirty="0"/>
              <a:t>的方式呈現 </a:t>
            </a:r>
            <a:r>
              <a:rPr lang="en-US" b="1" u="sng" dirty="0">
                <a:solidFill>
                  <a:srgbClr val="FF0000"/>
                </a:solidFill>
              </a:rPr>
              <a:t>(</a:t>
            </a:r>
            <a:r>
              <a:rPr lang="zh-TW" altLang="en-US" b="1" u="sng" dirty="0">
                <a:solidFill>
                  <a:srgbClr val="FF0000"/>
                </a:solidFill>
              </a:rPr>
              <a:t>二選一</a:t>
            </a:r>
            <a:r>
              <a:rPr lang="en-US" b="1" u="sng" dirty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rgbClr val="FF0000"/>
                </a:solidFill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Video Prototype</a:t>
            </a:r>
            <a:r>
              <a:rPr lang="zh-TW" altLang="en-US" dirty="0" smtClean="0"/>
              <a:t> 情境演出</a:t>
            </a:r>
            <a:endParaRPr lang="en-US" altLang="zh-TW" dirty="0" smtClean="0"/>
          </a:p>
          <a:p>
            <a:pPr lvl="1"/>
            <a:r>
              <a:rPr lang="zh-TW" altLang="en-US" dirty="0"/>
              <a:t>如果你想要表現的是創新的做法</a:t>
            </a:r>
            <a:r>
              <a:rPr lang="en-US" dirty="0"/>
              <a:t> (</a:t>
            </a:r>
            <a:r>
              <a:rPr lang="zh-TW" altLang="en-US" dirty="0"/>
              <a:t>如</a:t>
            </a:r>
            <a:r>
              <a:rPr lang="en-US" dirty="0"/>
              <a:t>DOCOMO</a:t>
            </a:r>
            <a:r>
              <a:rPr lang="zh-TW" altLang="en-US" dirty="0"/>
              <a:t>影片</a:t>
            </a:r>
            <a:r>
              <a:rPr lang="en-US" dirty="0"/>
              <a:t>)</a:t>
            </a:r>
            <a:r>
              <a:rPr lang="zh-TW" altLang="en-US" dirty="0"/>
              <a:t>，呈現你的設計如何改善使用者做事及生活方式，請以此形式呈現</a:t>
            </a:r>
            <a:endParaRPr lang="en-US" dirty="0"/>
          </a:p>
          <a:p>
            <a:pPr lvl="1"/>
            <a:r>
              <a:rPr lang="zh-TW" altLang="en-US" dirty="0"/>
              <a:t>利用雛形來呈現你的介面</a:t>
            </a:r>
            <a:endParaRPr lang="en-US" dirty="0"/>
          </a:p>
          <a:p>
            <a:pPr lvl="1"/>
            <a:r>
              <a:rPr lang="zh-TW" altLang="en-US" dirty="0"/>
              <a:t>情境演出使用者操作系統方式</a:t>
            </a:r>
            <a:endParaRPr lang="en-US" dirty="0"/>
          </a:p>
          <a:p>
            <a:pPr lvl="1"/>
            <a:r>
              <a:rPr lang="zh-TW" altLang="en-US" dirty="0"/>
              <a:t>請盡量事先拍攝好你們的演出劇情，並存在隨身碟中</a:t>
            </a:r>
            <a:r>
              <a:rPr lang="en-US" dirty="0" smtClean="0"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Software Prototype</a:t>
            </a:r>
          </a:p>
          <a:p>
            <a:pPr lvl="1"/>
            <a:r>
              <a:rPr lang="zh-TW" altLang="en-US" dirty="0"/>
              <a:t>如果你的系統有具體的介面設計，你的目的是要改善介面設計及操作流程，則可以選擇此方案</a:t>
            </a:r>
            <a:r>
              <a:rPr lang="en-US" dirty="0" smtClean="0">
                <a:effectLst/>
              </a:rPr>
              <a:t> </a:t>
            </a:r>
          </a:p>
          <a:p>
            <a:pPr lvl="1"/>
            <a:r>
              <a:rPr lang="zh-TW" altLang="en-US" dirty="0"/>
              <a:t>請附上你們以</a:t>
            </a:r>
            <a:r>
              <a:rPr lang="en-US" dirty="0" err="1"/>
              <a:t>Axure</a:t>
            </a:r>
            <a:r>
              <a:rPr lang="zh-TW" altLang="en-US" dirty="0"/>
              <a:t>或其他軟體所設計的最後雛形 ，上傳到系統</a:t>
            </a:r>
            <a:r>
              <a:rPr lang="en-US" dirty="0" smtClean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5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繳交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b="1" dirty="0"/>
              <a:t>上傳系統，若軟體雛形或影片或太大，請存在隨身碟中，於</a:t>
            </a:r>
            <a:r>
              <a:rPr lang="en-US" b="1" dirty="0"/>
              <a:t>week17</a:t>
            </a:r>
            <a:r>
              <a:rPr lang="zh-TW" altLang="en-US" b="1" dirty="0"/>
              <a:t>拿給助教儲存。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1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1066</Words>
  <Application>Microsoft Office PowerPoint</Application>
  <PresentationFormat>寬螢幕</PresentationFormat>
  <Paragraphs>113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맑은 고딕</vt:lpstr>
      <vt:lpstr>新細明體</vt:lpstr>
      <vt:lpstr>Arial</vt:lpstr>
      <vt:lpstr>Calibri</vt:lpstr>
      <vt:lpstr>Calibri Light</vt:lpstr>
      <vt:lpstr>Mangal</vt:lpstr>
      <vt:lpstr>Office Theme</vt:lpstr>
      <vt:lpstr>作業書面報告 &amp;  軟體雛形設計 </vt:lpstr>
      <vt:lpstr>本作業包含以下部分，詳細說明如後:</vt:lpstr>
      <vt:lpstr>User Analysis</vt:lpstr>
      <vt:lpstr>User Analysis (cont.)</vt:lpstr>
      <vt:lpstr>Personas</vt:lpstr>
      <vt:lpstr>Essential Details for Defining Personas</vt:lpstr>
      <vt:lpstr>Task Analysis</vt:lpstr>
      <vt:lpstr>Task Analysis (cont.)</vt:lpstr>
      <vt:lpstr>Task Analysis (cont.)</vt:lpstr>
      <vt:lpstr>Conceptual Design Process and Product –  Interface Design Decisions --- Process 過程</vt:lpstr>
      <vt:lpstr>Conceptual Design Process and Product –  Interface Design Decisions --- Process 過程</vt:lpstr>
      <vt:lpstr>Conceptual Design Process and Product –  Interface Design Description --- Process 結果</vt:lpstr>
      <vt:lpstr>Video or Software Prototype</vt:lpstr>
      <vt:lpstr>繳交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作業書面報告 &amp;  軟體雛形設計</dc:title>
  <dc:creator>楊馥名</dc:creator>
  <cp:lastModifiedBy>User</cp:lastModifiedBy>
  <cp:revision>16</cp:revision>
  <dcterms:created xsi:type="dcterms:W3CDTF">2018-12-03T15:50:03Z</dcterms:created>
  <dcterms:modified xsi:type="dcterms:W3CDTF">2018-12-04T07:52:25Z</dcterms:modified>
</cp:coreProperties>
</file>