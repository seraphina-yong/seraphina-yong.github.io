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4556DA-300A-4195-93C5-E668A722B6BC}" type="datetimeFigureOut">
              <a:rPr lang="zh-TW" altLang="en-US" smtClean="0"/>
              <a:t>2018/10/16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0A8ADC-0FED-4237-996C-56D90E186077}" type="slidenum">
              <a:rPr lang="zh-TW" altLang="en-US" smtClean="0"/>
              <a:t>‹#›</a:t>
            </a:fld>
            <a:endParaRPr lang="zh-TW" altLang="en-US"/>
          </a:p>
        </p:txBody>
      </p:sp>
    </p:spTree>
    <p:extLst>
      <p:ext uri="{BB962C8B-B14F-4D97-AF65-F5344CB8AC3E}">
        <p14:creationId xmlns:p14="http://schemas.microsoft.com/office/powerpoint/2010/main" val="3992883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a:t>predictive model和前面提到的兩種方法類似。</a:t>
            </a:r>
            <a:endParaRPr/>
          </a:p>
          <a:p>
            <a:pPr marL="0" marR="0" lvl="0" indent="0" algn="l" rtl="0">
              <a:lnSpc>
                <a:spcPct val="100000"/>
              </a:lnSpc>
              <a:spcBef>
                <a:spcPts val="0"/>
              </a:spcBef>
              <a:spcAft>
                <a:spcPts val="0"/>
              </a:spcAft>
              <a:buClr>
                <a:srgbClr val="000000"/>
              </a:buClr>
              <a:buSzPts val="1100"/>
              <a:buFont typeface="Arial"/>
              <a:buNone/>
            </a:pPr>
            <a:r>
              <a:rPr lang="zh-TW"/>
              <a:t>簡單來說就是用現有的一個模型去分析系統的效率，方便我們對於各種任務去比較不同系統的好壞。</a:t>
            </a:r>
            <a:endParaRPr/>
          </a:p>
          <a:p>
            <a:pPr marL="0" marR="0" lvl="0" indent="0" algn="l" rtl="0">
              <a:lnSpc>
                <a:spcPct val="100000"/>
              </a:lnSpc>
              <a:spcBef>
                <a:spcPts val="0"/>
              </a:spcBef>
              <a:spcAft>
                <a:spcPts val="0"/>
              </a:spcAft>
              <a:buClr>
                <a:srgbClr val="000000"/>
              </a:buClr>
              <a:buSzPts val="1100"/>
              <a:buFont typeface="Arial"/>
              <a:buNone/>
            </a:pPr>
            <a:r>
              <a:rPr lang="zh-TW"/>
              <a:t>接下來我會介紹GOMS model、Keystroke Level Model、GOMS的優點和限制，最後會講到費茲定律</a:t>
            </a: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endParaRPr/>
          </a:p>
        </p:txBody>
      </p:sp>
    </p:spTree>
    <p:extLst>
      <p:ext uri="{BB962C8B-B14F-4D97-AF65-F5344CB8AC3E}">
        <p14:creationId xmlns:p14="http://schemas.microsoft.com/office/powerpoint/2010/main" val="4231288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a:t>GOMS</a:t>
            </a:r>
            <a:r>
              <a:rPr lang="zh-TW" sz="1100" b="0" i="0" u="none" strike="noStrike" cap="none">
                <a:solidFill>
                  <a:srgbClr val="000000"/>
                </a:solidFill>
                <a:latin typeface="Arial"/>
                <a:ea typeface="Arial"/>
                <a:cs typeface="Arial"/>
                <a:sym typeface="Arial"/>
              </a:rPr>
              <a:t>是一種分析模型，可用來分析使用者與系統互動的過程</a:t>
            </a:r>
            <a:r>
              <a:rPr lang="zh-TW"/>
              <a:t>。</a:t>
            </a:r>
            <a:endParaRPr/>
          </a:p>
          <a:p>
            <a:pPr marL="0" lvl="0" indent="0" algn="l" rtl="0">
              <a:spcBef>
                <a:spcPts val="0"/>
              </a:spcBef>
              <a:spcAft>
                <a:spcPts val="0"/>
              </a:spcAft>
              <a:buClr>
                <a:srgbClr val="000000"/>
              </a:buClr>
              <a:buSzPts val="1100"/>
              <a:buFont typeface="Arial"/>
              <a:buNone/>
            </a:pPr>
            <a:r>
              <a:rPr lang="zh-TW"/>
              <a:t>其實是由四個單字的字首組合而成，分別是 .....</a:t>
            </a:r>
            <a:endParaRPr/>
          </a:p>
          <a:p>
            <a:pPr marL="0" lvl="0" indent="0" algn="l" rtl="0">
              <a:spcBef>
                <a:spcPts val="0"/>
              </a:spcBef>
              <a:spcAft>
                <a:spcPts val="0"/>
              </a:spcAft>
              <a:buClr>
                <a:srgbClr val="000000"/>
              </a:buClr>
              <a:buSzPts val="1100"/>
              <a:buFont typeface="Arial"/>
              <a:buNone/>
            </a:pPr>
            <a:r>
              <a:rPr lang="zh-TW"/>
              <a:t>這四個部分就是他的核心概念，接下來會一一介紹</a:t>
            </a:r>
            <a:endParaRPr/>
          </a:p>
          <a:p>
            <a:pPr marL="0" marR="0" lvl="0" indent="0" algn="l" rtl="0">
              <a:lnSpc>
                <a:spcPct val="100000"/>
              </a:lnSpc>
              <a:spcBef>
                <a:spcPts val="0"/>
              </a:spcBef>
              <a:spcAft>
                <a:spcPts val="0"/>
              </a:spcAft>
              <a:buClr>
                <a:srgbClr val="000000"/>
              </a:buClr>
              <a:buSzPts val="1100"/>
              <a:buFont typeface="Arial"/>
              <a:buNone/>
            </a:pPr>
            <a:endParaRPr/>
          </a:p>
        </p:txBody>
      </p:sp>
    </p:spTree>
    <p:extLst>
      <p:ext uri="{BB962C8B-B14F-4D97-AF65-F5344CB8AC3E}">
        <p14:creationId xmlns:p14="http://schemas.microsoft.com/office/powerpoint/2010/main" val="2346977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使用者希望達成的目標</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a:t>以words為例</a:t>
            </a:r>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像是刪除某段文字、插入圖片</a:t>
            </a:r>
            <a:r>
              <a:rPr lang="zh-TW"/>
              <a:t>、調整字體大小位置</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51265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user達到目標所需要進行的動作</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例如</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a:t>我刪掉一段文字或插入圖片所需要的動作可能有</a:t>
            </a:r>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按鍵盤、移動滑鼠</a:t>
            </a:r>
            <a:r>
              <a:rPr lang="zh-TW"/>
              <a:t>、點擊滑鼠</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31887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將目標分成許多子目標，再用</a:t>
            </a:r>
            <a:r>
              <a:rPr lang="zh-TW"/>
              <a:t>一連串</a:t>
            </a:r>
            <a:r>
              <a:rPr lang="zh-TW" sz="1100" b="0" i="0" u="none" strike="noStrike" cap="none">
                <a:solidFill>
                  <a:srgbClr val="000000"/>
                </a:solidFill>
                <a:latin typeface="Arial"/>
                <a:ea typeface="Arial"/>
                <a:cs typeface="Arial"/>
                <a:sym typeface="Arial"/>
              </a:rPr>
              <a:t>operators分別完成這些子目標</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比如 我們可以把刪掉一段文字分成幾個步驟</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第一步先將滑鼠移到要刪除的文字前面，然後再按下滑鼠</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接著按下delete鍵，這樣就成功刪除想要刪除的文字了</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50589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如何選擇用什麼方法來達成目標</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比如說 刪掉一段文字時，如果文字很短我可能會直接將滑鼠游標移到文字前面再按下delete鍵</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但如果是一大段文字，我會先用滑鼠將整段文字選取，再刪除。</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45696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a:t>這邊用Microsoft Word的操作來舉例</a:t>
            </a:r>
            <a:endParaRPr/>
          </a:p>
          <a:p>
            <a:pPr marL="0" marR="0" lvl="0" indent="0" algn="l" rtl="0">
              <a:lnSpc>
                <a:spcPct val="100000"/>
              </a:lnSpc>
              <a:spcBef>
                <a:spcPts val="0"/>
              </a:spcBef>
              <a:spcAft>
                <a:spcPts val="0"/>
              </a:spcAft>
              <a:buClr>
                <a:srgbClr val="000000"/>
              </a:buClr>
              <a:buSzPts val="1100"/>
              <a:buFont typeface="Arial"/>
              <a:buNone/>
            </a:pPr>
            <a:r>
              <a:rPr lang="zh-TW"/>
              <a:t>那我們可以定義它的GOMS</a:t>
            </a:r>
            <a:endParaRPr/>
          </a:p>
          <a:p>
            <a:pPr marL="0" marR="0" lvl="0" indent="0" algn="l" rtl="0">
              <a:lnSpc>
                <a:spcPct val="100000"/>
              </a:lnSpc>
              <a:spcBef>
                <a:spcPts val="0"/>
              </a:spcBef>
              <a:spcAft>
                <a:spcPts val="0"/>
              </a:spcAft>
              <a:buClr>
                <a:srgbClr val="000000"/>
              </a:buClr>
              <a:buSzPts val="1100"/>
              <a:buFont typeface="Arial"/>
              <a:buNone/>
            </a:pPr>
            <a:r>
              <a:rPr lang="zh-TW"/>
              <a:t>Goal 可以是刪掉句子中的某個字</a:t>
            </a:r>
            <a:endParaRPr/>
          </a:p>
          <a:p>
            <a:pPr marL="0" marR="0" lvl="0" indent="0" algn="l" rtl="0">
              <a:lnSpc>
                <a:spcPct val="100000"/>
              </a:lnSpc>
              <a:spcBef>
                <a:spcPts val="0"/>
              </a:spcBef>
              <a:spcAft>
                <a:spcPts val="0"/>
              </a:spcAft>
              <a:buClr>
                <a:srgbClr val="000000"/>
              </a:buClr>
              <a:buSzPts val="1100"/>
              <a:buFont typeface="Arial"/>
              <a:buNone/>
            </a:pPr>
            <a:r>
              <a:rPr lang="zh-TW"/>
              <a:t>Methed 可以是先把光標移到要刪除的字前面，再按下刪除鍵</a:t>
            </a:r>
            <a:endParaRPr/>
          </a:p>
          <a:p>
            <a:pPr marL="0" marR="0" lvl="0" indent="0" algn="l" rtl="0">
              <a:lnSpc>
                <a:spcPct val="100000"/>
              </a:lnSpc>
              <a:spcBef>
                <a:spcPts val="0"/>
              </a:spcBef>
              <a:spcAft>
                <a:spcPts val="0"/>
              </a:spcAft>
              <a:buClr>
                <a:srgbClr val="000000"/>
              </a:buClr>
              <a:buSzPts val="1100"/>
              <a:buFont typeface="Arial"/>
              <a:buNone/>
            </a:pPr>
            <a:r>
              <a:rPr lang="zh-TW"/>
              <a:t>Operator 可能有點擊滑鼠移動滑鼠和按按鍵</a:t>
            </a:r>
            <a:endParaRPr/>
          </a:p>
          <a:p>
            <a:pPr marL="0" marR="0" lvl="0" indent="0" algn="l" rtl="0">
              <a:lnSpc>
                <a:spcPct val="100000"/>
              </a:lnSpc>
              <a:spcBef>
                <a:spcPts val="0"/>
              </a:spcBef>
              <a:spcAft>
                <a:spcPts val="0"/>
              </a:spcAft>
              <a:buClr>
                <a:srgbClr val="000000"/>
              </a:buClr>
              <a:buSzPts val="1100"/>
              <a:buFont typeface="Arial"/>
              <a:buNone/>
            </a:pPr>
            <a:r>
              <a:rPr lang="zh-TW"/>
              <a:t>Seletion 可以依照文字的長度來決定要用的method</a:t>
            </a:r>
            <a:endParaRPr/>
          </a:p>
          <a:p>
            <a:pPr marL="0" marR="0" lvl="0" indent="0" algn="l" rtl="0">
              <a:lnSpc>
                <a:spcPct val="100000"/>
              </a:lnSpc>
              <a:spcBef>
                <a:spcPts val="0"/>
              </a:spcBef>
              <a:spcAft>
                <a:spcPts val="0"/>
              </a:spcAft>
              <a:buClr>
                <a:srgbClr val="000000"/>
              </a:buClr>
              <a:buSzPts val="1100"/>
              <a:buFont typeface="Arial"/>
              <a:buNone/>
            </a:pPr>
            <a:endParaRPr/>
          </a:p>
        </p:txBody>
      </p:sp>
    </p:spTree>
    <p:extLst>
      <p:ext uri="{BB962C8B-B14F-4D97-AF65-F5344CB8AC3E}">
        <p14:creationId xmlns:p14="http://schemas.microsoft.com/office/powerpoint/2010/main" val="1024542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dirty="0"/>
              <a:t>KLM是GOMS model的一個分支，</a:t>
            </a:r>
            <a:r>
              <a:rPr lang="zh-TW" dirty="0">
                <a:sym typeface="Arial"/>
              </a:rPr>
              <a:t>這個模型運用於很多人機交互的領域，他可以通過任務的步驟和操作準確地計算出</a:t>
            </a:r>
            <a:r>
              <a:rPr lang="zh-TW" dirty="0"/>
              <a:t>任務</a:t>
            </a:r>
            <a:r>
              <a:rPr lang="zh-TW" dirty="0">
                <a:sym typeface="Arial"/>
              </a:rPr>
              <a:t>所需要的時間。</a:t>
            </a:r>
            <a:endParaRPr dirty="0">
              <a:sym typeface="Arial"/>
            </a:endParaRPr>
          </a:p>
          <a:p>
            <a:pPr marL="0" marR="0" lvl="0" indent="0" algn="l" rtl="0">
              <a:lnSpc>
                <a:spcPct val="100000"/>
              </a:lnSpc>
              <a:spcBef>
                <a:spcPts val="0"/>
              </a:spcBef>
              <a:spcAft>
                <a:spcPts val="0"/>
              </a:spcAft>
              <a:buClr>
                <a:srgbClr val="000000"/>
              </a:buClr>
              <a:buSzPts val="1100"/>
              <a:buFont typeface="Arial"/>
              <a:buNone/>
            </a:pPr>
            <a:r>
              <a:rPr lang="zh-TW" dirty="0"/>
              <a:t>它的好處是讓我們可以很容易的比較不同系統和應用程式。</a:t>
            </a:r>
            <a:endParaRPr dirty="0"/>
          </a:p>
          <a:p>
            <a:pPr marL="0" marR="0" lvl="0" indent="0" algn="l" rtl="0">
              <a:lnSpc>
                <a:spcPct val="100000"/>
              </a:lnSpc>
              <a:spcBef>
                <a:spcPts val="0"/>
              </a:spcBef>
              <a:spcAft>
                <a:spcPts val="0"/>
              </a:spcAft>
              <a:buClr>
                <a:srgbClr val="000000"/>
              </a:buClr>
              <a:buSzPts val="1100"/>
              <a:buFont typeface="Arial"/>
              <a:buNone/>
            </a:pPr>
            <a:r>
              <a:rPr lang="zh-TW" dirty="0"/>
              <a:t>跟GOMS model相比，KLM更加強調Operator，也就是操作的部分。</a:t>
            </a:r>
            <a:endParaRPr dirty="0"/>
          </a:p>
          <a:p>
            <a:pPr marL="0" marR="0" lvl="0" indent="0" algn="l" rtl="0">
              <a:lnSpc>
                <a:spcPct val="100000"/>
              </a:lnSpc>
              <a:spcBef>
                <a:spcPts val="0"/>
              </a:spcBef>
              <a:spcAft>
                <a:spcPts val="0"/>
              </a:spcAft>
              <a:buClr>
                <a:srgbClr val="000000"/>
              </a:buClr>
              <a:buSzPts val="1100"/>
              <a:buFont typeface="Arial"/>
              <a:buNone/>
            </a:pPr>
            <a:endParaRPr sz="1150" dirty="0">
              <a:solidFill>
                <a:srgbClr val="343535"/>
              </a:solidFill>
              <a:highlight>
                <a:srgbClr val="FFFFFF"/>
              </a:highlight>
            </a:endParaRPr>
          </a:p>
        </p:txBody>
      </p:sp>
    </p:spTree>
    <p:extLst>
      <p:ext uri="{BB962C8B-B14F-4D97-AF65-F5344CB8AC3E}">
        <p14:creationId xmlns:p14="http://schemas.microsoft.com/office/powerpoint/2010/main" val="2755438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dirty="0">
                <a:sym typeface="Arial"/>
              </a:rPr>
              <a:t>這個模型運用於很多人機交互的領域，他可以通過任務的步驟和操作準確地計算出任務所需要花費的時間。 </a:t>
            </a:r>
            <a:endParaRPr dirty="0">
              <a:sym typeface="Arial"/>
            </a:endParaRPr>
          </a:p>
          <a:p>
            <a:pPr marL="0" marR="0" lvl="0" indent="0" algn="l" rtl="0">
              <a:lnSpc>
                <a:spcPct val="100000"/>
              </a:lnSpc>
              <a:spcBef>
                <a:spcPts val="0"/>
              </a:spcBef>
              <a:spcAft>
                <a:spcPts val="0"/>
              </a:spcAft>
              <a:buClr>
                <a:srgbClr val="000000"/>
              </a:buClr>
              <a:buSzPts val="1100"/>
              <a:buFont typeface="Arial"/>
              <a:buNone/>
            </a:pPr>
            <a:r>
              <a:rPr lang="zh-TW" dirty="0">
                <a:sym typeface="Arial"/>
              </a:rPr>
              <a:t>KML定義了很多operation所需的時間，這張表格只有列出幾個</a:t>
            </a:r>
            <a:r>
              <a:rPr lang="zh-TW" dirty="0"/>
              <a:t>常用的operation</a:t>
            </a:r>
            <a:r>
              <a:rPr lang="zh-TW" dirty="0">
                <a:sym typeface="Arial"/>
              </a:rPr>
              <a:t>，像是按單一按鍵要花0.35秒，熟練的人打字花0.22秒，平均打字花0.28秒，甚至連心裡準備的時間都有定義。</a:t>
            </a:r>
            <a:endParaRPr dirty="0">
              <a:sym typeface="Arial"/>
            </a:endParaRPr>
          </a:p>
          <a:p>
            <a:pPr marL="0" marR="0" lvl="0" indent="0" algn="l" rtl="0">
              <a:lnSpc>
                <a:spcPct val="100000"/>
              </a:lnSpc>
              <a:spcBef>
                <a:spcPts val="0"/>
              </a:spcBef>
              <a:spcAft>
                <a:spcPts val="0"/>
              </a:spcAft>
              <a:buClr>
                <a:srgbClr val="000000"/>
              </a:buClr>
              <a:buSzPts val="1100"/>
              <a:buFont typeface="Arial"/>
              <a:buNone/>
            </a:pPr>
            <a:endParaRPr dirty="0">
              <a:sym typeface="Arial"/>
            </a:endParaRPr>
          </a:p>
          <a:p>
            <a:pPr marL="0" marR="0" lvl="0" indent="0" algn="l" rtl="0">
              <a:lnSpc>
                <a:spcPct val="100000"/>
              </a:lnSpc>
              <a:spcBef>
                <a:spcPts val="0"/>
              </a:spcBef>
              <a:spcAft>
                <a:spcPts val="0"/>
              </a:spcAft>
              <a:buClr>
                <a:srgbClr val="000000"/>
              </a:buClr>
              <a:buSzPts val="1100"/>
              <a:buFont typeface="Arial"/>
              <a:buNone/>
            </a:pPr>
            <a:r>
              <a:rPr lang="zh-TW" dirty="0">
                <a:sym typeface="Arial"/>
              </a:rPr>
              <a:t>wpm  : Words per minute</a:t>
            </a:r>
            <a:endParaRPr dirty="0">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highlight>
                <a:srgbClr val="FFFFFF"/>
              </a:highlight>
              <a:latin typeface="Arial"/>
              <a:ea typeface="Arial"/>
              <a:cs typeface="Arial"/>
              <a:sym typeface="Arial"/>
            </a:endParaRPr>
          </a:p>
        </p:txBody>
      </p:sp>
    </p:spTree>
    <p:extLst>
      <p:ext uri="{BB962C8B-B14F-4D97-AF65-F5344CB8AC3E}">
        <p14:creationId xmlns:p14="http://schemas.microsoft.com/office/powerpoint/2010/main" val="2466605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zh-TW"/>
              <a:t>有了每個operation花費的時間後，就可以計算出一連串動作所需要的時間。</a:t>
            </a:r>
            <a:endParaRPr/>
          </a:p>
          <a:p>
            <a:pPr marL="0" lvl="0" indent="0" algn="l" rtl="0">
              <a:spcBef>
                <a:spcPts val="0"/>
              </a:spcBef>
              <a:spcAft>
                <a:spcPts val="0"/>
              </a:spcAft>
              <a:buClr>
                <a:srgbClr val="000000"/>
              </a:buClr>
              <a:buSzPts val="1100"/>
              <a:buFont typeface="Arial"/>
              <a:buNone/>
            </a:pPr>
            <a:r>
              <a:rPr lang="zh-TW"/>
              <a:t>這邊舉一個例子，用words把一段句子  I’m a boy   -&gt;  I’m not a boy</a:t>
            </a:r>
            <a:endParaRPr/>
          </a:p>
          <a:p>
            <a:pPr marL="0" lvl="0" indent="0" algn="l" rtl="0">
              <a:spcBef>
                <a:spcPts val="0"/>
              </a:spcBef>
              <a:spcAft>
                <a:spcPts val="0"/>
              </a:spcAft>
              <a:buClr>
                <a:srgbClr val="000000"/>
              </a:buClr>
              <a:buSzPts val="1100"/>
              <a:buFont typeface="Arial"/>
              <a:buNone/>
            </a:pPr>
            <a:r>
              <a:rPr lang="zh-TW"/>
              <a:t>首先列出每個步驟的動作，然後把每個步驟花費的時間加起來就可以算出總共花費時間</a:t>
            </a:r>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r>
              <a:rPr lang="zh-TW" sz="2400">
                <a:solidFill>
                  <a:srgbClr val="E06666"/>
                </a:solidFill>
                <a:latin typeface="Lato"/>
                <a:ea typeface="Lato"/>
                <a:cs typeface="Lato"/>
                <a:sym typeface="Lato"/>
              </a:rPr>
              <a:t/>
            </a:r>
            <a:br>
              <a:rPr lang="zh-TW" sz="2400">
                <a:solidFill>
                  <a:srgbClr val="E06666"/>
                </a:solidFill>
                <a:latin typeface="Lato"/>
                <a:ea typeface="Lato"/>
                <a:cs typeface="Lato"/>
                <a:sym typeface="Lato"/>
              </a:rPr>
            </a:br>
            <a:endParaRPr sz="2400">
              <a:solidFill>
                <a:srgbClr val="E06666"/>
              </a:solidFill>
              <a:latin typeface="Lato"/>
              <a:ea typeface="Lato"/>
              <a:cs typeface="Lato"/>
              <a:sym typeface="Lato"/>
            </a:endParaRPr>
          </a:p>
          <a:p>
            <a:pPr marL="0" marR="0" lvl="0" indent="0" algn="l" rtl="0">
              <a:lnSpc>
                <a:spcPct val="100000"/>
              </a:lnSpc>
              <a:spcBef>
                <a:spcPts val="0"/>
              </a:spcBef>
              <a:spcAft>
                <a:spcPts val="0"/>
              </a:spcAft>
              <a:buClr>
                <a:srgbClr val="000000"/>
              </a:buClr>
              <a:buSzPts val="1100"/>
              <a:buFont typeface="Arial"/>
              <a:buNone/>
            </a:pPr>
            <a:endParaRPr/>
          </a:p>
        </p:txBody>
      </p:sp>
    </p:spTree>
    <p:extLst>
      <p:ext uri="{BB962C8B-B14F-4D97-AF65-F5344CB8AC3E}">
        <p14:creationId xmlns:p14="http://schemas.microsoft.com/office/powerpoint/2010/main" val="2778334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優點:</a:t>
            </a:r>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可以很容易的比較不同系統不同介面的優劣</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行動裝置和手機的開發者</a:t>
            </a:r>
            <a:r>
              <a:rPr lang="zh-TW"/>
              <a:t>可以</a:t>
            </a:r>
            <a:r>
              <a:rPr lang="zh-TW" sz="1100" b="0" i="0" u="none" strike="noStrike" cap="none">
                <a:solidFill>
                  <a:srgbClr val="000000"/>
                </a:solidFill>
                <a:latin typeface="Arial"/>
                <a:ea typeface="Arial"/>
                <a:cs typeface="Arial"/>
                <a:sym typeface="Arial"/>
              </a:rPr>
              <a:t>用KLM去</a:t>
            </a:r>
            <a:r>
              <a:rPr lang="zh-TW"/>
              <a:t>優化</a:t>
            </a:r>
            <a:r>
              <a:rPr lang="zh-TW" sz="1100" b="0" i="0" u="none" strike="noStrike" cap="none">
                <a:solidFill>
                  <a:srgbClr val="000000"/>
                </a:solidFill>
                <a:latin typeface="Arial"/>
                <a:ea typeface="Arial"/>
                <a:cs typeface="Arial"/>
                <a:sym typeface="Arial"/>
              </a:rPr>
              <a:t>按鍵的設計</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限制:</a:t>
            </a:r>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只能對基於電腦操作的任務做分析</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不能對不可預測的行為做計算，例如有的人會同時做很多事，邊打字邊看電視，或是打字打到一半有人突然跟自己說話。</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05332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費茲定律（Fitts‘ Law）是介面設計中常用的概念，用來計算指標物移到目標物所需的時間，藉此增加介面使用性與操作效率。</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其概念為起始點(滑鼠游標)與目標物(按鈕或其他操控物件)之間的距離和目標物的大小，決定了從起始點移動到目標所花費的時間。</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44267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這是費茲定律的公式</a:t>
            </a: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T是時間</a:t>
            </a: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D是指標到目標的距離</a:t>
            </a: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S是目標的大小</a:t>
            </a: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K是常數</a:t>
            </a: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從公式可以發現只要改變目標的大小和距離就能有效縮短時間。</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59193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Arial"/>
                <a:ea typeface="Arial"/>
                <a:cs typeface="Arial"/>
                <a:sym typeface="Arial"/>
              </a:rPr>
              <a:t>為什麼chrome比IE用起來順手？其實也和費茲定律有關，chrome視窗最大化後，其各分頁tab是在營幕邊界，滑鼠游標可以迅速上移頂到螢幕邊界停下，使用效率增高。而IE上方為視窗的Title Bar，往下一層才是tab，所以滑鼠去瞄準，較為花費心力。</a:t>
            </a:r>
            <a:endParaRPr sz="1100" b="0" i="0" u="none" strike="noStrike" cap="none">
              <a:solidFill>
                <a:srgbClr val="000000"/>
              </a:solidFill>
              <a:latin typeface="Arial"/>
              <a:ea typeface="Arial"/>
              <a:cs typeface="Arial"/>
              <a:sym typeface="Arial"/>
            </a:endParaRPr>
          </a:p>
          <a:p>
            <a:pPr marL="158750" marR="0" lvl="0" indent="0" algn="l" rtl="0">
              <a:lnSpc>
                <a:spcPct val="100000"/>
              </a:lnSpc>
              <a:spcBef>
                <a:spcPts val="0"/>
              </a:spcBef>
              <a:spcAft>
                <a:spcPts val="0"/>
              </a:spcAft>
              <a:buClr>
                <a:srgbClr val="000000"/>
              </a:buClr>
              <a:buSzPts val="1100"/>
              <a:buFont typeface="Arial"/>
              <a:buNone/>
            </a:pPr>
            <a:r>
              <a:rPr lang="zh-TW"/>
              <a:t>位置</a:t>
            </a:r>
            <a:r>
              <a:rPr lang="zh-TW" sz="1100" b="0" i="0" u="none" strike="noStrike" cap="none">
                <a:solidFill>
                  <a:srgbClr val="000000"/>
                </a:solidFill>
                <a:latin typeface="Arial"/>
                <a:ea typeface="Arial"/>
                <a:cs typeface="Arial"/>
                <a:sym typeface="Arial"/>
              </a:rPr>
              <a:t>在螢幕邊</a:t>
            </a:r>
            <a:r>
              <a:rPr lang="zh-TW"/>
              <a:t>緣</a:t>
            </a:r>
            <a:r>
              <a:rPr lang="zh-TW" sz="1100" b="0" i="0" u="none" strike="noStrike" cap="none">
                <a:solidFill>
                  <a:srgbClr val="000000"/>
                </a:solidFill>
                <a:latin typeface="Arial"/>
                <a:ea typeface="Arial"/>
                <a:cs typeface="Arial"/>
                <a:sym typeface="Arial"/>
              </a:rPr>
              <a:t>的目標，因為滑鼠移動距離很大時，會停在邊界，可視為目標物的寬度無限大，</a:t>
            </a:r>
            <a:r>
              <a:rPr lang="zh-TW"/>
              <a:t>所以</a:t>
            </a:r>
            <a:r>
              <a:rPr lang="zh-TW" sz="1100" b="0" i="0" u="none" strike="noStrike" cap="none">
                <a:solidFill>
                  <a:srgbClr val="000000"/>
                </a:solidFill>
                <a:latin typeface="Arial"/>
                <a:ea typeface="Arial"/>
                <a:cs typeface="Arial"/>
                <a:sym typeface="Arial"/>
              </a:rPr>
              <a:t>操作速率最快。</a:t>
            </a: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14479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787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TW" altLang="en-US" smtClean="0"/>
              <a:t>按一下以編輯母片標題樣式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自訂版面配置 6">
  <p:cSld name="自訂版面配置 6">
    <p:bg>
      <p:bgPr>
        <a:solidFill>
          <a:srgbClr val="FFFFFF"/>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11" name="Google Shape;11;p2"/>
          <p:cNvGrpSpPr/>
          <p:nvPr/>
        </p:nvGrpSpPr>
        <p:grpSpPr>
          <a:xfrm>
            <a:off x="794233" y="3658466"/>
            <a:ext cx="10603699" cy="86003"/>
            <a:chOff x="595675" y="2820050"/>
            <a:chExt cx="7952774" cy="64502"/>
          </a:xfrm>
        </p:grpSpPr>
        <p:sp>
          <p:nvSpPr>
            <p:cNvPr id="12" name="Google Shape;12;p2"/>
            <p:cNvSpPr/>
            <p:nvPr/>
          </p:nvSpPr>
          <p:spPr>
            <a:xfrm>
              <a:off x="2186208" y="2820050"/>
              <a:ext cx="1620000" cy="64500"/>
            </a:xfrm>
            <a:prstGeom prst="rect">
              <a:avLst/>
            </a:prstGeom>
            <a:solidFill>
              <a:srgbClr val="D6282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 name="Google Shape;13;p2"/>
            <p:cNvSpPr/>
            <p:nvPr/>
          </p:nvSpPr>
          <p:spPr>
            <a:xfrm>
              <a:off x="3776784" y="2820050"/>
              <a:ext cx="1620000" cy="64500"/>
            </a:xfrm>
            <a:prstGeom prst="rect">
              <a:avLst/>
            </a:prstGeom>
            <a:solidFill>
              <a:srgbClr val="F77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4" name="Google Shape;14;p2"/>
            <p:cNvSpPr/>
            <p:nvPr/>
          </p:nvSpPr>
          <p:spPr>
            <a:xfrm>
              <a:off x="5373056" y="2820052"/>
              <a:ext cx="1596300" cy="64500"/>
            </a:xfrm>
            <a:prstGeom prst="rect">
              <a:avLst/>
            </a:prstGeom>
            <a:solidFill>
              <a:srgbClr val="FCBF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5" name="Google Shape;15;p2"/>
            <p:cNvSpPr/>
            <p:nvPr/>
          </p:nvSpPr>
          <p:spPr>
            <a:xfrm>
              <a:off x="595675" y="2820050"/>
              <a:ext cx="1590600" cy="64500"/>
            </a:xfrm>
            <a:prstGeom prst="rect">
              <a:avLst/>
            </a:prstGeom>
            <a:solidFill>
              <a:srgbClr val="0030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6" name="Google Shape;16;p2"/>
            <p:cNvSpPr/>
            <p:nvPr/>
          </p:nvSpPr>
          <p:spPr>
            <a:xfrm>
              <a:off x="6957849" y="2820050"/>
              <a:ext cx="1590600" cy="64500"/>
            </a:xfrm>
            <a:prstGeom prst="rect">
              <a:avLst/>
            </a:prstGeom>
            <a:solidFill>
              <a:srgbClr val="EAE2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17" name="Google Shape;17;p2"/>
          <p:cNvSpPr txBox="1">
            <a:spLocks noGrp="1"/>
          </p:cNvSpPr>
          <p:nvPr>
            <p:ph type="title"/>
          </p:nvPr>
        </p:nvSpPr>
        <p:spPr>
          <a:xfrm>
            <a:off x="794333" y="2763767"/>
            <a:ext cx="10603600" cy="877600"/>
          </a:xfrm>
          <a:prstGeom prst="rect">
            <a:avLst/>
          </a:prstGeom>
          <a:noFill/>
          <a:ln>
            <a:noFill/>
          </a:ln>
        </p:spPr>
        <p:txBody>
          <a:bodyPr spcFirstLastPara="1" wrap="square" lIns="91425" tIns="91425" rIns="91425" bIns="91425" anchor="b" anchorCtr="0"/>
          <a:lstStyle>
            <a:lvl1pPr marR="0" lvl="0"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1pPr>
            <a:lvl2pPr marR="0" lvl="1"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2pPr>
            <a:lvl3pPr marR="0" lvl="2"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3pPr>
            <a:lvl4pPr marR="0" lvl="3"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4pPr>
            <a:lvl5pPr marR="0" lvl="4"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5pPr>
            <a:lvl6pPr marR="0" lvl="5"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6pPr>
            <a:lvl7pPr marR="0" lvl="6"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7pPr>
            <a:lvl8pPr marR="0" lvl="7"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8pPr>
            <a:lvl9pPr marR="0" lvl="8" algn="ctr" rtl="0">
              <a:lnSpc>
                <a:spcPct val="100000"/>
              </a:lnSpc>
              <a:spcBef>
                <a:spcPts val="0"/>
              </a:spcBef>
              <a:spcAft>
                <a:spcPts val="0"/>
              </a:spcAft>
              <a:buClr>
                <a:srgbClr val="212121"/>
              </a:buClr>
              <a:buSzPts val="3000"/>
              <a:buFont typeface="Playfair Display"/>
              <a:buNone/>
              <a:defRPr sz="4000" b="1" i="0" u="none" strike="noStrike" cap="none">
                <a:solidFill>
                  <a:srgbClr val="212121"/>
                </a:solidFill>
                <a:latin typeface="Lato"/>
                <a:ea typeface="Lato"/>
                <a:cs typeface="Lato"/>
                <a:sym typeface="Lato"/>
              </a:defRPr>
            </a:lvl9pPr>
          </a:lstStyle>
          <a:p>
            <a:endParaRPr/>
          </a:p>
        </p:txBody>
      </p:sp>
      <p:sp>
        <p:nvSpPr>
          <p:cNvPr id="18" name="Google Shape;18;p2"/>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462193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自訂版面配置 2">
  <p:cSld name="自訂版面配置 2">
    <p:spTree>
      <p:nvGrpSpPr>
        <p:cNvPr id="1" name="Shape 19"/>
        <p:cNvGrpSpPr/>
        <p:nvPr/>
      </p:nvGrpSpPr>
      <p:grpSpPr>
        <a:xfrm>
          <a:off x="0" y="0"/>
          <a:ext cx="0" cy="0"/>
          <a:chOff x="0" y="0"/>
          <a:chExt cx="0" cy="0"/>
        </a:xfrm>
      </p:grpSpPr>
      <p:sp>
        <p:nvSpPr>
          <p:cNvPr id="20" name="Google Shape;20;p3"/>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1" name="Google Shape;21;p3"/>
          <p:cNvSpPr txBox="1">
            <a:spLocks noGrp="1"/>
          </p:cNvSpPr>
          <p:nvPr>
            <p:ph type="title"/>
          </p:nvPr>
        </p:nvSpPr>
        <p:spPr>
          <a:xfrm>
            <a:off x="389167" y="542533"/>
            <a:ext cx="4052800" cy="18516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1pPr>
            <a:lvl2pPr marR="0" lvl="1"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2pPr>
            <a:lvl3pPr marR="0" lvl="2"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3pPr>
            <a:lvl4pPr marR="0" lvl="3"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4pPr>
            <a:lvl5pPr marR="0" lvl="4"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5pPr>
            <a:lvl6pPr marR="0" lvl="5"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6pPr>
            <a:lvl7pPr marR="0" lvl="6"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7pPr>
            <a:lvl8pPr marR="0" lvl="7"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8pPr>
            <a:lvl9pPr marR="0" lvl="8" algn="l" rtl="0">
              <a:lnSpc>
                <a:spcPct val="100000"/>
              </a:lnSpc>
              <a:spcBef>
                <a:spcPts val="0"/>
              </a:spcBef>
              <a:spcAft>
                <a:spcPts val="0"/>
              </a:spcAft>
              <a:buClr>
                <a:srgbClr val="000000"/>
              </a:buClr>
              <a:buSzPts val="3000"/>
              <a:buFont typeface="Playfair Display"/>
              <a:buNone/>
              <a:defRPr sz="4000" b="1" i="0" u="none" strike="noStrike" cap="none">
                <a:solidFill>
                  <a:srgbClr val="000000"/>
                </a:solidFill>
                <a:latin typeface="Playfair Display"/>
                <a:ea typeface="Playfair Display"/>
                <a:cs typeface="Playfair Display"/>
                <a:sym typeface="Playfair Display"/>
              </a:defRPr>
            </a:lvl9pPr>
          </a:lstStyle>
          <a:p>
            <a:endParaRPr/>
          </a:p>
        </p:txBody>
      </p:sp>
      <p:sp>
        <p:nvSpPr>
          <p:cNvPr id="22" name="Google Shape;22;p3"/>
          <p:cNvSpPr txBox="1">
            <a:spLocks noGrp="1"/>
          </p:cNvSpPr>
          <p:nvPr>
            <p:ph type="body" idx="1"/>
          </p:nvPr>
        </p:nvSpPr>
        <p:spPr>
          <a:xfrm>
            <a:off x="389251" y="2738291"/>
            <a:ext cx="4052800" cy="3170800"/>
          </a:xfrm>
          <a:prstGeom prst="rect">
            <a:avLst/>
          </a:prstGeom>
          <a:noFill/>
          <a:ln>
            <a:noFill/>
          </a:ln>
        </p:spPr>
        <p:txBody>
          <a:bodyPr spcFirstLastPara="1" wrap="square" lIns="91425" tIns="91425" rIns="91425" bIns="91425" anchor="t" anchorCtr="0"/>
          <a:lstStyle>
            <a:lvl1pPr marL="609585" marR="0" lvl="0" indent="-440256" algn="l" rtl="0">
              <a:lnSpc>
                <a:spcPct val="115000"/>
              </a:lnSpc>
              <a:spcBef>
                <a:spcPts val="0"/>
              </a:spcBef>
              <a:spcAft>
                <a:spcPts val="0"/>
              </a:spcAft>
              <a:buClr>
                <a:srgbClr val="212121"/>
              </a:buClr>
              <a:buSzPts val="1600"/>
              <a:buFont typeface="Lato"/>
              <a:buChar char="●"/>
              <a:defRPr sz="2133" b="0" i="0" u="none" strike="noStrike" cap="none">
                <a:solidFill>
                  <a:srgbClr val="212121"/>
                </a:solidFill>
                <a:latin typeface="Lato"/>
                <a:ea typeface="Lato"/>
                <a:cs typeface="Lato"/>
                <a:sym typeface="Lato"/>
              </a:defRPr>
            </a:lvl1pPr>
            <a:lvl2pPr marL="1219170" marR="0" lvl="1"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2pPr>
            <a:lvl3pPr marL="1828754" marR="0" lvl="2"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3pPr>
            <a:lvl4pPr marL="2438339" marR="0" lvl="3"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4pPr>
            <a:lvl5pPr marL="3047924" marR="0" lvl="4"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5pPr>
            <a:lvl6pPr marL="3657509" marR="0" lvl="5"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6pPr>
            <a:lvl7pPr marL="4267093" marR="0" lvl="6"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7pPr>
            <a:lvl8pPr marL="4876678" marR="0" lvl="7"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8pPr>
            <a:lvl9pPr marL="5486263" marR="0" lvl="8" indent="-423323" algn="l" rtl="0">
              <a:lnSpc>
                <a:spcPct val="115000"/>
              </a:lnSpc>
              <a:spcBef>
                <a:spcPts val="2133"/>
              </a:spcBef>
              <a:spcAft>
                <a:spcPts val="2133"/>
              </a:spcAft>
              <a:buClr>
                <a:srgbClr val="212121"/>
              </a:buClr>
              <a:buSzPts val="1400"/>
              <a:buFont typeface="Lato"/>
              <a:buChar char="■"/>
              <a:defRPr sz="1867" b="0" i="0" u="none" strike="noStrike" cap="none">
                <a:solidFill>
                  <a:srgbClr val="212121"/>
                </a:solidFill>
                <a:latin typeface="Lato"/>
                <a:ea typeface="Lato"/>
                <a:cs typeface="Lato"/>
                <a:sym typeface="Lato"/>
              </a:defRPr>
            </a:lvl9pPr>
          </a:lstStyle>
          <a:p>
            <a:endParaRPr/>
          </a:p>
        </p:txBody>
      </p:sp>
      <p:sp>
        <p:nvSpPr>
          <p:cNvPr id="23" name="Google Shape;23;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4614900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自訂版面配置 10">
  <p:cSld name="自訂版面配置 10">
    <p:spTree>
      <p:nvGrpSpPr>
        <p:cNvPr id="1" name="Shape 163"/>
        <p:cNvGrpSpPr/>
        <p:nvPr/>
      </p:nvGrpSpPr>
      <p:grpSpPr>
        <a:xfrm>
          <a:off x="0" y="0"/>
          <a:ext cx="0" cy="0"/>
          <a:chOff x="0" y="0"/>
          <a:chExt cx="0" cy="0"/>
        </a:xfrm>
      </p:grpSpPr>
      <p:sp>
        <p:nvSpPr>
          <p:cNvPr id="164" name="Google Shape;164;p23"/>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 name="Google Shape;165;p23"/>
          <p:cNvSpPr/>
          <p:nvPr/>
        </p:nvSpPr>
        <p:spPr>
          <a:xfrm>
            <a:off x="0" y="1308732"/>
            <a:ext cx="12192000" cy="94400"/>
          </a:xfrm>
          <a:prstGeom prst="rect">
            <a:avLst/>
          </a:prstGeom>
          <a:solidFill>
            <a:srgbClr val="21212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166" name="Google Shape;166;p23"/>
          <p:cNvPicPr preferRelativeResize="0"/>
          <p:nvPr/>
        </p:nvPicPr>
        <p:blipFill rotWithShape="1">
          <a:blip r:embed="rId2">
            <a:alphaModFix/>
          </a:blip>
          <a:srcRect t="38312" b="38309"/>
          <a:stretch/>
        </p:blipFill>
        <p:spPr>
          <a:xfrm>
            <a:off x="0" y="0"/>
            <a:ext cx="12192008" cy="1308739"/>
          </a:xfrm>
          <a:prstGeom prst="rect">
            <a:avLst/>
          </a:prstGeom>
          <a:noFill/>
          <a:ln>
            <a:noFill/>
          </a:ln>
        </p:spPr>
      </p:pic>
      <p:sp>
        <p:nvSpPr>
          <p:cNvPr id="167" name="Google Shape;167;p23"/>
          <p:cNvSpPr txBox="1">
            <a:spLocks noGrp="1"/>
          </p:cNvSpPr>
          <p:nvPr>
            <p:ph type="ctrTitle"/>
          </p:nvPr>
        </p:nvSpPr>
        <p:spPr>
          <a:xfrm>
            <a:off x="3917633" y="1971767"/>
            <a:ext cx="7173200" cy="1358800"/>
          </a:xfrm>
          <a:prstGeom prst="rect">
            <a:avLst/>
          </a:prstGeom>
          <a:noFill/>
          <a:ln>
            <a:noFill/>
          </a:ln>
        </p:spPr>
        <p:txBody>
          <a:bodyPr spcFirstLastPara="1" wrap="square" lIns="91425" tIns="91425" rIns="91425" bIns="91425" anchor="b" anchorCtr="0"/>
          <a:lstStyle>
            <a:lvl1pPr lvl="0" algn="l">
              <a:lnSpc>
                <a:spcPct val="100000"/>
              </a:lnSpc>
              <a:spcBef>
                <a:spcPts val="0"/>
              </a:spcBef>
              <a:spcAft>
                <a:spcPts val="0"/>
              </a:spcAft>
              <a:buClr>
                <a:srgbClr val="212121"/>
              </a:buClr>
              <a:buSzPts val="2400"/>
              <a:buNone/>
              <a:defRPr sz="3200" b="1">
                <a:solidFill>
                  <a:srgbClr val="212121"/>
                </a:solidFill>
              </a:defRPr>
            </a:lvl1pPr>
            <a:lvl2pPr lvl="1" algn="l">
              <a:lnSpc>
                <a:spcPct val="100000"/>
              </a:lnSpc>
              <a:spcBef>
                <a:spcPts val="0"/>
              </a:spcBef>
              <a:spcAft>
                <a:spcPts val="0"/>
              </a:spcAft>
              <a:buClr>
                <a:srgbClr val="212121"/>
              </a:buClr>
              <a:buSzPts val="2400"/>
              <a:buNone/>
              <a:defRPr sz="3200" b="1">
                <a:solidFill>
                  <a:srgbClr val="212121"/>
                </a:solidFill>
              </a:defRPr>
            </a:lvl2pPr>
            <a:lvl3pPr lvl="2" algn="l">
              <a:lnSpc>
                <a:spcPct val="100000"/>
              </a:lnSpc>
              <a:spcBef>
                <a:spcPts val="0"/>
              </a:spcBef>
              <a:spcAft>
                <a:spcPts val="0"/>
              </a:spcAft>
              <a:buClr>
                <a:srgbClr val="212121"/>
              </a:buClr>
              <a:buSzPts val="2400"/>
              <a:buNone/>
              <a:defRPr sz="3200" b="1">
                <a:solidFill>
                  <a:srgbClr val="212121"/>
                </a:solidFill>
              </a:defRPr>
            </a:lvl3pPr>
            <a:lvl4pPr lvl="3" algn="l">
              <a:lnSpc>
                <a:spcPct val="100000"/>
              </a:lnSpc>
              <a:spcBef>
                <a:spcPts val="0"/>
              </a:spcBef>
              <a:spcAft>
                <a:spcPts val="0"/>
              </a:spcAft>
              <a:buClr>
                <a:srgbClr val="212121"/>
              </a:buClr>
              <a:buSzPts val="2400"/>
              <a:buNone/>
              <a:defRPr sz="3200" b="1">
                <a:solidFill>
                  <a:srgbClr val="212121"/>
                </a:solidFill>
              </a:defRPr>
            </a:lvl4pPr>
            <a:lvl5pPr lvl="4" algn="l">
              <a:lnSpc>
                <a:spcPct val="100000"/>
              </a:lnSpc>
              <a:spcBef>
                <a:spcPts val="0"/>
              </a:spcBef>
              <a:spcAft>
                <a:spcPts val="0"/>
              </a:spcAft>
              <a:buClr>
                <a:srgbClr val="212121"/>
              </a:buClr>
              <a:buSzPts val="2400"/>
              <a:buNone/>
              <a:defRPr sz="3200" b="1">
                <a:solidFill>
                  <a:srgbClr val="212121"/>
                </a:solidFill>
              </a:defRPr>
            </a:lvl5pPr>
            <a:lvl6pPr lvl="5" algn="l">
              <a:lnSpc>
                <a:spcPct val="100000"/>
              </a:lnSpc>
              <a:spcBef>
                <a:spcPts val="0"/>
              </a:spcBef>
              <a:spcAft>
                <a:spcPts val="0"/>
              </a:spcAft>
              <a:buClr>
                <a:srgbClr val="212121"/>
              </a:buClr>
              <a:buSzPts val="2400"/>
              <a:buNone/>
              <a:defRPr sz="3200" b="1">
                <a:solidFill>
                  <a:srgbClr val="212121"/>
                </a:solidFill>
              </a:defRPr>
            </a:lvl6pPr>
            <a:lvl7pPr lvl="6" algn="l">
              <a:lnSpc>
                <a:spcPct val="100000"/>
              </a:lnSpc>
              <a:spcBef>
                <a:spcPts val="0"/>
              </a:spcBef>
              <a:spcAft>
                <a:spcPts val="0"/>
              </a:spcAft>
              <a:buClr>
                <a:srgbClr val="212121"/>
              </a:buClr>
              <a:buSzPts val="2400"/>
              <a:buNone/>
              <a:defRPr sz="3200" b="1">
                <a:solidFill>
                  <a:srgbClr val="212121"/>
                </a:solidFill>
              </a:defRPr>
            </a:lvl7pPr>
            <a:lvl8pPr lvl="7" algn="l">
              <a:lnSpc>
                <a:spcPct val="100000"/>
              </a:lnSpc>
              <a:spcBef>
                <a:spcPts val="0"/>
              </a:spcBef>
              <a:spcAft>
                <a:spcPts val="0"/>
              </a:spcAft>
              <a:buClr>
                <a:srgbClr val="212121"/>
              </a:buClr>
              <a:buSzPts val="2400"/>
              <a:buNone/>
              <a:defRPr sz="3200" b="1">
                <a:solidFill>
                  <a:srgbClr val="212121"/>
                </a:solidFill>
              </a:defRPr>
            </a:lvl8pPr>
            <a:lvl9pPr lvl="8" algn="l">
              <a:lnSpc>
                <a:spcPct val="100000"/>
              </a:lnSpc>
              <a:spcBef>
                <a:spcPts val="0"/>
              </a:spcBef>
              <a:spcAft>
                <a:spcPts val="0"/>
              </a:spcAft>
              <a:buClr>
                <a:srgbClr val="212121"/>
              </a:buClr>
              <a:buSzPts val="2400"/>
              <a:buNone/>
              <a:defRPr sz="3200" b="1">
                <a:solidFill>
                  <a:srgbClr val="212121"/>
                </a:solidFill>
              </a:defRPr>
            </a:lvl9pPr>
          </a:lstStyle>
          <a:p>
            <a:endParaRPr/>
          </a:p>
        </p:txBody>
      </p:sp>
      <p:sp>
        <p:nvSpPr>
          <p:cNvPr id="168" name="Google Shape;168;p23"/>
          <p:cNvSpPr txBox="1">
            <a:spLocks noGrp="1"/>
          </p:cNvSpPr>
          <p:nvPr>
            <p:ph type="body" idx="1"/>
          </p:nvPr>
        </p:nvSpPr>
        <p:spPr>
          <a:xfrm>
            <a:off x="3917633" y="3469933"/>
            <a:ext cx="7183200" cy="2300800"/>
          </a:xfrm>
          <a:prstGeom prst="rect">
            <a:avLst/>
          </a:prstGeom>
          <a:noFill/>
          <a:ln>
            <a:noFill/>
          </a:ln>
        </p:spPr>
        <p:txBody>
          <a:bodyPr spcFirstLastPara="1" wrap="square" lIns="91425" tIns="91425" rIns="91425" bIns="91425" anchor="t" anchorCtr="0"/>
          <a:lstStyle>
            <a:lvl1pPr marL="609585" lvl="0" indent="-440256" algn="l">
              <a:lnSpc>
                <a:spcPct val="115000"/>
              </a:lnSpc>
              <a:spcBef>
                <a:spcPts val="0"/>
              </a:spcBef>
              <a:spcAft>
                <a:spcPts val="0"/>
              </a:spcAft>
              <a:buClr>
                <a:srgbClr val="212121"/>
              </a:buClr>
              <a:buSzPts val="1600"/>
              <a:buChar char="●"/>
              <a:defRPr sz="2133">
                <a:solidFill>
                  <a:srgbClr val="212121"/>
                </a:solidFill>
              </a:defRPr>
            </a:lvl1pPr>
            <a:lvl2pPr marL="1219170" lvl="1" indent="-423323" algn="l">
              <a:lnSpc>
                <a:spcPct val="115000"/>
              </a:lnSpc>
              <a:spcBef>
                <a:spcPts val="2133"/>
              </a:spcBef>
              <a:spcAft>
                <a:spcPts val="0"/>
              </a:spcAft>
              <a:buClr>
                <a:srgbClr val="212121"/>
              </a:buClr>
              <a:buSzPts val="1400"/>
              <a:buChar char="○"/>
              <a:defRPr sz="1867">
                <a:solidFill>
                  <a:srgbClr val="212121"/>
                </a:solidFill>
              </a:defRPr>
            </a:lvl2pPr>
            <a:lvl3pPr marL="1828754" lvl="2" indent="-423323" algn="l">
              <a:lnSpc>
                <a:spcPct val="115000"/>
              </a:lnSpc>
              <a:spcBef>
                <a:spcPts val="2133"/>
              </a:spcBef>
              <a:spcAft>
                <a:spcPts val="0"/>
              </a:spcAft>
              <a:buClr>
                <a:srgbClr val="212121"/>
              </a:buClr>
              <a:buSzPts val="1400"/>
              <a:buChar char="■"/>
              <a:defRPr sz="1867">
                <a:solidFill>
                  <a:srgbClr val="212121"/>
                </a:solidFill>
              </a:defRPr>
            </a:lvl3pPr>
            <a:lvl4pPr marL="2438339" lvl="3" indent="-423323" algn="l">
              <a:lnSpc>
                <a:spcPct val="115000"/>
              </a:lnSpc>
              <a:spcBef>
                <a:spcPts val="2133"/>
              </a:spcBef>
              <a:spcAft>
                <a:spcPts val="0"/>
              </a:spcAft>
              <a:buClr>
                <a:srgbClr val="212121"/>
              </a:buClr>
              <a:buSzPts val="1400"/>
              <a:buChar char="●"/>
              <a:defRPr sz="1867">
                <a:solidFill>
                  <a:srgbClr val="212121"/>
                </a:solidFill>
              </a:defRPr>
            </a:lvl4pPr>
            <a:lvl5pPr marL="3047924" lvl="4" indent="-423323" algn="l">
              <a:lnSpc>
                <a:spcPct val="115000"/>
              </a:lnSpc>
              <a:spcBef>
                <a:spcPts val="2133"/>
              </a:spcBef>
              <a:spcAft>
                <a:spcPts val="0"/>
              </a:spcAft>
              <a:buClr>
                <a:srgbClr val="212121"/>
              </a:buClr>
              <a:buSzPts val="1400"/>
              <a:buChar char="○"/>
              <a:defRPr sz="1867">
                <a:solidFill>
                  <a:srgbClr val="212121"/>
                </a:solidFill>
              </a:defRPr>
            </a:lvl5pPr>
            <a:lvl6pPr marL="3657509" lvl="5" indent="-423323" algn="l">
              <a:lnSpc>
                <a:spcPct val="115000"/>
              </a:lnSpc>
              <a:spcBef>
                <a:spcPts val="2133"/>
              </a:spcBef>
              <a:spcAft>
                <a:spcPts val="0"/>
              </a:spcAft>
              <a:buClr>
                <a:srgbClr val="212121"/>
              </a:buClr>
              <a:buSzPts val="1400"/>
              <a:buChar char="■"/>
              <a:defRPr sz="1867">
                <a:solidFill>
                  <a:srgbClr val="212121"/>
                </a:solidFill>
              </a:defRPr>
            </a:lvl6pPr>
            <a:lvl7pPr marL="4267093" lvl="6" indent="-423323" algn="l">
              <a:lnSpc>
                <a:spcPct val="115000"/>
              </a:lnSpc>
              <a:spcBef>
                <a:spcPts val="2133"/>
              </a:spcBef>
              <a:spcAft>
                <a:spcPts val="0"/>
              </a:spcAft>
              <a:buClr>
                <a:srgbClr val="212121"/>
              </a:buClr>
              <a:buSzPts val="1400"/>
              <a:buChar char="●"/>
              <a:defRPr sz="1867">
                <a:solidFill>
                  <a:srgbClr val="212121"/>
                </a:solidFill>
              </a:defRPr>
            </a:lvl7pPr>
            <a:lvl8pPr marL="4876678" lvl="7" indent="-423323" algn="l">
              <a:lnSpc>
                <a:spcPct val="115000"/>
              </a:lnSpc>
              <a:spcBef>
                <a:spcPts val="2133"/>
              </a:spcBef>
              <a:spcAft>
                <a:spcPts val="0"/>
              </a:spcAft>
              <a:buClr>
                <a:srgbClr val="212121"/>
              </a:buClr>
              <a:buSzPts val="1400"/>
              <a:buChar char="○"/>
              <a:defRPr sz="1867">
                <a:solidFill>
                  <a:srgbClr val="212121"/>
                </a:solidFill>
              </a:defRPr>
            </a:lvl8pPr>
            <a:lvl9pPr marL="5486263" lvl="8" indent="-423323" algn="l">
              <a:lnSpc>
                <a:spcPct val="115000"/>
              </a:lnSpc>
              <a:spcBef>
                <a:spcPts val="2133"/>
              </a:spcBef>
              <a:spcAft>
                <a:spcPts val="2133"/>
              </a:spcAft>
              <a:buClr>
                <a:srgbClr val="212121"/>
              </a:buClr>
              <a:buSzPts val="1400"/>
              <a:buChar char="■"/>
              <a:defRPr sz="1867">
                <a:solidFill>
                  <a:srgbClr val="212121"/>
                </a:solidFill>
              </a:defRPr>
            </a:lvl9pPr>
          </a:lstStyle>
          <a:p>
            <a:endParaRPr/>
          </a:p>
        </p:txBody>
      </p:sp>
      <p:sp>
        <p:nvSpPr>
          <p:cNvPr id="169" name="Google Shape;169;p23"/>
          <p:cNvSpPr txBox="1">
            <a:spLocks noGrp="1"/>
          </p:cNvSpPr>
          <p:nvPr>
            <p:ph type="sldNum" idx="12"/>
          </p:nvPr>
        </p:nvSpPr>
        <p:spPr>
          <a:xfrm>
            <a:off x="11296611" y="6217623"/>
            <a:ext cx="731600" cy="5248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333">
                <a:solidFill>
                  <a:srgbClr val="212121"/>
                </a:solidFill>
              </a:defRPr>
            </a:lvl1pPr>
            <a:lvl2pPr lvl="1" algn="r">
              <a:lnSpc>
                <a:spcPct val="100000"/>
              </a:lnSpc>
              <a:spcAft>
                <a:spcPts val="0"/>
              </a:spcAft>
              <a:buNone/>
              <a:defRPr sz="1333">
                <a:solidFill>
                  <a:srgbClr val="212121"/>
                </a:solidFill>
              </a:defRPr>
            </a:lvl2pPr>
            <a:lvl3pPr lvl="2" algn="r">
              <a:lnSpc>
                <a:spcPct val="100000"/>
              </a:lnSpc>
              <a:spcAft>
                <a:spcPts val="0"/>
              </a:spcAft>
              <a:buNone/>
              <a:defRPr sz="1333">
                <a:solidFill>
                  <a:srgbClr val="212121"/>
                </a:solidFill>
              </a:defRPr>
            </a:lvl3pPr>
            <a:lvl4pPr lvl="3" algn="r">
              <a:lnSpc>
                <a:spcPct val="100000"/>
              </a:lnSpc>
              <a:spcAft>
                <a:spcPts val="0"/>
              </a:spcAft>
              <a:buNone/>
              <a:defRPr sz="1333">
                <a:solidFill>
                  <a:srgbClr val="212121"/>
                </a:solidFill>
              </a:defRPr>
            </a:lvl4pPr>
            <a:lvl5pPr lvl="4" algn="r">
              <a:lnSpc>
                <a:spcPct val="100000"/>
              </a:lnSpc>
              <a:spcAft>
                <a:spcPts val="0"/>
              </a:spcAft>
              <a:buNone/>
              <a:defRPr sz="1333">
                <a:solidFill>
                  <a:srgbClr val="212121"/>
                </a:solidFill>
              </a:defRPr>
            </a:lvl5pPr>
            <a:lvl6pPr lvl="5" algn="r">
              <a:lnSpc>
                <a:spcPct val="100000"/>
              </a:lnSpc>
              <a:spcAft>
                <a:spcPts val="0"/>
              </a:spcAft>
              <a:buNone/>
              <a:defRPr sz="1333">
                <a:solidFill>
                  <a:srgbClr val="212121"/>
                </a:solidFill>
              </a:defRPr>
            </a:lvl6pPr>
            <a:lvl7pPr lvl="6" algn="r">
              <a:lnSpc>
                <a:spcPct val="100000"/>
              </a:lnSpc>
              <a:spcAft>
                <a:spcPts val="0"/>
              </a:spcAft>
              <a:buNone/>
              <a:defRPr sz="1333">
                <a:solidFill>
                  <a:srgbClr val="212121"/>
                </a:solidFill>
              </a:defRPr>
            </a:lvl7pPr>
            <a:lvl8pPr lvl="7" algn="r">
              <a:lnSpc>
                <a:spcPct val="100000"/>
              </a:lnSpc>
              <a:spcAft>
                <a:spcPts val="0"/>
              </a:spcAft>
              <a:buNone/>
              <a:defRPr sz="1333">
                <a:solidFill>
                  <a:srgbClr val="212121"/>
                </a:solidFill>
              </a:defRPr>
            </a:lvl8pPr>
            <a:lvl9pPr lvl="8" algn="r">
              <a:lnSpc>
                <a:spcPct val="100000"/>
              </a:lnSpc>
              <a:spcAft>
                <a:spcPts val="0"/>
              </a:spcAft>
              <a:buNone/>
              <a:defRPr sz="1333">
                <a:solidFill>
                  <a:srgbClr val="212121"/>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8363452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自訂版面配置 1">
  <p:cSld name="自訂版面配置 1">
    <p:spTree>
      <p:nvGrpSpPr>
        <p:cNvPr id="1" name="Shape 31"/>
        <p:cNvGrpSpPr/>
        <p:nvPr/>
      </p:nvGrpSpPr>
      <p:grpSpPr>
        <a:xfrm>
          <a:off x="0" y="0"/>
          <a:ext cx="0" cy="0"/>
          <a:chOff x="0" y="0"/>
          <a:chExt cx="0" cy="0"/>
        </a:xfrm>
      </p:grpSpPr>
      <p:sp>
        <p:nvSpPr>
          <p:cNvPr id="32" name="Google Shape;32;p5"/>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3" name="Google Shape;33;p5"/>
          <p:cNvSpPr/>
          <p:nvPr/>
        </p:nvSpPr>
        <p:spPr>
          <a:xfrm>
            <a:off x="0" y="1308732"/>
            <a:ext cx="12192000" cy="94400"/>
          </a:xfrm>
          <a:prstGeom prst="rect">
            <a:avLst/>
          </a:prstGeom>
          <a:solidFill>
            <a:srgbClr val="21212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pic>
        <p:nvPicPr>
          <p:cNvPr id="34" name="Google Shape;34;p5"/>
          <p:cNvPicPr preferRelativeResize="0"/>
          <p:nvPr/>
        </p:nvPicPr>
        <p:blipFill rotWithShape="1">
          <a:blip r:embed="rId2">
            <a:alphaModFix/>
          </a:blip>
          <a:srcRect t="38312" b="38309"/>
          <a:stretch/>
        </p:blipFill>
        <p:spPr>
          <a:xfrm>
            <a:off x="0" y="0"/>
            <a:ext cx="12192008" cy="1308739"/>
          </a:xfrm>
          <a:prstGeom prst="rect">
            <a:avLst/>
          </a:prstGeom>
          <a:noFill/>
          <a:ln>
            <a:noFill/>
          </a:ln>
        </p:spPr>
      </p:pic>
      <p:sp>
        <p:nvSpPr>
          <p:cNvPr id="35" name="Google Shape;35;p5"/>
          <p:cNvSpPr txBox="1">
            <a:spLocks noGrp="1"/>
          </p:cNvSpPr>
          <p:nvPr>
            <p:ph type="ctrTitle"/>
          </p:nvPr>
        </p:nvSpPr>
        <p:spPr>
          <a:xfrm>
            <a:off x="3917633" y="1971767"/>
            <a:ext cx="7173200" cy="1358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1pPr>
            <a:lvl2pPr marR="0" lvl="1"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rgbClr val="212121"/>
              </a:buClr>
              <a:buSzPts val="2400"/>
              <a:buFont typeface="Playfair Display"/>
              <a:buNone/>
              <a:defRPr sz="3200" b="1" i="0" u="none" strike="noStrike" cap="none">
                <a:solidFill>
                  <a:srgbClr val="212121"/>
                </a:solidFill>
                <a:latin typeface="Playfair Display"/>
                <a:ea typeface="Playfair Display"/>
                <a:cs typeface="Playfair Display"/>
                <a:sym typeface="Playfair Display"/>
              </a:defRPr>
            </a:lvl9pPr>
          </a:lstStyle>
          <a:p>
            <a:endParaRPr/>
          </a:p>
        </p:txBody>
      </p:sp>
      <p:sp>
        <p:nvSpPr>
          <p:cNvPr id="36" name="Google Shape;36;p5"/>
          <p:cNvSpPr txBox="1">
            <a:spLocks noGrp="1"/>
          </p:cNvSpPr>
          <p:nvPr>
            <p:ph type="body" idx="1"/>
          </p:nvPr>
        </p:nvSpPr>
        <p:spPr>
          <a:xfrm>
            <a:off x="3917633" y="3469933"/>
            <a:ext cx="7183200" cy="2300800"/>
          </a:xfrm>
          <a:prstGeom prst="rect">
            <a:avLst/>
          </a:prstGeom>
          <a:noFill/>
          <a:ln>
            <a:noFill/>
          </a:ln>
        </p:spPr>
        <p:txBody>
          <a:bodyPr spcFirstLastPara="1" wrap="square" lIns="91425" tIns="91425" rIns="91425" bIns="91425" anchor="t" anchorCtr="0"/>
          <a:lstStyle>
            <a:lvl1pPr marL="609585" marR="0" lvl="0" indent="-440256" algn="l" rtl="0">
              <a:lnSpc>
                <a:spcPct val="115000"/>
              </a:lnSpc>
              <a:spcBef>
                <a:spcPts val="0"/>
              </a:spcBef>
              <a:spcAft>
                <a:spcPts val="0"/>
              </a:spcAft>
              <a:buClr>
                <a:srgbClr val="212121"/>
              </a:buClr>
              <a:buSzPts val="1600"/>
              <a:buFont typeface="Lato"/>
              <a:buChar char="●"/>
              <a:defRPr sz="2133" b="0" i="0" u="none" strike="noStrike" cap="none">
                <a:solidFill>
                  <a:srgbClr val="212121"/>
                </a:solidFill>
                <a:latin typeface="Lato"/>
                <a:ea typeface="Lato"/>
                <a:cs typeface="Lato"/>
                <a:sym typeface="Lato"/>
              </a:defRPr>
            </a:lvl1pPr>
            <a:lvl2pPr marL="1219170" marR="0" lvl="1"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2pPr>
            <a:lvl3pPr marL="1828754" marR="0" lvl="2"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3pPr>
            <a:lvl4pPr marL="2438339" marR="0" lvl="3"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4pPr>
            <a:lvl5pPr marL="3047924" marR="0" lvl="4"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5pPr>
            <a:lvl6pPr marL="3657509" marR="0" lvl="5"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6pPr>
            <a:lvl7pPr marL="4267093" marR="0" lvl="6"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7pPr>
            <a:lvl8pPr marL="4876678" marR="0" lvl="7" indent="-423323" algn="l" rtl="0">
              <a:lnSpc>
                <a:spcPct val="115000"/>
              </a:lnSpc>
              <a:spcBef>
                <a:spcPts val="2133"/>
              </a:spcBef>
              <a:spcAft>
                <a:spcPts val="0"/>
              </a:spcAft>
              <a:buClr>
                <a:srgbClr val="212121"/>
              </a:buClr>
              <a:buSzPts val="1400"/>
              <a:buFont typeface="Lato"/>
              <a:buChar char="○"/>
              <a:defRPr sz="1867" b="0" i="0" u="none" strike="noStrike" cap="none">
                <a:solidFill>
                  <a:srgbClr val="212121"/>
                </a:solidFill>
                <a:latin typeface="Lato"/>
                <a:ea typeface="Lato"/>
                <a:cs typeface="Lato"/>
                <a:sym typeface="Lato"/>
              </a:defRPr>
            </a:lvl8pPr>
            <a:lvl9pPr marL="5486263" marR="0" lvl="8" indent="-423323" algn="l" rtl="0">
              <a:lnSpc>
                <a:spcPct val="115000"/>
              </a:lnSpc>
              <a:spcBef>
                <a:spcPts val="2133"/>
              </a:spcBef>
              <a:spcAft>
                <a:spcPts val="2133"/>
              </a:spcAft>
              <a:buClr>
                <a:srgbClr val="212121"/>
              </a:buClr>
              <a:buSzPts val="1400"/>
              <a:buFont typeface="Lato"/>
              <a:buChar char="■"/>
              <a:defRPr sz="1867" b="0" i="0" u="none" strike="noStrike" cap="none">
                <a:solidFill>
                  <a:srgbClr val="212121"/>
                </a:solidFill>
                <a:latin typeface="Lato"/>
                <a:ea typeface="Lato"/>
                <a:cs typeface="Lato"/>
                <a:sym typeface="Lato"/>
              </a:defRPr>
            </a:lvl9pPr>
          </a:lstStyle>
          <a:p>
            <a:endParaRPr/>
          </a:p>
        </p:txBody>
      </p:sp>
      <p:sp>
        <p:nvSpPr>
          <p:cNvPr id="37" name="Google Shape;37;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212121"/>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4072132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自訂版面配置 4">
  <p:cSld name="自訂版面配置 4">
    <p:bg>
      <p:bgPr>
        <a:solidFill>
          <a:srgbClr val="FFFFFF"/>
        </a:solidFill>
        <a:effectLst/>
      </p:bgPr>
    </p:bg>
    <p:spTree>
      <p:nvGrpSpPr>
        <p:cNvPr id="1" name="Shape 38"/>
        <p:cNvGrpSpPr/>
        <p:nvPr/>
      </p:nvGrpSpPr>
      <p:grpSpPr>
        <a:xfrm>
          <a:off x="0" y="0"/>
          <a:ext cx="0" cy="0"/>
          <a:chOff x="0" y="0"/>
          <a:chExt cx="0" cy="0"/>
        </a:xfrm>
      </p:grpSpPr>
      <p:sp>
        <p:nvSpPr>
          <p:cNvPr id="39" name="Google Shape;39;p6"/>
          <p:cNvSpPr/>
          <p:nvPr/>
        </p:nvSpPr>
        <p:spPr>
          <a:xfrm>
            <a:off x="0" y="0"/>
            <a:ext cx="12192000" cy="6858000"/>
          </a:xfrm>
          <a:prstGeom prst="rect">
            <a:avLst/>
          </a:prstGeom>
          <a:solidFill>
            <a:srgbClr val="D9D9D9"/>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0" name="Google Shape;40;p6"/>
          <p:cNvSpPr/>
          <p:nvPr/>
        </p:nvSpPr>
        <p:spPr>
          <a:xfrm>
            <a:off x="241500" y="241500"/>
            <a:ext cx="11727200" cy="63748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 name="Google Shape;41;p6"/>
          <p:cNvSpPr txBox="1">
            <a:spLocks noGrp="1"/>
          </p:cNvSpPr>
          <p:nvPr>
            <p:ph type="title"/>
          </p:nvPr>
        </p:nvSpPr>
        <p:spPr>
          <a:xfrm>
            <a:off x="1082200" y="1066319"/>
            <a:ext cx="8611200" cy="19732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1pPr>
            <a:lvl2pPr marR="0" lvl="1"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600"/>
              <a:buFont typeface="Playfair Display"/>
              <a:buNone/>
              <a:defRPr sz="4800" b="1" i="0" u="none" strike="noStrike" cap="none">
                <a:solidFill>
                  <a:srgbClr val="D9D9D9"/>
                </a:solidFill>
                <a:latin typeface="Playfair Display"/>
                <a:ea typeface="Playfair Display"/>
                <a:cs typeface="Playfair Display"/>
                <a:sym typeface="Playfair Display"/>
              </a:defRPr>
            </a:lvl9pPr>
          </a:lstStyle>
          <a:p>
            <a:endParaRPr/>
          </a:p>
        </p:txBody>
      </p:sp>
      <p:sp>
        <p:nvSpPr>
          <p:cNvPr id="42" name="Google Shape;42;p6"/>
          <p:cNvSpPr txBox="1">
            <a:spLocks noGrp="1"/>
          </p:cNvSpPr>
          <p:nvPr>
            <p:ph type="body" idx="1"/>
          </p:nvPr>
        </p:nvSpPr>
        <p:spPr>
          <a:xfrm>
            <a:off x="1082200" y="3242719"/>
            <a:ext cx="8611200" cy="2716800"/>
          </a:xfrm>
          <a:prstGeom prst="rect">
            <a:avLst/>
          </a:prstGeom>
          <a:noFill/>
          <a:ln>
            <a:noFill/>
          </a:ln>
        </p:spPr>
        <p:txBody>
          <a:bodyPr spcFirstLastPara="1" wrap="square" lIns="91425" tIns="91425" rIns="91425" bIns="91425" anchor="t" anchorCtr="0"/>
          <a:lstStyle>
            <a:lvl1pPr marL="609585" marR="0" lvl="0" indent="-440256" algn="l" rtl="0">
              <a:lnSpc>
                <a:spcPct val="115000"/>
              </a:lnSpc>
              <a:spcBef>
                <a:spcPts val="0"/>
              </a:spcBef>
              <a:spcAft>
                <a:spcPts val="0"/>
              </a:spcAft>
              <a:buClr>
                <a:schemeClr val="dk2"/>
              </a:buClr>
              <a:buSzPts val="1600"/>
              <a:buFont typeface="Lato"/>
              <a:buChar char="●"/>
              <a:defRPr sz="2133" b="0" i="0" u="none" strike="noStrike" cap="none">
                <a:solidFill>
                  <a:schemeClr val="dk2"/>
                </a:solidFill>
                <a:latin typeface="Lato"/>
                <a:ea typeface="Lato"/>
                <a:cs typeface="Lato"/>
                <a:sym typeface="Lato"/>
              </a:defRPr>
            </a:lvl1pPr>
            <a:lvl2pPr marL="1219170" marR="0" lvl="1"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2pPr>
            <a:lvl3pPr marL="1828754" marR="0" lvl="2"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3pPr>
            <a:lvl4pPr marL="2438339" marR="0" lvl="3"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4pPr>
            <a:lvl5pPr marL="3047924" marR="0" lvl="4"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5pPr>
            <a:lvl6pPr marL="3657509" marR="0" lvl="5"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6pPr>
            <a:lvl7pPr marL="4267093" marR="0" lvl="6"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7pPr>
            <a:lvl8pPr marL="4876678" marR="0" lvl="7" indent="-423323" algn="l" rtl="0">
              <a:lnSpc>
                <a:spcPct val="115000"/>
              </a:lnSpc>
              <a:spcBef>
                <a:spcPts val="2133"/>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8pPr>
            <a:lvl9pPr marL="5486263" marR="0" lvl="8" indent="-423323" algn="l" rtl="0">
              <a:lnSpc>
                <a:spcPct val="115000"/>
              </a:lnSpc>
              <a:spcBef>
                <a:spcPts val="2133"/>
              </a:spcBef>
              <a:spcAft>
                <a:spcPts val="2133"/>
              </a:spcAft>
              <a:buClr>
                <a:schemeClr val="dk2"/>
              </a:buClr>
              <a:buSzPts val="1400"/>
              <a:buFont typeface="Lato"/>
              <a:buChar char="■"/>
              <a:defRPr sz="1867" b="0" i="0" u="none" strike="noStrike" cap="none">
                <a:solidFill>
                  <a:schemeClr val="dk2"/>
                </a:solidFill>
                <a:latin typeface="Lato"/>
                <a:ea typeface="Lato"/>
                <a:cs typeface="Lato"/>
                <a:sym typeface="Lato"/>
              </a:defRPr>
            </a:lvl9pPr>
          </a:lstStyle>
          <a:p>
            <a:endParaRPr/>
          </a:p>
        </p:txBody>
      </p:sp>
      <p:sp>
        <p:nvSpPr>
          <p:cNvPr id="43" name="Google Shape;43;p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8889269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自訂版面配置">
  <p:cSld name="自訂版面配置">
    <p:bg>
      <p:bgPr>
        <a:solidFill>
          <a:srgbClr val="FFFFFF"/>
        </a:solidFill>
        <a:effectLst/>
      </p:bgPr>
    </p:bg>
    <p:spTree>
      <p:nvGrpSpPr>
        <p:cNvPr id="1" name="Shape 44"/>
        <p:cNvGrpSpPr/>
        <p:nvPr/>
      </p:nvGrpSpPr>
      <p:grpSpPr>
        <a:xfrm>
          <a:off x="0" y="0"/>
          <a:ext cx="0" cy="0"/>
          <a:chOff x="0" y="0"/>
          <a:chExt cx="0" cy="0"/>
        </a:xfrm>
      </p:grpSpPr>
      <p:sp>
        <p:nvSpPr>
          <p:cNvPr id="45" name="Google Shape;45;p7"/>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 name="Google Shape;46;p7"/>
          <p:cNvSpPr/>
          <p:nvPr/>
        </p:nvSpPr>
        <p:spPr>
          <a:xfrm rot="5400000">
            <a:off x="-63400" y="2349253"/>
            <a:ext cx="1142800" cy="1016000"/>
          </a:xfrm>
          <a:prstGeom prst="triangle">
            <a:avLst>
              <a:gd name="adj" fmla="val 50000"/>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 name="Google Shape;47;p7"/>
          <p:cNvSpPr/>
          <p:nvPr/>
        </p:nvSpPr>
        <p:spPr>
          <a:xfrm rot="5400000">
            <a:off x="-63400" y="63400"/>
            <a:ext cx="1142800" cy="1016000"/>
          </a:xfrm>
          <a:prstGeom prst="triangle">
            <a:avLst>
              <a:gd name="adj" fmla="val 50000"/>
            </a:avLst>
          </a:prstGeom>
          <a:solidFill>
            <a:srgbClr val="B7B7B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 name="Google Shape;48;p7"/>
          <p:cNvSpPr/>
          <p:nvPr/>
        </p:nvSpPr>
        <p:spPr>
          <a:xfrm rot="-5400000">
            <a:off x="-63221" y="635040"/>
            <a:ext cx="1142800" cy="1016000"/>
          </a:xfrm>
          <a:prstGeom prst="triangle">
            <a:avLst>
              <a:gd name="adj" fmla="val 50000"/>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 name="Google Shape;49;p7"/>
          <p:cNvSpPr/>
          <p:nvPr/>
        </p:nvSpPr>
        <p:spPr>
          <a:xfrm rot="5400000">
            <a:off x="1968504" y="2349253"/>
            <a:ext cx="1142800" cy="1016000"/>
          </a:xfrm>
          <a:prstGeom prst="triangle">
            <a:avLst>
              <a:gd name="adj" fmla="val 50000"/>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 name="Google Shape;50;p7"/>
          <p:cNvSpPr/>
          <p:nvPr/>
        </p:nvSpPr>
        <p:spPr>
          <a:xfrm rot="-5400000">
            <a:off x="2254333" y="6064000"/>
            <a:ext cx="571600" cy="1016000"/>
          </a:xfrm>
          <a:prstGeom prst="rtTriangle">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 name="Google Shape;51;p7"/>
          <p:cNvSpPr/>
          <p:nvPr/>
        </p:nvSpPr>
        <p:spPr>
          <a:xfrm rot="-5400000">
            <a:off x="1968683" y="635040"/>
            <a:ext cx="1142800" cy="1016000"/>
          </a:xfrm>
          <a:prstGeom prst="triangle">
            <a:avLst>
              <a:gd name="adj" fmla="val 50000"/>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2" name="Google Shape;52;p7"/>
          <p:cNvSpPr/>
          <p:nvPr/>
        </p:nvSpPr>
        <p:spPr>
          <a:xfrm rot="-5400000" flipH="1">
            <a:off x="952731" y="2349253"/>
            <a:ext cx="1142800" cy="1016000"/>
          </a:xfrm>
          <a:prstGeom prst="triangle">
            <a:avLst>
              <a:gd name="adj" fmla="val 50000"/>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3" name="Google Shape;53;p7"/>
          <p:cNvSpPr/>
          <p:nvPr/>
        </p:nvSpPr>
        <p:spPr>
          <a:xfrm rot="5400000">
            <a:off x="-63400" y="1206393"/>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 name="Google Shape;54;p7"/>
          <p:cNvSpPr/>
          <p:nvPr/>
        </p:nvSpPr>
        <p:spPr>
          <a:xfrm rot="-5400000">
            <a:off x="1968683" y="1778033"/>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 name="Google Shape;55;p7"/>
          <p:cNvSpPr/>
          <p:nvPr/>
        </p:nvSpPr>
        <p:spPr>
          <a:xfrm rot="-5400000" flipH="1">
            <a:off x="952731" y="63400"/>
            <a:ext cx="1142800" cy="1016000"/>
          </a:xfrm>
          <a:prstGeom prst="triangle">
            <a:avLst>
              <a:gd name="adj" fmla="val 50000"/>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 name="Google Shape;56;p7"/>
          <p:cNvSpPr/>
          <p:nvPr/>
        </p:nvSpPr>
        <p:spPr>
          <a:xfrm rot="-5400000" flipH="1">
            <a:off x="952731" y="1206393"/>
            <a:ext cx="1142800" cy="1016000"/>
          </a:xfrm>
          <a:prstGeom prst="triangle">
            <a:avLst>
              <a:gd name="adj" fmla="val 50000"/>
            </a:avLst>
          </a:prstGeom>
          <a:solidFill>
            <a:srgbClr val="B7B7B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 name="Google Shape;57;p7"/>
          <p:cNvSpPr/>
          <p:nvPr/>
        </p:nvSpPr>
        <p:spPr>
          <a:xfrm rot="-5400000">
            <a:off x="222379" y="6064000"/>
            <a:ext cx="571600" cy="1016000"/>
          </a:xfrm>
          <a:prstGeom prst="rtTriangle">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 name="Google Shape;58;p7"/>
          <p:cNvSpPr/>
          <p:nvPr/>
        </p:nvSpPr>
        <p:spPr>
          <a:xfrm rot="-5400000" flipH="1">
            <a:off x="222276" y="-221927"/>
            <a:ext cx="571600" cy="1016000"/>
          </a:xfrm>
          <a:prstGeom prst="rtTriangle">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 name="Google Shape;59;p7"/>
          <p:cNvSpPr/>
          <p:nvPr/>
        </p:nvSpPr>
        <p:spPr>
          <a:xfrm rot="-5400000" flipH="1">
            <a:off x="2254180" y="-221927"/>
            <a:ext cx="571600" cy="1016000"/>
          </a:xfrm>
          <a:prstGeom prst="rtTriangle">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 name="Google Shape;60;p7"/>
          <p:cNvSpPr/>
          <p:nvPr/>
        </p:nvSpPr>
        <p:spPr>
          <a:xfrm rot="5400000" flipH="1">
            <a:off x="952449" y="635040"/>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 name="Google Shape;61;p7"/>
          <p:cNvSpPr/>
          <p:nvPr/>
        </p:nvSpPr>
        <p:spPr>
          <a:xfrm rot="5400000" flipH="1">
            <a:off x="952449" y="1778033"/>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 name="Google Shape;62;p7"/>
          <p:cNvSpPr/>
          <p:nvPr/>
        </p:nvSpPr>
        <p:spPr>
          <a:xfrm rot="-5400000">
            <a:off x="-63221" y="1778033"/>
            <a:ext cx="1142800" cy="1016000"/>
          </a:xfrm>
          <a:prstGeom prst="triangle">
            <a:avLst>
              <a:gd name="adj" fmla="val 50000"/>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 name="Google Shape;63;p7"/>
          <p:cNvSpPr/>
          <p:nvPr/>
        </p:nvSpPr>
        <p:spPr>
          <a:xfrm rot="5400000">
            <a:off x="1968504" y="63400"/>
            <a:ext cx="1142800" cy="1016000"/>
          </a:xfrm>
          <a:prstGeom prst="triangle">
            <a:avLst>
              <a:gd name="adj" fmla="val 50000"/>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 name="Google Shape;64;p7"/>
          <p:cNvSpPr/>
          <p:nvPr/>
        </p:nvSpPr>
        <p:spPr>
          <a:xfrm rot="5400000">
            <a:off x="1968504" y="1206393"/>
            <a:ext cx="1142800" cy="1016000"/>
          </a:xfrm>
          <a:prstGeom prst="triangle">
            <a:avLst>
              <a:gd name="adj" fmla="val 50000"/>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 name="Google Shape;65;p7"/>
          <p:cNvSpPr/>
          <p:nvPr/>
        </p:nvSpPr>
        <p:spPr>
          <a:xfrm rot="5400000" flipH="1">
            <a:off x="1238152" y="6064000"/>
            <a:ext cx="571600" cy="1016000"/>
          </a:xfrm>
          <a:prstGeom prst="rtTriangle">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 name="Google Shape;66;p7"/>
          <p:cNvSpPr/>
          <p:nvPr/>
        </p:nvSpPr>
        <p:spPr>
          <a:xfrm rot="5400000">
            <a:off x="1238152" y="-221927"/>
            <a:ext cx="571600" cy="1016000"/>
          </a:xfrm>
          <a:prstGeom prst="rtTriangle">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 name="Google Shape;67;p7"/>
          <p:cNvSpPr/>
          <p:nvPr/>
        </p:nvSpPr>
        <p:spPr>
          <a:xfrm rot="5400000">
            <a:off x="-63400" y="4635155"/>
            <a:ext cx="1142800" cy="1016000"/>
          </a:xfrm>
          <a:prstGeom prst="triangle">
            <a:avLst>
              <a:gd name="adj" fmla="val 50000"/>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8" name="Google Shape;68;p7"/>
          <p:cNvSpPr/>
          <p:nvPr/>
        </p:nvSpPr>
        <p:spPr>
          <a:xfrm rot="-5400000">
            <a:off x="-63221" y="2920941"/>
            <a:ext cx="1142800" cy="1016000"/>
          </a:xfrm>
          <a:prstGeom prst="triangle">
            <a:avLst>
              <a:gd name="adj" fmla="val 50000"/>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9" name="Google Shape;69;p7"/>
          <p:cNvSpPr/>
          <p:nvPr/>
        </p:nvSpPr>
        <p:spPr>
          <a:xfrm rot="5400000">
            <a:off x="1968504" y="4635155"/>
            <a:ext cx="1142800" cy="1016000"/>
          </a:xfrm>
          <a:prstGeom prst="triangle">
            <a:avLst>
              <a:gd name="adj" fmla="val 50000"/>
            </a:avLst>
          </a:prstGeom>
          <a:solidFill>
            <a:srgbClr val="CCCCC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0" name="Google Shape;70;p7"/>
          <p:cNvSpPr/>
          <p:nvPr/>
        </p:nvSpPr>
        <p:spPr>
          <a:xfrm rot="-5400000">
            <a:off x="1968683" y="2920941"/>
            <a:ext cx="1142800" cy="1016000"/>
          </a:xfrm>
          <a:prstGeom prst="triangle">
            <a:avLst>
              <a:gd name="adj" fmla="val 50000"/>
            </a:avLst>
          </a:prstGeom>
          <a:solidFill>
            <a:srgbClr val="EFEFE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1" name="Google Shape;71;p7"/>
          <p:cNvSpPr/>
          <p:nvPr/>
        </p:nvSpPr>
        <p:spPr>
          <a:xfrm rot="-5400000" flipH="1">
            <a:off x="952731" y="4635155"/>
            <a:ext cx="1142800" cy="1016000"/>
          </a:xfrm>
          <a:prstGeom prst="triangle">
            <a:avLst>
              <a:gd name="adj" fmla="val 50000"/>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2" name="Google Shape;72;p7"/>
          <p:cNvSpPr/>
          <p:nvPr/>
        </p:nvSpPr>
        <p:spPr>
          <a:xfrm rot="5400000">
            <a:off x="-63400" y="3492295"/>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3" name="Google Shape;73;p7"/>
          <p:cNvSpPr/>
          <p:nvPr/>
        </p:nvSpPr>
        <p:spPr>
          <a:xfrm rot="-5400000">
            <a:off x="1968683" y="4063933"/>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4" name="Google Shape;74;p7"/>
          <p:cNvSpPr/>
          <p:nvPr/>
        </p:nvSpPr>
        <p:spPr>
          <a:xfrm rot="-5400000" flipH="1">
            <a:off x="952731" y="3492295"/>
            <a:ext cx="1142800" cy="1016000"/>
          </a:xfrm>
          <a:prstGeom prst="triangle">
            <a:avLst>
              <a:gd name="adj" fmla="val 50000"/>
            </a:avLst>
          </a:prstGeom>
          <a:solidFill>
            <a:srgbClr val="B7B7B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5" name="Google Shape;75;p7"/>
          <p:cNvSpPr/>
          <p:nvPr/>
        </p:nvSpPr>
        <p:spPr>
          <a:xfrm rot="5400000" flipH="1">
            <a:off x="952449" y="2920941"/>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6" name="Google Shape;76;p7"/>
          <p:cNvSpPr/>
          <p:nvPr/>
        </p:nvSpPr>
        <p:spPr>
          <a:xfrm rot="5400000" flipH="1">
            <a:off x="952449" y="4063933"/>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7" name="Google Shape;77;p7"/>
          <p:cNvSpPr/>
          <p:nvPr/>
        </p:nvSpPr>
        <p:spPr>
          <a:xfrm rot="-5400000">
            <a:off x="-63221" y="4063933"/>
            <a:ext cx="1142800" cy="1016000"/>
          </a:xfrm>
          <a:prstGeom prst="triangle">
            <a:avLst>
              <a:gd name="adj" fmla="val 50000"/>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8" name="Google Shape;78;p7"/>
          <p:cNvSpPr/>
          <p:nvPr/>
        </p:nvSpPr>
        <p:spPr>
          <a:xfrm rot="5400000">
            <a:off x="1968504" y="3492295"/>
            <a:ext cx="1142800" cy="1016000"/>
          </a:xfrm>
          <a:prstGeom prst="triangle">
            <a:avLst>
              <a:gd name="adj" fmla="val 50000"/>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9" name="Google Shape;79;p7"/>
          <p:cNvSpPr/>
          <p:nvPr/>
        </p:nvSpPr>
        <p:spPr>
          <a:xfrm rot="-5400000">
            <a:off x="-63221" y="5207101"/>
            <a:ext cx="1142800" cy="1016000"/>
          </a:xfrm>
          <a:prstGeom prst="triangle">
            <a:avLst>
              <a:gd name="adj" fmla="val 50000"/>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0" name="Google Shape;80;p7"/>
          <p:cNvSpPr/>
          <p:nvPr/>
        </p:nvSpPr>
        <p:spPr>
          <a:xfrm rot="-5400000">
            <a:off x="1968683" y="5207101"/>
            <a:ext cx="1142800" cy="1016000"/>
          </a:xfrm>
          <a:prstGeom prst="triangle">
            <a:avLst>
              <a:gd name="adj" fmla="val 50000"/>
            </a:avLst>
          </a:prstGeom>
          <a:solidFill>
            <a:srgbClr val="EFEFE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1" name="Google Shape;81;p7"/>
          <p:cNvSpPr/>
          <p:nvPr/>
        </p:nvSpPr>
        <p:spPr>
          <a:xfrm rot="5400000">
            <a:off x="-63400" y="5778455"/>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2" name="Google Shape;82;p7"/>
          <p:cNvSpPr/>
          <p:nvPr/>
        </p:nvSpPr>
        <p:spPr>
          <a:xfrm rot="-5400000" flipH="1">
            <a:off x="952731" y="5778455"/>
            <a:ext cx="1142800" cy="1016000"/>
          </a:xfrm>
          <a:prstGeom prst="triangle">
            <a:avLst>
              <a:gd name="adj" fmla="val 50000"/>
            </a:avLst>
          </a:prstGeom>
          <a:solidFill>
            <a:srgbClr val="B7B7B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3" name="Google Shape;83;p7"/>
          <p:cNvSpPr/>
          <p:nvPr/>
        </p:nvSpPr>
        <p:spPr>
          <a:xfrm rot="5400000" flipH="1">
            <a:off x="952449" y="5207101"/>
            <a:ext cx="1142800" cy="1016000"/>
          </a:xfrm>
          <a:prstGeom prst="triangle">
            <a:avLst>
              <a:gd name="adj" fmla="val 50000"/>
            </a:avLst>
          </a:prstGeom>
          <a:solidFill>
            <a:srgbClr val="D9D9D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4" name="Google Shape;84;p7"/>
          <p:cNvSpPr/>
          <p:nvPr/>
        </p:nvSpPr>
        <p:spPr>
          <a:xfrm rot="5400000">
            <a:off x="1968555" y="5778065"/>
            <a:ext cx="1142800" cy="1016000"/>
          </a:xfrm>
          <a:prstGeom prst="triangle">
            <a:avLst>
              <a:gd name="adj" fmla="val 50000"/>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5" name="Google Shape;85;p7"/>
          <p:cNvSpPr txBox="1">
            <a:spLocks noGrp="1"/>
          </p:cNvSpPr>
          <p:nvPr>
            <p:ph type="title"/>
          </p:nvPr>
        </p:nvSpPr>
        <p:spPr>
          <a:xfrm>
            <a:off x="3859300" y="601295"/>
            <a:ext cx="7654400" cy="19236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1pPr>
            <a:lvl2pPr marR="0" lvl="1"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9pPr>
          </a:lstStyle>
          <a:p>
            <a:endParaRPr/>
          </a:p>
        </p:txBody>
      </p:sp>
      <p:sp>
        <p:nvSpPr>
          <p:cNvPr id="86" name="Google Shape;86;p7"/>
          <p:cNvSpPr txBox="1">
            <a:spLocks noGrp="1"/>
          </p:cNvSpPr>
          <p:nvPr>
            <p:ph type="body" idx="1"/>
          </p:nvPr>
        </p:nvSpPr>
        <p:spPr>
          <a:xfrm>
            <a:off x="3859300" y="2585267"/>
            <a:ext cx="7654400" cy="3532000"/>
          </a:xfrm>
          <a:prstGeom prst="rect">
            <a:avLst/>
          </a:prstGeom>
          <a:noFill/>
          <a:ln>
            <a:noFill/>
          </a:ln>
        </p:spPr>
        <p:txBody>
          <a:bodyPr spcFirstLastPara="1" wrap="square" lIns="91425" tIns="91425" rIns="91425" bIns="91425" anchor="t" anchorCtr="0"/>
          <a:lstStyle>
            <a:lvl1pPr marL="609585" marR="0" lvl="0" indent="-474121" algn="l" rtl="0">
              <a:lnSpc>
                <a:spcPct val="115000"/>
              </a:lnSpc>
              <a:spcBef>
                <a:spcPts val="0"/>
              </a:spcBef>
              <a:spcAft>
                <a:spcPts val="0"/>
              </a:spcAft>
              <a:buClr>
                <a:srgbClr val="616161"/>
              </a:buClr>
              <a:buSzPts val="2000"/>
              <a:buFont typeface="Lato"/>
              <a:buChar char="●"/>
              <a:defRPr sz="2667" b="0" i="0" u="none" strike="noStrike" cap="none">
                <a:solidFill>
                  <a:srgbClr val="616161"/>
                </a:solidFill>
                <a:latin typeface="Lato"/>
                <a:ea typeface="Lato"/>
                <a:cs typeface="Lato"/>
                <a:sym typeface="Lato"/>
              </a:defRPr>
            </a:lvl1pPr>
            <a:lvl2pPr marL="1219170" marR="0" lvl="1"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2pPr>
            <a:lvl3pPr marL="1828754" marR="0" lvl="2"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3pPr>
            <a:lvl4pPr marL="2438339" marR="0" lvl="3"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4pPr>
            <a:lvl5pPr marL="3047924" marR="0" lvl="4"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5pPr>
            <a:lvl6pPr marL="3657509" marR="0" lvl="5"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6pPr>
            <a:lvl7pPr marL="4267093" marR="0" lvl="6"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7pPr>
            <a:lvl8pPr marL="4876678" marR="0" lvl="7"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8pPr>
            <a:lvl9pPr marL="5486263" marR="0" lvl="8" indent="-440256" algn="l" rtl="0">
              <a:lnSpc>
                <a:spcPct val="115000"/>
              </a:lnSpc>
              <a:spcBef>
                <a:spcPts val="2133"/>
              </a:spcBef>
              <a:spcAft>
                <a:spcPts val="2133"/>
              </a:spcAft>
              <a:buClr>
                <a:srgbClr val="616161"/>
              </a:buClr>
              <a:buSzPts val="1600"/>
              <a:buFont typeface="Lato"/>
              <a:buChar char="■"/>
              <a:defRPr sz="2133" b="0" i="0" u="none" strike="noStrike" cap="none">
                <a:solidFill>
                  <a:srgbClr val="616161"/>
                </a:solidFill>
                <a:latin typeface="Lato"/>
                <a:ea typeface="Lato"/>
                <a:cs typeface="Lato"/>
                <a:sym typeface="Lato"/>
              </a:defRPr>
            </a:lvl9pPr>
          </a:lstStyle>
          <a:p>
            <a:endParaRPr/>
          </a:p>
        </p:txBody>
      </p:sp>
      <p:sp>
        <p:nvSpPr>
          <p:cNvPr id="87" name="Google Shape;87;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178879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自訂版面配置 5">
  <p:cSld name="自訂版面配置 5">
    <p:bg>
      <p:bgPr>
        <a:solidFill>
          <a:srgbClr val="FFFFFF"/>
        </a:solidFill>
        <a:effectLst/>
      </p:bgPr>
    </p:bg>
    <p:spTree>
      <p:nvGrpSpPr>
        <p:cNvPr id="1" name="Shape 88"/>
        <p:cNvGrpSpPr/>
        <p:nvPr/>
      </p:nvGrpSpPr>
      <p:grpSpPr>
        <a:xfrm>
          <a:off x="0" y="0"/>
          <a:ext cx="0" cy="0"/>
          <a:chOff x="0" y="0"/>
          <a:chExt cx="0" cy="0"/>
        </a:xfrm>
      </p:grpSpPr>
      <p:sp>
        <p:nvSpPr>
          <p:cNvPr id="89" name="Google Shape;89;p8"/>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90" name="Google Shape;90;p8"/>
          <p:cNvGrpSpPr/>
          <p:nvPr/>
        </p:nvGrpSpPr>
        <p:grpSpPr>
          <a:xfrm>
            <a:off x="-70" y="6772064"/>
            <a:ext cx="12192132" cy="86003"/>
            <a:chOff x="595675" y="2820050"/>
            <a:chExt cx="7952774" cy="64502"/>
          </a:xfrm>
        </p:grpSpPr>
        <p:sp>
          <p:nvSpPr>
            <p:cNvPr id="91" name="Google Shape;91;p8"/>
            <p:cNvSpPr/>
            <p:nvPr/>
          </p:nvSpPr>
          <p:spPr>
            <a:xfrm>
              <a:off x="2186208" y="2820050"/>
              <a:ext cx="1620000" cy="64500"/>
            </a:xfrm>
            <a:prstGeom prst="rect">
              <a:avLst/>
            </a:prstGeom>
            <a:solidFill>
              <a:srgbClr val="D6282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2" name="Google Shape;92;p8"/>
            <p:cNvSpPr/>
            <p:nvPr/>
          </p:nvSpPr>
          <p:spPr>
            <a:xfrm>
              <a:off x="3776784" y="2820050"/>
              <a:ext cx="1620000" cy="64500"/>
            </a:xfrm>
            <a:prstGeom prst="rect">
              <a:avLst/>
            </a:prstGeom>
            <a:solidFill>
              <a:srgbClr val="F77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3" name="Google Shape;93;p8"/>
            <p:cNvSpPr/>
            <p:nvPr/>
          </p:nvSpPr>
          <p:spPr>
            <a:xfrm>
              <a:off x="5373056" y="2820052"/>
              <a:ext cx="1596300" cy="64500"/>
            </a:xfrm>
            <a:prstGeom prst="rect">
              <a:avLst/>
            </a:prstGeom>
            <a:solidFill>
              <a:srgbClr val="FCBF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4" name="Google Shape;94;p8"/>
            <p:cNvSpPr/>
            <p:nvPr/>
          </p:nvSpPr>
          <p:spPr>
            <a:xfrm>
              <a:off x="595675" y="2820050"/>
              <a:ext cx="1590600" cy="64500"/>
            </a:xfrm>
            <a:prstGeom prst="rect">
              <a:avLst/>
            </a:prstGeom>
            <a:solidFill>
              <a:srgbClr val="0030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5" name="Google Shape;95;p8"/>
            <p:cNvSpPr/>
            <p:nvPr/>
          </p:nvSpPr>
          <p:spPr>
            <a:xfrm>
              <a:off x="6957849" y="2820050"/>
              <a:ext cx="1590600" cy="64500"/>
            </a:xfrm>
            <a:prstGeom prst="rect">
              <a:avLst/>
            </a:prstGeom>
            <a:solidFill>
              <a:srgbClr val="EAE2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96" name="Google Shape;96;p8"/>
          <p:cNvSpPr txBox="1">
            <a:spLocks noGrp="1"/>
          </p:cNvSpPr>
          <p:nvPr>
            <p:ph type="title"/>
          </p:nvPr>
        </p:nvSpPr>
        <p:spPr>
          <a:xfrm>
            <a:off x="673967" y="601500"/>
            <a:ext cx="4760400" cy="30316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1pPr>
            <a:lvl2pPr marR="0" lvl="1"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200"/>
              <a:buFont typeface="Playfair Display"/>
              <a:buNone/>
              <a:defRPr sz="3200" b="1" i="0" u="none" strike="noStrike" cap="none">
                <a:solidFill>
                  <a:srgbClr val="434343"/>
                </a:solidFill>
                <a:latin typeface="Playfair Display"/>
                <a:ea typeface="Playfair Display"/>
                <a:cs typeface="Playfair Display"/>
                <a:sym typeface="Playfair Display"/>
              </a:defRPr>
            </a:lvl9pPr>
          </a:lstStyle>
          <a:p>
            <a:endParaRPr/>
          </a:p>
        </p:txBody>
      </p:sp>
      <p:sp>
        <p:nvSpPr>
          <p:cNvPr id="97" name="Google Shape;97;p8"/>
          <p:cNvSpPr txBox="1">
            <a:spLocks noGrp="1"/>
          </p:cNvSpPr>
          <p:nvPr>
            <p:ph type="body" idx="1"/>
          </p:nvPr>
        </p:nvSpPr>
        <p:spPr>
          <a:xfrm>
            <a:off x="6411733" y="601500"/>
            <a:ext cx="4569600" cy="5218400"/>
          </a:xfrm>
          <a:prstGeom prst="rect">
            <a:avLst/>
          </a:prstGeom>
          <a:noFill/>
          <a:ln>
            <a:noFill/>
          </a:ln>
        </p:spPr>
        <p:txBody>
          <a:bodyPr spcFirstLastPara="1" wrap="square" lIns="91425" tIns="91425" rIns="91425" bIns="91425" anchor="t" anchorCtr="0"/>
          <a:lstStyle>
            <a:lvl1pPr marL="609585" marR="0" lvl="0" indent="-423323" algn="l" rtl="0">
              <a:lnSpc>
                <a:spcPct val="115000"/>
              </a:lnSpc>
              <a:spcBef>
                <a:spcPts val="0"/>
              </a:spcBef>
              <a:spcAft>
                <a:spcPts val="0"/>
              </a:spcAft>
              <a:buClr>
                <a:srgbClr val="434343"/>
              </a:buClr>
              <a:buSzPts val="1400"/>
              <a:buFont typeface="Lato"/>
              <a:buChar char="●"/>
              <a:defRPr sz="1867" b="0" i="0" u="none" strike="noStrike" cap="none">
                <a:solidFill>
                  <a:srgbClr val="434343"/>
                </a:solidFill>
                <a:latin typeface="Lato"/>
                <a:ea typeface="Lato"/>
                <a:cs typeface="Lato"/>
                <a:sym typeface="Lato"/>
              </a:defRPr>
            </a:lvl1pPr>
            <a:lvl2pPr marL="1219170" marR="0" lvl="1"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2pPr>
            <a:lvl3pPr marL="1828754" marR="0" lvl="2"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3pPr>
            <a:lvl4pPr marL="2438339" marR="0" lvl="3"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4pPr>
            <a:lvl5pPr marL="3047924" marR="0" lvl="4"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5pPr>
            <a:lvl6pPr marL="3657509" marR="0" lvl="5"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6pPr>
            <a:lvl7pPr marL="4267093" marR="0" lvl="6"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7pPr>
            <a:lvl8pPr marL="4876678" marR="0" lvl="7" indent="-406390" algn="l" rtl="0">
              <a:lnSpc>
                <a:spcPct val="115000"/>
              </a:lnSpc>
              <a:spcBef>
                <a:spcPts val="2133"/>
              </a:spcBef>
              <a:spcAft>
                <a:spcPts val="0"/>
              </a:spcAft>
              <a:buClr>
                <a:srgbClr val="434343"/>
              </a:buClr>
              <a:buSzPts val="1200"/>
              <a:buFont typeface="Lato"/>
              <a:buChar char="○"/>
              <a:defRPr sz="1600" b="0" i="0" u="none" strike="noStrike" cap="none">
                <a:solidFill>
                  <a:srgbClr val="434343"/>
                </a:solidFill>
                <a:latin typeface="Lato"/>
                <a:ea typeface="Lato"/>
                <a:cs typeface="Lato"/>
                <a:sym typeface="Lato"/>
              </a:defRPr>
            </a:lvl8pPr>
            <a:lvl9pPr marL="5486263" marR="0" lvl="8" indent="-406390" algn="l" rtl="0">
              <a:lnSpc>
                <a:spcPct val="115000"/>
              </a:lnSpc>
              <a:spcBef>
                <a:spcPts val="2133"/>
              </a:spcBef>
              <a:spcAft>
                <a:spcPts val="2133"/>
              </a:spcAft>
              <a:buClr>
                <a:srgbClr val="434343"/>
              </a:buClr>
              <a:buSzPts val="1200"/>
              <a:buFont typeface="Lato"/>
              <a:buChar char="■"/>
              <a:defRPr sz="1600" b="0" i="0" u="none" strike="noStrike" cap="none">
                <a:solidFill>
                  <a:srgbClr val="434343"/>
                </a:solidFill>
                <a:latin typeface="Lato"/>
                <a:ea typeface="Lato"/>
                <a:cs typeface="Lato"/>
                <a:sym typeface="Lato"/>
              </a:defRPr>
            </a:lvl9pPr>
          </a:lstStyle>
          <a:p>
            <a:endParaRPr/>
          </a:p>
        </p:txBody>
      </p:sp>
      <p:sp>
        <p:nvSpPr>
          <p:cNvPr id="98" name="Google Shape;98;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837453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自訂版面配置 7">
  <p:cSld name="自訂版面配置 7">
    <p:bg>
      <p:bgPr>
        <a:solidFill>
          <a:srgbClr val="FFFFFF"/>
        </a:solidFill>
        <a:effectLst/>
      </p:bgPr>
    </p:bg>
    <p:spTree>
      <p:nvGrpSpPr>
        <p:cNvPr id="1" name="Shape 99"/>
        <p:cNvGrpSpPr/>
        <p:nvPr/>
      </p:nvGrpSpPr>
      <p:grpSpPr>
        <a:xfrm>
          <a:off x="0" y="0"/>
          <a:ext cx="0" cy="0"/>
          <a:chOff x="0" y="0"/>
          <a:chExt cx="0" cy="0"/>
        </a:xfrm>
      </p:grpSpPr>
      <p:sp>
        <p:nvSpPr>
          <p:cNvPr id="100" name="Google Shape;100;p9"/>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01" name="Google Shape;101;p9"/>
          <p:cNvSpPr/>
          <p:nvPr/>
        </p:nvSpPr>
        <p:spPr>
          <a:xfrm rot="5400000">
            <a:off x="952264" y="63633"/>
            <a:ext cx="1143200" cy="1016000"/>
          </a:xfrm>
          <a:prstGeom prst="triangle">
            <a:avLst>
              <a:gd name="adj" fmla="val 50000"/>
            </a:avLst>
          </a:prstGeom>
          <a:solidFill>
            <a:srgbClr val="D9D9D9"/>
          </a:solidFill>
          <a:ln w="9525"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02" name="Google Shape;102;p9"/>
          <p:cNvSpPr/>
          <p:nvPr/>
        </p:nvSpPr>
        <p:spPr>
          <a:xfrm rot="-5400000" flipH="1">
            <a:off x="1238229" y="-221893"/>
            <a:ext cx="571600" cy="1016000"/>
          </a:xfrm>
          <a:prstGeom prst="rtTriangle">
            <a:avLst/>
          </a:prstGeom>
          <a:solidFill>
            <a:srgbClr val="D9D9D9"/>
          </a:solidFill>
          <a:ln w="9525"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03" name="Google Shape;103;p9"/>
          <p:cNvSpPr txBox="1">
            <a:spLocks noGrp="1"/>
          </p:cNvSpPr>
          <p:nvPr>
            <p:ph type="title"/>
          </p:nvPr>
        </p:nvSpPr>
        <p:spPr>
          <a:xfrm>
            <a:off x="1016033" y="1585533"/>
            <a:ext cx="10160000" cy="11432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1pPr>
            <a:lvl2pPr marR="0" lvl="1"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200"/>
              <a:buFont typeface="Playfair Display"/>
              <a:buNone/>
              <a:defRPr sz="4800" b="1" i="0" u="none" strike="noStrike" cap="none">
                <a:solidFill>
                  <a:srgbClr val="212121"/>
                </a:solidFill>
                <a:latin typeface="Playfair Display"/>
                <a:ea typeface="Playfair Display"/>
                <a:cs typeface="Playfair Display"/>
                <a:sym typeface="Playfair Display"/>
              </a:defRPr>
            </a:lvl9pPr>
          </a:lstStyle>
          <a:p>
            <a:endParaRPr/>
          </a:p>
        </p:txBody>
      </p:sp>
      <p:sp>
        <p:nvSpPr>
          <p:cNvPr id="104" name="Google Shape;104;p9"/>
          <p:cNvSpPr txBox="1">
            <a:spLocks noGrp="1"/>
          </p:cNvSpPr>
          <p:nvPr>
            <p:ph type="body" idx="1"/>
          </p:nvPr>
        </p:nvSpPr>
        <p:spPr>
          <a:xfrm>
            <a:off x="1016033" y="3004000"/>
            <a:ext cx="10160000" cy="3112800"/>
          </a:xfrm>
          <a:prstGeom prst="rect">
            <a:avLst/>
          </a:prstGeom>
          <a:noFill/>
          <a:ln>
            <a:noFill/>
          </a:ln>
        </p:spPr>
        <p:txBody>
          <a:bodyPr spcFirstLastPara="1" wrap="square" lIns="91425" tIns="91425" rIns="91425" bIns="91425" anchor="t" anchorCtr="0"/>
          <a:lstStyle>
            <a:lvl1pPr marL="609585" marR="0" lvl="0" indent="-474121" algn="l" rtl="0">
              <a:lnSpc>
                <a:spcPct val="115000"/>
              </a:lnSpc>
              <a:spcBef>
                <a:spcPts val="0"/>
              </a:spcBef>
              <a:spcAft>
                <a:spcPts val="0"/>
              </a:spcAft>
              <a:buClr>
                <a:srgbClr val="616161"/>
              </a:buClr>
              <a:buSzPts val="2000"/>
              <a:buFont typeface="Lato"/>
              <a:buChar char="●"/>
              <a:defRPr sz="2667" b="0" i="0" u="none" strike="noStrike" cap="none">
                <a:solidFill>
                  <a:srgbClr val="616161"/>
                </a:solidFill>
                <a:latin typeface="Lato"/>
                <a:ea typeface="Lato"/>
                <a:cs typeface="Lato"/>
                <a:sym typeface="Lato"/>
              </a:defRPr>
            </a:lvl1pPr>
            <a:lvl2pPr marL="1219170" marR="0" lvl="1"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2pPr>
            <a:lvl3pPr marL="1828754" marR="0" lvl="2"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3pPr>
            <a:lvl4pPr marL="2438339" marR="0" lvl="3"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4pPr>
            <a:lvl5pPr marL="3047924" marR="0" lvl="4"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5pPr>
            <a:lvl6pPr marL="3657509" marR="0" lvl="5"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6pPr>
            <a:lvl7pPr marL="4267093" marR="0" lvl="6"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7pPr>
            <a:lvl8pPr marL="4876678" marR="0" lvl="7" indent="-440256" algn="l" rtl="0">
              <a:lnSpc>
                <a:spcPct val="115000"/>
              </a:lnSpc>
              <a:spcBef>
                <a:spcPts val="2133"/>
              </a:spcBef>
              <a:spcAft>
                <a:spcPts val="0"/>
              </a:spcAft>
              <a:buClr>
                <a:srgbClr val="616161"/>
              </a:buClr>
              <a:buSzPts val="1600"/>
              <a:buFont typeface="Lato"/>
              <a:buChar char="○"/>
              <a:defRPr sz="2133" b="0" i="0" u="none" strike="noStrike" cap="none">
                <a:solidFill>
                  <a:srgbClr val="616161"/>
                </a:solidFill>
                <a:latin typeface="Lato"/>
                <a:ea typeface="Lato"/>
                <a:cs typeface="Lato"/>
                <a:sym typeface="Lato"/>
              </a:defRPr>
            </a:lvl8pPr>
            <a:lvl9pPr marL="5486263" marR="0" lvl="8" indent="-440256" algn="l" rtl="0">
              <a:lnSpc>
                <a:spcPct val="115000"/>
              </a:lnSpc>
              <a:spcBef>
                <a:spcPts val="2133"/>
              </a:spcBef>
              <a:spcAft>
                <a:spcPts val="2133"/>
              </a:spcAft>
              <a:buClr>
                <a:srgbClr val="616161"/>
              </a:buClr>
              <a:buSzPts val="1600"/>
              <a:buFont typeface="Lato"/>
              <a:buChar char="■"/>
              <a:defRPr sz="2133" b="0" i="0" u="none" strike="noStrike" cap="none">
                <a:solidFill>
                  <a:srgbClr val="616161"/>
                </a:solidFill>
                <a:latin typeface="Lato"/>
                <a:ea typeface="Lato"/>
                <a:cs typeface="Lato"/>
                <a:sym typeface="Lato"/>
              </a:defRPr>
            </a:lvl9pPr>
          </a:lstStyle>
          <a:p>
            <a:endParaRPr/>
          </a:p>
        </p:txBody>
      </p:sp>
      <p:sp>
        <p:nvSpPr>
          <p:cNvPr id="105" name="Google Shape;105;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616161"/>
                </a:solidFill>
                <a:latin typeface="Lato"/>
                <a:ea typeface="Lato"/>
                <a:cs typeface="Lato"/>
                <a:sym typeface="Lato"/>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0791091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自訂版面配置 8">
  <p:cSld name="自訂版面配置 8">
    <p:bg>
      <p:bgPr>
        <a:solidFill>
          <a:srgbClr val="FFFFFF"/>
        </a:solidFill>
        <a:effectLst/>
      </p:bgPr>
    </p:bg>
    <p:spTree>
      <p:nvGrpSpPr>
        <p:cNvPr id="1" name="Shape 152"/>
        <p:cNvGrpSpPr/>
        <p:nvPr/>
      </p:nvGrpSpPr>
      <p:grpSpPr>
        <a:xfrm>
          <a:off x="0" y="0"/>
          <a:ext cx="0" cy="0"/>
          <a:chOff x="0" y="0"/>
          <a:chExt cx="0" cy="0"/>
        </a:xfrm>
      </p:grpSpPr>
      <p:sp>
        <p:nvSpPr>
          <p:cNvPr id="153" name="Google Shape;153;p21"/>
          <p:cNvSpPr/>
          <p:nvPr/>
        </p:nvSpPr>
        <p:spPr>
          <a:xfrm>
            <a:off x="0" y="0"/>
            <a:ext cx="12192000" cy="6858000"/>
          </a:xfrm>
          <a:prstGeom prst="rect">
            <a:avLst/>
          </a:prstGeom>
          <a:solidFill>
            <a:srgbClr val="00000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4" name="Google Shape;154;p21"/>
          <p:cNvSpPr txBox="1">
            <a:spLocks noGrp="1"/>
          </p:cNvSpPr>
          <p:nvPr>
            <p:ph type="ctrTitle"/>
          </p:nvPr>
        </p:nvSpPr>
        <p:spPr>
          <a:xfrm>
            <a:off x="2450100" y="1668700"/>
            <a:ext cx="7261200" cy="3520800"/>
          </a:xfrm>
          <a:prstGeom prst="rect">
            <a:avLst/>
          </a:prstGeom>
          <a:noFill/>
          <a:ln>
            <a:noFill/>
          </a:ln>
        </p:spPr>
        <p:txBody>
          <a:bodyPr spcFirstLastPara="1" wrap="square" lIns="91425" tIns="91425" rIns="91425" bIns="91425" anchor="ctr" anchorCtr="0"/>
          <a:lstStyle>
            <a:lvl1pPr lvl="0" algn="ctr">
              <a:lnSpc>
                <a:spcPct val="100000"/>
              </a:lnSpc>
              <a:spcBef>
                <a:spcPts val="0"/>
              </a:spcBef>
              <a:spcAft>
                <a:spcPts val="0"/>
              </a:spcAft>
              <a:buClr>
                <a:srgbClr val="FFFFFF"/>
              </a:buClr>
              <a:buSzPts val="4000"/>
              <a:buNone/>
              <a:defRPr sz="5333" b="1">
                <a:solidFill>
                  <a:srgbClr val="FFFFFF"/>
                </a:solidFill>
              </a:defRPr>
            </a:lvl1pPr>
            <a:lvl2pPr lvl="1" algn="ctr">
              <a:lnSpc>
                <a:spcPct val="100000"/>
              </a:lnSpc>
              <a:spcBef>
                <a:spcPts val="0"/>
              </a:spcBef>
              <a:spcAft>
                <a:spcPts val="0"/>
              </a:spcAft>
              <a:buClr>
                <a:srgbClr val="FFFFFF"/>
              </a:buClr>
              <a:buSzPts val="4000"/>
              <a:buNone/>
              <a:defRPr sz="5333" b="1">
                <a:solidFill>
                  <a:srgbClr val="FFFFFF"/>
                </a:solidFill>
              </a:defRPr>
            </a:lvl2pPr>
            <a:lvl3pPr lvl="2" algn="ctr">
              <a:lnSpc>
                <a:spcPct val="100000"/>
              </a:lnSpc>
              <a:spcBef>
                <a:spcPts val="0"/>
              </a:spcBef>
              <a:spcAft>
                <a:spcPts val="0"/>
              </a:spcAft>
              <a:buClr>
                <a:srgbClr val="FFFFFF"/>
              </a:buClr>
              <a:buSzPts val="4000"/>
              <a:buNone/>
              <a:defRPr sz="5333" b="1">
                <a:solidFill>
                  <a:srgbClr val="FFFFFF"/>
                </a:solidFill>
              </a:defRPr>
            </a:lvl3pPr>
            <a:lvl4pPr lvl="3" algn="ctr">
              <a:lnSpc>
                <a:spcPct val="100000"/>
              </a:lnSpc>
              <a:spcBef>
                <a:spcPts val="0"/>
              </a:spcBef>
              <a:spcAft>
                <a:spcPts val="0"/>
              </a:spcAft>
              <a:buClr>
                <a:srgbClr val="FFFFFF"/>
              </a:buClr>
              <a:buSzPts val="4000"/>
              <a:buNone/>
              <a:defRPr sz="5333" b="1">
                <a:solidFill>
                  <a:srgbClr val="FFFFFF"/>
                </a:solidFill>
              </a:defRPr>
            </a:lvl4pPr>
            <a:lvl5pPr lvl="4" algn="ctr">
              <a:lnSpc>
                <a:spcPct val="100000"/>
              </a:lnSpc>
              <a:spcBef>
                <a:spcPts val="0"/>
              </a:spcBef>
              <a:spcAft>
                <a:spcPts val="0"/>
              </a:spcAft>
              <a:buClr>
                <a:srgbClr val="FFFFFF"/>
              </a:buClr>
              <a:buSzPts val="4000"/>
              <a:buNone/>
              <a:defRPr sz="5333" b="1">
                <a:solidFill>
                  <a:srgbClr val="FFFFFF"/>
                </a:solidFill>
              </a:defRPr>
            </a:lvl5pPr>
            <a:lvl6pPr lvl="5" algn="ctr">
              <a:lnSpc>
                <a:spcPct val="100000"/>
              </a:lnSpc>
              <a:spcBef>
                <a:spcPts val="0"/>
              </a:spcBef>
              <a:spcAft>
                <a:spcPts val="0"/>
              </a:spcAft>
              <a:buClr>
                <a:srgbClr val="FFFFFF"/>
              </a:buClr>
              <a:buSzPts val="4000"/>
              <a:buNone/>
              <a:defRPr sz="5333" b="1">
                <a:solidFill>
                  <a:srgbClr val="FFFFFF"/>
                </a:solidFill>
              </a:defRPr>
            </a:lvl6pPr>
            <a:lvl7pPr lvl="6" algn="ctr">
              <a:lnSpc>
                <a:spcPct val="100000"/>
              </a:lnSpc>
              <a:spcBef>
                <a:spcPts val="0"/>
              </a:spcBef>
              <a:spcAft>
                <a:spcPts val="0"/>
              </a:spcAft>
              <a:buClr>
                <a:srgbClr val="FFFFFF"/>
              </a:buClr>
              <a:buSzPts val="4000"/>
              <a:buNone/>
              <a:defRPr sz="5333" b="1">
                <a:solidFill>
                  <a:srgbClr val="FFFFFF"/>
                </a:solidFill>
              </a:defRPr>
            </a:lvl7pPr>
            <a:lvl8pPr lvl="7" algn="ctr">
              <a:lnSpc>
                <a:spcPct val="100000"/>
              </a:lnSpc>
              <a:spcBef>
                <a:spcPts val="0"/>
              </a:spcBef>
              <a:spcAft>
                <a:spcPts val="0"/>
              </a:spcAft>
              <a:buClr>
                <a:srgbClr val="FFFFFF"/>
              </a:buClr>
              <a:buSzPts val="4000"/>
              <a:buNone/>
              <a:defRPr sz="5333" b="1">
                <a:solidFill>
                  <a:srgbClr val="FFFFFF"/>
                </a:solidFill>
              </a:defRPr>
            </a:lvl8pPr>
            <a:lvl9pPr lvl="8" algn="ctr">
              <a:lnSpc>
                <a:spcPct val="100000"/>
              </a:lnSpc>
              <a:spcBef>
                <a:spcPts val="0"/>
              </a:spcBef>
              <a:spcAft>
                <a:spcPts val="0"/>
              </a:spcAft>
              <a:buClr>
                <a:srgbClr val="FFFFFF"/>
              </a:buClr>
              <a:buSzPts val="4000"/>
              <a:buNone/>
              <a:defRPr sz="5333" b="1">
                <a:solidFill>
                  <a:srgbClr val="FFFFFF"/>
                </a:solidFill>
              </a:defRPr>
            </a:lvl9pPr>
          </a:lstStyle>
          <a:p>
            <a:endParaRPr/>
          </a:p>
        </p:txBody>
      </p:sp>
      <p:sp>
        <p:nvSpPr>
          <p:cNvPr id="155" name="Google Shape;155;p21"/>
          <p:cNvSpPr txBox="1">
            <a:spLocks noGrp="1"/>
          </p:cNvSpPr>
          <p:nvPr>
            <p:ph type="sldNum" idx="12"/>
          </p:nvPr>
        </p:nvSpPr>
        <p:spPr>
          <a:xfrm>
            <a:off x="11296611" y="6217623"/>
            <a:ext cx="731600" cy="5248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333">
                <a:solidFill>
                  <a:srgbClr val="FFFFFF"/>
                </a:solidFill>
              </a:defRPr>
            </a:lvl1pPr>
            <a:lvl2pPr lvl="1" algn="r">
              <a:lnSpc>
                <a:spcPct val="100000"/>
              </a:lnSpc>
              <a:spcAft>
                <a:spcPts val="0"/>
              </a:spcAft>
              <a:buNone/>
              <a:defRPr sz="1333">
                <a:solidFill>
                  <a:srgbClr val="FFFFFF"/>
                </a:solidFill>
              </a:defRPr>
            </a:lvl2pPr>
            <a:lvl3pPr lvl="2" algn="r">
              <a:lnSpc>
                <a:spcPct val="100000"/>
              </a:lnSpc>
              <a:spcAft>
                <a:spcPts val="0"/>
              </a:spcAft>
              <a:buNone/>
              <a:defRPr sz="1333">
                <a:solidFill>
                  <a:srgbClr val="FFFFFF"/>
                </a:solidFill>
              </a:defRPr>
            </a:lvl3pPr>
            <a:lvl4pPr lvl="3" algn="r">
              <a:lnSpc>
                <a:spcPct val="100000"/>
              </a:lnSpc>
              <a:spcAft>
                <a:spcPts val="0"/>
              </a:spcAft>
              <a:buNone/>
              <a:defRPr sz="1333">
                <a:solidFill>
                  <a:srgbClr val="FFFFFF"/>
                </a:solidFill>
              </a:defRPr>
            </a:lvl4pPr>
            <a:lvl5pPr lvl="4" algn="r">
              <a:lnSpc>
                <a:spcPct val="100000"/>
              </a:lnSpc>
              <a:spcAft>
                <a:spcPts val="0"/>
              </a:spcAft>
              <a:buNone/>
              <a:defRPr sz="1333">
                <a:solidFill>
                  <a:srgbClr val="FFFFFF"/>
                </a:solidFill>
              </a:defRPr>
            </a:lvl5pPr>
            <a:lvl6pPr lvl="5" algn="r">
              <a:lnSpc>
                <a:spcPct val="100000"/>
              </a:lnSpc>
              <a:spcAft>
                <a:spcPts val="0"/>
              </a:spcAft>
              <a:buNone/>
              <a:defRPr sz="1333">
                <a:solidFill>
                  <a:srgbClr val="FFFFFF"/>
                </a:solidFill>
              </a:defRPr>
            </a:lvl6pPr>
            <a:lvl7pPr lvl="6" algn="r">
              <a:lnSpc>
                <a:spcPct val="100000"/>
              </a:lnSpc>
              <a:spcAft>
                <a:spcPts val="0"/>
              </a:spcAft>
              <a:buNone/>
              <a:defRPr sz="1333">
                <a:solidFill>
                  <a:srgbClr val="FFFFFF"/>
                </a:solidFill>
              </a:defRPr>
            </a:lvl7pPr>
            <a:lvl8pPr lvl="7" algn="r">
              <a:lnSpc>
                <a:spcPct val="100000"/>
              </a:lnSpc>
              <a:spcAft>
                <a:spcPts val="0"/>
              </a:spcAft>
              <a:buNone/>
              <a:defRPr sz="1333">
                <a:solidFill>
                  <a:srgbClr val="FFFFFF"/>
                </a:solidFill>
              </a:defRPr>
            </a:lvl8pPr>
            <a:lvl9pPr lvl="8" algn="r">
              <a:lnSpc>
                <a:spcPct val="100000"/>
              </a:lnSpc>
              <a:spcAft>
                <a:spcPts val="0"/>
              </a:spcAft>
              <a:buNone/>
              <a:defRPr sz="1333">
                <a:solidFill>
                  <a:srgbClr val="FFFFFF"/>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1615639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自訂版面配置 9">
  <p:cSld name="自訂版面配置 9">
    <p:bg>
      <p:bgPr>
        <a:solidFill>
          <a:srgbClr val="FFFFFF"/>
        </a:solidFill>
        <a:effectLst/>
      </p:bgPr>
    </p:bg>
    <p:spTree>
      <p:nvGrpSpPr>
        <p:cNvPr id="1" name="Shape 156"/>
        <p:cNvGrpSpPr/>
        <p:nvPr/>
      </p:nvGrpSpPr>
      <p:grpSpPr>
        <a:xfrm>
          <a:off x="0" y="0"/>
          <a:ext cx="0" cy="0"/>
          <a:chOff x="0" y="0"/>
          <a:chExt cx="0" cy="0"/>
        </a:xfrm>
      </p:grpSpPr>
      <p:sp>
        <p:nvSpPr>
          <p:cNvPr id="157" name="Google Shape;157;p22"/>
          <p:cNvSpPr/>
          <p:nvPr/>
        </p:nvSpPr>
        <p:spPr>
          <a:xfrm>
            <a:off x="0" y="0"/>
            <a:ext cx="12192000" cy="6858000"/>
          </a:xfrm>
          <a:prstGeom prst="rect">
            <a:avLst/>
          </a:prstGeom>
          <a:solidFill>
            <a:srgbClr val="D9D9D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8" name="Google Shape;158;p22"/>
          <p:cNvSpPr/>
          <p:nvPr/>
        </p:nvSpPr>
        <p:spPr>
          <a:xfrm>
            <a:off x="3264300" y="597200"/>
            <a:ext cx="5663600" cy="5663600"/>
          </a:xfrm>
          <a:prstGeom prst="ellipse">
            <a:avLst/>
          </a:prstGeom>
          <a:noFill/>
          <a:ln w="19050"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 name="Google Shape;159;p22"/>
          <p:cNvSpPr/>
          <p:nvPr/>
        </p:nvSpPr>
        <p:spPr>
          <a:xfrm>
            <a:off x="3429100" y="762000"/>
            <a:ext cx="5334000" cy="53340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0" name="Google Shape;160;p22"/>
          <p:cNvSpPr txBox="1">
            <a:spLocks noGrp="1"/>
          </p:cNvSpPr>
          <p:nvPr>
            <p:ph type="title"/>
          </p:nvPr>
        </p:nvSpPr>
        <p:spPr>
          <a:xfrm>
            <a:off x="3529733" y="1734433"/>
            <a:ext cx="5123600" cy="2362400"/>
          </a:xfrm>
          <a:prstGeom prst="rect">
            <a:avLst/>
          </a:prstGeom>
          <a:noFill/>
          <a:ln>
            <a:noFill/>
          </a:ln>
        </p:spPr>
        <p:txBody>
          <a:bodyPr spcFirstLastPara="1" wrap="square" lIns="91425" tIns="91425" rIns="91425" bIns="91425" anchor="ctr" anchorCtr="0"/>
          <a:lstStyle>
            <a:lvl1pPr lvl="0" algn="ctr">
              <a:lnSpc>
                <a:spcPct val="100000"/>
              </a:lnSpc>
              <a:spcBef>
                <a:spcPts val="0"/>
              </a:spcBef>
              <a:spcAft>
                <a:spcPts val="0"/>
              </a:spcAft>
              <a:buNone/>
              <a:defRPr sz="13333" b="1">
                <a:solidFill>
                  <a:srgbClr val="D9D9D9"/>
                </a:solidFill>
              </a:defRPr>
            </a:lvl1pPr>
            <a:lvl2pPr lvl="1" algn="ctr">
              <a:lnSpc>
                <a:spcPct val="100000"/>
              </a:lnSpc>
              <a:spcBef>
                <a:spcPts val="0"/>
              </a:spcBef>
              <a:spcAft>
                <a:spcPts val="0"/>
              </a:spcAft>
              <a:buNone/>
              <a:defRPr sz="13333" b="1">
                <a:solidFill>
                  <a:srgbClr val="D9D9D9"/>
                </a:solidFill>
              </a:defRPr>
            </a:lvl2pPr>
            <a:lvl3pPr lvl="2" algn="ctr">
              <a:lnSpc>
                <a:spcPct val="100000"/>
              </a:lnSpc>
              <a:spcBef>
                <a:spcPts val="0"/>
              </a:spcBef>
              <a:spcAft>
                <a:spcPts val="0"/>
              </a:spcAft>
              <a:buNone/>
              <a:defRPr sz="13333" b="1">
                <a:solidFill>
                  <a:srgbClr val="D9D9D9"/>
                </a:solidFill>
              </a:defRPr>
            </a:lvl3pPr>
            <a:lvl4pPr lvl="3" algn="ctr">
              <a:lnSpc>
                <a:spcPct val="100000"/>
              </a:lnSpc>
              <a:spcBef>
                <a:spcPts val="0"/>
              </a:spcBef>
              <a:spcAft>
                <a:spcPts val="0"/>
              </a:spcAft>
              <a:buNone/>
              <a:defRPr sz="13333" b="1">
                <a:solidFill>
                  <a:srgbClr val="D9D9D9"/>
                </a:solidFill>
              </a:defRPr>
            </a:lvl4pPr>
            <a:lvl5pPr lvl="4" algn="ctr">
              <a:lnSpc>
                <a:spcPct val="100000"/>
              </a:lnSpc>
              <a:spcBef>
                <a:spcPts val="0"/>
              </a:spcBef>
              <a:spcAft>
                <a:spcPts val="0"/>
              </a:spcAft>
              <a:buNone/>
              <a:defRPr sz="13333" b="1">
                <a:solidFill>
                  <a:srgbClr val="D9D9D9"/>
                </a:solidFill>
              </a:defRPr>
            </a:lvl5pPr>
            <a:lvl6pPr lvl="5" algn="ctr">
              <a:lnSpc>
                <a:spcPct val="100000"/>
              </a:lnSpc>
              <a:spcBef>
                <a:spcPts val="0"/>
              </a:spcBef>
              <a:spcAft>
                <a:spcPts val="0"/>
              </a:spcAft>
              <a:buNone/>
              <a:defRPr sz="13333" b="1">
                <a:solidFill>
                  <a:srgbClr val="D9D9D9"/>
                </a:solidFill>
              </a:defRPr>
            </a:lvl6pPr>
            <a:lvl7pPr lvl="6" algn="ctr">
              <a:lnSpc>
                <a:spcPct val="100000"/>
              </a:lnSpc>
              <a:spcBef>
                <a:spcPts val="0"/>
              </a:spcBef>
              <a:spcAft>
                <a:spcPts val="0"/>
              </a:spcAft>
              <a:buNone/>
              <a:defRPr sz="13333" b="1">
                <a:solidFill>
                  <a:srgbClr val="D9D9D9"/>
                </a:solidFill>
              </a:defRPr>
            </a:lvl7pPr>
            <a:lvl8pPr lvl="7" algn="ctr">
              <a:lnSpc>
                <a:spcPct val="100000"/>
              </a:lnSpc>
              <a:spcBef>
                <a:spcPts val="0"/>
              </a:spcBef>
              <a:spcAft>
                <a:spcPts val="0"/>
              </a:spcAft>
              <a:buNone/>
              <a:defRPr sz="13333" b="1">
                <a:solidFill>
                  <a:srgbClr val="D9D9D9"/>
                </a:solidFill>
              </a:defRPr>
            </a:lvl8pPr>
            <a:lvl9pPr lvl="8" algn="ctr">
              <a:lnSpc>
                <a:spcPct val="100000"/>
              </a:lnSpc>
              <a:spcBef>
                <a:spcPts val="0"/>
              </a:spcBef>
              <a:spcAft>
                <a:spcPts val="0"/>
              </a:spcAft>
              <a:buNone/>
              <a:defRPr sz="13333" b="1">
                <a:solidFill>
                  <a:srgbClr val="D9D9D9"/>
                </a:solidFill>
              </a:defRPr>
            </a:lvl9pPr>
          </a:lstStyle>
          <a:p>
            <a:endParaRPr/>
          </a:p>
        </p:txBody>
      </p:sp>
      <p:sp>
        <p:nvSpPr>
          <p:cNvPr id="161" name="Google Shape;161;p22"/>
          <p:cNvSpPr txBox="1">
            <a:spLocks noGrp="1"/>
          </p:cNvSpPr>
          <p:nvPr>
            <p:ph type="body" idx="1"/>
          </p:nvPr>
        </p:nvSpPr>
        <p:spPr>
          <a:xfrm>
            <a:off x="4295733" y="4160033"/>
            <a:ext cx="3591600" cy="1102400"/>
          </a:xfrm>
          <a:prstGeom prst="rect">
            <a:avLst/>
          </a:prstGeom>
          <a:noFill/>
          <a:ln>
            <a:noFill/>
          </a:ln>
        </p:spPr>
        <p:txBody>
          <a:bodyPr spcFirstLastPara="1" wrap="square" lIns="91425" tIns="91425" rIns="91425" bIns="91425" anchor="t" anchorCtr="0"/>
          <a:lstStyle>
            <a:lvl1pPr marL="609585" lvl="0" indent="-440256" algn="ctr">
              <a:lnSpc>
                <a:spcPct val="115000"/>
              </a:lnSpc>
              <a:spcBef>
                <a:spcPts val="0"/>
              </a:spcBef>
              <a:spcAft>
                <a:spcPts val="0"/>
              </a:spcAft>
              <a:buClr>
                <a:srgbClr val="455A64"/>
              </a:buClr>
              <a:buSzPts val="1600"/>
              <a:buChar char="●"/>
              <a:defRPr sz="2133">
                <a:solidFill>
                  <a:srgbClr val="D9D9D9"/>
                </a:solidFill>
              </a:defRPr>
            </a:lvl1pPr>
            <a:lvl2pPr marL="1219170" lvl="1" indent="-423323" algn="ctr">
              <a:lnSpc>
                <a:spcPct val="115000"/>
              </a:lnSpc>
              <a:spcBef>
                <a:spcPts val="2133"/>
              </a:spcBef>
              <a:spcAft>
                <a:spcPts val="0"/>
              </a:spcAft>
              <a:buClr>
                <a:srgbClr val="455A64"/>
              </a:buClr>
              <a:buSzPts val="1400"/>
              <a:buChar char="○"/>
              <a:defRPr sz="1867">
                <a:solidFill>
                  <a:srgbClr val="D9D9D9"/>
                </a:solidFill>
              </a:defRPr>
            </a:lvl2pPr>
            <a:lvl3pPr marL="1828754" lvl="2" indent="-423323" algn="ctr">
              <a:lnSpc>
                <a:spcPct val="115000"/>
              </a:lnSpc>
              <a:spcBef>
                <a:spcPts val="2133"/>
              </a:spcBef>
              <a:spcAft>
                <a:spcPts val="0"/>
              </a:spcAft>
              <a:buClr>
                <a:srgbClr val="455A64"/>
              </a:buClr>
              <a:buSzPts val="1400"/>
              <a:buChar char="■"/>
              <a:defRPr sz="1867">
                <a:solidFill>
                  <a:srgbClr val="D9D9D9"/>
                </a:solidFill>
              </a:defRPr>
            </a:lvl3pPr>
            <a:lvl4pPr marL="2438339" lvl="3" indent="-423323" algn="ctr">
              <a:lnSpc>
                <a:spcPct val="115000"/>
              </a:lnSpc>
              <a:spcBef>
                <a:spcPts val="2133"/>
              </a:spcBef>
              <a:spcAft>
                <a:spcPts val="0"/>
              </a:spcAft>
              <a:buClr>
                <a:srgbClr val="455A64"/>
              </a:buClr>
              <a:buSzPts val="1400"/>
              <a:buChar char="●"/>
              <a:defRPr sz="1867">
                <a:solidFill>
                  <a:srgbClr val="D9D9D9"/>
                </a:solidFill>
              </a:defRPr>
            </a:lvl4pPr>
            <a:lvl5pPr marL="3047924" lvl="4" indent="-423323" algn="ctr">
              <a:lnSpc>
                <a:spcPct val="115000"/>
              </a:lnSpc>
              <a:spcBef>
                <a:spcPts val="2133"/>
              </a:spcBef>
              <a:spcAft>
                <a:spcPts val="0"/>
              </a:spcAft>
              <a:buClr>
                <a:srgbClr val="455A64"/>
              </a:buClr>
              <a:buSzPts val="1400"/>
              <a:buChar char="○"/>
              <a:defRPr sz="1867">
                <a:solidFill>
                  <a:srgbClr val="D9D9D9"/>
                </a:solidFill>
              </a:defRPr>
            </a:lvl5pPr>
            <a:lvl6pPr marL="3657509" lvl="5" indent="-423323" algn="ctr">
              <a:lnSpc>
                <a:spcPct val="115000"/>
              </a:lnSpc>
              <a:spcBef>
                <a:spcPts val="2133"/>
              </a:spcBef>
              <a:spcAft>
                <a:spcPts val="0"/>
              </a:spcAft>
              <a:buClr>
                <a:srgbClr val="455A64"/>
              </a:buClr>
              <a:buSzPts val="1400"/>
              <a:buChar char="■"/>
              <a:defRPr sz="1867">
                <a:solidFill>
                  <a:srgbClr val="D9D9D9"/>
                </a:solidFill>
              </a:defRPr>
            </a:lvl6pPr>
            <a:lvl7pPr marL="4267093" lvl="6" indent="-423323" algn="ctr">
              <a:lnSpc>
                <a:spcPct val="115000"/>
              </a:lnSpc>
              <a:spcBef>
                <a:spcPts val="2133"/>
              </a:spcBef>
              <a:spcAft>
                <a:spcPts val="0"/>
              </a:spcAft>
              <a:buClr>
                <a:srgbClr val="455A64"/>
              </a:buClr>
              <a:buSzPts val="1400"/>
              <a:buChar char="●"/>
              <a:defRPr sz="1867">
                <a:solidFill>
                  <a:srgbClr val="D9D9D9"/>
                </a:solidFill>
              </a:defRPr>
            </a:lvl7pPr>
            <a:lvl8pPr marL="4876678" lvl="7" indent="-423323" algn="ctr">
              <a:lnSpc>
                <a:spcPct val="115000"/>
              </a:lnSpc>
              <a:spcBef>
                <a:spcPts val="2133"/>
              </a:spcBef>
              <a:spcAft>
                <a:spcPts val="0"/>
              </a:spcAft>
              <a:buClr>
                <a:srgbClr val="455A64"/>
              </a:buClr>
              <a:buSzPts val="1400"/>
              <a:buChar char="○"/>
              <a:defRPr sz="1867">
                <a:solidFill>
                  <a:srgbClr val="D9D9D9"/>
                </a:solidFill>
              </a:defRPr>
            </a:lvl8pPr>
            <a:lvl9pPr marL="5486263" lvl="8" indent="-423323" algn="ctr">
              <a:lnSpc>
                <a:spcPct val="115000"/>
              </a:lnSpc>
              <a:spcBef>
                <a:spcPts val="2133"/>
              </a:spcBef>
              <a:spcAft>
                <a:spcPts val="2133"/>
              </a:spcAft>
              <a:buClr>
                <a:srgbClr val="455A64"/>
              </a:buClr>
              <a:buSzPts val="1400"/>
              <a:buChar char="■"/>
              <a:defRPr sz="1867">
                <a:solidFill>
                  <a:srgbClr val="D9D9D9"/>
                </a:solidFill>
              </a:defRPr>
            </a:lvl9pPr>
          </a:lstStyle>
          <a:p>
            <a:endParaRPr/>
          </a:p>
        </p:txBody>
      </p:sp>
      <p:sp>
        <p:nvSpPr>
          <p:cNvPr id="162" name="Google Shape;162;p22"/>
          <p:cNvSpPr txBox="1">
            <a:spLocks noGrp="1"/>
          </p:cNvSpPr>
          <p:nvPr>
            <p:ph type="sldNum" idx="12"/>
          </p:nvPr>
        </p:nvSpPr>
        <p:spPr>
          <a:xfrm>
            <a:off x="11296611" y="6217623"/>
            <a:ext cx="731600" cy="5248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333">
                <a:solidFill>
                  <a:srgbClr val="FFFFFF"/>
                </a:solidFill>
              </a:defRPr>
            </a:lvl1pPr>
            <a:lvl2pPr lvl="1" algn="r">
              <a:lnSpc>
                <a:spcPct val="100000"/>
              </a:lnSpc>
              <a:spcAft>
                <a:spcPts val="0"/>
              </a:spcAft>
              <a:buNone/>
              <a:defRPr sz="1333">
                <a:solidFill>
                  <a:srgbClr val="FFFFFF"/>
                </a:solidFill>
              </a:defRPr>
            </a:lvl2pPr>
            <a:lvl3pPr lvl="2" algn="r">
              <a:lnSpc>
                <a:spcPct val="100000"/>
              </a:lnSpc>
              <a:spcAft>
                <a:spcPts val="0"/>
              </a:spcAft>
              <a:buNone/>
              <a:defRPr sz="1333">
                <a:solidFill>
                  <a:srgbClr val="FFFFFF"/>
                </a:solidFill>
              </a:defRPr>
            </a:lvl3pPr>
            <a:lvl4pPr lvl="3" algn="r">
              <a:lnSpc>
                <a:spcPct val="100000"/>
              </a:lnSpc>
              <a:spcAft>
                <a:spcPts val="0"/>
              </a:spcAft>
              <a:buNone/>
              <a:defRPr sz="1333">
                <a:solidFill>
                  <a:srgbClr val="FFFFFF"/>
                </a:solidFill>
              </a:defRPr>
            </a:lvl4pPr>
            <a:lvl5pPr lvl="4" algn="r">
              <a:lnSpc>
                <a:spcPct val="100000"/>
              </a:lnSpc>
              <a:spcAft>
                <a:spcPts val="0"/>
              </a:spcAft>
              <a:buNone/>
              <a:defRPr sz="1333">
                <a:solidFill>
                  <a:srgbClr val="FFFFFF"/>
                </a:solidFill>
              </a:defRPr>
            </a:lvl5pPr>
            <a:lvl6pPr lvl="5" algn="r">
              <a:lnSpc>
                <a:spcPct val="100000"/>
              </a:lnSpc>
              <a:spcAft>
                <a:spcPts val="0"/>
              </a:spcAft>
              <a:buNone/>
              <a:defRPr sz="1333">
                <a:solidFill>
                  <a:srgbClr val="FFFFFF"/>
                </a:solidFill>
              </a:defRPr>
            </a:lvl6pPr>
            <a:lvl7pPr lvl="6" algn="r">
              <a:lnSpc>
                <a:spcPct val="100000"/>
              </a:lnSpc>
              <a:spcAft>
                <a:spcPts val="0"/>
              </a:spcAft>
              <a:buNone/>
              <a:defRPr sz="1333">
                <a:solidFill>
                  <a:srgbClr val="FFFFFF"/>
                </a:solidFill>
              </a:defRPr>
            </a:lvl7pPr>
            <a:lvl8pPr lvl="7" algn="r">
              <a:lnSpc>
                <a:spcPct val="100000"/>
              </a:lnSpc>
              <a:spcAft>
                <a:spcPts val="0"/>
              </a:spcAft>
              <a:buNone/>
              <a:defRPr sz="1333">
                <a:solidFill>
                  <a:srgbClr val="FFFFFF"/>
                </a:solidFill>
              </a:defRPr>
            </a:lvl8pPr>
            <a:lvl9pPr lvl="8" algn="r">
              <a:lnSpc>
                <a:spcPct val="100000"/>
              </a:lnSpc>
              <a:spcAft>
                <a:spcPts val="0"/>
              </a:spcAft>
              <a:buNone/>
              <a:defRPr sz="1333">
                <a:solidFill>
                  <a:srgbClr val="FFFFFF"/>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942754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10/16/2018</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2589212" y="348047"/>
            <a:ext cx="9166183" cy="2262781"/>
          </a:xfrm>
        </p:spPr>
        <p:txBody>
          <a:bodyPr>
            <a:normAutofit/>
          </a:bodyPr>
          <a:lstStyle/>
          <a:p>
            <a:pPr algn="ctr"/>
            <a:r>
              <a:rPr lang="en-US" altLang="zh-TW" sz="4400" dirty="0" smtClean="0">
                <a:latin typeface="標楷體" panose="03000509000000000000" pitchFamily="65" charset="-120"/>
                <a:ea typeface="標楷體" panose="03000509000000000000" pitchFamily="65" charset="-120"/>
              </a:rPr>
              <a:t>EVALUATION:</a:t>
            </a:r>
            <a:br>
              <a:rPr lang="en-US" altLang="zh-TW" sz="4400" dirty="0" smtClean="0">
                <a:latin typeface="標楷體" panose="03000509000000000000" pitchFamily="65" charset="-120"/>
                <a:ea typeface="標楷體" panose="03000509000000000000" pitchFamily="65" charset="-120"/>
              </a:rPr>
            </a:br>
            <a:r>
              <a:rPr lang="en-US" altLang="zh-TW" sz="4400" dirty="0" smtClean="0">
                <a:latin typeface="標楷體" panose="03000509000000000000" pitchFamily="65" charset="-120"/>
                <a:ea typeface="標楷體" panose="03000509000000000000" pitchFamily="65" charset="-120"/>
              </a:rPr>
              <a:t>Inspections,Analytics,and Models</a:t>
            </a:r>
            <a:endParaRPr lang="zh-TW" altLang="en-US" sz="4400" dirty="0">
              <a:latin typeface="標楷體" panose="03000509000000000000" pitchFamily="65" charset="-120"/>
              <a:ea typeface="標楷體" panose="03000509000000000000" pitchFamily="65" charset="-120"/>
            </a:endParaRPr>
          </a:p>
        </p:txBody>
      </p:sp>
      <p:sp>
        <p:nvSpPr>
          <p:cNvPr id="3" name="副標題 2"/>
          <p:cNvSpPr>
            <a:spLocks noGrp="1"/>
          </p:cNvSpPr>
          <p:nvPr>
            <p:ph type="subTitle" idx="1"/>
          </p:nvPr>
        </p:nvSpPr>
        <p:spPr>
          <a:xfrm>
            <a:off x="2714603" y="4035980"/>
            <a:ext cx="8915399" cy="1310382"/>
          </a:xfrm>
        </p:spPr>
        <p:txBody>
          <a:bodyPr>
            <a:normAutofit/>
          </a:bodyPr>
          <a:lstStyle/>
          <a:p>
            <a:r>
              <a:rPr lang="en-US" altLang="zh-TW" dirty="0" smtClean="0"/>
              <a:t>107062563 </a:t>
            </a:r>
            <a:r>
              <a:rPr lang="zh-TW" altLang="en-US" dirty="0" smtClean="0"/>
              <a:t>資工碩一 蔡宸祐</a:t>
            </a:r>
            <a:endParaRPr lang="en-US" altLang="zh-TW" dirty="0" smtClean="0"/>
          </a:p>
          <a:p>
            <a:r>
              <a:rPr lang="en-US" altLang="zh-TW" dirty="0" smtClean="0"/>
              <a:t>10706</a:t>
            </a:r>
            <a:r>
              <a:rPr lang="en-US" altLang="zh-TW" dirty="0" smtClean="0"/>
              <a:t>2541</a:t>
            </a:r>
            <a:r>
              <a:rPr lang="zh-TW" altLang="en-US" dirty="0" smtClean="0"/>
              <a:t> 資工</a:t>
            </a:r>
            <a:r>
              <a:rPr lang="zh-TW" altLang="en-US" dirty="0" smtClean="0"/>
              <a:t>碩一 鄭鈺敏</a:t>
            </a:r>
            <a:endParaRPr lang="en-US" altLang="zh-TW" dirty="0" smtClean="0"/>
          </a:p>
          <a:p>
            <a:r>
              <a:rPr lang="en-US" altLang="zh-TW" dirty="0" smtClean="0"/>
              <a:t>107062539</a:t>
            </a:r>
            <a:r>
              <a:rPr lang="zh-TW" altLang="en-US" dirty="0" smtClean="0"/>
              <a:t> 資工</a:t>
            </a:r>
            <a:r>
              <a:rPr lang="zh-TW" altLang="en-US" dirty="0" smtClean="0"/>
              <a:t>碩一 蔡孟廷</a:t>
            </a:r>
            <a:endParaRPr lang="en-US" altLang="zh-TW" dirty="0" smtClean="0"/>
          </a:p>
        </p:txBody>
      </p:sp>
    </p:spTree>
    <p:extLst>
      <p:ext uri="{BB962C8B-B14F-4D97-AF65-F5344CB8AC3E}">
        <p14:creationId xmlns:p14="http://schemas.microsoft.com/office/powerpoint/2010/main" val="22707249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Outline</a:t>
            </a:r>
            <a:endParaRPr lang="zh-TW" altLang="en-US" dirty="0"/>
          </a:p>
        </p:txBody>
      </p:sp>
      <p:sp>
        <p:nvSpPr>
          <p:cNvPr id="3" name="內容版面配置區 2"/>
          <p:cNvSpPr>
            <a:spLocks noGrp="1"/>
          </p:cNvSpPr>
          <p:nvPr>
            <p:ph idx="1"/>
          </p:nvPr>
        </p:nvSpPr>
        <p:spPr/>
        <p:txBody>
          <a:bodyPr>
            <a:normAutofit/>
          </a:bodyPr>
          <a:lstStyle/>
          <a:p>
            <a:r>
              <a:rPr lang="en-US" altLang="zh-TW" sz="2800" dirty="0" smtClean="0"/>
              <a:t>Introduction</a:t>
            </a:r>
          </a:p>
          <a:p>
            <a:r>
              <a:rPr lang="en-US" altLang="zh-TW" sz="2800" dirty="0" smtClean="0"/>
              <a:t>Inspections: Heuristic Evaluation and Walkthroughs</a:t>
            </a:r>
          </a:p>
          <a:p>
            <a:r>
              <a:rPr lang="en-US" altLang="zh-TW" sz="2800" dirty="0" smtClean="0"/>
              <a:t>Analytics</a:t>
            </a:r>
          </a:p>
          <a:p>
            <a:r>
              <a:rPr lang="en-US" altLang="zh-TW" sz="2800" dirty="0" smtClean="0"/>
              <a:t>Predictive </a:t>
            </a:r>
            <a:r>
              <a:rPr lang="en-US" altLang="zh-TW" sz="2800" dirty="0" smtClean="0"/>
              <a:t>Models</a:t>
            </a:r>
          </a:p>
          <a:p>
            <a:pPr marL="0" indent="0">
              <a:buNone/>
            </a:pPr>
            <a:endParaRPr lang="zh-TW" altLang="en-US" sz="2800" dirty="0"/>
          </a:p>
        </p:txBody>
      </p:sp>
    </p:spTree>
    <p:extLst>
      <p:ext uri="{BB962C8B-B14F-4D97-AF65-F5344CB8AC3E}">
        <p14:creationId xmlns:p14="http://schemas.microsoft.com/office/powerpoint/2010/main" val="41536295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a:xfrm>
            <a:off x="2589212" y="1664042"/>
            <a:ext cx="8915400" cy="4247179"/>
          </a:xfrm>
        </p:spPr>
        <p:txBody>
          <a:bodyPr>
            <a:normAutofit/>
          </a:bodyPr>
          <a:lstStyle/>
          <a:p>
            <a:pPr>
              <a:buFont typeface="Wingdings" panose="05000000000000000000" pitchFamily="2" charset="2"/>
              <a:buChar char="l"/>
            </a:pPr>
            <a:r>
              <a:rPr lang="en-US" altLang="zh-TW" sz="2400" dirty="0" smtClean="0"/>
              <a:t>Sometimes users are the main factors  which can’t be controlled:</a:t>
            </a:r>
          </a:p>
          <a:p>
            <a:pPr lvl="1">
              <a:buFont typeface="Wingdings" panose="05000000000000000000" pitchFamily="2" charset="2"/>
              <a:buChar char="Ø"/>
            </a:pPr>
            <a:r>
              <a:rPr lang="en-US" altLang="zh-TW" sz="2200" dirty="0" smtClean="0"/>
              <a:t>Not easily accessible.</a:t>
            </a:r>
          </a:p>
          <a:p>
            <a:pPr lvl="1">
              <a:buFont typeface="Wingdings" panose="05000000000000000000" pitchFamily="2" charset="2"/>
              <a:buChar char="Ø"/>
            </a:pPr>
            <a:r>
              <a:rPr lang="en-US" altLang="zh-TW" sz="2200" dirty="0" smtClean="0"/>
              <a:t>The more users you involve, the more cost you need to spend.</a:t>
            </a:r>
          </a:p>
          <a:p>
            <a:pPr lvl="1">
              <a:buFont typeface="Wingdings" panose="05000000000000000000" pitchFamily="2" charset="2"/>
              <a:buChar char="Ø"/>
            </a:pPr>
            <a:r>
              <a:rPr lang="en-US" altLang="zh-TW" sz="2200" dirty="0" smtClean="0"/>
              <a:t>Some users take too much time to finish a task.</a:t>
            </a:r>
            <a:endParaRPr lang="zh-TW" altLang="en-US" sz="2200" dirty="0"/>
          </a:p>
        </p:txBody>
      </p:sp>
      <p:pic>
        <p:nvPicPr>
          <p:cNvPr id="4" name="圖片 3"/>
          <p:cNvPicPr>
            <a:picLocks noChangeAspect="1"/>
          </p:cNvPicPr>
          <p:nvPr/>
        </p:nvPicPr>
        <p:blipFill>
          <a:blip r:embed="rId2"/>
          <a:stretch>
            <a:fillRect/>
          </a:stretch>
        </p:blipFill>
        <p:spPr>
          <a:xfrm>
            <a:off x="8877505" y="4489621"/>
            <a:ext cx="1632301" cy="2157156"/>
          </a:xfrm>
          <a:prstGeom prst="rect">
            <a:avLst/>
          </a:prstGeom>
        </p:spPr>
      </p:pic>
      <p:sp>
        <p:nvSpPr>
          <p:cNvPr id="5" name="雲朵形 4"/>
          <p:cNvSpPr/>
          <p:nvPr/>
        </p:nvSpPr>
        <p:spPr>
          <a:xfrm>
            <a:off x="4183909" y="4845615"/>
            <a:ext cx="4349578" cy="1433384"/>
          </a:xfrm>
          <a:prstGeom prst="cloud">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Another Solutions</a:t>
            </a:r>
            <a:r>
              <a:rPr lang="zh-TW" altLang="en-US" dirty="0" smtClean="0">
                <a:solidFill>
                  <a:schemeClr val="tx1"/>
                </a:solidFill>
              </a:rPr>
              <a:t>？</a:t>
            </a:r>
            <a:endParaRPr lang="zh-TW" altLang="en-US" dirty="0">
              <a:solidFill>
                <a:schemeClr val="tx1"/>
              </a:solidFill>
            </a:endParaRPr>
          </a:p>
        </p:txBody>
      </p:sp>
    </p:spTree>
    <p:extLst>
      <p:ext uri="{BB962C8B-B14F-4D97-AF65-F5344CB8AC3E}">
        <p14:creationId xmlns:p14="http://schemas.microsoft.com/office/powerpoint/2010/main" val="371947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89212" y="1565189"/>
            <a:ext cx="8915400" cy="4346033"/>
          </a:xfrm>
        </p:spPr>
        <p:txBody>
          <a:bodyPr>
            <a:normAutofit/>
          </a:bodyPr>
          <a:lstStyle/>
          <a:p>
            <a:pPr marL="457200" indent="-457200">
              <a:buFont typeface="+mj-lt"/>
              <a:buAutoNum type="arabicPeriod"/>
            </a:pPr>
            <a:r>
              <a:rPr lang="en-US" altLang="zh-TW" sz="2400" dirty="0" smtClean="0"/>
              <a:t>Inspection method</a:t>
            </a:r>
            <a:r>
              <a:rPr lang="zh-TW" altLang="en-US" sz="2400" dirty="0" smtClean="0"/>
              <a:t>：</a:t>
            </a:r>
            <a:r>
              <a:rPr lang="en-US" altLang="zh-TW" sz="2400" dirty="0" smtClean="0"/>
              <a:t>involve an expert role-playing the users for whom the product </a:t>
            </a:r>
            <a:r>
              <a:rPr lang="en-US" altLang="zh-TW" sz="2400" dirty="0"/>
              <a:t>i</a:t>
            </a:r>
            <a:r>
              <a:rPr lang="en-US" altLang="zh-TW" sz="2400" dirty="0" smtClean="0"/>
              <a:t>s designed.</a:t>
            </a:r>
          </a:p>
          <a:p>
            <a:pPr marL="457200" indent="-457200">
              <a:buFont typeface="+mj-lt"/>
              <a:buAutoNum type="arabicPeriod"/>
            </a:pPr>
            <a:r>
              <a:rPr lang="en-US" altLang="zh-TW" sz="2400" dirty="0" smtClean="0"/>
              <a:t>Analytics</a:t>
            </a:r>
            <a:r>
              <a:rPr lang="zh-TW" altLang="en-US" sz="2400" dirty="0" smtClean="0"/>
              <a:t>：</a:t>
            </a:r>
            <a:r>
              <a:rPr lang="en-US" altLang="zh-TW" sz="2400" dirty="0" smtClean="0"/>
              <a:t>involve user interaction logging, which is often done remotely.</a:t>
            </a:r>
          </a:p>
          <a:p>
            <a:pPr marL="457200" indent="-457200">
              <a:buFont typeface="+mj-lt"/>
              <a:buAutoNum type="arabicPeriod"/>
            </a:pPr>
            <a:r>
              <a:rPr lang="en-US" altLang="zh-TW" sz="2400" dirty="0" smtClean="0"/>
              <a:t>Predictive models</a:t>
            </a:r>
            <a:r>
              <a:rPr lang="zh-TW" altLang="en-US" sz="2400" dirty="0" smtClean="0"/>
              <a:t>：</a:t>
            </a:r>
            <a:r>
              <a:rPr lang="en-US" altLang="zh-TW" sz="2400" dirty="0" smtClean="0"/>
              <a:t>involving and analyzing the various physical and mental operation that are needed to perform particular tasks to predict users’ performances. </a:t>
            </a:r>
            <a:endParaRPr lang="zh-TW" altLang="en-US" sz="2400" dirty="0"/>
          </a:p>
        </p:txBody>
      </p:sp>
      <p:sp>
        <p:nvSpPr>
          <p:cNvPr id="4" name="標題 1"/>
          <p:cNvSpPr>
            <a:spLocks noGrp="1"/>
          </p:cNvSpPr>
          <p:nvPr>
            <p:ph type="title"/>
          </p:nvPr>
        </p:nvSpPr>
        <p:spPr>
          <a:xfrm>
            <a:off x="2592925" y="624110"/>
            <a:ext cx="8911687" cy="801036"/>
          </a:xfrm>
        </p:spPr>
        <p:txBody>
          <a:bodyPr/>
          <a:lstStyle/>
          <a:p>
            <a:r>
              <a:rPr lang="en-US" altLang="zh-TW" dirty="0" smtClean="0"/>
              <a:t>Introduction</a:t>
            </a:r>
            <a:endParaRPr lang="zh-TW" altLang="en-US" dirty="0"/>
          </a:p>
        </p:txBody>
      </p:sp>
      <p:pic>
        <p:nvPicPr>
          <p:cNvPr id="5" name="圖片 4"/>
          <p:cNvPicPr>
            <a:picLocks noChangeAspect="1"/>
          </p:cNvPicPr>
          <p:nvPr/>
        </p:nvPicPr>
        <p:blipFill>
          <a:blip r:embed="rId2"/>
          <a:stretch>
            <a:fillRect/>
          </a:stretch>
        </p:blipFill>
        <p:spPr>
          <a:xfrm>
            <a:off x="8784733" y="4623258"/>
            <a:ext cx="1406760" cy="1878097"/>
          </a:xfrm>
          <a:prstGeom prst="rect">
            <a:avLst/>
          </a:prstGeom>
        </p:spPr>
      </p:pic>
      <p:sp>
        <p:nvSpPr>
          <p:cNvPr id="6" name="雲朵形 5"/>
          <p:cNvSpPr/>
          <p:nvPr/>
        </p:nvSpPr>
        <p:spPr>
          <a:xfrm>
            <a:off x="2710250" y="4845615"/>
            <a:ext cx="5823238" cy="1433384"/>
          </a:xfrm>
          <a:prstGeom prst="cloud">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Users don’t need to be present during the evaluation.</a:t>
            </a:r>
            <a:endParaRPr lang="zh-TW" altLang="en-US" dirty="0">
              <a:solidFill>
                <a:schemeClr val="tx1"/>
              </a:solidFill>
            </a:endParaRPr>
          </a:p>
        </p:txBody>
      </p:sp>
    </p:spTree>
    <p:extLst>
      <p:ext uri="{BB962C8B-B14F-4D97-AF65-F5344CB8AC3E}">
        <p14:creationId xmlns:p14="http://schemas.microsoft.com/office/powerpoint/2010/main" val="407073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92925" y="624110"/>
            <a:ext cx="8911687" cy="974031"/>
          </a:xfrm>
        </p:spPr>
        <p:txBody>
          <a:bodyPr>
            <a:normAutofit fontScale="90000"/>
          </a:bodyPr>
          <a:lstStyle/>
          <a:p>
            <a:r>
              <a:rPr lang="en-US" altLang="zh-TW" dirty="0" smtClean="0"/>
              <a:t>Inspection Methods</a:t>
            </a:r>
            <a:r>
              <a:rPr lang="en-US" altLang="zh-TW" dirty="0"/>
              <a:t/>
            </a:r>
            <a:br>
              <a:rPr lang="en-US" altLang="zh-TW" dirty="0"/>
            </a:br>
            <a:endParaRPr lang="zh-TW" altLang="en-US" dirty="0"/>
          </a:p>
        </p:txBody>
      </p:sp>
      <p:sp>
        <p:nvSpPr>
          <p:cNvPr id="3" name="內容版面配置區 2"/>
          <p:cNvSpPr>
            <a:spLocks noGrp="1"/>
          </p:cNvSpPr>
          <p:nvPr>
            <p:ph idx="1"/>
          </p:nvPr>
        </p:nvSpPr>
        <p:spPr>
          <a:xfrm>
            <a:off x="2589212" y="1688757"/>
            <a:ext cx="8915400" cy="4222465"/>
          </a:xfrm>
        </p:spPr>
        <p:txBody>
          <a:bodyPr>
            <a:normAutofit/>
          </a:bodyPr>
          <a:lstStyle/>
          <a:p>
            <a:pPr>
              <a:buFont typeface="Wingdings" panose="05000000000000000000" pitchFamily="2" charset="2"/>
              <a:buChar char="l"/>
            </a:pPr>
            <a:r>
              <a:rPr lang="en-US" altLang="zh-TW" sz="2000" dirty="0" smtClean="0"/>
              <a:t>Because of the previous circumstances, the inspection methods usually referred to as experts, can provide feedback. These experts who are knowledgeable about both interaction design and the needs and typical behavior of users.</a:t>
            </a:r>
          </a:p>
          <a:p>
            <a:pPr>
              <a:buFont typeface="Wingdings" panose="05000000000000000000" pitchFamily="2" charset="2"/>
              <a:buChar char="l"/>
            </a:pPr>
            <a:r>
              <a:rPr lang="en-US" altLang="zh-TW" sz="2000" dirty="0" smtClean="0"/>
              <a:t>Inspection Methods include </a:t>
            </a:r>
            <a:r>
              <a:rPr lang="en-US" altLang="zh-TW" sz="2000" b="1" dirty="0" smtClean="0">
                <a:solidFill>
                  <a:srgbClr val="FF0000"/>
                </a:solidFill>
              </a:rPr>
              <a:t>heuristic evaluations</a:t>
            </a:r>
            <a:r>
              <a:rPr lang="en-US" altLang="zh-TW" sz="2000" dirty="0" smtClean="0"/>
              <a:t>  and </a:t>
            </a:r>
            <a:r>
              <a:rPr lang="en-US" altLang="zh-TW" sz="2000" b="1" dirty="0" smtClean="0">
                <a:solidFill>
                  <a:srgbClr val="FF0000"/>
                </a:solidFill>
              </a:rPr>
              <a:t>walkthroughs</a:t>
            </a:r>
            <a:r>
              <a:rPr lang="en-US" altLang="zh-TW" sz="2000" dirty="0" smtClean="0"/>
              <a:t>, in which experts examine the interface of an interactive product, often role-playing typical users, and suggest problems users would likely have when interacting with it.</a:t>
            </a:r>
            <a:endParaRPr lang="zh-TW" altLang="en-US" sz="2000" dirty="0"/>
          </a:p>
        </p:txBody>
      </p:sp>
    </p:spTree>
    <p:extLst>
      <p:ext uri="{BB962C8B-B14F-4D97-AF65-F5344CB8AC3E}">
        <p14:creationId xmlns:p14="http://schemas.microsoft.com/office/powerpoint/2010/main" val="18355712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92925" y="624110"/>
            <a:ext cx="8911687" cy="776322"/>
          </a:xfrm>
        </p:spPr>
        <p:txBody>
          <a:bodyPr>
            <a:normAutofit/>
          </a:bodyPr>
          <a:lstStyle/>
          <a:p>
            <a:r>
              <a:rPr lang="en-US" altLang="zh-TW" sz="3200" dirty="0"/>
              <a:t>Inspection </a:t>
            </a:r>
            <a:r>
              <a:rPr lang="en-US" altLang="zh-TW" sz="3200" dirty="0" smtClean="0"/>
              <a:t>Methods:</a:t>
            </a:r>
            <a:r>
              <a:rPr lang="zh-TW" altLang="en-US" sz="3200" dirty="0" smtClean="0"/>
              <a:t> </a:t>
            </a:r>
            <a:r>
              <a:rPr lang="en-US" altLang="zh-TW" sz="3200" dirty="0" smtClean="0"/>
              <a:t>Heuristic Evaluation</a:t>
            </a:r>
            <a:endParaRPr lang="zh-TW" altLang="en-US" sz="3200" dirty="0"/>
          </a:p>
        </p:txBody>
      </p:sp>
      <p:sp>
        <p:nvSpPr>
          <p:cNvPr id="3" name="內容版面配置區 2"/>
          <p:cNvSpPr>
            <a:spLocks noGrp="1"/>
          </p:cNvSpPr>
          <p:nvPr>
            <p:ph idx="1"/>
          </p:nvPr>
        </p:nvSpPr>
        <p:spPr>
          <a:xfrm>
            <a:off x="2589212" y="1400432"/>
            <a:ext cx="8915400" cy="4510790"/>
          </a:xfrm>
        </p:spPr>
        <p:txBody>
          <a:bodyPr>
            <a:normAutofit/>
          </a:bodyPr>
          <a:lstStyle/>
          <a:p>
            <a:pPr>
              <a:buFont typeface="Wingdings" panose="05000000000000000000" pitchFamily="2" charset="2"/>
              <a:buChar char="l"/>
            </a:pPr>
            <a:r>
              <a:rPr lang="en-US" altLang="zh-TW" sz="2400" dirty="0" smtClean="0"/>
              <a:t>Heuristic Evaluation was developed by Nielsen and his colleagues.</a:t>
            </a:r>
          </a:p>
          <a:p>
            <a:pPr>
              <a:buFont typeface="Wingdings" panose="05000000000000000000" pitchFamily="2" charset="2"/>
              <a:buChar char="l"/>
            </a:pPr>
            <a:r>
              <a:rPr lang="en-US" altLang="zh-TW" sz="2400" dirty="0" smtClean="0"/>
              <a:t>Experts are guided by a set of usability principles known as heuristics, evaluate whether user-interface element, such as dialog boxed, menus, navigation structure, online help, and so on, conform to tried and tested principles.</a:t>
            </a:r>
            <a:endParaRPr lang="zh-TW" altLang="en-US" sz="2400" dirty="0"/>
          </a:p>
        </p:txBody>
      </p:sp>
    </p:spTree>
    <p:extLst>
      <p:ext uri="{BB962C8B-B14F-4D97-AF65-F5344CB8AC3E}">
        <p14:creationId xmlns:p14="http://schemas.microsoft.com/office/powerpoint/2010/main" val="11342294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ãHeuristic Evaluationãçåçæå°çµæ"/>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6780" y="1515762"/>
            <a:ext cx="6730172" cy="4223093"/>
          </a:xfrm>
          <a:prstGeom prst="rect">
            <a:avLst/>
          </a:prstGeom>
          <a:noFill/>
          <a:extLst>
            <a:ext uri="{909E8E84-426E-40DD-AFC4-6F175D3DCCD1}">
              <a14:hiddenFill xmlns:a14="http://schemas.microsoft.com/office/drawing/2010/main">
                <a:solidFill>
                  <a:srgbClr val="FFFFFF"/>
                </a:solidFill>
              </a14:hiddenFill>
            </a:ext>
          </a:extLst>
        </p:spPr>
      </p:pic>
      <p:sp>
        <p:nvSpPr>
          <p:cNvPr id="5" name="標題 1"/>
          <p:cNvSpPr>
            <a:spLocks noGrp="1"/>
          </p:cNvSpPr>
          <p:nvPr>
            <p:ph type="title"/>
          </p:nvPr>
        </p:nvSpPr>
        <p:spPr>
          <a:xfrm>
            <a:off x="2592925" y="624110"/>
            <a:ext cx="8911687" cy="891652"/>
          </a:xfrm>
        </p:spPr>
        <p:txBody>
          <a:bodyPr>
            <a:normAutofit/>
          </a:bodyPr>
          <a:lstStyle/>
          <a:p>
            <a:r>
              <a:rPr lang="en-US" altLang="zh-TW" sz="3200" dirty="0"/>
              <a:t>Inspection </a:t>
            </a:r>
            <a:r>
              <a:rPr lang="en-US" altLang="zh-TW" sz="3200" dirty="0" smtClean="0"/>
              <a:t>Methods:</a:t>
            </a:r>
            <a:r>
              <a:rPr lang="zh-TW" altLang="en-US" sz="3200" dirty="0" smtClean="0"/>
              <a:t> </a:t>
            </a:r>
            <a:r>
              <a:rPr lang="en-US" altLang="zh-TW" sz="3200" dirty="0" smtClean="0"/>
              <a:t>Heuristic Evaluation</a:t>
            </a:r>
            <a:endParaRPr lang="zh-TW" altLang="en-US" sz="3200" dirty="0"/>
          </a:p>
        </p:txBody>
      </p:sp>
    </p:spTree>
    <p:extLst>
      <p:ext uri="{BB962C8B-B14F-4D97-AF65-F5344CB8AC3E}">
        <p14:creationId xmlns:p14="http://schemas.microsoft.com/office/powerpoint/2010/main" val="3497008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89212" y="1515762"/>
            <a:ext cx="8915400" cy="4395460"/>
          </a:xfrm>
        </p:spPr>
        <p:txBody>
          <a:bodyPr>
            <a:normAutofit/>
          </a:bodyPr>
          <a:lstStyle/>
          <a:p>
            <a:pPr>
              <a:buFont typeface="Wingdings" panose="05000000000000000000" pitchFamily="2" charset="2"/>
              <a:buChar char="l"/>
            </a:pPr>
            <a:r>
              <a:rPr lang="en-US" altLang="zh-TW" sz="2000" dirty="0" smtClean="0"/>
              <a:t>These heuristics are intended to be used by judging them against aspects of the interface.</a:t>
            </a:r>
          </a:p>
          <a:p>
            <a:pPr>
              <a:buFont typeface="Wingdings" panose="05000000000000000000" pitchFamily="2" charset="2"/>
              <a:buChar char="l"/>
            </a:pPr>
            <a:r>
              <a:rPr lang="en-US" altLang="zh-TW" sz="2000" dirty="0" smtClean="0"/>
              <a:t>Exactly which heuristics are appropriate and how many are needed for different products is debatable and depends on the goals of the evaluation, but most sets of heuristics have between five and ten items. The number provides a good range of usability criteria by which to judge the various aspects of and interface.</a:t>
            </a:r>
          </a:p>
          <a:p>
            <a:pPr>
              <a:buFont typeface="Wingdings" panose="05000000000000000000" pitchFamily="2" charset="2"/>
              <a:buChar char="l"/>
            </a:pPr>
            <a:r>
              <a:rPr lang="en-US" altLang="zh-TW" sz="2000" dirty="0" smtClean="0"/>
              <a:t>For a quick evaluation of an early design, one or two experts can probably identify most potential usability problems but if a thorough evaluation of a fully working prototype is needed them having a team of experts conducting the evaluation and comparing their findings would be advisable.</a:t>
            </a:r>
            <a:endParaRPr lang="zh-TW" altLang="en-US" sz="2000" dirty="0"/>
          </a:p>
        </p:txBody>
      </p:sp>
      <p:sp>
        <p:nvSpPr>
          <p:cNvPr id="4" name="標題 1"/>
          <p:cNvSpPr>
            <a:spLocks noGrp="1"/>
          </p:cNvSpPr>
          <p:nvPr>
            <p:ph type="title"/>
          </p:nvPr>
        </p:nvSpPr>
        <p:spPr>
          <a:xfrm>
            <a:off x="2592925" y="624110"/>
            <a:ext cx="8911687" cy="891652"/>
          </a:xfrm>
        </p:spPr>
        <p:txBody>
          <a:bodyPr>
            <a:normAutofit/>
          </a:bodyPr>
          <a:lstStyle/>
          <a:p>
            <a:r>
              <a:rPr lang="en-US" altLang="zh-TW" sz="3200" dirty="0"/>
              <a:t>Inspection </a:t>
            </a:r>
            <a:r>
              <a:rPr lang="en-US" altLang="zh-TW" sz="3200" dirty="0" smtClean="0"/>
              <a:t>Methods:</a:t>
            </a:r>
            <a:r>
              <a:rPr lang="zh-TW" altLang="en-US" sz="3200" dirty="0" smtClean="0"/>
              <a:t> </a:t>
            </a:r>
            <a:r>
              <a:rPr lang="en-US" altLang="zh-TW" sz="3200" dirty="0" smtClean="0"/>
              <a:t>Heuristic Evaluation</a:t>
            </a:r>
            <a:endParaRPr lang="zh-TW" altLang="en-US" sz="3200" dirty="0"/>
          </a:p>
        </p:txBody>
      </p:sp>
      <p:sp>
        <p:nvSpPr>
          <p:cNvPr id="5" name="AutoShape 2" descr="ãCurve showing the proportion of usability problemsãçåçæå°çµæ"/>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6" name="圖片 5"/>
          <p:cNvPicPr>
            <a:picLocks noChangeAspect="1"/>
          </p:cNvPicPr>
          <p:nvPr/>
        </p:nvPicPr>
        <p:blipFill>
          <a:blip r:embed="rId2"/>
          <a:stretch>
            <a:fillRect/>
          </a:stretch>
        </p:blipFill>
        <p:spPr>
          <a:xfrm>
            <a:off x="7389340" y="5250453"/>
            <a:ext cx="2241464" cy="1552421"/>
          </a:xfrm>
          <a:prstGeom prst="rect">
            <a:avLst/>
          </a:prstGeom>
        </p:spPr>
      </p:pic>
    </p:spTree>
    <p:extLst>
      <p:ext uri="{BB962C8B-B14F-4D97-AF65-F5344CB8AC3E}">
        <p14:creationId xmlns:p14="http://schemas.microsoft.com/office/powerpoint/2010/main" val="33984952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89212" y="1342768"/>
            <a:ext cx="8915400" cy="4568454"/>
          </a:xfrm>
        </p:spPr>
        <p:txBody>
          <a:bodyPr>
            <a:normAutofit/>
          </a:bodyPr>
          <a:lstStyle/>
          <a:p>
            <a:pPr marL="0" indent="0">
              <a:buNone/>
            </a:pPr>
            <a:r>
              <a:rPr lang="en-US" altLang="zh-TW" sz="2400" dirty="0" smtClean="0"/>
              <a:t>Heuristic evaluation has three stages</a:t>
            </a:r>
            <a:r>
              <a:rPr lang="zh-TW" altLang="en-US" sz="2400" dirty="0" smtClean="0"/>
              <a:t>：</a:t>
            </a:r>
            <a:endParaRPr lang="en-US" altLang="zh-TW" sz="2400" dirty="0" smtClean="0"/>
          </a:p>
          <a:p>
            <a:pPr marL="457200" indent="-457200">
              <a:buFont typeface="+mj-lt"/>
              <a:buAutoNum type="arabicPeriod"/>
            </a:pPr>
            <a:r>
              <a:rPr lang="en-US" altLang="zh-TW" sz="2400" dirty="0" smtClean="0"/>
              <a:t>The briefing session, in which the experts are told what to do.</a:t>
            </a:r>
          </a:p>
          <a:p>
            <a:pPr marL="457200" indent="-457200">
              <a:buFont typeface="+mj-lt"/>
              <a:buAutoNum type="arabicPeriod"/>
            </a:pPr>
            <a:r>
              <a:rPr lang="en-US" altLang="zh-TW" sz="2400" dirty="0" smtClean="0"/>
              <a:t>The evaluation period, in which each expert typically spends 1-2 hours independently inspecting the product, using the heuristics for guidance. The experts need to take at least two passes through the interface.</a:t>
            </a:r>
          </a:p>
          <a:p>
            <a:pPr marL="457200" indent="-457200">
              <a:buFont typeface="+mj-lt"/>
              <a:buAutoNum type="arabicPeriod"/>
            </a:pPr>
            <a:r>
              <a:rPr lang="en-US" altLang="zh-TW" sz="2400" dirty="0" smtClean="0"/>
              <a:t>The debriefing session, in which the evaluators come together to discuss their findings and to prioritize the problems they found and suggest solutions.</a:t>
            </a:r>
            <a:endParaRPr lang="zh-TW" altLang="en-US" sz="2400" dirty="0"/>
          </a:p>
        </p:txBody>
      </p:sp>
      <p:sp>
        <p:nvSpPr>
          <p:cNvPr id="4" name="標題 1"/>
          <p:cNvSpPr>
            <a:spLocks noGrp="1"/>
          </p:cNvSpPr>
          <p:nvPr>
            <p:ph type="title"/>
          </p:nvPr>
        </p:nvSpPr>
        <p:spPr>
          <a:xfrm>
            <a:off x="2592925" y="624110"/>
            <a:ext cx="8911687" cy="718658"/>
          </a:xfrm>
        </p:spPr>
        <p:txBody>
          <a:bodyPr>
            <a:normAutofit/>
          </a:bodyPr>
          <a:lstStyle/>
          <a:p>
            <a:r>
              <a:rPr lang="en-US" altLang="zh-TW" sz="2800" dirty="0"/>
              <a:t>Inspection </a:t>
            </a:r>
            <a:r>
              <a:rPr lang="en-US" altLang="zh-TW" sz="2800" dirty="0" smtClean="0"/>
              <a:t>Methods: Doing</a:t>
            </a:r>
            <a:r>
              <a:rPr lang="zh-TW" altLang="en-US" sz="2800" dirty="0" smtClean="0"/>
              <a:t> </a:t>
            </a:r>
            <a:r>
              <a:rPr lang="en-US" altLang="zh-TW" sz="2800" dirty="0" smtClean="0"/>
              <a:t>Heuristic Evaluation</a:t>
            </a:r>
            <a:endParaRPr lang="zh-TW" altLang="en-US" sz="2800" dirty="0"/>
          </a:p>
        </p:txBody>
      </p:sp>
    </p:spTree>
    <p:extLst>
      <p:ext uri="{BB962C8B-B14F-4D97-AF65-F5344CB8AC3E}">
        <p14:creationId xmlns:p14="http://schemas.microsoft.com/office/powerpoint/2010/main" val="10501769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89212" y="1449859"/>
            <a:ext cx="8915400" cy="4461363"/>
          </a:xfrm>
        </p:spPr>
        <p:txBody>
          <a:bodyPr>
            <a:normAutofit/>
          </a:bodyPr>
          <a:lstStyle/>
          <a:p>
            <a:pPr>
              <a:buFont typeface="Wingdings" panose="05000000000000000000" pitchFamily="2" charset="2"/>
              <a:buChar char="l"/>
            </a:pPr>
            <a:r>
              <a:rPr lang="en-US" altLang="zh-TW" sz="2400" dirty="0" smtClean="0"/>
              <a:t>The heuristics focus the evaluators’ attention on particular issues, so selecting appropriate heuristics is critically important.</a:t>
            </a:r>
          </a:p>
          <a:p>
            <a:pPr>
              <a:buFont typeface="Wingdings" panose="05000000000000000000" pitchFamily="2" charset="2"/>
              <a:buChar char="l"/>
            </a:pPr>
            <a:r>
              <a:rPr lang="en-US" altLang="zh-TW" sz="2400" dirty="0" smtClean="0"/>
              <a:t>There are fewer practical and ethical issues in heuristic evaluation than for other methods because users are not involved.</a:t>
            </a:r>
            <a:endParaRPr lang="zh-TW" altLang="en-US" sz="2400" dirty="0"/>
          </a:p>
        </p:txBody>
      </p:sp>
      <p:sp>
        <p:nvSpPr>
          <p:cNvPr id="4" name="標題 1"/>
          <p:cNvSpPr>
            <a:spLocks noGrp="1"/>
          </p:cNvSpPr>
          <p:nvPr>
            <p:ph type="title"/>
          </p:nvPr>
        </p:nvSpPr>
        <p:spPr>
          <a:xfrm>
            <a:off x="2592925" y="624110"/>
            <a:ext cx="8911687" cy="685706"/>
          </a:xfrm>
        </p:spPr>
        <p:txBody>
          <a:bodyPr>
            <a:normAutofit/>
          </a:bodyPr>
          <a:lstStyle/>
          <a:p>
            <a:r>
              <a:rPr lang="en-US" altLang="zh-TW" sz="2800" dirty="0"/>
              <a:t>Inspection </a:t>
            </a:r>
            <a:r>
              <a:rPr lang="en-US" altLang="zh-TW" sz="2800" dirty="0" smtClean="0"/>
              <a:t>Methods: Doing</a:t>
            </a:r>
            <a:r>
              <a:rPr lang="zh-TW" altLang="en-US" sz="2800" dirty="0" smtClean="0"/>
              <a:t> </a:t>
            </a:r>
            <a:r>
              <a:rPr lang="en-US" altLang="zh-TW" sz="2800" dirty="0" smtClean="0"/>
              <a:t>Heuristic Evaluation</a:t>
            </a:r>
            <a:endParaRPr lang="zh-TW" altLang="en-US" sz="2800" dirty="0"/>
          </a:p>
        </p:txBody>
      </p:sp>
    </p:spTree>
    <p:extLst>
      <p:ext uri="{BB962C8B-B14F-4D97-AF65-F5344CB8AC3E}">
        <p14:creationId xmlns:p14="http://schemas.microsoft.com/office/powerpoint/2010/main" val="15309137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Inspection Methods: Walkthroughs</a:t>
            </a:r>
            <a:r>
              <a:rPr lang="en-US" altLang="zh-TW" dirty="0" smtClean="0"/>
              <a:t>(</a:t>
            </a:r>
            <a:r>
              <a:rPr lang="zh-TW" altLang="en-US" dirty="0" smtClean="0"/>
              <a:t>演練</a:t>
            </a:r>
            <a:r>
              <a:rPr lang="en-US" altLang="zh-TW" dirty="0" smtClean="0"/>
              <a:t>)</a:t>
            </a:r>
            <a:endParaRPr lang="zh-TW" altLang="en-US" dirty="0"/>
          </a:p>
        </p:txBody>
      </p:sp>
      <p:sp>
        <p:nvSpPr>
          <p:cNvPr id="3" name="內容版面配置區 2"/>
          <p:cNvSpPr>
            <a:spLocks noGrp="1"/>
          </p:cNvSpPr>
          <p:nvPr>
            <p:ph idx="1"/>
          </p:nvPr>
        </p:nvSpPr>
        <p:spPr/>
        <p:txBody>
          <a:bodyPr/>
          <a:lstStyle/>
          <a:p>
            <a:r>
              <a:rPr lang="en-US" altLang="zh-TW" dirty="0" smtClean="0"/>
              <a:t>Offer an alternative approach to heuristic evaluation for predicting users’ problems without doing user testing.</a:t>
            </a:r>
          </a:p>
          <a:p>
            <a:r>
              <a:rPr lang="en-US" altLang="zh-TW" dirty="0"/>
              <a:t>I</a:t>
            </a:r>
            <a:r>
              <a:rPr lang="en-US" altLang="zh-TW" dirty="0" smtClean="0"/>
              <a:t>nvolve walking through a task with the product</a:t>
            </a:r>
            <a:r>
              <a:rPr lang="zh-TW" altLang="en-US" dirty="0" smtClean="0"/>
              <a:t> </a:t>
            </a:r>
            <a:r>
              <a:rPr lang="en-US" altLang="zh-TW" dirty="0" smtClean="0"/>
              <a:t>and noting problematic usability features.</a:t>
            </a:r>
          </a:p>
          <a:p>
            <a:r>
              <a:rPr lang="en-US" altLang="zh-TW" dirty="0" smtClean="0"/>
              <a:t>Most walkthrough methods do not</a:t>
            </a:r>
            <a:r>
              <a:rPr lang="zh-TW" altLang="en-US" dirty="0" smtClean="0"/>
              <a:t> </a:t>
            </a:r>
            <a:r>
              <a:rPr lang="en-US" altLang="zh-TW" dirty="0" smtClean="0"/>
              <a:t>involve users. Others, such as pluralistic walkthroughs, involve a team that</a:t>
            </a:r>
            <a:r>
              <a:rPr lang="zh-TW" altLang="en-US" dirty="0" smtClean="0"/>
              <a:t> </a:t>
            </a:r>
            <a:r>
              <a:rPr lang="en-US" altLang="zh-TW" dirty="0" smtClean="0"/>
              <a:t>may include users, as well as developers, and usability specialists.</a:t>
            </a:r>
            <a:endParaRPr lang="zh-TW" altLang="en-US" dirty="0"/>
          </a:p>
        </p:txBody>
      </p:sp>
    </p:spTree>
    <p:extLst>
      <p:ext uri="{BB962C8B-B14F-4D97-AF65-F5344CB8AC3E}">
        <p14:creationId xmlns:p14="http://schemas.microsoft.com/office/powerpoint/2010/main" val="18618112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a:t>Inspection Methods: Cognitive </a:t>
            </a:r>
            <a:r>
              <a:rPr lang="en-US" altLang="zh-TW" sz="3200" dirty="0" smtClean="0"/>
              <a:t>Walkthroughs(</a:t>
            </a:r>
            <a:r>
              <a:rPr lang="zh-TW" altLang="en-US" sz="3200" dirty="0" smtClean="0"/>
              <a:t>認知演練</a:t>
            </a:r>
            <a:r>
              <a:rPr lang="en-US" altLang="zh-TW" sz="3200" dirty="0" smtClean="0"/>
              <a:t>)</a:t>
            </a:r>
            <a:endParaRPr lang="zh-TW" altLang="en-US" sz="3200" dirty="0"/>
          </a:p>
        </p:txBody>
      </p:sp>
      <p:sp>
        <p:nvSpPr>
          <p:cNvPr id="3" name="內容版面配置區 2"/>
          <p:cNvSpPr>
            <a:spLocks noGrp="1"/>
          </p:cNvSpPr>
          <p:nvPr>
            <p:ph idx="1"/>
          </p:nvPr>
        </p:nvSpPr>
        <p:spPr/>
        <p:txBody>
          <a:bodyPr/>
          <a:lstStyle/>
          <a:p>
            <a:r>
              <a:rPr lang="en-US" altLang="zh-TW"/>
              <a:t>I</a:t>
            </a:r>
            <a:r>
              <a:rPr lang="en-US" altLang="zh-TW" smtClean="0"/>
              <a:t>nvolve simulating a user‘s problem-solving process</a:t>
            </a:r>
            <a:r>
              <a:rPr lang="zh-TW" altLang="en-US" smtClean="0"/>
              <a:t> </a:t>
            </a:r>
            <a:r>
              <a:rPr lang="en-US" altLang="zh-TW" smtClean="0"/>
              <a:t>at each step in the human–computer dialog, checking to see if the user’s</a:t>
            </a:r>
            <a:r>
              <a:rPr lang="zh-TW" altLang="en-US" smtClean="0"/>
              <a:t> </a:t>
            </a:r>
            <a:r>
              <a:rPr lang="en-US" altLang="zh-TW" smtClean="0"/>
              <a:t>goals and memory for actions can be assumed to lead to the next correct</a:t>
            </a:r>
            <a:r>
              <a:rPr lang="zh-TW" altLang="en-US" smtClean="0"/>
              <a:t> </a:t>
            </a:r>
            <a:r>
              <a:rPr lang="en-US" altLang="zh-TW" smtClean="0"/>
              <a:t>action.</a:t>
            </a:r>
          </a:p>
          <a:p>
            <a:pPr marL="0" indent="0">
              <a:buNone/>
            </a:pPr>
            <a:r>
              <a:rPr lang="en-US" altLang="zh-TW" smtClean="0">
                <a:sym typeface="Wingdings" panose="05000000000000000000" pitchFamily="2" charset="2"/>
              </a:rPr>
              <a:t>Focus on evaluating designs for ease of learning.</a:t>
            </a:r>
          </a:p>
          <a:p>
            <a:r>
              <a:rPr lang="en-US" altLang="zh-TW">
                <a:sym typeface="Wingdings" panose="05000000000000000000" pitchFamily="2" charset="2"/>
              </a:rPr>
              <a:t>M</a:t>
            </a:r>
            <a:r>
              <a:rPr lang="en-US" altLang="zh-TW" smtClean="0">
                <a:sym typeface="Wingdings" panose="05000000000000000000" pitchFamily="2" charset="2"/>
              </a:rPr>
              <a:t>otivated by observations that users learn by exploration.</a:t>
            </a:r>
          </a:p>
          <a:p>
            <a:pPr marL="0" indent="0">
              <a:buNone/>
            </a:pPr>
            <a:endParaRPr lang="zh-TW" altLang="en-US">
              <a:solidFill>
                <a:srgbClr val="FF0000"/>
              </a:solidFill>
            </a:endParaRPr>
          </a:p>
        </p:txBody>
      </p:sp>
    </p:spTree>
    <p:extLst>
      <p:ext uri="{BB962C8B-B14F-4D97-AF65-F5344CB8AC3E}">
        <p14:creationId xmlns:p14="http://schemas.microsoft.com/office/powerpoint/2010/main" val="19054205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Steps in cognitive walkthroughs</a:t>
            </a:r>
            <a:endParaRPr lang="zh-TW" altLang="en-US" dirty="0"/>
          </a:p>
        </p:txBody>
      </p:sp>
      <p:sp>
        <p:nvSpPr>
          <p:cNvPr id="3" name="內容版面配置區 2"/>
          <p:cNvSpPr>
            <a:spLocks noGrp="1"/>
          </p:cNvSpPr>
          <p:nvPr>
            <p:ph idx="1"/>
          </p:nvPr>
        </p:nvSpPr>
        <p:spPr/>
        <p:txBody>
          <a:bodyPr>
            <a:normAutofit/>
          </a:bodyPr>
          <a:lstStyle/>
          <a:p>
            <a:r>
              <a:rPr lang="en-US" altLang="zh-TW" smtClean="0"/>
              <a:t>1. The characteristics of typical users are identified and documented and sample tasks are developed that focus on the aspects of the design to be evaluated. A description, mockup, or prototype of the interface to be developed is also produced, along with a clear sequence of the actions needed for the users to complete the task.</a:t>
            </a:r>
          </a:p>
          <a:p>
            <a:r>
              <a:rPr lang="en-US" altLang="zh-TW" smtClean="0"/>
              <a:t>2. A designer and one or more expert evaluators come together to do the analysis.</a:t>
            </a:r>
          </a:p>
          <a:p>
            <a:r>
              <a:rPr lang="en-US" altLang="zh-TW" smtClean="0"/>
              <a:t>3. The evaluators walk through the action sequences for each task, placing it within the context of a typical scenario, and as they do this they try to answer “will users know what to do, see how to do it, and understand from feedback whether the action was correct or not?”</a:t>
            </a:r>
            <a:endParaRPr lang="zh-TW" altLang="en-US"/>
          </a:p>
        </p:txBody>
      </p:sp>
    </p:spTree>
    <p:extLst>
      <p:ext uri="{BB962C8B-B14F-4D97-AF65-F5344CB8AC3E}">
        <p14:creationId xmlns:p14="http://schemas.microsoft.com/office/powerpoint/2010/main" val="21035479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Steps in congnitive walkthroughs-CONT.</a:t>
            </a:r>
            <a:endParaRPr lang="zh-TW" altLang="en-US"/>
          </a:p>
        </p:txBody>
      </p:sp>
      <p:sp>
        <p:nvSpPr>
          <p:cNvPr id="3" name="內容版面配置區 2"/>
          <p:cNvSpPr>
            <a:spLocks noGrp="1"/>
          </p:cNvSpPr>
          <p:nvPr>
            <p:ph idx="1"/>
          </p:nvPr>
        </p:nvSpPr>
        <p:spPr/>
        <p:txBody>
          <a:bodyPr/>
          <a:lstStyle/>
          <a:p>
            <a:r>
              <a:rPr lang="en-US" altLang="zh-TW" smtClean="0"/>
              <a:t>4. As the walkthrough is being done, a record of critical information is compiled in which:</a:t>
            </a:r>
          </a:p>
          <a:p>
            <a:pPr lvl="1"/>
            <a:r>
              <a:rPr lang="en-US" altLang="zh-TW" smtClean="0"/>
              <a:t>The assumptions about what would cause problems and why are identified.</a:t>
            </a:r>
          </a:p>
          <a:p>
            <a:pPr lvl="1"/>
            <a:r>
              <a:rPr lang="en-US" altLang="zh-TW" smtClean="0"/>
              <a:t>Notes about side issues and design changes are made.</a:t>
            </a:r>
          </a:p>
          <a:p>
            <a:pPr lvl="1"/>
            <a:r>
              <a:rPr lang="en-US" altLang="zh-TW" smtClean="0"/>
              <a:t>A summary of the results is compiled.</a:t>
            </a:r>
          </a:p>
          <a:p>
            <a:r>
              <a:rPr lang="en-US" altLang="zh-TW" smtClean="0"/>
              <a:t>5. The design is then revised to fix the problems presented.</a:t>
            </a:r>
          </a:p>
          <a:p>
            <a:pPr marL="0" indent="0">
              <a:buNone/>
            </a:pPr>
            <a:r>
              <a:rPr lang="en-US" altLang="zh-TW" smtClean="0">
                <a:sym typeface="Wingdings" panose="05000000000000000000" pitchFamily="2" charset="2"/>
              </a:rPr>
              <a:t>We can modify or adapt the process above to meet our needs.</a:t>
            </a:r>
            <a:endParaRPr lang="zh-TW" altLang="en-US"/>
          </a:p>
        </p:txBody>
      </p:sp>
    </p:spTree>
    <p:extLst>
      <p:ext uri="{BB962C8B-B14F-4D97-AF65-F5344CB8AC3E}">
        <p14:creationId xmlns:p14="http://schemas.microsoft.com/office/powerpoint/2010/main" val="9427299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Cognitive Walkthroughs-CONT.</a:t>
            </a:r>
            <a:endParaRPr lang="zh-TW" altLang="en-US"/>
          </a:p>
        </p:txBody>
      </p:sp>
      <p:sp>
        <p:nvSpPr>
          <p:cNvPr id="3" name="內容版面配置區 2"/>
          <p:cNvSpPr>
            <a:spLocks noGrp="1"/>
          </p:cNvSpPr>
          <p:nvPr>
            <p:ph idx="1"/>
          </p:nvPr>
        </p:nvSpPr>
        <p:spPr/>
        <p:txBody>
          <a:bodyPr>
            <a:normAutofit lnSpcReduction="10000"/>
          </a:bodyPr>
          <a:lstStyle/>
          <a:p>
            <a:r>
              <a:rPr lang="en-US" altLang="zh-TW" smtClean="0"/>
              <a:t>Compared with heuristic evaluation, this technique focuses more closely on identifying specific user problems at a high level of detail.</a:t>
            </a:r>
          </a:p>
          <a:p>
            <a:r>
              <a:rPr lang="en-US" altLang="zh-TW" smtClean="0">
                <a:sym typeface="Wingdings" panose="05000000000000000000" pitchFamily="2" charset="2"/>
              </a:rPr>
              <a:t>Hence, it has a narrow focus.</a:t>
            </a:r>
          </a:p>
          <a:p>
            <a:pPr lvl="1"/>
            <a:r>
              <a:rPr lang="en-US" altLang="zh-TW">
                <a:sym typeface="Wingdings" panose="05000000000000000000" pitchFamily="2" charset="2"/>
              </a:rPr>
              <a:t>U</a:t>
            </a:r>
            <a:r>
              <a:rPr lang="en-US" altLang="zh-TW" smtClean="0">
                <a:sym typeface="Wingdings" panose="05000000000000000000" pitchFamily="2" charset="2"/>
              </a:rPr>
              <a:t>seful for focusing on certain types of system.</a:t>
            </a:r>
          </a:p>
          <a:p>
            <a:pPr lvl="1"/>
            <a:r>
              <a:rPr lang="en-US" altLang="zh-TW">
                <a:sym typeface="Wingdings" panose="05000000000000000000" pitchFamily="2" charset="2"/>
              </a:rPr>
              <a:t>E</a:t>
            </a:r>
            <a:r>
              <a:rPr lang="en-US" altLang="zh-TW" smtClean="0">
                <a:sym typeface="Wingdings" panose="05000000000000000000" pitchFamily="2" charset="2"/>
              </a:rPr>
              <a:t>valuating whole systems is not suggested due to consuming lots of time.</a:t>
            </a:r>
          </a:p>
          <a:p>
            <a:r>
              <a:rPr lang="en-US" altLang="zh-TW" smtClean="0">
                <a:sym typeface="Wingdings" panose="05000000000000000000" pitchFamily="2" charset="2"/>
              </a:rPr>
              <a:t>Other problems:</a:t>
            </a:r>
          </a:p>
          <a:p>
            <a:pPr lvl="1"/>
            <a:r>
              <a:rPr lang="en-US" altLang="zh-TW" smtClean="0">
                <a:sym typeface="Wingdings" panose="05000000000000000000" pitchFamily="2" charset="2"/>
              </a:rPr>
              <a:t>Step 3 takes a lot of time to ask and answer questions.</a:t>
            </a:r>
          </a:p>
          <a:p>
            <a:pPr lvl="1"/>
            <a:r>
              <a:rPr lang="en-US" altLang="zh-TW" smtClean="0">
                <a:sym typeface="Wingdings" panose="05000000000000000000" pitchFamily="2" charset="2"/>
              </a:rPr>
              <a:t>Designers tend to be defensive.</a:t>
            </a:r>
          </a:p>
          <a:p>
            <a:pPr lvl="1">
              <a:buFont typeface="Wingdings" panose="05000000000000000000" pitchFamily="2" charset="2"/>
              <a:buChar char="à"/>
            </a:pPr>
            <a:r>
              <a:rPr lang="en-US" altLang="zh-TW" smtClean="0">
                <a:sym typeface="Wingdings" panose="05000000000000000000" pitchFamily="2" charset="2"/>
              </a:rPr>
              <a:t>Undermined the efficacy of the method and the social relationships of team members.</a:t>
            </a:r>
          </a:p>
          <a:p>
            <a:r>
              <a:rPr lang="en-US" altLang="zh-TW" smtClean="0">
                <a:sym typeface="Wingdings" panose="05000000000000000000" pitchFamily="2" charset="2"/>
              </a:rPr>
              <a:t>Solution: identify a leader to guide the team.</a:t>
            </a:r>
          </a:p>
        </p:txBody>
      </p:sp>
    </p:spTree>
    <p:extLst>
      <p:ext uri="{BB962C8B-B14F-4D97-AF65-F5344CB8AC3E}">
        <p14:creationId xmlns:p14="http://schemas.microsoft.com/office/powerpoint/2010/main" val="6427542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Pluralistic Walkthroughs(</a:t>
            </a:r>
            <a:r>
              <a:rPr lang="zh-TW" altLang="en-US" smtClean="0"/>
              <a:t>多元演練</a:t>
            </a:r>
            <a:r>
              <a:rPr lang="en-US" altLang="zh-TW" smtClean="0"/>
              <a:t>)</a:t>
            </a:r>
            <a:endParaRPr lang="zh-TW" altLang="en-US"/>
          </a:p>
        </p:txBody>
      </p:sp>
      <p:sp>
        <p:nvSpPr>
          <p:cNvPr id="3" name="內容版面配置區 2"/>
          <p:cNvSpPr>
            <a:spLocks noGrp="1"/>
          </p:cNvSpPr>
          <p:nvPr>
            <p:ph idx="1"/>
          </p:nvPr>
        </p:nvSpPr>
        <p:spPr/>
        <p:txBody>
          <a:bodyPr>
            <a:normAutofit/>
          </a:bodyPr>
          <a:lstStyle/>
          <a:p>
            <a:r>
              <a:rPr lang="en-US" altLang="zh-TW"/>
              <a:t>A</a:t>
            </a:r>
            <a:r>
              <a:rPr lang="en-US" altLang="zh-TW" smtClean="0"/>
              <a:t>nother type of walkthrough in which users, developers and usability experts work together to step through a [task] scenario, discussing usability issues associated with dialog elements involved in the scenario steps.</a:t>
            </a:r>
          </a:p>
          <a:p>
            <a:r>
              <a:rPr lang="en-US" altLang="zh-TW" smtClean="0"/>
              <a:t>Each one is asked to assume the role of a typical user.</a:t>
            </a:r>
          </a:p>
          <a:p>
            <a:r>
              <a:rPr lang="en-US" altLang="zh-TW" smtClean="0"/>
              <a:t>Scenarios of use, consisting of a few prototype screens, are given to each evaluator who writes down the sequence of actions they would take to move from one screen to another alone.</a:t>
            </a:r>
          </a:p>
          <a:p>
            <a:r>
              <a:rPr lang="en-US" altLang="zh-TW" smtClean="0"/>
              <a:t>A discussion takes place before moving on to the next round of screens.</a:t>
            </a:r>
            <a:endParaRPr lang="zh-TW" altLang="en-US"/>
          </a:p>
        </p:txBody>
      </p:sp>
    </p:spTree>
    <p:extLst>
      <p:ext uri="{BB962C8B-B14F-4D97-AF65-F5344CB8AC3E}">
        <p14:creationId xmlns:p14="http://schemas.microsoft.com/office/powerpoint/2010/main" val="3895734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Pluralistic Walkthroughs-CONT.</a:t>
            </a:r>
            <a:endParaRPr lang="zh-TW" altLang="en-US"/>
          </a:p>
        </p:txBody>
      </p:sp>
      <p:sp>
        <p:nvSpPr>
          <p:cNvPr id="3" name="內容版面配置區 2"/>
          <p:cNvSpPr>
            <a:spLocks noGrp="1"/>
          </p:cNvSpPr>
          <p:nvPr>
            <p:ph idx="1"/>
          </p:nvPr>
        </p:nvSpPr>
        <p:spPr/>
        <p:txBody>
          <a:bodyPr/>
          <a:lstStyle/>
          <a:p>
            <a:r>
              <a:rPr lang="en-US" altLang="zh-TW" smtClean="0"/>
              <a:t>A very strong focus on users’ tasks at a detailed level.</a:t>
            </a:r>
          </a:p>
          <a:p>
            <a:r>
              <a:rPr lang="en-US" altLang="zh-TW"/>
              <a:t>T</a:t>
            </a:r>
            <a:r>
              <a:rPr lang="en-US" altLang="zh-TW" smtClean="0"/>
              <a:t>he group brings a variety of expertise and opinions for interpreting each stage of an interaction.</a:t>
            </a:r>
          </a:p>
          <a:p>
            <a:r>
              <a:rPr lang="en-US" altLang="zh-TW" smtClean="0"/>
              <a:t>Limitations include having to get all the experts together at once and then proceed at the rate of the slowest.</a:t>
            </a:r>
            <a:endParaRPr lang="en-US" altLang="zh-TW"/>
          </a:p>
          <a:p>
            <a:pPr marL="0" indent="0">
              <a:buNone/>
            </a:pPr>
            <a:r>
              <a:rPr lang="en-US" altLang="zh-TW" smtClean="0">
                <a:sym typeface="Wingdings" panose="05000000000000000000" pitchFamily="2" charset="2"/>
              </a:rPr>
              <a:t>More time-consuming.</a:t>
            </a:r>
            <a:endParaRPr lang="zh-TW" altLang="en-US"/>
          </a:p>
        </p:txBody>
      </p:sp>
      <p:pic>
        <p:nvPicPr>
          <p:cNvPr id="1026" name="Picture 2" descr="ãtime is moneyãçåçæå°çµ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9942" y="4146639"/>
            <a:ext cx="3153352" cy="2557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0466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Analytics(</a:t>
            </a:r>
            <a:r>
              <a:rPr lang="zh-TW" altLang="en-US" smtClean="0"/>
              <a:t>分析法</a:t>
            </a:r>
            <a:r>
              <a:rPr lang="en-US" altLang="zh-TW" smtClean="0"/>
              <a:t>)</a:t>
            </a:r>
            <a:endParaRPr lang="zh-TW" altLang="en-US"/>
          </a:p>
        </p:txBody>
      </p:sp>
      <p:sp>
        <p:nvSpPr>
          <p:cNvPr id="3" name="內容版面配置區 2"/>
          <p:cNvSpPr>
            <a:spLocks noGrp="1"/>
          </p:cNvSpPr>
          <p:nvPr>
            <p:ph idx="1"/>
          </p:nvPr>
        </p:nvSpPr>
        <p:spPr/>
        <p:txBody>
          <a:bodyPr>
            <a:normAutofit/>
          </a:bodyPr>
          <a:lstStyle/>
          <a:p>
            <a:r>
              <a:rPr lang="en-US" altLang="zh-TW"/>
              <a:t>A</a:t>
            </a:r>
            <a:r>
              <a:rPr lang="en-US" altLang="zh-TW" smtClean="0"/>
              <a:t> method for evaluating user traffic through a system.</a:t>
            </a:r>
          </a:p>
          <a:p>
            <a:pPr lvl="1"/>
            <a:r>
              <a:rPr lang="en-US" altLang="zh-TW" smtClean="0"/>
              <a:t>Mostly used for transactional systems, but also for systems not selling things.</a:t>
            </a:r>
          </a:p>
          <a:p>
            <a:r>
              <a:rPr lang="en-US" altLang="zh-TW" smtClean="0"/>
              <a:t>When used to examine traffic on a website, it’s also called web analytics.</a:t>
            </a:r>
          </a:p>
          <a:p>
            <a:pPr lvl="1"/>
            <a:r>
              <a:rPr lang="en-US" altLang="zh-TW" smtClean="0"/>
              <a:t>Information can be collected locally or remotely across the Internet by logging user activity.</a:t>
            </a:r>
          </a:p>
          <a:p>
            <a:pPr lvl="1"/>
            <a:r>
              <a:rPr lang="en-US" altLang="zh-TW"/>
              <a:t>U</a:t>
            </a:r>
            <a:r>
              <a:rPr lang="en-US" altLang="zh-TW" smtClean="0"/>
              <a:t>seful for evaluating the usability of a website, also valuable for business planning.</a:t>
            </a:r>
          </a:p>
          <a:p>
            <a:r>
              <a:rPr lang="en-US" altLang="zh-TW" smtClean="0"/>
              <a:t>Analytics tools providers, such as Google and VisiStat.</a:t>
            </a:r>
          </a:p>
          <a:p>
            <a:pPr lvl="1"/>
            <a:r>
              <a:rPr lang="en-US" altLang="zh-TW" smtClean="0"/>
              <a:t>They let us understand large volumes of data by using graphs, tables, and other types of data visualizations.</a:t>
            </a:r>
          </a:p>
          <a:p>
            <a:r>
              <a:rPr lang="en-US" altLang="zh-TW" smtClean="0"/>
              <a:t>Website owners using these tools can decide what to invest.</a:t>
            </a:r>
            <a:endParaRPr lang="zh-TW" altLang="en-US" smtClean="0"/>
          </a:p>
          <a:p>
            <a:endParaRPr lang="zh-TW" altLang="en-US"/>
          </a:p>
        </p:txBody>
      </p:sp>
    </p:spTree>
    <p:extLst>
      <p:ext uri="{BB962C8B-B14F-4D97-AF65-F5344CB8AC3E}">
        <p14:creationId xmlns:p14="http://schemas.microsoft.com/office/powerpoint/2010/main" val="40435107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794200" y="2474600"/>
            <a:ext cx="10603600" cy="877600"/>
          </a:xfrm>
          <a:prstGeom prst="rect">
            <a:avLst/>
          </a:prstGeom>
          <a:noFill/>
          <a:ln>
            <a:noFill/>
          </a:ln>
        </p:spPr>
        <p:txBody>
          <a:bodyPr spcFirstLastPara="1" vert="horz" wrap="square" lIns="121900" tIns="121900" rIns="121900" bIns="121900" rtlCol="0" anchor="b" anchorCtr="0">
            <a:noAutofit/>
          </a:bodyPr>
          <a:lstStyle/>
          <a:p>
            <a:r>
              <a:rPr lang="en-US" altLang="zh-TW"/>
              <a:t>Predictive models</a:t>
            </a:r>
            <a:endParaRPr/>
          </a:p>
        </p:txBody>
      </p:sp>
      <p:sp>
        <p:nvSpPr>
          <p:cNvPr id="175" name="Google Shape;175;p24"/>
          <p:cNvSpPr txBox="1"/>
          <p:nvPr/>
        </p:nvSpPr>
        <p:spPr>
          <a:xfrm>
            <a:off x="3811133" y="3862800"/>
            <a:ext cx="5949200" cy="2375600"/>
          </a:xfrm>
          <a:prstGeom prst="rect">
            <a:avLst/>
          </a:prstGeom>
          <a:noFill/>
          <a:ln>
            <a:noFill/>
          </a:ln>
        </p:spPr>
        <p:txBody>
          <a:bodyPr spcFirstLastPara="1" wrap="square" lIns="121900" tIns="121900" rIns="121900" bIns="121900" anchor="t" anchorCtr="0">
            <a:noAutofit/>
          </a:bodyPr>
          <a:lstStyle/>
          <a:p>
            <a:pPr marL="609585" indent="-457189">
              <a:lnSpc>
                <a:spcPct val="150000"/>
              </a:lnSpc>
              <a:buSzPts val="1800"/>
              <a:buChar char="●"/>
            </a:pPr>
            <a:r>
              <a:rPr lang="en-US" altLang="zh-TW" sz="2400"/>
              <a:t>GOMS Model</a:t>
            </a:r>
            <a:endParaRPr sz="2400"/>
          </a:p>
          <a:p>
            <a:pPr marL="609585" indent="-457189">
              <a:lnSpc>
                <a:spcPct val="150000"/>
              </a:lnSpc>
              <a:buSzPts val="1800"/>
              <a:buChar char="●"/>
            </a:pPr>
            <a:r>
              <a:rPr lang="en-US" altLang="zh-TW" sz="2400"/>
              <a:t>Keystroke Level Model (KLM)</a:t>
            </a:r>
            <a:endParaRPr sz="2400"/>
          </a:p>
          <a:p>
            <a:pPr marL="609585" indent="-457189">
              <a:lnSpc>
                <a:spcPct val="150000"/>
              </a:lnSpc>
              <a:buSzPts val="1800"/>
              <a:buChar char="●"/>
            </a:pPr>
            <a:r>
              <a:rPr lang="en-US" altLang="zh-TW" sz="2400"/>
              <a:t>Benefits and Limitations of GOMS</a:t>
            </a:r>
            <a:endParaRPr sz="2400"/>
          </a:p>
          <a:p>
            <a:pPr marL="609585" indent="-457189">
              <a:lnSpc>
                <a:spcPct val="150000"/>
              </a:lnSpc>
              <a:buSzPts val="1800"/>
              <a:buChar char="●"/>
            </a:pPr>
            <a:r>
              <a:rPr lang="en-US" altLang="zh-TW" sz="2400"/>
              <a:t>Fitts’ Law</a:t>
            </a:r>
            <a:endParaRPr sz="2400"/>
          </a:p>
          <a:p>
            <a:endParaRPr sz="24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title"/>
          </p:nvPr>
        </p:nvSpPr>
        <p:spPr>
          <a:xfrm>
            <a:off x="389167" y="542533"/>
            <a:ext cx="4052800" cy="1851600"/>
          </a:xfrm>
          <a:prstGeom prst="rect">
            <a:avLst/>
          </a:prstGeom>
          <a:noFill/>
          <a:ln>
            <a:noFill/>
          </a:ln>
        </p:spPr>
        <p:txBody>
          <a:bodyPr spcFirstLastPara="1" vert="horz" wrap="square" lIns="121900" tIns="121900" rIns="121900" bIns="121900" rtlCol="0" anchor="b" anchorCtr="0">
            <a:noAutofit/>
          </a:bodyPr>
          <a:lstStyle/>
          <a:p>
            <a:r>
              <a:rPr lang="en-US" altLang="zh-TW"/>
              <a:t>GOMS</a:t>
            </a:r>
            <a:endParaRPr/>
          </a:p>
        </p:txBody>
      </p:sp>
      <p:sp>
        <p:nvSpPr>
          <p:cNvPr id="181" name="Google Shape;181;p25"/>
          <p:cNvSpPr txBox="1">
            <a:spLocks noGrp="1"/>
          </p:cNvSpPr>
          <p:nvPr>
            <p:ph type="body" idx="1"/>
          </p:nvPr>
        </p:nvSpPr>
        <p:spPr>
          <a:xfrm>
            <a:off x="389251" y="2738291"/>
            <a:ext cx="4052800" cy="3170800"/>
          </a:xfrm>
          <a:prstGeom prst="rect">
            <a:avLst/>
          </a:prstGeom>
          <a:noFill/>
          <a:ln>
            <a:noFill/>
          </a:ln>
        </p:spPr>
        <p:txBody>
          <a:bodyPr spcFirstLastPara="1" vert="horz" wrap="square" lIns="121900" tIns="121900" rIns="121900" bIns="121900" rtlCol="0" anchor="t" anchorCtr="0">
            <a:noAutofit/>
          </a:bodyPr>
          <a:lstStyle/>
          <a:p>
            <a:pPr>
              <a:buFont typeface="Lato"/>
              <a:buChar char="❖"/>
            </a:pPr>
            <a:r>
              <a:rPr lang="en-US" altLang="zh-TW"/>
              <a:t>Goals</a:t>
            </a:r>
            <a:endParaRPr/>
          </a:p>
          <a:p>
            <a:pPr>
              <a:buFont typeface="Lato"/>
              <a:buChar char="❖"/>
            </a:pPr>
            <a:r>
              <a:rPr lang="en-US" altLang="zh-TW"/>
              <a:t>Operators</a:t>
            </a:r>
            <a:endParaRPr/>
          </a:p>
          <a:p>
            <a:pPr>
              <a:buFont typeface="Lato"/>
              <a:buChar char="❖"/>
            </a:pPr>
            <a:r>
              <a:rPr lang="en-US" altLang="zh-TW"/>
              <a:t>Methods</a:t>
            </a:r>
            <a:endParaRPr/>
          </a:p>
          <a:p>
            <a:pPr>
              <a:buFont typeface="Lato"/>
              <a:buChar char="❖"/>
            </a:pPr>
            <a:r>
              <a:rPr lang="en-US" altLang="zh-TW"/>
              <a:t>Selections</a:t>
            </a:r>
            <a:endParaRPr/>
          </a:p>
        </p:txBody>
      </p:sp>
      <p:sp>
        <p:nvSpPr>
          <p:cNvPr id="182" name="Google Shape;182;p25"/>
          <p:cNvSpPr/>
          <p:nvPr/>
        </p:nvSpPr>
        <p:spPr>
          <a:xfrm>
            <a:off x="4442067" y="0"/>
            <a:ext cx="7511600" cy="6858000"/>
          </a:xfrm>
          <a:prstGeom prst="parallelogram">
            <a:avLst>
              <a:gd name="adj" fmla="val 24220"/>
            </a:avLst>
          </a:prstGeom>
          <a:solidFill>
            <a:srgbClr val="EEEEEE">
              <a:alpha val="67058"/>
            </a:srgbClr>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pic>
        <p:nvPicPr>
          <p:cNvPr id="183" name="Google Shape;183;p25"/>
          <p:cNvPicPr preferRelativeResize="0"/>
          <p:nvPr/>
        </p:nvPicPr>
        <p:blipFill rotWithShape="1">
          <a:blip r:embed="rId3">
            <a:alphaModFix/>
          </a:blip>
          <a:srcRect l="13841" r="13840"/>
          <a:stretch/>
        </p:blipFill>
        <p:spPr>
          <a:xfrm>
            <a:off x="4749800" y="0"/>
            <a:ext cx="7442400" cy="6858000"/>
          </a:xfrm>
          <a:prstGeom prst="parallelogram">
            <a:avLst>
              <a:gd name="adj" fmla="val 23683"/>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6"/>
          <p:cNvSpPr txBox="1">
            <a:spLocks noGrp="1"/>
          </p:cNvSpPr>
          <p:nvPr>
            <p:ph type="ctrTitle"/>
          </p:nvPr>
        </p:nvSpPr>
        <p:spPr>
          <a:xfrm>
            <a:off x="3917633" y="1971767"/>
            <a:ext cx="7173200" cy="1358800"/>
          </a:xfrm>
          <a:prstGeom prst="rect">
            <a:avLst/>
          </a:prstGeom>
        </p:spPr>
        <p:txBody>
          <a:bodyPr spcFirstLastPara="1" vert="horz" wrap="square" lIns="121900" tIns="121900" rIns="121900" bIns="121900" rtlCol="0" anchor="b" anchorCtr="0">
            <a:noAutofit/>
          </a:bodyPr>
          <a:lstStyle/>
          <a:p>
            <a:r>
              <a:rPr lang="zh-TW" b="1" i="0" u="none" strike="noStrike" cap="none"/>
              <a:t>Goals</a:t>
            </a:r>
            <a:endParaRPr b="1" i="0" u="none" strike="noStrike" cap="none"/>
          </a:p>
        </p:txBody>
      </p:sp>
      <p:sp>
        <p:nvSpPr>
          <p:cNvPr id="189" name="Google Shape;189;p26"/>
          <p:cNvSpPr txBox="1">
            <a:spLocks noGrp="1"/>
          </p:cNvSpPr>
          <p:nvPr>
            <p:ph type="body" idx="1"/>
          </p:nvPr>
        </p:nvSpPr>
        <p:spPr>
          <a:xfrm>
            <a:off x="3917633" y="3469933"/>
            <a:ext cx="7183200" cy="23008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zh-TW" b="0" i="0" u="none" strike="noStrike" cap="none"/>
              <a:t>what the user intends to accomplish</a:t>
            </a:r>
            <a:endParaRPr b="0" i="0" u="none" strike="noStrike" cap="none"/>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7"/>
          <p:cNvSpPr txBox="1">
            <a:spLocks noGrp="1"/>
          </p:cNvSpPr>
          <p:nvPr>
            <p:ph type="ctrTitle"/>
          </p:nvPr>
        </p:nvSpPr>
        <p:spPr>
          <a:xfrm>
            <a:off x="3917633" y="1971767"/>
            <a:ext cx="7173200" cy="1358800"/>
          </a:xfrm>
          <a:prstGeom prst="rect">
            <a:avLst/>
          </a:prstGeom>
          <a:noFill/>
          <a:ln>
            <a:noFill/>
          </a:ln>
        </p:spPr>
        <p:txBody>
          <a:bodyPr spcFirstLastPara="1" vert="horz" wrap="square" lIns="121900" tIns="121900" rIns="121900" bIns="121900" rtlCol="0" anchor="b" anchorCtr="0">
            <a:noAutofit/>
          </a:bodyPr>
          <a:lstStyle/>
          <a:p>
            <a:r>
              <a:rPr lang="en-US" altLang="zh-TW"/>
              <a:t>Operators</a:t>
            </a:r>
            <a:endParaRPr/>
          </a:p>
        </p:txBody>
      </p:sp>
      <p:sp>
        <p:nvSpPr>
          <p:cNvPr id="195" name="Google Shape;195;p27"/>
          <p:cNvSpPr txBox="1">
            <a:spLocks noGrp="1"/>
          </p:cNvSpPr>
          <p:nvPr>
            <p:ph type="body" idx="1"/>
          </p:nvPr>
        </p:nvSpPr>
        <p:spPr>
          <a:xfrm>
            <a:off x="3917633" y="3469933"/>
            <a:ext cx="7183200" cy="2300800"/>
          </a:xfrm>
          <a:prstGeom prst="rect">
            <a:avLst/>
          </a:prstGeom>
          <a:noFill/>
          <a:ln>
            <a:noFill/>
          </a:ln>
        </p:spPr>
        <p:txBody>
          <a:bodyPr spcFirstLastPara="1" vert="horz" wrap="square" lIns="121900" tIns="121900" rIns="121900" bIns="121900" rtlCol="0" anchor="t" anchorCtr="0">
            <a:noAutofit/>
          </a:bodyPr>
          <a:lstStyle/>
          <a:p>
            <a:pPr marL="0" indent="0">
              <a:spcAft>
                <a:spcPts val="2133"/>
              </a:spcAft>
              <a:buNone/>
            </a:pPr>
            <a:r>
              <a:rPr lang="en-US" altLang="zh-TW"/>
              <a:t>the actions that are performed to reach the goals</a:t>
            </a:r>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a:spLocks noGrp="1"/>
          </p:cNvSpPr>
          <p:nvPr>
            <p:ph type="ctrTitle"/>
          </p:nvPr>
        </p:nvSpPr>
        <p:spPr>
          <a:xfrm>
            <a:off x="3917633" y="1971767"/>
            <a:ext cx="7173200" cy="1358800"/>
          </a:xfrm>
          <a:prstGeom prst="rect">
            <a:avLst/>
          </a:prstGeom>
          <a:noFill/>
          <a:ln>
            <a:noFill/>
          </a:ln>
        </p:spPr>
        <p:txBody>
          <a:bodyPr spcFirstLastPara="1" vert="horz" wrap="square" lIns="121900" tIns="121900" rIns="121900" bIns="121900" rtlCol="0" anchor="b" anchorCtr="0">
            <a:noAutofit/>
          </a:bodyPr>
          <a:lstStyle/>
          <a:p>
            <a:r>
              <a:rPr lang="en-US" altLang="zh-TW"/>
              <a:t>Methods</a:t>
            </a:r>
            <a:endParaRPr/>
          </a:p>
        </p:txBody>
      </p:sp>
      <p:sp>
        <p:nvSpPr>
          <p:cNvPr id="201" name="Google Shape;201;p28"/>
          <p:cNvSpPr txBox="1">
            <a:spLocks noGrp="1"/>
          </p:cNvSpPr>
          <p:nvPr>
            <p:ph type="body" idx="1"/>
          </p:nvPr>
        </p:nvSpPr>
        <p:spPr>
          <a:xfrm>
            <a:off x="3917633" y="3469933"/>
            <a:ext cx="7183200" cy="2300800"/>
          </a:xfrm>
          <a:prstGeom prst="rect">
            <a:avLst/>
          </a:prstGeom>
          <a:noFill/>
          <a:ln>
            <a:noFill/>
          </a:ln>
        </p:spPr>
        <p:txBody>
          <a:bodyPr spcFirstLastPara="1" vert="horz" wrap="square" lIns="121900" tIns="121900" rIns="121900" bIns="121900" rtlCol="0" anchor="t" anchorCtr="0">
            <a:noAutofit/>
          </a:bodyPr>
          <a:lstStyle/>
          <a:p>
            <a:pPr marL="0" indent="0">
              <a:spcAft>
                <a:spcPts val="2133"/>
              </a:spcAft>
              <a:buNone/>
            </a:pPr>
            <a:r>
              <a:rPr lang="en-US" altLang="zh-TW"/>
              <a:t>the sequence of operators that accomplish a goal</a:t>
            </a: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a:spLocks noGrp="1"/>
          </p:cNvSpPr>
          <p:nvPr>
            <p:ph type="ctrTitle"/>
          </p:nvPr>
        </p:nvSpPr>
        <p:spPr>
          <a:xfrm>
            <a:off x="3917633" y="1971767"/>
            <a:ext cx="7173200" cy="1358800"/>
          </a:xfrm>
          <a:prstGeom prst="rect">
            <a:avLst/>
          </a:prstGeom>
          <a:noFill/>
          <a:ln>
            <a:noFill/>
          </a:ln>
        </p:spPr>
        <p:txBody>
          <a:bodyPr spcFirstLastPara="1" vert="horz" wrap="square" lIns="121900" tIns="121900" rIns="121900" bIns="121900" rtlCol="0" anchor="b" anchorCtr="0">
            <a:noAutofit/>
          </a:bodyPr>
          <a:lstStyle/>
          <a:p>
            <a:r>
              <a:rPr lang="en-US" altLang="zh-TW"/>
              <a:t>Selections</a:t>
            </a:r>
            <a:endParaRPr/>
          </a:p>
        </p:txBody>
      </p:sp>
      <p:sp>
        <p:nvSpPr>
          <p:cNvPr id="207" name="Google Shape;207;p29"/>
          <p:cNvSpPr txBox="1">
            <a:spLocks noGrp="1"/>
          </p:cNvSpPr>
          <p:nvPr>
            <p:ph type="body" idx="1"/>
          </p:nvPr>
        </p:nvSpPr>
        <p:spPr>
          <a:xfrm>
            <a:off x="3917633" y="3469933"/>
            <a:ext cx="7183200" cy="2300800"/>
          </a:xfrm>
          <a:prstGeom prst="rect">
            <a:avLst/>
          </a:prstGeom>
          <a:noFill/>
          <a:ln>
            <a:noFill/>
          </a:ln>
        </p:spPr>
        <p:txBody>
          <a:bodyPr spcFirstLastPara="1" vert="horz" wrap="square" lIns="121900" tIns="121900" rIns="121900" bIns="121900" rtlCol="0" anchor="t" anchorCtr="0">
            <a:noAutofit/>
          </a:bodyPr>
          <a:lstStyle/>
          <a:p>
            <a:pPr marL="0" indent="0">
              <a:spcAft>
                <a:spcPts val="2133"/>
              </a:spcAft>
              <a:buNone/>
            </a:pPr>
            <a:r>
              <a:rPr lang="en-US" altLang="zh-TW"/>
              <a:t>how to select a certain method to use  </a:t>
            </a: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ctrTitle"/>
          </p:nvPr>
        </p:nvSpPr>
        <p:spPr>
          <a:xfrm>
            <a:off x="1051400" y="1806533"/>
            <a:ext cx="10089200" cy="672400"/>
          </a:xfrm>
          <a:prstGeom prst="rect">
            <a:avLst/>
          </a:prstGeom>
          <a:noFill/>
          <a:ln>
            <a:noFill/>
          </a:ln>
        </p:spPr>
        <p:txBody>
          <a:bodyPr spcFirstLastPara="1" vert="horz" wrap="square" lIns="121900" tIns="121900" rIns="121900" bIns="121900" rtlCol="0" anchor="b" anchorCtr="0">
            <a:noAutofit/>
          </a:bodyPr>
          <a:lstStyle/>
          <a:p>
            <a:r>
              <a:rPr lang="en-US" altLang="zh-TW"/>
              <a:t>Ex : delete text using Microsoft Word</a:t>
            </a:r>
            <a:endParaRPr/>
          </a:p>
        </p:txBody>
      </p:sp>
      <p:graphicFrame>
        <p:nvGraphicFramePr>
          <p:cNvPr id="213" name="Google Shape;213;p30"/>
          <p:cNvGraphicFramePr/>
          <p:nvPr/>
        </p:nvGraphicFramePr>
        <p:xfrm>
          <a:off x="624501" y="2921001"/>
          <a:ext cx="11092033" cy="3567033"/>
        </p:xfrm>
        <a:graphic>
          <a:graphicData uri="http://schemas.openxmlformats.org/drawingml/2006/table">
            <a:tbl>
              <a:tblPr>
                <a:noFill/>
              </a:tblPr>
              <a:tblGrid>
                <a:gridCol w="2391900">
                  <a:extLst>
                    <a:ext uri="{9D8B030D-6E8A-4147-A177-3AD203B41FA5}">
                      <a16:colId xmlns:a16="http://schemas.microsoft.com/office/drawing/2014/main" xmlns="" val="20000"/>
                    </a:ext>
                  </a:extLst>
                </a:gridCol>
                <a:gridCol w="3151400">
                  <a:extLst>
                    <a:ext uri="{9D8B030D-6E8A-4147-A177-3AD203B41FA5}">
                      <a16:colId xmlns:a16="http://schemas.microsoft.com/office/drawing/2014/main" xmlns="" val="20001"/>
                    </a:ext>
                  </a:extLst>
                </a:gridCol>
                <a:gridCol w="2954500">
                  <a:extLst>
                    <a:ext uri="{9D8B030D-6E8A-4147-A177-3AD203B41FA5}">
                      <a16:colId xmlns:a16="http://schemas.microsoft.com/office/drawing/2014/main" xmlns="" val="20002"/>
                    </a:ext>
                  </a:extLst>
                </a:gridCol>
                <a:gridCol w="2594233">
                  <a:extLst>
                    <a:ext uri="{9D8B030D-6E8A-4147-A177-3AD203B41FA5}">
                      <a16:colId xmlns:a16="http://schemas.microsoft.com/office/drawing/2014/main" xmlns="" val="20003"/>
                    </a:ext>
                  </a:extLst>
                </a:gridCol>
              </a:tblGrid>
              <a:tr h="99790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Goal</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Method</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Operat</a:t>
                      </a:r>
                      <a:r>
                        <a:rPr lang="zh-TW" sz="2400"/>
                        <a:t>or</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Selection</a:t>
                      </a:r>
                      <a:endParaRPr sz="1900" u="none" strike="noStrike" cap="none"/>
                    </a:p>
                  </a:txBody>
                  <a:tcPr marL="121900" marR="121900" marT="121900" marB="121900" anchor="ctr"/>
                </a:tc>
                <a:extLst>
                  <a:ext uri="{0D108BD9-81ED-4DB2-BD59-A6C34878D82A}">
                    <a16:rowId xmlns:a16="http://schemas.microsoft.com/office/drawing/2014/main" xmlns="" val="10000"/>
                  </a:ext>
                </a:extLst>
              </a:tr>
              <a:tr h="2569133">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Delete word in a sentence.</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1. put the cursor before the text to be deleted</a:t>
                      </a:r>
                      <a:endParaRPr sz="1900" u="none" strike="noStrike" cap="none"/>
                    </a:p>
                    <a:p>
                      <a:pPr marL="0" marR="0" lvl="0" indent="0" algn="l" rtl="0">
                        <a:lnSpc>
                          <a:spcPct val="100000"/>
                        </a:lnSpc>
                        <a:spcBef>
                          <a:spcPts val="0"/>
                        </a:spcBef>
                        <a:spcAft>
                          <a:spcPts val="0"/>
                        </a:spcAft>
                        <a:buClr>
                          <a:srgbClr val="000000"/>
                        </a:buClr>
                        <a:buSzPts val="1400"/>
                        <a:buFont typeface="Arial"/>
                        <a:buNone/>
                      </a:pPr>
                      <a:r>
                        <a:rPr lang="zh-TW" sz="1900" u="none" strike="noStrike" cap="none"/>
                        <a:t>2. press delete key</a:t>
                      </a:r>
                      <a:endParaRPr sz="1900" u="none" strike="noStrike" cap="none"/>
                    </a:p>
                  </a:txBody>
                  <a:tcPr marL="121900" marR="121900" marT="121900" marB="121900"/>
                </a:tc>
                <a:tc>
                  <a:txBody>
                    <a:bodyPr/>
                    <a:lstStyle/>
                    <a:p>
                      <a:pPr marL="457200" marR="0" lvl="0" indent="-317500" algn="l" rtl="0">
                        <a:lnSpc>
                          <a:spcPct val="100000"/>
                        </a:lnSpc>
                        <a:spcBef>
                          <a:spcPts val="0"/>
                        </a:spcBef>
                        <a:spcAft>
                          <a:spcPts val="0"/>
                        </a:spcAft>
                        <a:buClr>
                          <a:srgbClr val="000000"/>
                        </a:buClr>
                        <a:buSzPts val="1400"/>
                        <a:buFont typeface="Arial"/>
                        <a:buChar char="●"/>
                      </a:pPr>
                      <a:r>
                        <a:rPr lang="zh-TW" sz="1900" u="none" strike="noStrike" cap="none"/>
                        <a:t>click mouse</a:t>
                      </a:r>
                      <a:endParaRPr sz="1900" u="none" strike="noStrike" cap="none"/>
                    </a:p>
                    <a:p>
                      <a:pPr marL="457200" marR="0" lvl="0" indent="-317500" algn="l" rtl="0">
                        <a:lnSpc>
                          <a:spcPct val="100000"/>
                        </a:lnSpc>
                        <a:spcBef>
                          <a:spcPts val="0"/>
                        </a:spcBef>
                        <a:spcAft>
                          <a:spcPts val="0"/>
                        </a:spcAft>
                        <a:buClr>
                          <a:srgbClr val="000000"/>
                        </a:buClr>
                        <a:buSzPts val="1400"/>
                        <a:buFont typeface="Arial"/>
                        <a:buChar char="●"/>
                      </a:pPr>
                      <a:r>
                        <a:rPr lang="zh-TW" sz="1900" u="none" strike="noStrike" cap="none"/>
                        <a:t>move mouse </a:t>
                      </a:r>
                      <a:endParaRPr sz="1900" u="none" strike="noStrike" cap="none"/>
                    </a:p>
                    <a:p>
                      <a:pPr marL="457200" marR="0" lvl="0" indent="-317500" algn="l" rtl="0">
                        <a:lnSpc>
                          <a:spcPct val="100000"/>
                        </a:lnSpc>
                        <a:spcBef>
                          <a:spcPts val="0"/>
                        </a:spcBef>
                        <a:spcAft>
                          <a:spcPts val="0"/>
                        </a:spcAft>
                        <a:buClr>
                          <a:srgbClr val="000000"/>
                        </a:buClr>
                        <a:buSzPts val="1400"/>
                        <a:buFont typeface="Arial"/>
                        <a:buChar char="●"/>
                      </a:pPr>
                      <a:r>
                        <a:rPr lang="zh-TW" sz="1900" u="none" strike="noStrike" cap="none"/>
                        <a:t>press key</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short text -&gt; move cursor </a:t>
                      </a:r>
                      <a:endParaRPr sz="1900" u="none" strike="noStrike" cap="none"/>
                    </a:p>
                    <a:p>
                      <a:pPr marL="0" marR="0" lvl="0" indent="0" algn="l" rtl="0">
                        <a:lnSpc>
                          <a:spcPct val="100000"/>
                        </a:lnSpc>
                        <a:spcBef>
                          <a:spcPts val="0"/>
                        </a:spcBef>
                        <a:spcAft>
                          <a:spcPts val="0"/>
                        </a:spcAft>
                        <a:buClr>
                          <a:srgbClr val="000000"/>
                        </a:buClr>
                        <a:buSzPts val="1400"/>
                        <a:buFont typeface="Arial"/>
                        <a:buNone/>
                      </a:pPr>
                      <a:endParaRPr sz="1900" u="none" strike="noStrike" cap="none"/>
                    </a:p>
                    <a:p>
                      <a:pPr marL="0" marR="0" lvl="0" indent="0" algn="l" rtl="0">
                        <a:lnSpc>
                          <a:spcPct val="100000"/>
                        </a:lnSpc>
                        <a:spcBef>
                          <a:spcPts val="0"/>
                        </a:spcBef>
                        <a:spcAft>
                          <a:spcPts val="0"/>
                        </a:spcAft>
                        <a:buClr>
                          <a:srgbClr val="000000"/>
                        </a:buClr>
                        <a:buSzPts val="1400"/>
                        <a:buFont typeface="Arial"/>
                        <a:buNone/>
                      </a:pPr>
                      <a:r>
                        <a:rPr lang="zh-TW" sz="1900" u="none" strike="noStrike" cap="none"/>
                        <a:t>long text -&gt; select the text</a:t>
                      </a:r>
                      <a:endParaRPr sz="1900" u="none" strike="noStrike" cap="none"/>
                    </a:p>
                  </a:txBody>
                  <a:tcPr marL="121900" marR="121900" marT="121900" marB="121900"/>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1082200" y="1066319"/>
            <a:ext cx="8611200" cy="1973200"/>
          </a:xfrm>
          <a:prstGeom prst="rect">
            <a:avLst/>
          </a:prstGeom>
          <a:noFill/>
          <a:ln>
            <a:noFill/>
          </a:ln>
        </p:spPr>
        <p:txBody>
          <a:bodyPr spcFirstLastPara="1" vert="horz" wrap="square" lIns="121900" tIns="121900" rIns="121900" bIns="121900" rtlCol="0" anchor="b" anchorCtr="0">
            <a:noAutofit/>
          </a:bodyPr>
          <a:lstStyle/>
          <a:p>
            <a:r>
              <a:rPr lang="en-US" altLang="zh-TW">
                <a:solidFill>
                  <a:schemeClr val="dk2"/>
                </a:solidFill>
              </a:rPr>
              <a:t>Keystroke Level Model (KLM)</a:t>
            </a:r>
            <a:endParaRPr>
              <a:solidFill>
                <a:schemeClr val="dk2"/>
              </a:solidFill>
            </a:endParaRPr>
          </a:p>
        </p:txBody>
      </p:sp>
      <p:sp>
        <p:nvSpPr>
          <p:cNvPr id="219" name="Google Shape;219;p31"/>
          <p:cNvSpPr txBox="1">
            <a:spLocks noGrp="1"/>
          </p:cNvSpPr>
          <p:nvPr>
            <p:ph type="body" idx="1"/>
          </p:nvPr>
        </p:nvSpPr>
        <p:spPr>
          <a:xfrm>
            <a:off x="1082200" y="3242719"/>
            <a:ext cx="8611200" cy="2716800"/>
          </a:xfrm>
          <a:prstGeom prst="rect">
            <a:avLst/>
          </a:prstGeom>
          <a:noFill/>
          <a:ln>
            <a:noFill/>
          </a:ln>
        </p:spPr>
        <p:txBody>
          <a:bodyPr spcFirstLastPara="1" vert="horz" wrap="square" lIns="121900" tIns="121900" rIns="121900" bIns="121900" rtlCol="0" anchor="t" anchorCtr="0">
            <a:noAutofit/>
          </a:bodyPr>
          <a:lstStyle/>
          <a:p>
            <a:r>
              <a:rPr lang="en-US" altLang="zh-TW"/>
              <a:t>A branch  of GOMS</a:t>
            </a:r>
            <a:endParaRPr/>
          </a:p>
          <a:p>
            <a:r>
              <a:rPr lang="en-US" altLang="zh-TW"/>
              <a:t>provide numerical predictions of user performance</a:t>
            </a:r>
            <a:endParaRPr/>
          </a:p>
          <a:p>
            <a:r>
              <a:rPr lang="en-US" altLang="zh-TW"/>
              <a:t>different systems and applications can be easily compared</a:t>
            </a:r>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a:spLocks noGrp="1"/>
          </p:cNvSpPr>
          <p:nvPr>
            <p:ph type="title"/>
          </p:nvPr>
        </p:nvSpPr>
        <p:spPr>
          <a:xfrm>
            <a:off x="3828317" y="250131"/>
            <a:ext cx="7654400" cy="1020400"/>
          </a:xfrm>
          <a:prstGeom prst="rect">
            <a:avLst/>
          </a:prstGeom>
          <a:noFill/>
          <a:ln>
            <a:noFill/>
          </a:ln>
        </p:spPr>
        <p:txBody>
          <a:bodyPr spcFirstLastPara="1" vert="horz" wrap="square" lIns="121900" tIns="121900" rIns="121900" bIns="121900" rtlCol="0" anchor="b" anchorCtr="0">
            <a:noAutofit/>
          </a:bodyPr>
          <a:lstStyle/>
          <a:p>
            <a:r>
              <a:rPr lang="en-US" altLang="zh-TW"/>
              <a:t>Operat</a:t>
            </a:r>
            <a:r>
              <a:rPr lang="zh-TW"/>
              <a:t>ors and Time</a:t>
            </a:r>
            <a:endParaRPr/>
          </a:p>
        </p:txBody>
      </p:sp>
      <p:graphicFrame>
        <p:nvGraphicFramePr>
          <p:cNvPr id="225" name="Google Shape;225;p32"/>
          <p:cNvGraphicFramePr/>
          <p:nvPr/>
        </p:nvGraphicFramePr>
        <p:xfrm>
          <a:off x="3327885" y="1780114"/>
          <a:ext cx="8737967" cy="5011406"/>
        </p:xfrm>
        <a:graphic>
          <a:graphicData uri="http://schemas.openxmlformats.org/drawingml/2006/table">
            <a:tbl>
              <a:tblPr>
                <a:noFill/>
              </a:tblPr>
              <a:tblGrid>
                <a:gridCol w="1933267">
                  <a:extLst>
                    <a:ext uri="{9D8B030D-6E8A-4147-A177-3AD203B41FA5}">
                      <a16:colId xmlns:a16="http://schemas.microsoft.com/office/drawing/2014/main" xmlns="" val="20000"/>
                    </a:ext>
                  </a:extLst>
                </a:gridCol>
                <a:gridCol w="5642700">
                  <a:extLst>
                    <a:ext uri="{9D8B030D-6E8A-4147-A177-3AD203B41FA5}">
                      <a16:colId xmlns:a16="http://schemas.microsoft.com/office/drawing/2014/main" xmlns="" val="20001"/>
                    </a:ext>
                  </a:extLst>
                </a:gridCol>
                <a:gridCol w="1162000">
                  <a:extLst>
                    <a:ext uri="{9D8B030D-6E8A-4147-A177-3AD203B41FA5}">
                      <a16:colId xmlns:a16="http://schemas.microsoft.com/office/drawing/2014/main" xmlns="" val="20002"/>
                    </a:ext>
                  </a:extLst>
                </a:gridCol>
              </a:tblGrid>
              <a:tr h="81276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Operator name</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Description</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Time(s)</a:t>
                      </a:r>
                      <a:endParaRPr sz="1900" u="none" strike="noStrike" cap="none"/>
                    </a:p>
                  </a:txBody>
                  <a:tcPr marL="121900" marR="121900" marT="121900" marB="121900"/>
                </a:tc>
                <a:extLst>
                  <a:ext uri="{0D108BD9-81ED-4DB2-BD59-A6C34878D82A}">
                    <a16:rowId xmlns:a16="http://schemas.microsoft.com/office/drawing/2014/main" xmlns="" val="10000"/>
                  </a:ext>
                </a:extLst>
              </a:tr>
              <a:tr h="109724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K</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Pressing a single key or button</a:t>
                      </a:r>
                      <a:endParaRPr sz="1900" u="none" strike="noStrike" cap="none"/>
                    </a:p>
                    <a:p>
                      <a:pPr marL="0" marR="0" lvl="0" indent="0" algn="l" rtl="0">
                        <a:lnSpc>
                          <a:spcPct val="100000"/>
                        </a:lnSpc>
                        <a:spcBef>
                          <a:spcPts val="0"/>
                        </a:spcBef>
                        <a:spcAft>
                          <a:spcPts val="0"/>
                        </a:spcAft>
                        <a:buClr>
                          <a:srgbClr val="000000"/>
                        </a:buClr>
                        <a:buSzPts val="1400"/>
                        <a:buFont typeface="Arial"/>
                        <a:buNone/>
                      </a:pPr>
                      <a:r>
                        <a:rPr lang="zh-TW" sz="1900" u="none" strike="noStrike" cap="none"/>
                        <a:t>Skilled typist (55wpm)</a:t>
                      </a:r>
                      <a:endParaRPr sz="1900" u="none" strike="noStrike" cap="none"/>
                    </a:p>
                    <a:p>
                      <a:pPr marL="0" marR="0" lvl="0" indent="0" algn="l" rtl="0">
                        <a:lnSpc>
                          <a:spcPct val="100000"/>
                        </a:lnSpc>
                        <a:spcBef>
                          <a:spcPts val="0"/>
                        </a:spcBef>
                        <a:spcAft>
                          <a:spcPts val="0"/>
                        </a:spcAft>
                        <a:buClr>
                          <a:srgbClr val="000000"/>
                        </a:buClr>
                        <a:buSzPts val="1400"/>
                        <a:buFont typeface="Arial"/>
                        <a:buNone/>
                      </a:pPr>
                      <a:r>
                        <a:rPr lang="zh-TW" sz="1900" u="none" strike="noStrike" cap="none"/>
                        <a:t>average typist (40wpm)</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0.35</a:t>
                      </a:r>
                      <a:endParaRPr sz="1900" u="none" strike="noStrike" cap="none"/>
                    </a:p>
                    <a:p>
                      <a:pPr marL="0" marR="0" lvl="0" indent="0" algn="l" rtl="0">
                        <a:lnSpc>
                          <a:spcPct val="100000"/>
                        </a:lnSpc>
                        <a:spcBef>
                          <a:spcPts val="0"/>
                        </a:spcBef>
                        <a:spcAft>
                          <a:spcPts val="0"/>
                        </a:spcAft>
                        <a:buClr>
                          <a:srgbClr val="000000"/>
                        </a:buClr>
                        <a:buSzPts val="1400"/>
                        <a:buFont typeface="Arial"/>
                        <a:buNone/>
                      </a:pPr>
                      <a:r>
                        <a:rPr lang="zh-TW" sz="1900" u="none" strike="noStrike" cap="none"/>
                        <a:t>0.22</a:t>
                      </a:r>
                      <a:endParaRPr sz="1900" u="none" strike="noStrike" cap="none"/>
                    </a:p>
                    <a:p>
                      <a:pPr marL="0" marR="0" lvl="0" indent="0" algn="l" rtl="0">
                        <a:lnSpc>
                          <a:spcPct val="100000"/>
                        </a:lnSpc>
                        <a:spcBef>
                          <a:spcPts val="0"/>
                        </a:spcBef>
                        <a:spcAft>
                          <a:spcPts val="0"/>
                        </a:spcAft>
                        <a:buClr>
                          <a:srgbClr val="000000"/>
                        </a:buClr>
                        <a:buSzPts val="1400"/>
                        <a:buFont typeface="Arial"/>
                        <a:buNone/>
                      </a:pPr>
                      <a:r>
                        <a:rPr lang="zh-TW" sz="1900" u="none" strike="noStrike" cap="none"/>
                        <a:t>0.28</a:t>
                      </a:r>
                      <a:endParaRPr sz="1900" u="none" strike="noStrike" cap="none"/>
                    </a:p>
                  </a:txBody>
                  <a:tcPr marL="121900" marR="121900" marT="121900" marB="121900"/>
                </a:tc>
                <a:extLst>
                  <a:ext uri="{0D108BD9-81ED-4DB2-BD59-A6C34878D82A}">
                    <a16:rowId xmlns:a16="http://schemas.microsoft.com/office/drawing/2014/main" xmlns="" val="10001"/>
                  </a:ext>
                </a:extLst>
              </a:tr>
              <a:tr h="875433">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P</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Pointing with a mouse or other device to a target on a display</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1.10</a:t>
                      </a:r>
                      <a:endParaRPr sz="1900" u="none" strike="noStrike" cap="none"/>
                    </a:p>
                  </a:txBody>
                  <a:tcPr marL="121900" marR="121900" marT="121900" marB="121900"/>
                </a:tc>
                <a:extLst>
                  <a:ext uri="{0D108BD9-81ED-4DB2-BD59-A6C34878D82A}">
                    <a16:rowId xmlns:a16="http://schemas.microsoft.com/office/drawing/2014/main" xmlns="" val="10002"/>
                  </a:ext>
                </a:extLst>
              </a:tr>
              <a:tr h="554733">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P1</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Clicking the mouse or similar device</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0.20</a:t>
                      </a:r>
                      <a:endParaRPr sz="1900" u="none" strike="noStrike" cap="none"/>
                    </a:p>
                  </a:txBody>
                  <a:tcPr marL="121900" marR="121900" marT="121900" marB="121900"/>
                </a:tc>
                <a:extLst>
                  <a:ext uri="{0D108BD9-81ED-4DB2-BD59-A6C34878D82A}">
                    <a16:rowId xmlns:a16="http://schemas.microsoft.com/office/drawing/2014/main" xmlns="" val="10003"/>
                  </a:ext>
                </a:extLst>
              </a:tr>
              <a:tr h="81276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H</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Homing hands on the keyboard or other device</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0.40</a:t>
                      </a:r>
                      <a:endParaRPr sz="1900" u="none" strike="noStrike" cap="none"/>
                    </a:p>
                  </a:txBody>
                  <a:tcPr marL="121900" marR="121900" marT="121900" marB="121900"/>
                </a:tc>
                <a:extLst>
                  <a:ext uri="{0D108BD9-81ED-4DB2-BD59-A6C34878D82A}">
                    <a16:rowId xmlns:a16="http://schemas.microsoft.com/office/drawing/2014/main" xmlns="" val="10004"/>
                  </a:ext>
                </a:extLst>
              </a:tr>
              <a:tr h="81276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M</a:t>
                      </a:r>
                      <a:endParaRPr sz="1900" u="none" strike="noStrike" cap="none"/>
                    </a:p>
                  </a:txBody>
                  <a:tcPr marL="121900" marR="121900" marT="121900" marB="121900"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Mentally prepare to do something, e.g. make a decision</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1.35</a:t>
                      </a:r>
                      <a:endParaRPr sz="1900" u="none" strike="noStrike" cap="none"/>
                    </a:p>
                  </a:txBody>
                  <a:tcPr marL="121900" marR="121900" marT="121900" marB="121900"/>
                </a:tc>
                <a:extLst>
                  <a:ext uri="{0D108BD9-81ED-4DB2-BD59-A6C34878D82A}">
                    <a16:rowId xmlns:a16="http://schemas.microsoft.com/office/drawing/2014/main" xmlns="" val="10005"/>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a:spLocks noGrp="1"/>
          </p:cNvSpPr>
          <p:nvPr>
            <p:ph type="title"/>
          </p:nvPr>
        </p:nvSpPr>
        <p:spPr>
          <a:xfrm>
            <a:off x="409633" y="126200"/>
            <a:ext cx="9898000" cy="813600"/>
          </a:xfrm>
          <a:prstGeom prst="rect">
            <a:avLst/>
          </a:prstGeom>
          <a:noFill/>
          <a:ln>
            <a:noFill/>
          </a:ln>
        </p:spPr>
        <p:txBody>
          <a:bodyPr spcFirstLastPara="1" vert="horz" wrap="square" lIns="121900" tIns="121900" rIns="121900" bIns="121900" rtlCol="0" anchor="b" anchorCtr="0">
            <a:noAutofit/>
          </a:bodyPr>
          <a:lstStyle/>
          <a:p>
            <a:r>
              <a:rPr lang="en-US" altLang="zh-TW" b="0"/>
              <a:t>Example	 : </a:t>
            </a:r>
            <a:r>
              <a:rPr lang="en-US" altLang="zh-TW" sz="3200" b="0">
                <a:solidFill>
                  <a:srgbClr val="E06666"/>
                </a:solidFill>
                <a:latin typeface="Lato"/>
                <a:ea typeface="Lato"/>
                <a:cs typeface="Lato"/>
                <a:sym typeface="Lato"/>
              </a:rPr>
              <a:t>I’m a boy   -&gt;  I’m not a boy</a:t>
            </a:r>
            <a:endParaRPr sz="3200" b="0">
              <a:solidFill>
                <a:srgbClr val="E06666"/>
              </a:solidFill>
            </a:endParaRPr>
          </a:p>
        </p:txBody>
      </p:sp>
      <p:graphicFrame>
        <p:nvGraphicFramePr>
          <p:cNvPr id="231" name="Google Shape;231;p33"/>
          <p:cNvGraphicFramePr/>
          <p:nvPr/>
        </p:nvGraphicFramePr>
        <p:xfrm>
          <a:off x="3740934" y="1051333"/>
          <a:ext cx="7617300" cy="5866960"/>
        </p:xfrm>
        <a:graphic>
          <a:graphicData uri="http://schemas.openxmlformats.org/drawingml/2006/table">
            <a:tbl>
              <a:tblPr>
                <a:noFill/>
              </a:tblPr>
              <a:tblGrid>
                <a:gridCol w="5681767">
                  <a:extLst>
                    <a:ext uri="{9D8B030D-6E8A-4147-A177-3AD203B41FA5}">
                      <a16:colId xmlns:a16="http://schemas.microsoft.com/office/drawing/2014/main" xmlns="" val="20000"/>
                    </a:ext>
                  </a:extLst>
                </a:gridCol>
                <a:gridCol w="1935533">
                  <a:extLst>
                    <a:ext uri="{9D8B030D-6E8A-4147-A177-3AD203B41FA5}">
                      <a16:colId xmlns:a16="http://schemas.microsoft.com/office/drawing/2014/main" xmlns="" val="20001"/>
                    </a:ext>
                  </a:extLst>
                </a:gridCol>
              </a:tblGrid>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Mentally prepare (M)</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1.35</a:t>
                      </a:r>
                      <a:endParaRPr sz="1900" u="none" strike="noStrike" cap="none"/>
                    </a:p>
                  </a:txBody>
                  <a:tcPr marL="121900" marR="121900" marT="121900" marB="121900"/>
                </a:tc>
                <a:extLst>
                  <a:ext uri="{0D108BD9-81ED-4DB2-BD59-A6C34878D82A}">
                    <a16:rowId xmlns:a16="http://schemas.microsoft.com/office/drawing/2014/main" xmlns="" val="10000"/>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Reach for the mouse(H)</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0.40</a:t>
                      </a:r>
                      <a:endParaRPr sz="1900" u="none" strike="noStrike" cap="none"/>
                    </a:p>
                  </a:txBody>
                  <a:tcPr marL="121900" marR="121900" marT="121900" marB="121900"/>
                </a:tc>
                <a:extLst>
                  <a:ext uri="{0D108BD9-81ED-4DB2-BD59-A6C34878D82A}">
                    <a16:rowId xmlns:a16="http://schemas.microsoft.com/office/drawing/2014/main" xmlns="" val="10001"/>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Position mouse before the word “a” (P)</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1.10</a:t>
                      </a:r>
                      <a:endParaRPr sz="1900" u="none" strike="noStrike" cap="none"/>
                    </a:p>
                  </a:txBody>
                  <a:tcPr marL="121900" marR="121900" marT="121900" marB="121900"/>
                </a:tc>
                <a:extLst>
                  <a:ext uri="{0D108BD9-81ED-4DB2-BD59-A6C34878D82A}">
                    <a16:rowId xmlns:a16="http://schemas.microsoft.com/office/drawing/2014/main" xmlns="" val="10002"/>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Click mouse (P1)</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0.20</a:t>
                      </a:r>
                      <a:endParaRPr sz="1900" u="none" strike="noStrike" cap="none"/>
                    </a:p>
                  </a:txBody>
                  <a:tcPr marL="121900" marR="121900" marT="121900" marB="121900"/>
                </a:tc>
                <a:extLst>
                  <a:ext uri="{0D108BD9-81ED-4DB2-BD59-A6C34878D82A}">
                    <a16:rowId xmlns:a16="http://schemas.microsoft.com/office/drawing/2014/main" xmlns="" val="10003"/>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Move hands to home position on keys (H)</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0.40</a:t>
                      </a:r>
                      <a:endParaRPr sz="1900" u="none" strike="noStrike" cap="none"/>
                    </a:p>
                  </a:txBody>
                  <a:tcPr marL="121900" marR="121900" marT="121900" marB="121900"/>
                </a:tc>
                <a:extLst>
                  <a:ext uri="{0D108BD9-81ED-4DB2-BD59-A6C34878D82A}">
                    <a16:rowId xmlns:a16="http://schemas.microsoft.com/office/drawing/2014/main" xmlns="" val="10004"/>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Mentally prepare (M)</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1.35</a:t>
                      </a:r>
                      <a:endParaRPr sz="1900" u="none" strike="noStrike" cap="none"/>
                    </a:p>
                  </a:txBody>
                  <a:tcPr marL="121900" marR="121900" marT="121900" marB="121900"/>
                </a:tc>
                <a:extLst>
                  <a:ext uri="{0D108BD9-81ED-4DB2-BD59-A6C34878D82A}">
                    <a16:rowId xmlns:a16="http://schemas.microsoft.com/office/drawing/2014/main" xmlns="" val="10005"/>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Type “n” (good typist) (K)</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0.22</a:t>
                      </a:r>
                      <a:endParaRPr sz="1900" u="none" strike="noStrike" cap="none"/>
                    </a:p>
                  </a:txBody>
                  <a:tcPr marL="121900" marR="121900" marT="121900" marB="121900"/>
                </a:tc>
                <a:extLst>
                  <a:ext uri="{0D108BD9-81ED-4DB2-BD59-A6C34878D82A}">
                    <a16:rowId xmlns:a16="http://schemas.microsoft.com/office/drawing/2014/main" xmlns="" val="10006"/>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Type “o” (good typist) (K)</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0.22</a:t>
                      </a:r>
                      <a:endParaRPr sz="1900" u="none" strike="noStrike" cap="none"/>
                    </a:p>
                  </a:txBody>
                  <a:tcPr marL="121900" marR="121900" marT="121900" marB="121900"/>
                </a:tc>
                <a:extLst>
                  <a:ext uri="{0D108BD9-81ED-4DB2-BD59-A6C34878D82A}">
                    <a16:rowId xmlns:a16="http://schemas.microsoft.com/office/drawing/2014/main" xmlns="" val="10007"/>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Type “t” (good typist) (K)</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0.22</a:t>
                      </a:r>
                      <a:endParaRPr sz="1900" u="none" strike="noStrike" cap="none"/>
                    </a:p>
                  </a:txBody>
                  <a:tcPr marL="121900" marR="121900" marT="121900" marB="121900"/>
                </a:tc>
                <a:extLst>
                  <a:ext uri="{0D108BD9-81ED-4DB2-BD59-A6C34878D82A}">
                    <a16:rowId xmlns:a16="http://schemas.microsoft.com/office/drawing/2014/main" xmlns="" val="10008"/>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Type “space” (good typist) (K)</a:t>
                      </a:r>
                      <a:endParaRPr sz="1900"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0.22</a:t>
                      </a:r>
                      <a:endParaRPr sz="1900" u="none" strike="noStrike" cap="none"/>
                    </a:p>
                  </a:txBody>
                  <a:tcPr marL="121900" marR="121900" marT="121900" marB="121900"/>
                </a:tc>
                <a:extLst>
                  <a:ext uri="{0D108BD9-81ED-4DB2-BD59-A6C34878D82A}">
                    <a16:rowId xmlns:a16="http://schemas.microsoft.com/office/drawing/2014/main" xmlns="" val="10009"/>
                  </a:ext>
                </a:extLst>
              </a:tr>
              <a:tr h="528280">
                <a:tc>
                  <a:txBody>
                    <a:bodyPr/>
                    <a:lstStyle/>
                    <a:p>
                      <a:pPr marL="0" marR="0" lvl="0" indent="0" algn="l" rtl="0">
                        <a:lnSpc>
                          <a:spcPct val="100000"/>
                        </a:lnSpc>
                        <a:spcBef>
                          <a:spcPts val="0"/>
                        </a:spcBef>
                        <a:spcAft>
                          <a:spcPts val="0"/>
                        </a:spcAft>
                        <a:buClr>
                          <a:srgbClr val="000000"/>
                        </a:buClr>
                        <a:buSzPts val="1400"/>
                        <a:buFont typeface="Arial"/>
                        <a:buNone/>
                      </a:pPr>
                      <a:r>
                        <a:rPr lang="zh-TW" sz="1900" b="1" u="none" strike="noStrike" cap="none"/>
                        <a:t>Total predicted time</a:t>
                      </a:r>
                      <a:endParaRPr sz="1900" b="1" u="none" strike="noStrike" cap="none"/>
                    </a:p>
                  </a:txBody>
                  <a:tcPr marL="121900" marR="121900" marT="121900" marB="121900"/>
                </a:tc>
                <a:tc>
                  <a:txBody>
                    <a:bodyPr/>
                    <a:lstStyle/>
                    <a:p>
                      <a:pPr marL="0" marR="0" lvl="0" indent="0" algn="l" rtl="0">
                        <a:lnSpc>
                          <a:spcPct val="100000"/>
                        </a:lnSpc>
                        <a:spcBef>
                          <a:spcPts val="0"/>
                        </a:spcBef>
                        <a:spcAft>
                          <a:spcPts val="0"/>
                        </a:spcAft>
                        <a:buClr>
                          <a:srgbClr val="000000"/>
                        </a:buClr>
                        <a:buSzPts val="1400"/>
                        <a:buFont typeface="Arial"/>
                        <a:buNone/>
                      </a:pPr>
                      <a:r>
                        <a:rPr lang="zh-TW" sz="1900" u="none" strike="noStrike" cap="none"/>
                        <a:t>5.68 seconds</a:t>
                      </a:r>
                      <a:endParaRPr sz="1900" u="none" strike="noStrike" cap="none"/>
                    </a:p>
                  </a:txBody>
                  <a:tcPr marL="121900" marR="121900" marT="121900" marB="121900"/>
                </a:tc>
                <a:extLst>
                  <a:ext uri="{0D108BD9-81ED-4DB2-BD59-A6C34878D82A}">
                    <a16:rowId xmlns:a16="http://schemas.microsoft.com/office/drawing/2014/main" xmlns="" val="10010"/>
                  </a:ext>
                </a:extLst>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4"/>
          <p:cNvSpPr txBox="1">
            <a:spLocks noGrp="1"/>
          </p:cNvSpPr>
          <p:nvPr>
            <p:ph type="title"/>
          </p:nvPr>
        </p:nvSpPr>
        <p:spPr>
          <a:xfrm>
            <a:off x="1597000" y="684689"/>
            <a:ext cx="9334000" cy="1030400"/>
          </a:xfrm>
          <a:prstGeom prst="rect">
            <a:avLst/>
          </a:prstGeom>
          <a:noFill/>
          <a:ln>
            <a:noFill/>
          </a:ln>
        </p:spPr>
        <p:txBody>
          <a:bodyPr spcFirstLastPara="1" vert="horz" wrap="square" lIns="121900" tIns="121900" rIns="121900" bIns="121900" rtlCol="0" anchor="t" anchorCtr="0">
            <a:noAutofit/>
          </a:bodyPr>
          <a:lstStyle/>
          <a:p>
            <a:r>
              <a:rPr lang="en-US" altLang="zh-TW" sz="3733"/>
              <a:t>Benefits and Limitations of GOMS</a:t>
            </a:r>
            <a:endParaRPr sz="3733"/>
          </a:p>
        </p:txBody>
      </p:sp>
      <p:sp>
        <p:nvSpPr>
          <p:cNvPr id="237" name="Google Shape;237;p34"/>
          <p:cNvSpPr txBox="1">
            <a:spLocks noGrp="1"/>
          </p:cNvSpPr>
          <p:nvPr>
            <p:ph type="body" idx="1"/>
          </p:nvPr>
        </p:nvSpPr>
        <p:spPr>
          <a:xfrm>
            <a:off x="1429000" y="2188312"/>
            <a:ext cx="9502000" cy="3630400"/>
          </a:xfrm>
          <a:prstGeom prst="rect">
            <a:avLst/>
          </a:prstGeom>
          <a:noFill/>
          <a:ln>
            <a:noFill/>
          </a:ln>
        </p:spPr>
        <p:txBody>
          <a:bodyPr spcFirstLastPara="1" vert="horz" wrap="square" lIns="121900" tIns="121900" rIns="121900" bIns="121900" rtlCol="0" anchor="t" anchorCtr="0">
            <a:noAutofit/>
          </a:bodyPr>
          <a:lstStyle/>
          <a:p>
            <a:pPr>
              <a:buFont typeface="Lato"/>
              <a:buChar char="➔"/>
            </a:pPr>
            <a:r>
              <a:rPr lang="en-US" altLang="zh-TW" sz="2133"/>
              <a:t>Benefits</a:t>
            </a:r>
            <a:endParaRPr sz="2133"/>
          </a:p>
          <a:p>
            <a:pPr lvl="1">
              <a:spcBef>
                <a:spcPts val="0"/>
              </a:spcBef>
              <a:buFont typeface="Lato"/>
              <a:buChar char="◆"/>
            </a:pPr>
            <a:r>
              <a:rPr lang="en-US" altLang="zh-TW" sz="2133"/>
              <a:t>it allows comparative analyses to be performed for different interfaces,prototypes, or specification relatively easily.</a:t>
            </a:r>
            <a:endParaRPr sz="2133"/>
          </a:p>
          <a:p>
            <a:pPr lvl="1">
              <a:spcBef>
                <a:spcPts val="0"/>
              </a:spcBef>
              <a:buFont typeface="Lato"/>
              <a:buChar char="◆"/>
            </a:pPr>
            <a:r>
              <a:rPr lang="en-US" altLang="zh-TW" sz="2133"/>
              <a:t>mobile device and phone developers are using the KLM to determine the optimal design for keypads.</a:t>
            </a:r>
            <a:endParaRPr sz="2133"/>
          </a:p>
          <a:p>
            <a:pPr>
              <a:buFont typeface="Lato"/>
              <a:buChar char="➔"/>
            </a:pPr>
            <a:r>
              <a:rPr lang="en-US" altLang="zh-TW" sz="2133"/>
              <a:t>Limitations</a:t>
            </a:r>
            <a:endParaRPr sz="2133"/>
          </a:p>
          <a:p>
            <a:pPr lvl="1">
              <a:spcBef>
                <a:spcPts val="0"/>
              </a:spcBef>
              <a:buFont typeface="Lato"/>
              <a:buChar char="◆"/>
            </a:pPr>
            <a:r>
              <a:rPr lang="en-US" altLang="zh-TW" sz="2133"/>
              <a:t>it can only really model computer-based tasks.</a:t>
            </a:r>
            <a:endParaRPr sz="2133"/>
          </a:p>
          <a:p>
            <a:pPr lvl="1">
              <a:spcBef>
                <a:spcPts val="0"/>
              </a:spcBef>
              <a:buFont typeface="Lato"/>
              <a:buChar char="◆"/>
            </a:pPr>
            <a:r>
              <a:rPr lang="en-US" altLang="zh-TW" sz="2133"/>
              <a:t>it can only make predictions about predictable behavior.</a:t>
            </a:r>
            <a:endParaRPr sz="2133"/>
          </a:p>
          <a:p>
            <a:pPr marL="1219170" indent="0">
              <a:spcBef>
                <a:spcPts val="2133"/>
              </a:spcBef>
              <a:spcAft>
                <a:spcPts val="2133"/>
              </a:spcAft>
              <a:buNone/>
            </a:pP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5"/>
          <p:cNvSpPr txBox="1">
            <a:spLocks noGrp="1"/>
          </p:cNvSpPr>
          <p:nvPr>
            <p:ph type="title"/>
          </p:nvPr>
        </p:nvSpPr>
        <p:spPr>
          <a:xfrm>
            <a:off x="1718382" y="890553"/>
            <a:ext cx="8755303" cy="885239"/>
          </a:xfrm>
          <a:prstGeom prst="rect">
            <a:avLst/>
          </a:prstGeom>
          <a:noFill/>
          <a:ln>
            <a:noFill/>
          </a:ln>
        </p:spPr>
        <p:txBody>
          <a:bodyPr spcFirstLastPara="1" vert="horz" wrap="square" lIns="121900" tIns="121900" rIns="121900" bIns="121900" rtlCol="0" anchor="b" anchorCtr="0">
            <a:noAutofit/>
          </a:bodyPr>
          <a:lstStyle/>
          <a:p>
            <a:pPr algn="ctr"/>
            <a:r>
              <a:rPr lang="en-US" altLang="zh-TW"/>
              <a:t>Fitts’ Law</a:t>
            </a:r>
            <a:endParaRPr/>
          </a:p>
        </p:txBody>
      </p:sp>
      <p:sp>
        <p:nvSpPr>
          <p:cNvPr id="243" name="Google Shape;243;p35"/>
          <p:cNvSpPr txBox="1">
            <a:spLocks noGrp="1"/>
          </p:cNvSpPr>
          <p:nvPr>
            <p:ph type="body" idx="1"/>
          </p:nvPr>
        </p:nvSpPr>
        <p:spPr>
          <a:xfrm>
            <a:off x="1016033" y="2403061"/>
            <a:ext cx="10160000" cy="4124472"/>
          </a:xfrm>
          <a:prstGeom prst="rect">
            <a:avLst/>
          </a:prstGeom>
          <a:noFill/>
          <a:ln>
            <a:noFill/>
          </a:ln>
        </p:spPr>
        <p:txBody>
          <a:bodyPr spcFirstLastPara="1" vert="horz" wrap="square" lIns="121900" tIns="121900" rIns="121900" bIns="121900" rtlCol="0" anchor="t" anchorCtr="0">
            <a:noAutofit/>
          </a:bodyPr>
          <a:lstStyle/>
          <a:p>
            <a:pPr marL="457189" indent="-457189"/>
            <a:r>
              <a:rPr lang="en-US" altLang="zh-TW">
                <a:solidFill>
                  <a:srgbClr val="000000"/>
                </a:solidFill>
              </a:rPr>
              <a:t>Fitts’ Law predicts the time it takes to reach a target using a pointing device.</a:t>
            </a:r>
            <a:endParaRPr/>
          </a:p>
          <a:p>
            <a:pPr marL="457189" indent="-457189">
              <a:spcBef>
                <a:spcPts val="2133"/>
              </a:spcBef>
              <a:spcAft>
                <a:spcPts val="2133"/>
              </a:spcAft>
            </a:pPr>
            <a:r>
              <a:rPr lang="en-US" altLang="zh-TW">
                <a:solidFill>
                  <a:srgbClr val="000000"/>
                </a:solidFill>
              </a:rPr>
              <a:t>It has been used to describe the time it takes to point at target , based in the size of the object and the distance to the object.</a:t>
            </a:r>
            <a:endParaRPr>
              <a:solidFill>
                <a:srgbClr val="00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6"/>
          <p:cNvSpPr txBox="1">
            <a:spLocks noGrp="1"/>
          </p:cNvSpPr>
          <p:nvPr>
            <p:ph type="title"/>
          </p:nvPr>
        </p:nvSpPr>
        <p:spPr>
          <a:xfrm>
            <a:off x="1016033" y="833642"/>
            <a:ext cx="10160000" cy="2063261"/>
          </a:xfrm>
          <a:prstGeom prst="rect">
            <a:avLst/>
          </a:prstGeom>
          <a:blipFill rotWithShape="1">
            <a:blip r:embed="rId3">
              <a:alphaModFix/>
            </a:blip>
            <a:stretch>
              <a:fillRect/>
            </a:stretch>
          </a:blipFill>
          <a:ln>
            <a:noFill/>
          </a:ln>
        </p:spPr>
        <p:txBody>
          <a:bodyPr spcFirstLastPara="1" vert="horz" wrap="square" lIns="121900" tIns="121900" rIns="121900" bIns="121900" rtlCol="0" anchor="b" anchorCtr="0">
            <a:noAutofit/>
          </a:bodyPr>
          <a:lstStyle/>
          <a:p>
            <a:r>
              <a:rPr lang="zh-TW" altLang="en-US"/>
              <a:t> </a:t>
            </a:r>
            <a:endParaRPr/>
          </a:p>
        </p:txBody>
      </p:sp>
      <p:sp>
        <p:nvSpPr>
          <p:cNvPr id="249" name="Google Shape;249;p36"/>
          <p:cNvSpPr txBox="1">
            <a:spLocks noGrp="1"/>
          </p:cNvSpPr>
          <p:nvPr>
            <p:ph type="body" idx="1"/>
          </p:nvPr>
        </p:nvSpPr>
        <p:spPr>
          <a:xfrm>
            <a:off x="1016033" y="3004000"/>
            <a:ext cx="10160000" cy="3112800"/>
          </a:xfrm>
          <a:prstGeom prst="rect">
            <a:avLst/>
          </a:prstGeom>
          <a:noFill/>
          <a:ln>
            <a:noFill/>
          </a:ln>
        </p:spPr>
        <p:txBody>
          <a:bodyPr spcFirstLastPara="1" vert="horz" wrap="square" lIns="121900" tIns="121900" rIns="121900" bIns="121900" rtlCol="0" anchor="t" anchorCtr="0">
            <a:noAutofit/>
          </a:bodyPr>
          <a:lstStyle/>
          <a:p>
            <a:pPr marL="0" indent="0">
              <a:buNone/>
            </a:pPr>
            <a:r>
              <a:rPr lang="en-US" altLang="zh-TW">
                <a:solidFill>
                  <a:srgbClr val="000000"/>
                </a:solidFill>
              </a:rPr>
              <a:t>T : time to move the pointer to a target</a:t>
            </a:r>
            <a:endParaRPr/>
          </a:p>
          <a:p>
            <a:pPr marL="0" indent="0">
              <a:spcBef>
                <a:spcPts val="2133"/>
              </a:spcBef>
              <a:buNone/>
            </a:pPr>
            <a:r>
              <a:rPr lang="en-US" altLang="zh-TW">
                <a:solidFill>
                  <a:srgbClr val="000000"/>
                </a:solidFill>
              </a:rPr>
              <a:t>D : distance between the pointer and the target</a:t>
            </a:r>
            <a:endParaRPr/>
          </a:p>
          <a:p>
            <a:pPr marL="0" indent="0">
              <a:spcBef>
                <a:spcPts val="2133"/>
              </a:spcBef>
              <a:buNone/>
            </a:pPr>
            <a:r>
              <a:rPr lang="en-US" altLang="zh-TW">
                <a:solidFill>
                  <a:srgbClr val="000000"/>
                </a:solidFill>
              </a:rPr>
              <a:t>S : size of the target</a:t>
            </a:r>
            <a:endParaRPr/>
          </a:p>
          <a:p>
            <a:pPr marL="0" indent="0">
              <a:spcBef>
                <a:spcPts val="2133"/>
              </a:spcBef>
              <a:spcAft>
                <a:spcPts val="2133"/>
              </a:spcAft>
              <a:buNone/>
            </a:pPr>
            <a:r>
              <a:rPr lang="en-US" altLang="zh-TW" i="1">
                <a:solidFill>
                  <a:srgbClr val="000000"/>
                </a:solidFill>
              </a:rPr>
              <a:t>k </a:t>
            </a:r>
            <a:r>
              <a:rPr lang="en-US" altLang="zh-TW">
                <a:solidFill>
                  <a:srgbClr val="000000"/>
                </a:solidFill>
              </a:rPr>
              <a:t>: a constant of approximately 200ms/bit</a:t>
            </a:r>
            <a:endParaRPr i="1">
              <a:solidFill>
                <a:srgbClr val="00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37"/>
          <p:cNvPicPr preferRelativeResize="0"/>
          <p:nvPr/>
        </p:nvPicPr>
        <p:blipFill rotWithShape="1">
          <a:blip r:embed="rId3">
            <a:alphaModFix amt="50000"/>
          </a:blip>
          <a:srcRect t="199" b="189"/>
          <a:stretch/>
        </p:blipFill>
        <p:spPr>
          <a:xfrm>
            <a:off x="0" y="0"/>
            <a:ext cx="12192005" cy="6857997"/>
          </a:xfrm>
          <a:prstGeom prst="rect">
            <a:avLst/>
          </a:prstGeom>
          <a:noFill/>
          <a:ln>
            <a:noFill/>
          </a:ln>
        </p:spPr>
      </p:pic>
      <p:sp>
        <p:nvSpPr>
          <p:cNvPr id="255" name="Google Shape;255;p37"/>
          <p:cNvSpPr txBox="1">
            <a:spLocks noGrp="1"/>
          </p:cNvSpPr>
          <p:nvPr>
            <p:ph type="ctrTitle"/>
          </p:nvPr>
        </p:nvSpPr>
        <p:spPr>
          <a:xfrm>
            <a:off x="2465400" y="904400"/>
            <a:ext cx="7261200" cy="3520800"/>
          </a:xfrm>
          <a:prstGeom prst="rect">
            <a:avLst/>
          </a:prstGeom>
        </p:spPr>
        <p:txBody>
          <a:bodyPr spcFirstLastPara="1" vert="horz" wrap="square" lIns="121900" tIns="121900" rIns="121900" bIns="121900" rtlCol="0" anchor="ctr" anchorCtr="0">
            <a:noAutofit/>
          </a:bodyPr>
          <a:lstStyle/>
          <a:p>
            <a:r>
              <a:rPr lang="zh-TW" b="1" i="0" u="none" strike="noStrike" cap="none"/>
              <a:t>Chrome vs IE</a:t>
            </a:r>
            <a:endParaRPr b="1" i="0" u="none" strike="noStrike" cap="none"/>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8"/>
          <p:cNvSpPr txBox="1">
            <a:spLocks noGrp="1"/>
          </p:cNvSpPr>
          <p:nvPr>
            <p:ph type="title"/>
          </p:nvPr>
        </p:nvSpPr>
        <p:spPr>
          <a:xfrm>
            <a:off x="3534200" y="2106267"/>
            <a:ext cx="5123600" cy="2362400"/>
          </a:xfrm>
          <a:prstGeom prst="rect">
            <a:avLst/>
          </a:prstGeom>
        </p:spPr>
        <p:txBody>
          <a:bodyPr spcFirstLastPara="1" vert="horz" wrap="square" lIns="121900" tIns="121900" rIns="121900" bIns="121900" rtlCol="0" anchor="ctr" anchorCtr="0">
            <a:noAutofit/>
          </a:bodyPr>
          <a:lstStyle/>
          <a:p>
            <a:r>
              <a:rPr lang="zh-TW" b="1" i="0" u="none" strike="noStrike" cap="none">
                <a:solidFill>
                  <a:schemeClr val="dk2"/>
                </a:solidFill>
              </a:rPr>
              <a:t>END</a:t>
            </a:r>
            <a:endParaRPr b="1" i="0" u="none" strike="noStrike" cap="none">
              <a:solidFill>
                <a:schemeClr val="dk2"/>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絲縷">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1398</TotalTime>
  <Words>2770</Words>
  <Application>Microsoft Office PowerPoint</Application>
  <PresentationFormat>寬螢幕</PresentationFormat>
  <Paragraphs>244</Paragraphs>
  <Slides>33</Slides>
  <Notes>15</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33</vt:i4>
      </vt:variant>
    </vt:vector>
  </HeadingPairs>
  <TitlesOfParts>
    <vt:vector size="44" baseType="lpstr">
      <vt:lpstr>微軟正黑體</vt:lpstr>
      <vt:lpstr>新細明體</vt:lpstr>
      <vt:lpstr>標楷體</vt:lpstr>
      <vt:lpstr>Arial</vt:lpstr>
      <vt:lpstr>Calibri</vt:lpstr>
      <vt:lpstr>Century Gothic</vt:lpstr>
      <vt:lpstr>Lato</vt:lpstr>
      <vt:lpstr>Playfair Display</vt:lpstr>
      <vt:lpstr>Wingdings</vt:lpstr>
      <vt:lpstr>Wingdings 3</vt:lpstr>
      <vt:lpstr>絲縷</vt:lpstr>
      <vt:lpstr>EVALUATION: Inspections,Analytics,and Models</vt:lpstr>
      <vt:lpstr>Outline</vt:lpstr>
      <vt:lpstr>Introduction</vt:lpstr>
      <vt:lpstr>Introduction</vt:lpstr>
      <vt:lpstr>Inspection Methods </vt:lpstr>
      <vt:lpstr>Inspection Methods: Heuristic Evaluation</vt:lpstr>
      <vt:lpstr>Inspection Methods: Heuristic Evaluation</vt:lpstr>
      <vt:lpstr>Inspection Methods: Heuristic Evaluation</vt:lpstr>
      <vt:lpstr>Inspection Methods: Doing Heuristic Evaluation</vt:lpstr>
      <vt:lpstr>Inspection Methods: Doing Heuristic Evaluation</vt:lpstr>
      <vt:lpstr>Inspection Methods: Walkthroughs(演練)</vt:lpstr>
      <vt:lpstr>Inspection Methods: Cognitive Walkthroughs(認知演練)</vt:lpstr>
      <vt:lpstr>Steps in cognitive walkthroughs</vt:lpstr>
      <vt:lpstr>Steps in congnitive walkthroughs-CONT.</vt:lpstr>
      <vt:lpstr>Cognitive Walkthroughs-CONT.</vt:lpstr>
      <vt:lpstr>Pluralistic Walkthroughs(多元演練)</vt:lpstr>
      <vt:lpstr>Pluralistic Walkthroughs-CONT.</vt:lpstr>
      <vt:lpstr>Analytics(分析法)</vt:lpstr>
      <vt:lpstr>Predictive models</vt:lpstr>
      <vt:lpstr>GOMS</vt:lpstr>
      <vt:lpstr>Goals</vt:lpstr>
      <vt:lpstr>Operators</vt:lpstr>
      <vt:lpstr>Methods</vt:lpstr>
      <vt:lpstr>Selections</vt:lpstr>
      <vt:lpstr>Ex : delete text using Microsoft Word</vt:lpstr>
      <vt:lpstr>Keystroke Level Model (KLM)</vt:lpstr>
      <vt:lpstr>Operators and Time</vt:lpstr>
      <vt:lpstr>Example  : I’m a boy   -&gt;  I’m not a boy</vt:lpstr>
      <vt:lpstr>Benefits and Limitations of GOMS</vt:lpstr>
      <vt:lpstr>Fitts’ Law</vt:lpstr>
      <vt:lpstr> </vt:lpstr>
      <vt:lpstr>Chrome vs IE</vt:lpstr>
      <vt:lpstr>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Inspections,Analytics,and Models</dc:title>
  <dc:creator>Tsai-Chen-You</dc:creator>
  <cp:lastModifiedBy>Windows 使用者</cp:lastModifiedBy>
  <cp:revision>23</cp:revision>
  <dcterms:created xsi:type="dcterms:W3CDTF">2018-10-15T03:29:40Z</dcterms:created>
  <dcterms:modified xsi:type="dcterms:W3CDTF">2018-10-16T12:26:20Z</dcterms:modified>
</cp:coreProperties>
</file>