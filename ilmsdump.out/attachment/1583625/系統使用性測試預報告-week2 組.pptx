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47bd456d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447bd456d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47bd456d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447bd456d1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47bd456d1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447bd456d1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47bd456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47bd456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47bd456d1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447bd456d1_1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47bd456d1_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447bd456d1_10_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47bd456d1_1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447bd456d1_10_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47bd456d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447bd456d1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標題及物件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vv1x5idj8G4" TargetMode="External"/><Relationship Id="rId4" Type="http://schemas.openxmlformats.org/officeDocument/2006/relationships/hyperlink" Target="https://www.apple.com/tw/apple-watch-series-4/film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66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800">
                <a:solidFill>
                  <a:schemeClr val="accent4"/>
                </a:solidFill>
              </a:rPr>
              <a:t>期中預報</a:t>
            </a:r>
            <a:endParaRPr b="1" sz="4800">
              <a:solidFill>
                <a:schemeClr val="accent4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系統使用性測試-以智慧型手環為例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36712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FF"/>
                </a:solidFill>
              </a:rPr>
              <a:t>組別 : Week 2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ãæºæ§åæç°ãçåçæå°çµæ" id="68" name="Google Shape;68;p15"/>
          <p:cNvSpPr/>
          <p:nvPr/>
        </p:nvSpPr>
        <p:spPr>
          <a:xfrm>
            <a:off x="47625" y="-10239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348200" y="1749900"/>
            <a:ext cx="64476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隨著大眾對電子產品的依賴上升</a:t>
            </a:r>
            <a:endParaRPr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FFFF"/>
                </a:solidFill>
              </a:rPr>
              <a:t> </a:t>
            </a:r>
            <a:r>
              <a:rPr lang="zh-TW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有什麼是比手機更能</a:t>
            </a:r>
            <a:endParaRPr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貼近我們生活</a:t>
            </a:r>
            <a:r>
              <a:rPr lang="zh-TW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的裝置呢 ?</a:t>
            </a:r>
            <a:endParaRPr b="0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TW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1065009" y="1192175"/>
            <a:ext cx="70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</a:t>
            </a:r>
            <a:endParaRPr b="0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大數據推廣＆互聯網應用＆裝置整合與創新</a:t>
            </a:r>
            <a:endParaRPr b="0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的世代裡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178849" y="2649621"/>
            <a:ext cx="678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有個或許將改變所有人類使用習慣的裝置，</a:t>
            </a:r>
            <a:endParaRPr sz="2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重要度正在悄悄的上升...</a:t>
            </a:r>
            <a:endParaRPr sz="2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-266020" y="416275"/>
            <a:ext cx="43968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智 慧 型 手 環</a:t>
            </a:r>
            <a:endParaRPr sz="30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25" y="1199450"/>
            <a:ext cx="3465825" cy="39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725" y="2924011"/>
            <a:ext cx="3699125" cy="2219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ãæºæ§åæç°ãçåçæå°çµæ" id="85" name="Google Shape;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725" y="0"/>
            <a:ext cx="3699125" cy="277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1602588" y="1661500"/>
            <a:ext cx="5786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accent4"/>
                </a:solidFill>
                <a:hlinkClick r:id="rId3"/>
              </a:rPr>
              <a:t>https://www.youtube.com/watch?v=vv1x5idj8G4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1693013" y="1064850"/>
            <a:ext cx="5786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FFFF"/>
                </a:solidFill>
              </a:rPr>
              <a:t>小米手環3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693013" y="3294050"/>
            <a:ext cx="5786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accent4"/>
                </a:solidFill>
                <a:hlinkClick r:id="rId4"/>
              </a:rPr>
              <a:t>https://www.apple.com/tw/apple-watch-series-4/films/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755013" y="2677100"/>
            <a:ext cx="5786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FFFF"/>
                </a:solidFill>
              </a:rPr>
              <a:t>apple watch series 4</a:t>
            </a:r>
            <a:endParaRPr sz="3000">
              <a:solidFill>
                <a:srgbClr val="FFFFFF"/>
              </a:solidFill>
            </a:endParaRPr>
          </a:p>
        </p:txBody>
      </p:sp>
      <p:cxnSp>
        <p:nvCxnSpPr>
          <p:cNvPr id="94" name="Google Shape;94;p18"/>
          <p:cNvCxnSpPr/>
          <p:nvPr/>
        </p:nvCxnSpPr>
        <p:spPr>
          <a:xfrm flipH="1" rot="10800000">
            <a:off x="338792" y="441741"/>
            <a:ext cx="1342500" cy="15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8"/>
          <p:cNvCxnSpPr/>
          <p:nvPr/>
        </p:nvCxnSpPr>
        <p:spPr>
          <a:xfrm flipH="1" rot="10800000">
            <a:off x="338792" y="969691"/>
            <a:ext cx="1342500" cy="15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/>
        </p:nvSpPr>
        <p:spPr>
          <a:xfrm>
            <a:off x="338800" y="456747"/>
            <a:ext cx="5174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rgbClr val="FFFFFF"/>
                </a:solidFill>
              </a:rPr>
              <a:t>介紹影片</a:t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3545369" y="2156864"/>
            <a:ext cx="1985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訪談問題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9"/>
          <p:cNvCxnSpPr/>
          <p:nvPr/>
        </p:nvCxnSpPr>
        <p:spPr>
          <a:xfrm>
            <a:off x="3476250" y="2883175"/>
            <a:ext cx="212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9"/>
          <p:cNvCxnSpPr/>
          <p:nvPr/>
        </p:nvCxnSpPr>
        <p:spPr>
          <a:xfrm>
            <a:off x="3476250" y="2053800"/>
            <a:ext cx="212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322264" y="374545"/>
            <a:ext cx="2665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訪談 – 有用過智慧型手錶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722348" y="1134275"/>
            <a:ext cx="36993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為何使用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智慧型手錶?</a:t>
            </a:r>
            <a:endParaRPr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朋友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圈有使用智慧型手錶的人嗎?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外觀</a:t>
            </a:r>
            <a:endParaRPr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</a:t>
            </a:r>
            <a:br>
              <a:rPr b="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功能</a:t>
            </a:r>
            <a:endParaRPr b="0"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實用度</a:t>
            </a:r>
            <a:endParaRPr b="0"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br>
              <a:rPr b="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˙產品使用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場合/時機</a:t>
            </a:r>
            <a:endParaRPr b="0"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0"/>
          <p:cNvCxnSpPr/>
          <p:nvPr/>
        </p:nvCxnSpPr>
        <p:spPr>
          <a:xfrm>
            <a:off x="322325" y="799700"/>
            <a:ext cx="2665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20"/>
          <p:cNvCxnSpPr/>
          <p:nvPr/>
        </p:nvCxnSpPr>
        <p:spPr>
          <a:xfrm>
            <a:off x="322325" y="295650"/>
            <a:ext cx="2665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/>
        </p:nvSpPr>
        <p:spPr>
          <a:xfrm>
            <a:off x="322326" y="374581"/>
            <a:ext cx="2852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訪談 - 沒有用過智慧型手錶</a:t>
            </a:r>
            <a:endParaRPr sz="1100"/>
          </a:p>
        </p:txBody>
      </p:sp>
      <p:sp>
        <p:nvSpPr>
          <p:cNvPr id="117" name="Google Shape;117;p21"/>
          <p:cNvSpPr txBox="1"/>
          <p:nvPr/>
        </p:nvSpPr>
        <p:spPr>
          <a:xfrm>
            <a:off x="1658547" y="826650"/>
            <a:ext cx="5826900" cy="3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為何不使用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智慧型手錶?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朋友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圈有使用智慧型手錶的人嗎?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˙你對智慧型手錶的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認識/理解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大部分從哪個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管道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得知?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外觀</a:t>
            </a:r>
            <a:endParaRPr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功能</a:t>
            </a:r>
            <a:endParaRPr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實用度</a:t>
            </a:r>
            <a:endParaRPr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˙產品使用</a:t>
            </a:r>
            <a:r>
              <a:rPr lang="zh-TW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場合/時機</a:t>
            </a:r>
            <a:endParaRPr b="0"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1"/>
          <p:cNvCxnSpPr/>
          <p:nvPr/>
        </p:nvCxnSpPr>
        <p:spPr>
          <a:xfrm>
            <a:off x="322325" y="799700"/>
            <a:ext cx="28521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1"/>
          <p:cNvCxnSpPr/>
          <p:nvPr/>
        </p:nvCxnSpPr>
        <p:spPr>
          <a:xfrm>
            <a:off x="322325" y="295650"/>
            <a:ext cx="28521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2867047" y="822007"/>
            <a:ext cx="3548400" cy="3545100"/>
          </a:xfrm>
          <a:prstGeom prst="ellipse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439693" y="460045"/>
            <a:ext cx="121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未來發展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22"/>
          <p:cNvCxnSpPr>
            <a:stCxn id="127" idx="0"/>
            <a:endCxn id="128" idx="4"/>
          </p:cNvCxnSpPr>
          <p:nvPr/>
        </p:nvCxnSpPr>
        <p:spPr>
          <a:xfrm rot="10800000">
            <a:off x="4641534" y="1431097"/>
            <a:ext cx="0" cy="4155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2"/>
          <p:cNvCxnSpPr/>
          <p:nvPr/>
        </p:nvCxnSpPr>
        <p:spPr>
          <a:xfrm rot="10800000">
            <a:off x="3362061" y="2144997"/>
            <a:ext cx="648600" cy="284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2"/>
          <p:cNvCxnSpPr/>
          <p:nvPr/>
        </p:nvCxnSpPr>
        <p:spPr>
          <a:xfrm flipH="1" rot="10800000">
            <a:off x="5275604" y="2144983"/>
            <a:ext cx="648600" cy="284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2"/>
          <p:cNvCxnSpPr/>
          <p:nvPr/>
        </p:nvCxnSpPr>
        <p:spPr>
          <a:xfrm flipH="1">
            <a:off x="3871731" y="3187667"/>
            <a:ext cx="410100" cy="446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/>
          <p:nvPr/>
        </p:nvCxnSpPr>
        <p:spPr>
          <a:xfrm>
            <a:off x="5022066" y="3187667"/>
            <a:ext cx="410100" cy="446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" name="Google Shape;133;p22"/>
          <p:cNvGrpSpPr/>
          <p:nvPr/>
        </p:nvGrpSpPr>
        <p:grpSpPr>
          <a:xfrm>
            <a:off x="4113028" y="375124"/>
            <a:ext cx="1057010" cy="1055973"/>
            <a:chOff x="5461463" y="790747"/>
            <a:chExt cx="1296786" cy="1296786"/>
          </a:xfrm>
        </p:grpSpPr>
        <p:sp>
          <p:nvSpPr>
            <p:cNvPr id="128" name="Google Shape;128;p22"/>
            <p:cNvSpPr/>
            <p:nvPr/>
          </p:nvSpPr>
          <p:spPr>
            <a:xfrm>
              <a:off x="5461463" y="790747"/>
              <a:ext cx="1296786" cy="1296786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4" name="Google Shape;13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8638" y="1047922"/>
              <a:ext cx="782435" cy="7824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22"/>
          <p:cNvGrpSpPr/>
          <p:nvPr/>
        </p:nvGrpSpPr>
        <p:grpSpPr>
          <a:xfrm>
            <a:off x="3158243" y="3516021"/>
            <a:ext cx="1057010" cy="1055973"/>
            <a:chOff x="6758249" y="4683874"/>
            <a:chExt cx="1296786" cy="1296786"/>
          </a:xfrm>
        </p:grpSpPr>
        <p:sp>
          <p:nvSpPr>
            <p:cNvPr id="136" name="Google Shape;136;p22"/>
            <p:cNvSpPr/>
            <p:nvPr/>
          </p:nvSpPr>
          <p:spPr>
            <a:xfrm>
              <a:off x="6758249" y="4683874"/>
              <a:ext cx="1296786" cy="1296786"/>
            </a:xfrm>
            <a:prstGeom prst="ellipse">
              <a:avLst/>
            </a:prstGeom>
            <a:solidFill>
              <a:srgbClr val="A8D08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51260" y="4839911"/>
              <a:ext cx="984711" cy="984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2"/>
          <p:cNvSpPr/>
          <p:nvPr/>
        </p:nvSpPr>
        <p:spPr>
          <a:xfrm>
            <a:off x="5198921" y="3516000"/>
            <a:ext cx="1056900" cy="1056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1914" y="3545542"/>
            <a:ext cx="807836" cy="807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2438400" y="1480645"/>
            <a:ext cx="1104300" cy="1103100"/>
          </a:xfrm>
          <a:prstGeom prst="ellipse">
            <a:avLst/>
          </a:prstGeom>
          <a:solidFill>
            <a:srgbClr val="49C6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5739872" y="1480645"/>
            <a:ext cx="1104300" cy="1103100"/>
          </a:xfrm>
          <a:prstGeom prst="ellipse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4063" y="1601933"/>
            <a:ext cx="798675" cy="79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645630" y="1676172"/>
            <a:ext cx="712849" cy="7121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2"/>
          <p:cNvCxnSpPr/>
          <p:nvPr/>
        </p:nvCxnSpPr>
        <p:spPr>
          <a:xfrm>
            <a:off x="454850" y="908275"/>
            <a:ext cx="1185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2"/>
          <p:cNvCxnSpPr/>
          <p:nvPr/>
        </p:nvCxnSpPr>
        <p:spPr>
          <a:xfrm>
            <a:off x="454850" y="404225"/>
            <a:ext cx="1185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2"/>
          <p:cNvSpPr/>
          <p:nvPr/>
        </p:nvSpPr>
        <p:spPr>
          <a:xfrm>
            <a:off x="3833075" y="1779450"/>
            <a:ext cx="1616400" cy="1630200"/>
          </a:xfrm>
          <a:prstGeom prst="ellipse">
            <a:avLst/>
          </a:prstGeom>
          <a:solidFill>
            <a:srgbClr val="FF6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3885" y="1910550"/>
            <a:ext cx="1367857" cy="136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