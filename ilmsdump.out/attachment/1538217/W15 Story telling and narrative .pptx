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25"/>
  </p:notesMasterIdLst>
  <p:sldIdLst>
    <p:sldId id="256" r:id="rId2"/>
    <p:sldId id="291" r:id="rId3"/>
    <p:sldId id="292" r:id="rId4"/>
    <p:sldId id="264" r:id="rId5"/>
    <p:sldId id="265" r:id="rId6"/>
    <p:sldId id="266" r:id="rId7"/>
    <p:sldId id="267" r:id="rId8"/>
    <p:sldId id="271" r:id="rId9"/>
    <p:sldId id="275" r:id="rId10"/>
    <p:sldId id="276" r:id="rId11"/>
    <p:sldId id="277" r:id="rId12"/>
    <p:sldId id="278" r:id="rId13"/>
    <p:sldId id="282" r:id="rId14"/>
    <p:sldId id="273" r:id="rId15"/>
    <p:sldId id="274" r:id="rId16"/>
    <p:sldId id="272" r:id="rId17"/>
    <p:sldId id="286" r:id="rId18"/>
    <p:sldId id="287" r:id="rId19"/>
    <p:sldId id="288" r:id="rId20"/>
    <p:sldId id="289" r:id="rId21"/>
    <p:sldId id="290" r:id="rId22"/>
    <p:sldId id="294" r:id="rId23"/>
    <p:sldId id="293" r:id="rId2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079" autoAdjust="0"/>
  </p:normalViewPr>
  <p:slideViewPr>
    <p:cSldViewPr>
      <p:cViewPr varScale="1">
        <p:scale>
          <a:sx n="98" d="100"/>
          <a:sy n="98" d="100"/>
        </p:scale>
        <p:origin x="193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30B6EF-E5DD-47D5-884E-6E2D184C13F6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B54ACCDF-C407-42EC-BC58-E9CA58DF4523}">
      <dgm:prSet phldrT="[文字]" custT="1"/>
      <dgm:spPr/>
      <dgm:t>
        <a:bodyPr/>
        <a:lstStyle/>
        <a:p>
          <a:pPr>
            <a:lnSpc>
              <a:spcPct val="70000"/>
            </a:lnSpc>
          </a:pPr>
          <a:r>
            <a:rPr lang="en-US" altLang="zh-TW" sz="2000" b="1" dirty="0" smtClean="0"/>
            <a:t>Springboard stories “needs and goals”</a:t>
          </a:r>
          <a:endParaRPr lang="zh-TW" altLang="en-US" sz="2000" b="1" dirty="0"/>
        </a:p>
      </dgm:t>
    </dgm:pt>
    <dgm:pt modelId="{E6A66BE3-92A0-45D5-A807-E53156A9D1AA}" type="parTrans" cxnId="{BCBB39AA-A936-46A0-879B-10E59715EAA0}">
      <dgm:prSet/>
      <dgm:spPr/>
      <dgm:t>
        <a:bodyPr/>
        <a:lstStyle/>
        <a:p>
          <a:endParaRPr lang="zh-TW" altLang="en-US"/>
        </a:p>
      </dgm:t>
    </dgm:pt>
    <dgm:pt modelId="{18F7AEE5-7A41-4263-8B14-88F92D7C1F46}" type="sibTrans" cxnId="{BCBB39AA-A936-46A0-879B-10E59715EAA0}">
      <dgm:prSet/>
      <dgm:spPr/>
      <dgm:t>
        <a:bodyPr/>
        <a:lstStyle/>
        <a:p>
          <a:endParaRPr lang="zh-TW" altLang="en-US"/>
        </a:p>
      </dgm:t>
    </dgm:pt>
    <dgm:pt modelId="{D2CB176A-2286-4CD7-8E54-7CCED3E19508}">
      <dgm:prSet phldrT="[文字]" custT="1"/>
      <dgm:spPr/>
      <dgm:t>
        <a:bodyPr/>
        <a:lstStyle/>
        <a:p>
          <a:pPr>
            <a:lnSpc>
              <a:spcPct val="70000"/>
            </a:lnSpc>
          </a:pPr>
          <a:r>
            <a:rPr lang="en-US" altLang="zh-TW" sz="2000" b="1" dirty="0" smtClean="0"/>
            <a:t>Key scenarios “context for actions”</a:t>
          </a:r>
          <a:endParaRPr lang="zh-TW" altLang="en-US" sz="2000" b="1" dirty="0"/>
        </a:p>
      </dgm:t>
    </dgm:pt>
    <dgm:pt modelId="{E4F73EAA-0907-436A-84DC-DF7328478CBD}" type="parTrans" cxnId="{91C398F7-CBE3-410C-AC5F-B98EE4DB7CAE}">
      <dgm:prSet/>
      <dgm:spPr/>
      <dgm:t>
        <a:bodyPr/>
        <a:lstStyle/>
        <a:p>
          <a:endParaRPr lang="zh-TW" altLang="en-US"/>
        </a:p>
      </dgm:t>
    </dgm:pt>
    <dgm:pt modelId="{7D7754FF-59E3-4253-A278-98F718316F98}" type="sibTrans" cxnId="{91C398F7-CBE3-410C-AC5F-B98EE4DB7CAE}">
      <dgm:prSet/>
      <dgm:spPr/>
      <dgm:t>
        <a:bodyPr/>
        <a:lstStyle/>
        <a:p>
          <a:endParaRPr lang="zh-TW" altLang="en-US"/>
        </a:p>
      </dgm:t>
    </dgm:pt>
    <dgm:pt modelId="{3167D7F3-765D-40A0-99BB-276A69BB9DD5}">
      <dgm:prSet phldrT="[文字]" custT="1"/>
      <dgm:spPr/>
      <dgm:t>
        <a:bodyPr/>
        <a:lstStyle/>
        <a:p>
          <a:pPr>
            <a:lnSpc>
              <a:spcPct val="70000"/>
            </a:lnSpc>
          </a:pPr>
          <a:r>
            <a:rPr lang="en-US" altLang="zh-TW" sz="2000" b="1" dirty="0" smtClean="0"/>
            <a:t>Narrative scenarios “what happens and why”</a:t>
          </a:r>
          <a:endParaRPr lang="zh-TW" altLang="en-US" sz="2000" b="1" dirty="0"/>
        </a:p>
      </dgm:t>
    </dgm:pt>
    <dgm:pt modelId="{15D72CF3-9C96-4602-A994-A04C31EA2687}" type="parTrans" cxnId="{85B1D34D-621A-431E-8F03-6F89AD4EE88B}">
      <dgm:prSet/>
      <dgm:spPr/>
      <dgm:t>
        <a:bodyPr/>
        <a:lstStyle/>
        <a:p>
          <a:endParaRPr lang="zh-TW" altLang="en-US"/>
        </a:p>
      </dgm:t>
    </dgm:pt>
    <dgm:pt modelId="{83223BE7-7F7B-40A1-9FE3-2018097B0EEC}" type="sibTrans" cxnId="{85B1D34D-621A-431E-8F03-6F89AD4EE88B}">
      <dgm:prSet/>
      <dgm:spPr/>
      <dgm:t>
        <a:bodyPr/>
        <a:lstStyle/>
        <a:p>
          <a:endParaRPr lang="zh-TW" altLang="en-US"/>
        </a:p>
      </dgm:t>
    </dgm:pt>
    <dgm:pt modelId="{37F048CC-3EB4-4DAE-AAE0-A6246EC213E4}">
      <dgm:prSet custT="1"/>
      <dgm:spPr/>
      <dgm:t>
        <a:bodyPr/>
        <a:lstStyle/>
        <a:p>
          <a:pPr>
            <a:lnSpc>
              <a:spcPct val="70000"/>
            </a:lnSpc>
          </a:pPr>
          <a:r>
            <a:rPr lang="en-US" altLang="zh-TW" sz="2000" b="1" dirty="0" smtClean="0"/>
            <a:t>Use cases “sequence of actions”</a:t>
          </a:r>
        </a:p>
      </dgm:t>
    </dgm:pt>
    <dgm:pt modelId="{03A54642-2A10-40E8-A60C-F35FC5606CCA}" type="parTrans" cxnId="{AB3D3C9E-555B-40C6-B493-5116DDCD6A75}">
      <dgm:prSet/>
      <dgm:spPr/>
      <dgm:t>
        <a:bodyPr/>
        <a:lstStyle/>
        <a:p>
          <a:endParaRPr lang="zh-TW" altLang="en-US"/>
        </a:p>
      </dgm:t>
    </dgm:pt>
    <dgm:pt modelId="{F46E54D2-0667-415F-8072-6F81960074C8}" type="sibTrans" cxnId="{AB3D3C9E-555B-40C6-B493-5116DDCD6A75}">
      <dgm:prSet/>
      <dgm:spPr/>
      <dgm:t>
        <a:bodyPr/>
        <a:lstStyle/>
        <a:p>
          <a:endParaRPr lang="zh-TW" altLang="en-US"/>
        </a:p>
      </dgm:t>
    </dgm:pt>
    <dgm:pt modelId="{A7C7ECB0-6525-4492-BE3C-9860B0955F1B}" type="pres">
      <dgm:prSet presAssocID="{9530B6EF-E5DD-47D5-884E-6E2D184C13F6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EC3764FE-15E1-4A58-B753-CE76BD1683DD}" type="pres">
      <dgm:prSet presAssocID="{B54ACCDF-C407-42EC-BC58-E9CA58DF4523}" presName="parTxOnly" presStyleLbl="node1" presStyleIdx="0" presStyleCnt="4" custScaleY="12871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EC7AB329-FB53-4C0B-A437-F3DD816C9154}" type="pres">
      <dgm:prSet presAssocID="{18F7AEE5-7A41-4263-8B14-88F92D7C1F46}" presName="parTxOnlySpace" presStyleCnt="0"/>
      <dgm:spPr/>
    </dgm:pt>
    <dgm:pt modelId="{ED5081E5-9403-4B7C-AB3A-FBD812D2E1E6}" type="pres">
      <dgm:prSet presAssocID="{D2CB176A-2286-4CD7-8E54-7CCED3E19508}" presName="parTxOnly" presStyleLbl="node1" presStyleIdx="1" presStyleCnt="4" custScaleY="12871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AA287AB6-33E4-4343-8CAF-7D8619431EE9}" type="pres">
      <dgm:prSet presAssocID="{7D7754FF-59E3-4253-A278-98F718316F98}" presName="parTxOnlySpace" presStyleCnt="0"/>
      <dgm:spPr/>
    </dgm:pt>
    <dgm:pt modelId="{8AC003AA-A46D-426E-8886-3BD8325AEFBF}" type="pres">
      <dgm:prSet presAssocID="{3167D7F3-765D-40A0-99BB-276A69BB9DD5}" presName="parTxOnly" presStyleLbl="node1" presStyleIdx="2" presStyleCnt="4" custScaleY="12871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95C281C3-F54C-42B9-BD7C-B0AF20C73F29}" type="pres">
      <dgm:prSet presAssocID="{83223BE7-7F7B-40A1-9FE3-2018097B0EEC}" presName="parTxOnlySpace" presStyleCnt="0"/>
      <dgm:spPr/>
    </dgm:pt>
    <dgm:pt modelId="{65852528-C2B6-4EFA-8278-421B63FC05BB}" type="pres">
      <dgm:prSet presAssocID="{37F048CC-3EB4-4DAE-AAE0-A6246EC213E4}" presName="parTxOnly" presStyleLbl="node1" presStyleIdx="3" presStyleCnt="4" custScaleY="12871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54A5BA37-48AF-437A-BA91-9D3F2CB3FD2B}" type="presOf" srcId="{D2CB176A-2286-4CD7-8E54-7CCED3E19508}" destId="{ED5081E5-9403-4B7C-AB3A-FBD812D2E1E6}" srcOrd="0" destOrd="0" presId="urn:microsoft.com/office/officeart/2005/8/layout/chevron1"/>
    <dgm:cxn modelId="{1EBC0EFC-E09F-4876-97E5-40463C9E1209}" type="presOf" srcId="{37F048CC-3EB4-4DAE-AAE0-A6246EC213E4}" destId="{65852528-C2B6-4EFA-8278-421B63FC05BB}" srcOrd="0" destOrd="0" presId="urn:microsoft.com/office/officeart/2005/8/layout/chevron1"/>
    <dgm:cxn modelId="{5ACDF653-C63C-47EC-B0E2-1F7D85B79191}" type="presOf" srcId="{9530B6EF-E5DD-47D5-884E-6E2D184C13F6}" destId="{A7C7ECB0-6525-4492-BE3C-9860B0955F1B}" srcOrd="0" destOrd="0" presId="urn:microsoft.com/office/officeart/2005/8/layout/chevron1"/>
    <dgm:cxn modelId="{91C398F7-CBE3-410C-AC5F-B98EE4DB7CAE}" srcId="{9530B6EF-E5DD-47D5-884E-6E2D184C13F6}" destId="{D2CB176A-2286-4CD7-8E54-7CCED3E19508}" srcOrd="1" destOrd="0" parTransId="{E4F73EAA-0907-436A-84DC-DF7328478CBD}" sibTransId="{7D7754FF-59E3-4253-A278-98F718316F98}"/>
    <dgm:cxn modelId="{4B5108B6-72A7-430C-A344-859E3637C904}" type="presOf" srcId="{3167D7F3-765D-40A0-99BB-276A69BB9DD5}" destId="{8AC003AA-A46D-426E-8886-3BD8325AEFBF}" srcOrd="0" destOrd="0" presId="urn:microsoft.com/office/officeart/2005/8/layout/chevron1"/>
    <dgm:cxn modelId="{30DF8503-CF1B-4D6A-8233-576D4547BD17}" type="presOf" srcId="{B54ACCDF-C407-42EC-BC58-E9CA58DF4523}" destId="{EC3764FE-15E1-4A58-B753-CE76BD1683DD}" srcOrd="0" destOrd="0" presId="urn:microsoft.com/office/officeart/2005/8/layout/chevron1"/>
    <dgm:cxn modelId="{85B1D34D-621A-431E-8F03-6F89AD4EE88B}" srcId="{9530B6EF-E5DD-47D5-884E-6E2D184C13F6}" destId="{3167D7F3-765D-40A0-99BB-276A69BB9DD5}" srcOrd="2" destOrd="0" parTransId="{15D72CF3-9C96-4602-A994-A04C31EA2687}" sibTransId="{83223BE7-7F7B-40A1-9FE3-2018097B0EEC}"/>
    <dgm:cxn modelId="{AB3D3C9E-555B-40C6-B493-5116DDCD6A75}" srcId="{9530B6EF-E5DD-47D5-884E-6E2D184C13F6}" destId="{37F048CC-3EB4-4DAE-AAE0-A6246EC213E4}" srcOrd="3" destOrd="0" parTransId="{03A54642-2A10-40E8-A60C-F35FC5606CCA}" sibTransId="{F46E54D2-0667-415F-8072-6F81960074C8}"/>
    <dgm:cxn modelId="{BCBB39AA-A936-46A0-879B-10E59715EAA0}" srcId="{9530B6EF-E5DD-47D5-884E-6E2D184C13F6}" destId="{B54ACCDF-C407-42EC-BC58-E9CA58DF4523}" srcOrd="0" destOrd="0" parTransId="{E6A66BE3-92A0-45D5-A807-E53156A9D1AA}" sibTransId="{18F7AEE5-7A41-4263-8B14-88F92D7C1F46}"/>
    <dgm:cxn modelId="{7024051A-407A-44E3-9A02-CC769E783E5E}" type="presParOf" srcId="{A7C7ECB0-6525-4492-BE3C-9860B0955F1B}" destId="{EC3764FE-15E1-4A58-B753-CE76BD1683DD}" srcOrd="0" destOrd="0" presId="urn:microsoft.com/office/officeart/2005/8/layout/chevron1"/>
    <dgm:cxn modelId="{14DDB0F3-68DC-4689-B8A5-3EF10D8AECDE}" type="presParOf" srcId="{A7C7ECB0-6525-4492-BE3C-9860B0955F1B}" destId="{EC7AB329-FB53-4C0B-A437-F3DD816C9154}" srcOrd="1" destOrd="0" presId="urn:microsoft.com/office/officeart/2005/8/layout/chevron1"/>
    <dgm:cxn modelId="{154ED53D-1E56-4D12-BE9C-9AECE64F1474}" type="presParOf" srcId="{A7C7ECB0-6525-4492-BE3C-9860B0955F1B}" destId="{ED5081E5-9403-4B7C-AB3A-FBD812D2E1E6}" srcOrd="2" destOrd="0" presId="urn:microsoft.com/office/officeart/2005/8/layout/chevron1"/>
    <dgm:cxn modelId="{B9A8EA47-DD81-4AA3-8873-686AE4390D6F}" type="presParOf" srcId="{A7C7ECB0-6525-4492-BE3C-9860B0955F1B}" destId="{AA287AB6-33E4-4343-8CAF-7D8619431EE9}" srcOrd="3" destOrd="0" presId="urn:microsoft.com/office/officeart/2005/8/layout/chevron1"/>
    <dgm:cxn modelId="{262386BC-6495-40F8-939B-433F68DE78C3}" type="presParOf" srcId="{A7C7ECB0-6525-4492-BE3C-9860B0955F1B}" destId="{8AC003AA-A46D-426E-8886-3BD8325AEFBF}" srcOrd="4" destOrd="0" presId="urn:microsoft.com/office/officeart/2005/8/layout/chevron1"/>
    <dgm:cxn modelId="{68F4151E-25E9-4F33-A0A7-F0B8F4B7583D}" type="presParOf" srcId="{A7C7ECB0-6525-4492-BE3C-9860B0955F1B}" destId="{95C281C3-F54C-42B9-BD7C-B0AF20C73F29}" srcOrd="5" destOrd="0" presId="urn:microsoft.com/office/officeart/2005/8/layout/chevron1"/>
    <dgm:cxn modelId="{9787E884-20E6-4090-AE2A-8CCBEA2F498E}" type="presParOf" srcId="{A7C7ECB0-6525-4492-BE3C-9860B0955F1B}" destId="{65852528-C2B6-4EFA-8278-421B63FC05BB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3764FE-15E1-4A58-B753-CE76BD1683DD}">
      <dsp:nvSpPr>
        <dsp:cNvPr id="0" name=""/>
        <dsp:cNvSpPr/>
      </dsp:nvSpPr>
      <dsp:spPr>
        <a:xfrm>
          <a:off x="4324" y="2664295"/>
          <a:ext cx="2517530" cy="129614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lvl="0" algn="ctr" defTabSz="889000">
            <a:lnSpc>
              <a:spcPct val="7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000" b="1" kern="1200" dirty="0" smtClean="0"/>
            <a:t>Springboard stories “needs and goals”</a:t>
          </a:r>
          <a:endParaRPr lang="zh-TW" altLang="en-US" sz="2000" b="1" kern="1200" dirty="0"/>
        </a:p>
      </dsp:txBody>
      <dsp:txXfrm>
        <a:off x="652397" y="2664295"/>
        <a:ext cx="1221385" cy="1296145"/>
      </dsp:txXfrm>
    </dsp:sp>
    <dsp:sp modelId="{ED5081E5-9403-4B7C-AB3A-FBD812D2E1E6}">
      <dsp:nvSpPr>
        <dsp:cNvPr id="0" name=""/>
        <dsp:cNvSpPr/>
      </dsp:nvSpPr>
      <dsp:spPr>
        <a:xfrm>
          <a:off x="2270102" y="2664295"/>
          <a:ext cx="2517530" cy="129614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lvl="0" algn="ctr" defTabSz="889000">
            <a:lnSpc>
              <a:spcPct val="7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000" b="1" kern="1200" dirty="0" smtClean="0"/>
            <a:t>Key scenarios “context for actions”</a:t>
          </a:r>
          <a:endParaRPr lang="zh-TW" altLang="en-US" sz="2000" b="1" kern="1200" dirty="0"/>
        </a:p>
      </dsp:txBody>
      <dsp:txXfrm>
        <a:off x="2918175" y="2664295"/>
        <a:ext cx="1221385" cy="1296145"/>
      </dsp:txXfrm>
    </dsp:sp>
    <dsp:sp modelId="{8AC003AA-A46D-426E-8886-3BD8325AEFBF}">
      <dsp:nvSpPr>
        <dsp:cNvPr id="0" name=""/>
        <dsp:cNvSpPr/>
      </dsp:nvSpPr>
      <dsp:spPr>
        <a:xfrm>
          <a:off x="4535879" y="2664295"/>
          <a:ext cx="2517530" cy="129614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lvl="0" algn="ctr" defTabSz="889000">
            <a:lnSpc>
              <a:spcPct val="7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000" b="1" kern="1200" dirty="0" smtClean="0"/>
            <a:t>Narrative scenarios “what happens and why”</a:t>
          </a:r>
          <a:endParaRPr lang="zh-TW" altLang="en-US" sz="2000" b="1" kern="1200" dirty="0"/>
        </a:p>
      </dsp:txBody>
      <dsp:txXfrm>
        <a:off x="5183952" y="2664295"/>
        <a:ext cx="1221385" cy="1296145"/>
      </dsp:txXfrm>
    </dsp:sp>
    <dsp:sp modelId="{65852528-C2B6-4EFA-8278-421B63FC05BB}">
      <dsp:nvSpPr>
        <dsp:cNvPr id="0" name=""/>
        <dsp:cNvSpPr/>
      </dsp:nvSpPr>
      <dsp:spPr>
        <a:xfrm>
          <a:off x="6801656" y="2664295"/>
          <a:ext cx="2517530" cy="129614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lvl="0" algn="ctr" defTabSz="889000">
            <a:lnSpc>
              <a:spcPct val="7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000" b="1" kern="1200" dirty="0" smtClean="0"/>
            <a:t>Use cases “sequence of actions”</a:t>
          </a:r>
        </a:p>
      </dsp:txBody>
      <dsp:txXfrm>
        <a:off x="7449729" y="2664295"/>
        <a:ext cx="1221385" cy="12961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D2F456-24E9-47CC-A0A7-F8AD09D5AC56}" type="datetimeFigureOut">
              <a:rPr lang="zh-TW" altLang="en-US" smtClean="0"/>
              <a:pPr/>
              <a:t>2018/9/13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3D45B-5DFC-4E74-8815-84CA22E73C0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5111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544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43D45B-5DFC-4E74-8815-84CA22E73C07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521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43D45B-5DFC-4E74-8815-84CA22E73C07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smtClean="0"/>
              <a:t>523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43D45B-5DFC-4E74-8815-84CA22E73C07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524-525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43D45B-5DFC-4E74-8815-84CA22E73C07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525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43D45B-5DFC-4E74-8815-84CA22E73C07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526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43D45B-5DFC-4E74-8815-84CA22E73C07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527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43D45B-5DFC-4E74-8815-84CA22E73C07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530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43D45B-5DFC-4E74-8815-84CA22E73C07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531-532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43D45B-5DFC-4E74-8815-84CA22E73C07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533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43D45B-5DFC-4E74-8815-84CA22E73C07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43D45B-5DFC-4E74-8815-84CA22E73C07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43D45B-5DFC-4E74-8815-84CA22E73C07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534-535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43D45B-5DFC-4E74-8815-84CA22E73C07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43D45B-5DFC-4E74-8815-84CA22E73C07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537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43D45B-5DFC-4E74-8815-84CA22E73C07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538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43D45B-5DFC-4E74-8815-84CA22E73C07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smtClean="0"/>
              <a:t>547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43D45B-5DFC-4E74-8815-84CA22E73C07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1E372E12-6CE0-4E2E-9572-9DD09F5784F7}" type="datetimeFigureOut">
              <a:rPr lang="zh-TW" altLang="en-US" smtClean="0"/>
              <a:pPr/>
              <a:t>2018/9/13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6977B3E1-8479-47C8-B08C-51B6CA754746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矩形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矩形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72E12-6CE0-4E2E-9572-9DD09F5784F7}" type="datetimeFigureOut">
              <a:rPr lang="zh-TW" altLang="en-US" smtClean="0"/>
              <a:pPr/>
              <a:t>2018/9/13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7B3E1-8479-47C8-B08C-51B6CA754746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1E372E12-6CE0-4E2E-9572-9DD09F5784F7}" type="datetimeFigureOut">
              <a:rPr lang="zh-TW" altLang="en-US" smtClean="0"/>
              <a:pPr/>
              <a:t>2018/9/13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6977B3E1-8479-47C8-B08C-51B6CA754746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72E12-6CE0-4E2E-9572-9DD09F5784F7}" type="datetimeFigureOut">
              <a:rPr lang="zh-TW" altLang="en-US" smtClean="0"/>
              <a:pPr/>
              <a:t>2018/9/13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7B3E1-8479-47C8-B08C-51B6CA754746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72E12-6CE0-4E2E-9572-9DD09F5784F7}" type="datetimeFigureOut">
              <a:rPr lang="zh-TW" altLang="en-US" smtClean="0"/>
              <a:pPr/>
              <a:t>2018/9/13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7B3E1-8479-47C8-B08C-51B6CA754746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72E12-6CE0-4E2E-9572-9DD09F5784F7}" type="datetimeFigureOut">
              <a:rPr lang="zh-TW" altLang="en-US" smtClean="0"/>
              <a:pPr/>
              <a:t>2018/9/13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7B3E1-8479-47C8-B08C-51B6CA754746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6" name="等腰三角形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72E12-6CE0-4E2E-9572-9DD09F5784F7}" type="datetimeFigureOut">
              <a:rPr lang="zh-TW" altLang="en-US" smtClean="0"/>
              <a:pPr/>
              <a:t>2018/9/13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7B3E1-8479-47C8-B08C-51B6CA754746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5" name="直線接點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等腰三角形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72E12-6CE0-4E2E-9572-9DD09F5784F7}" type="datetimeFigureOut">
              <a:rPr lang="zh-TW" altLang="en-US" smtClean="0"/>
              <a:pPr/>
              <a:t>2018/9/13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7B3E1-8479-47C8-B08C-51B6CA754746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直線接點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等腰三角形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內容版面配置區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72E12-6CE0-4E2E-9572-9DD09F5784F7}" type="datetimeFigureOut">
              <a:rPr lang="zh-TW" altLang="en-US" smtClean="0"/>
              <a:pPr/>
              <a:t>2018/9/13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7B3E1-8479-47C8-B08C-51B6CA754746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等腰三角形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72E12-6CE0-4E2E-9572-9DD09F5784F7}" type="datetimeFigureOut">
              <a:rPr lang="zh-TW" altLang="en-US" smtClean="0"/>
              <a:pPr/>
              <a:t>2018/9/13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7B3E1-8479-47C8-B08C-51B6CA75474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72E12-6CE0-4E2E-9572-9DD09F5784F7}" type="datetimeFigureOut">
              <a:rPr lang="zh-TW" altLang="en-US" smtClean="0"/>
              <a:pPr/>
              <a:t>2018/9/13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7B3E1-8479-47C8-B08C-51B6CA754746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直線接點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等腰三角形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直線接點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smtClean="0"/>
              <a:t>第二層</a:t>
            </a:r>
          </a:p>
          <a:p>
            <a:pPr lvl="2" eaLnBrk="1" latinLnBrk="0" hangingPunct="1"/>
            <a:r>
              <a:rPr kumimoji="0" lang="zh-TW" altLang="en-US" smtClean="0"/>
              <a:t>第三層</a:t>
            </a:r>
          </a:p>
          <a:p>
            <a:pPr lvl="3" eaLnBrk="1" latinLnBrk="0" hangingPunct="1"/>
            <a:r>
              <a:rPr kumimoji="0" lang="zh-TW" altLang="en-US" smtClean="0"/>
              <a:t>第四層</a:t>
            </a:r>
          </a:p>
          <a:p>
            <a:pPr lvl="4" eaLnBrk="1" latinLnBrk="0" hangingPunct="1"/>
            <a:r>
              <a:rPr kumimoji="0" lang="zh-TW" altLang="en-US" smtClean="0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E372E12-6CE0-4E2E-9572-9DD09F5784F7}" type="datetimeFigureOut">
              <a:rPr lang="zh-TW" altLang="en-US" smtClean="0"/>
              <a:pPr/>
              <a:t>2018/9/13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977B3E1-8479-47C8-B08C-51B6CA754746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直線接點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直線接點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等腰三角形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Story telling and narrative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Reasons</a:t>
            </a:r>
            <a:r>
              <a:rPr lang="zh-TW" altLang="en-US" dirty="0" smtClean="0"/>
              <a:t> </a:t>
            </a:r>
            <a:r>
              <a:rPr lang="en-US" altLang="zh-TW" dirty="0" smtClean="0"/>
              <a:t>to</a:t>
            </a:r>
            <a:r>
              <a:rPr lang="zh-TW" altLang="en-US" dirty="0" smtClean="0"/>
              <a:t> </a:t>
            </a:r>
            <a:r>
              <a:rPr lang="en-US" altLang="zh-TW" dirty="0" smtClean="0"/>
              <a:t>write</a:t>
            </a:r>
            <a:r>
              <a:rPr lang="zh-TW" altLang="en-US" dirty="0" smtClean="0"/>
              <a:t> </a:t>
            </a:r>
            <a:r>
              <a:rPr lang="en-US" altLang="zh-TW" dirty="0" smtClean="0"/>
              <a:t>a</a:t>
            </a:r>
            <a:r>
              <a:rPr lang="zh-TW" altLang="en-US" dirty="0" smtClean="0"/>
              <a:t> </a:t>
            </a:r>
            <a:r>
              <a:rPr lang="en-US" altLang="zh-TW" dirty="0" smtClean="0"/>
              <a:t>story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467544" y="1412776"/>
            <a:ext cx="8229600" cy="4937760"/>
          </a:xfrm>
        </p:spPr>
        <p:txBody>
          <a:bodyPr/>
          <a:lstStyle/>
          <a:p>
            <a:r>
              <a:rPr lang="en-US" altLang="zh-TW" dirty="0" smtClean="0"/>
              <a:t>Establish</a:t>
            </a:r>
            <a:r>
              <a:rPr lang="zh-TW" altLang="en-US" dirty="0" smtClean="0"/>
              <a:t> </a:t>
            </a:r>
            <a:r>
              <a:rPr lang="en-US" altLang="zh-TW" dirty="0" smtClean="0"/>
              <a:t>a</a:t>
            </a:r>
            <a:r>
              <a:rPr lang="zh-TW" altLang="en-US" dirty="0" smtClean="0"/>
              <a:t> </a:t>
            </a:r>
            <a:r>
              <a:rPr lang="en-US" altLang="zh-TW" dirty="0" smtClean="0"/>
              <a:t>situation</a:t>
            </a:r>
            <a:r>
              <a:rPr lang="zh-TW" altLang="en-US" dirty="0" smtClean="0"/>
              <a:t> </a:t>
            </a:r>
            <a:r>
              <a:rPr lang="en-US" altLang="zh-TW" dirty="0" smtClean="0"/>
              <a:t>or</a:t>
            </a:r>
            <a:r>
              <a:rPr lang="zh-TW" altLang="en-US" dirty="0" smtClean="0"/>
              <a:t> </a:t>
            </a:r>
            <a:r>
              <a:rPr lang="en-US" altLang="zh-TW" dirty="0" smtClean="0"/>
              <a:t>context</a:t>
            </a:r>
          </a:p>
          <a:p>
            <a:pPr lvl="1"/>
            <a:r>
              <a:rPr lang="zh-TW" altLang="en-US" dirty="0" smtClean="0"/>
              <a:t>演員的背景故事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有助於了解</a:t>
            </a:r>
            <a:r>
              <a:rPr lang="en-US" altLang="zh-TW" dirty="0" smtClean="0"/>
              <a:t>persona</a:t>
            </a:r>
          </a:p>
          <a:p>
            <a:pPr lvl="1"/>
            <a:r>
              <a:rPr lang="en-US" altLang="zh-TW" dirty="0" smtClean="0"/>
              <a:t>Things that have an impact on the product design</a:t>
            </a:r>
          </a:p>
          <a:p>
            <a:pPr lvl="1"/>
            <a:r>
              <a:rPr lang="zh-TW" altLang="en-US" dirty="0" smtClean="0"/>
              <a:t>要排除與產品無關的細節</a:t>
            </a:r>
            <a:endParaRPr lang="en-US" altLang="zh-TW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 smtClean="0"/>
              <a:t>Illustrate</a:t>
            </a:r>
            <a:r>
              <a:rPr lang="zh-TW" altLang="en-US" dirty="0" smtClean="0"/>
              <a:t> </a:t>
            </a:r>
            <a:r>
              <a:rPr lang="en-US" altLang="zh-TW" dirty="0" smtClean="0"/>
              <a:t>a</a:t>
            </a:r>
            <a:r>
              <a:rPr lang="zh-TW" altLang="en-US" dirty="0" smtClean="0"/>
              <a:t> </a:t>
            </a:r>
            <a:r>
              <a:rPr lang="en-US" altLang="zh-TW" dirty="0" smtClean="0"/>
              <a:t>problem</a:t>
            </a:r>
            <a:r>
              <a:rPr lang="zh-TW" altLang="en-US" dirty="0" smtClean="0"/>
              <a:t> </a:t>
            </a:r>
            <a:r>
              <a:rPr lang="en-US" altLang="zh-TW" dirty="0" smtClean="0"/>
              <a:t>or</a:t>
            </a:r>
            <a:r>
              <a:rPr lang="zh-TW" altLang="en-US" dirty="0" smtClean="0"/>
              <a:t> </a:t>
            </a:r>
            <a:r>
              <a:rPr lang="en-US" altLang="zh-TW" dirty="0" smtClean="0"/>
              <a:t>a</a:t>
            </a:r>
            <a:r>
              <a:rPr lang="zh-TW" altLang="en-US" dirty="0" smtClean="0"/>
              <a:t> </a:t>
            </a:r>
            <a:r>
              <a:rPr lang="en-US" altLang="zh-TW" dirty="0" smtClean="0"/>
              <a:t>positive</a:t>
            </a:r>
            <a:r>
              <a:rPr lang="zh-TW" altLang="en-US" dirty="0" smtClean="0"/>
              <a:t> </a:t>
            </a:r>
            <a:r>
              <a:rPr lang="en-US" altLang="zh-TW" dirty="0" smtClean="0"/>
              <a:t>experience</a:t>
            </a:r>
          </a:p>
          <a:p>
            <a:pPr lvl="1"/>
            <a:r>
              <a:rPr lang="en-US" altLang="zh-TW" dirty="0" smtClean="0"/>
              <a:t>Show how the current situation prevents the persona from reaching a goal </a:t>
            </a:r>
          </a:p>
          <a:p>
            <a:pPr lvl="1"/>
            <a:r>
              <a:rPr lang="en-US" altLang="zh-TW" dirty="0" smtClean="0"/>
              <a:t>Provide explanation for how the persona behaves</a:t>
            </a:r>
          </a:p>
          <a:p>
            <a:pPr lvl="1"/>
            <a:r>
              <a:rPr lang="zh-TW" altLang="en-US" dirty="0" smtClean="0"/>
              <a:t>暗示</a:t>
            </a:r>
            <a:r>
              <a:rPr lang="en-US" altLang="zh-TW" dirty="0" smtClean="0"/>
              <a:t>:</a:t>
            </a:r>
            <a:r>
              <a:rPr lang="zh-TW" altLang="en-US" dirty="0" smtClean="0"/>
              <a:t> 新產品將如何改變情況</a:t>
            </a:r>
            <a:endParaRPr lang="en-US" altLang="zh-TW" dirty="0" smtClean="0"/>
          </a:p>
          <a:p>
            <a:r>
              <a:rPr lang="en-US" altLang="zh-TW" dirty="0" smtClean="0"/>
              <a:t>Propose</a:t>
            </a:r>
            <a:r>
              <a:rPr lang="zh-TW" altLang="en-US" dirty="0" smtClean="0"/>
              <a:t> </a:t>
            </a:r>
            <a:r>
              <a:rPr lang="en-US" altLang="zh-TW" dirty="0" smtClean="0"/>
              <a:t>a</a:t>
            </a:r>
            <a:r>
              <a:rPr lang="zh-TW" altLang="en-US" dirty="0" smtClean="0"/>
              <a:t> </a:t>
            </a:r>
            <a:r>
              <a:rPr lang="en-US" altLang="zh-TW" dirty="0" smtClean="0"/>
              <a:t>new</a:t>
            </a:r>
            <a:r>
              <a:rPr lang="zh-TW" altLang="en-US" dirty="0" smtClean="0"/>
              <a:t> </a:t>
            </a:r>
            <a:r>
              <a:rPr lang="en-US" altLang="zh-TW" dirty="0" smtClean="0"/>
              <a:t>solution</a:t>
            </a:r>
          </a:p>
          <a:p>
            <a:pPr lvl="1"/>
            <a:r>
              <a:rPr lang="en-US" altLang="zh-TW" dirty="0" smtClean="0"/>
              <a:t>Explore new ways persona can meet their goals</a:t>
            </a:r>
            <a:endParaRPr lang="zh-TW" altLang="en-US" dirty="0" smtClean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smtClean="0"/>
              <a:t>Stories show the </a:t>
            </a:r>
            <a:r>
              <a:rPr lang="en-US" altLang="zh-TW" sz="3200" dirty="0" smtClean="0">
                <a:solidFill>
                  <a:srgbClr val="C00000"/>
                </a:solidFill>
              </a:rPr>
              <a:t>persona in action over time </a:t>
            </a:r>
            <a:r>
              <a:rPr lang="en-US" altLang="zh-TW" sz="3200" dirty="0" smtClean="0"/>
              <a:t>with </a:t>
            </a:r>
            <a:r>
              <a:rPr lang="en-US" altLang="zh-TW" sz="3200" dirty="0" smtClean="0">
                <a:solidFill>
                  <a:srgbClr val="0033CC"/>
                </a:solidFill>
              </a:rPr>
              <a:t>goals</a:t>
            </a:r>
            <a:r>
              <a:rPr lang="en-US" altLang="zh-TW" sz="3200" dirty="0" smtClean="0"/>
              <a:t> and </a:t>
            </a:r>
            <a:r>
              <a:rPr lang="en-US" altLang="zh-TW" sz="3200" dirty="0" smtClean="0">
                <a:solidFill>
                  <a:srgbClr val="0033CC"/>
                </a:solidFill>
              </a:rPr>
              <a:t>behavior</a:t>
            </a:r>
            <a:r>
              <a:rPr lang="en-US" altLang="zh-TW" sz="3200" dirty="0" smtClean="0"/>
              <a:t>. </a:t>
            </a:r>
          </a:p>
          <a:p>
            <a:r>
              <a:rPr lang="en-US" altLang="zh-TW" sz="3200" dirty="0" smtClean="0"/>
              <a:t>Stories</a:t>
            </a:r>
          </a:p>
          <a:p>
            <a:pPr lvl="1"/>
            <a:r>
              <a:rPr lang="en-US" altLang="zh-TW" sz="3200" dirty="0" smtClean="0"/>
              <a:t>help to image how our persona might interact with our product.</a:t>
            </a:r>
          </a:p>
          <a:p>
            <a:pPr lvl="1"/>
            <a:r>
              <a:rPr lang="en-US" altLang="zh-TW" sz="3200" dirty="0" smtClean="0"/>
              <a:t>help us to understand that persona and how to design for him or her..</a:t>
            </a:r>
            <a:endParaRPr lang="zh-TW" alt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採用故事理由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 smtClean="0"/>
              <a:t>大腦渴望透過故事來組織訊息 </a:t>
            </a:r>
            <a:r>
              <a:rPr lang="en-US" altLang="zh-TW" sz="3200" dirty="0" smtClean="0"/>
              <a:t>Brain is wired to organize, retain and access information through story. </a:t>
            </a:r>
          </a:p>
          <a:p>
            <a:r>
              <a:rPr lang="en-US" altLang="zh-TW" sz="3200" dirty="0" smtClean="0"/>
              <a:t>Stories are effective way of teaching</a:t>
            </a:r>
          </a:p>
          <a:p>
            <a:pPr lvl="1"/>
            <a:r>
              <a:rPr lang="en-US" altLang="zh-TW" sz="3200" dirty="0" smtClean="0"/>
              <a:t>Remember, access, and apply   information </a:t>
            </a:r>
          </a:p>
          <a:p>
            <a:r>
              <a:rPr lang="en-US" altLang="zh-TW" sz="3200" dirty="0" smtClean="0"/>
              <a:t>When we use persona and create stories for them, we tap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into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this deep </a:t>
            </a:r>
            <a:r>
              <a:rPr lang="en-US" altLang="zh-TW" sz="3200" dirty="0" smtClean="0">
                <a:solidFill>
                  <a:srgbClr val="C00000"/>
                </a:solidFill>
              </a:rPr>
              <a:t>core of human cognitive process </a:t>
            </a:r>
            <a:r>
              <a:rPr lang="zh-TW" altLang="en-US" sz="3200" dirty="0" smtClean="0"/>
              <a:t>輕叩認知過程核心</a:t>
            </a:r>
            <a:endParaRPr lang="en-US" altLang="zh-TW" sz="3200" dirty="0" smtClean="0">
              <a:solidFill>
                <a:srgbClr val="C00000"/>
              </a:solidFill>
            </a:endParaRPr>
          </a:p>
          <a:p>
            <a:endParaRPr lang="en-US" altLang="zh-TW" sz="3200" dirty="0"/>
          </a:p>
          <a:p>
            <a:endParaRPr lang="zh-TW" alt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Personas stand in for a type or group of people</a:t>
            </a:r>
          </a:p>
          <a:p>
            <a:pPr lvl="1"/>
            <a:r>
              <a:rPr lang="en-US" altLang="zh-TW" dirty="0" smtClean="0"/>
              <a:t>Use a few details to stand in for an entire story and its characters</a:t>
            </a:r>
          </a:p>
          <a:p>
            <a:r>
              <a:rPr lang="en-US" altLang="zh-TW" dirty="0" smtClean="0">
                <a:solidFill>
                  <a:srgbClr val="C00000"/>
                </a:solidFill>
              </a:rPr>
              <a:t>Stories can </a:t>
            </a:r>
          </a:p>
          <a:p>
            <a:pPr lvl="1"/>
            <a:r>
              <a:rPr lang="en-US" altLang="zh-TW" dirty="0" smtClean="0"/>
              <a:t>communicate key elements of the </a:t>
            </a:r>
            <a:r>
              <a:rPr lang="en-US" altLang="zh-TW" smtClean="0"/>
              <a:t>culture organize </a:t>
            </a:r>
            <a:r>
              <a:rPr lang="en-US" altLang="zh-TW" dirty="0" smtClean="0"/>
              <a:t>and transmit information</a:t>
            </a:r>
          </a:p>
          <a:p>
            <a:pPr lvl="1"/>
            <a:r>
              <a:rPr lang="en-US" altLang="zh-TW" dirty="0" smtClean="0">
                <a:solidFill>
                  <a:srgbClr val="0033CC"/>
                </a:solidFill>
              </a:rPr>
              <a:t>explore new ideas</a:t>
            </a:r>
          </a:p>
          <a:p>
            <a:pPr lvl="1"/>
            <a:endParaRPr lang="en-US" altLang="zh-TW" dirty="0" smtClean="0"/>
          </a:p>
          <a:p>
            <a:endParaRPr lang="en-US" altLang="zh-TW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Stories</a:t>
            </a:r>
            <a:r>
              <a:rPr lang="zh-TW" altLang="en-US" dirty="0" smtClean="0"/>
              <a:t> </a:t>
            </a:r>
            <a:r>
              <a:rPr lang="en-US" altLang="zh-TW" dirty="0" smtClean="0"/>
              <a:t>communicate culture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467544" y="1567333"/>
            <a:ext cx="8229600" cy="452596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altLang="zh-TW" dirty="0" smtClean="0"/>
              <a:t>Stories show who we are</a:t>
            </a:r>
          </a:p>
          <a:p>
            <a:pPr>
              <a:lnSpc>
                <a:spcPct val="110000"/>
              </a:lnSpc>
            </a:pPr>
            <a:r>
              <a:rPr lang="zh-TW" altLang="en-US" dirty="0" smtClean="0"/>
              <a:t>故事是</a:t>
            </a:r>
            <a:r>
              <a:rPr lang="zh-TW" altLang="en-US" dirty="0" smtClean="0">
                <a:solidFill>
                  <a:srgbClr val="C00000"/>
                </a:solidFill>
              </a:rPr>
              <a:t>傳遞公司文化、歷史、價值</a:t>
            </a:r>
            <a:r>
              <a:rPr lang="zh-TW" altLang="en-US" dirty="0" smtClean="0"/>
              <a:t>的方法 </a:t>
            </a:r>
            <a:r>
              <a:rPr lang="en-US" altLang="zh-TW" dirty="0" smtClean="0"/>
              <a:t>preserve a corporate history</a:t>
            </a:r>
            <a:r>
              <a:rPr lang="zh-TW" altLang="en-US" dirty="0" smtClean="0"/>
              <a:t> </a:t>
            </a:r>
            <a:r>
              <a:rPr lang="en-US" altLang="zh-TW" dirty="0" smtClean="0">
                <a:solidFill>
                  <a:srgbClr val="0070C0"/>
                </a:solidFill>
              </a:rPr>
              <a:t>(</a:t>
            </a:r>
            <a:r>
              <a:rPr lang="zh-TW" altLang="en-US" dirty="0" smtClean="0">
                <a:solidFill>
                  <a:srgbClr val="0070C0"/>
                </a:solidFill>
              </a:rPr>
              <a:t>台達電綠能傳奇</a:t>
            </a:r>
            <a:r>
              <a:rPr lang="en-US" altLang="zh-TW" dirty="0" smtClean="0">
                <a:solidFill>
                  <a:srgbClr val="0070C0"/>
                </a:solidFill>
              </a:rPr>
              <a:t>)</a:t>
            </a:r>
            <a:endParaRPr lang="en-US" altLang="zh-TW" dirty="0" smtClean="0"/>
          </a:p>
          <a:p>
            <a:pPr lvl="1">
              <a:lnSpc>
                <a:spcPct val="110000"/>
              </a:lnSpc>
            </a:pPr>
            <a:r>
              <a:rPr lang="en-US" altLang="zh-TW" dirty="0" smtClean="0"/>
              <a:t>Make people proud of their organization</a:t>
            </a:r>
          </a:p>
          <a:p>
            <a:pPr lvl="1">
              <a:lnSpc>
                <a:spcPct val="110000"/>
              </a:lnSpc>
            </a:pPr>
            <a:r>
              <a:rPr lang="en-US" altLang="zh-TW" dirty="0" smtClean="0"/>
              <a:t>Let of steam</a:t>
            </a:r>
          </a:p>
          <a:p>
            <a:pPr lvl="1">
              <a:lnSpc>
                <a:spcPct val="110000"/>
              </a:lnSpc>
            </a:pPr>
            <a:r>
              <a:rPr lang="en-US" altLang="zh-TW" dirty="0" smtClean="0"/>
              <a:t>Identify the values of the group</a:t>
            </a:r>
          </a:p>
          <a:p>
            <a:pPr>
              <a:lnSpc>
                <a:spcPct val="110000"/>
              </a:lnSpc>
            </a:pPr>
            <a:r>
              <a:rPr lang="en-US" altLang="zh-TW" dirty="0" smtClean="0"/>
              <a:t>Help to illustrate </a:t>
            </a:r>
            <a:r>
              <a:rPr lang="en-US" altLang="zh-TW" dirty="0" smtClean="0">
                <a:solidFill>
                  <a:srgbClr val="C00000"/>
                </a:solidFill>
              </a:rPr>
              <a:t>the persona’s point of view</a:t>
            </a:r>
          </a:p>
          <a:p>
            <a:pPr lvl="1">
              <a:lnSpc>
                <a:spcPct val="110000"/>
              </a:lnSpc>
            </a:pPr>
            <a:r>
              <a:rPr lang="zh-TW" altLang="en-US" dirty="0" smtClean="0"/>
              <a:t>操作軟體失敗</a:t>
            </a:r>
            <a:r>
              <a:rPr lang="en-US" altLang="zh-TW" dirty="0" smtClean="0"/>
              <a:t>:</a:t>
            </a:r>
            <a:r>
              <a:rPr lang="zh-TW" altLang="en-US" dirty="0" smtClean="0"/>
              <a:t> 呈現使用者執行任務時想法上的不同</a:t>
            </a:r>
            <a:endParaRPr lang="en-US" altLang="zh-TW" dirty="0" smtClean="0"/>
          </a:p>
          <a:p>
            <a:pPr>
              <a:lnSpc>
                <a:spcPct val="110000"/>
              </a:lnSpc>
            </a:pPr>
            <a:endParaRPr lang="zh-TW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Stories organize and transmit information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dirty="0" smtClean="0"/>
              <a:t>知識管理遭遇的問題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Collecting information</a:t>
            </a:r>
          </a:p>
          <a:p>
            <a:pPr lvl="1"/>
            <a:r>
              <a:rPr lang="en-US" altLang="zh-TW" dirty="0" smtClean="0"/>
              <a:t>How to make these stories available to a larger audience</a:t>
            </a:r>
          </a:p>
          <a:p>
            <a:r>
              <a:rPr lang="en-US" altLang="zh-TW" dirty="0" smtClean="0">
                <a:solidFill>
                  <a:srgbClr val="C00000"/>
                </a:solidFill>
              </a:rPr>
              <a:t>Stories are easy to remember and retell</a:t>
            </a:r>
            <a:endParaRPr lang="zh-TW" altLang="en-US" dirty="0" smtClean="0">
              <a:solidFill>
                <a:srgbClr val="C00000"/>
              </a:solidFill>
            </a:endParaRPr>
          </a:p>
          <a:p>
            <a:pPr lvl="1"/>
            <a:r>
              <a:rPr lang="en-US" altLang="zh-TW" dirty="0" smtClean="0">
                <a:solidFill>
                  <a:srgbClr val="0070C0"/>
                </a:solidFill>
              </a:rPr>
              <a:t>Xerox copier field service staff meet at restaurants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www.designcomics.org/BalletStoryboard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64088" y="4461860"/>
            <a:ext cx="3779912" cy="2396141"/>
          </a:xfrm>
          <a:prstGeom prst="rect">
            <a:avLst/>
          </a:prstGeom>
          <a:noFill/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-171400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Stories explore new ideas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323528" y="1154162"/>
            <a:ext cx="8363272" cy="4525963"/>
          </a:xfrm>
        </p:spPr>
        <p:txBody>
          <a:bodyPr>
            <a:noAutofit/>
          </a:bodyPr>
          <a:lstStyle/>
          <a:p>
            <a:r>
              <a:rPr lang="en-US" altLang="zh-TW" sz="2800" dirty="0" smtClean="0"/>
              <a:t>Stories are a great way of exploring alternative visions of a future that does not yet exist. </a:t>
            </a:r>
          </a:p>
          <a:p>
            <a:endParaRPr lang="en-US" altLang="zh-TW" sz="2800" dirty="0" smtClean="0"/>
          </a:p>
          <a:p>
            <a:r>
              <a:rPr lang="en-US" altLang="zh-TW" sz="2800" dirty="0" smtClean="0"/>
              <a:t>Put stories into your design process and </a:t>
            </a:r>
            <a:r>
              <a:rPr lang="en-US" altLang="zh-TW" sz="2800" dirty="0" smtClean="0">
                <a:solidFill>
                  <a:srgbClr val="C00000"/>
                </a:solidFill>
              </a:rPr>
              <a:t>get more imaginative designs </a:t>
            </a:r>
            <a:r>
              <a:rPr lang="en-US" altLang="zh-TW" sz="2800" dirty="0" smtClean="0"/>
              <a:t>as the result.</a:t>
            </a:r>
          </a:p>
          <a:p>
            <a:r>
              <a:rPr lang="en-US" altLang="zh-TW" sz="2800" dirty="0" smtClean="0"/>
              <a:t>Persona stories can be</a:t>
            </a:r>
          </a:p>
          <a:p>
            <a:pPr>
              <a:buNone/>
            </a:pPr>
            <a:r>
              <a:rPr lang="en-US" altLang="zh-TW" sz="2800" dirty="0" smtClean="0"/>
              <a:t> illustrated with </a:t>
            </a:r>
            <a:r>
              <a:rPr lang="en-US" altLang="zh-TW" sz="2800" dirty="0" smtClean="0">
                <a:solidFill>
                  <a:srgbClr val="0033CC"/>
                </a:solidFill>
              </a:rPr>
              <a:t>early design </a:t>
            </a:r>
          </a:p>
          <a:p>
            <a:pPr>
              <a:buNone/>
            </a:pPr>
            <a:r>
              <a:rPr lang="en-US" altLang="zh-TW" sz="2800" dirty="0" smtClean="0">
                <a:solidFill>
                  <a:srgbClr val="0033CC"/>
                </a:solidFill>
              </a:rPr>
              <a:t>sketches in a sort of </a:t>
            </a:r>
          </a:p>
          <a:p>
            <a:pPr>
              <a:buNone/>
            </a:pPr>
            <a:r>
              <a:rPr lang="en-US" altLang="zh-TW" sz="2800" dirty="0" smtClean="0">
                <a:solidFill>
                  <a:srgbClr val="0033CC"/>
                </a:solidFill>
              </a:rPr>
              <a:t>storyboard.</a:t>
            </a:r>
            <a:endParaRPr lang="zh-TW" altLang="en-US" sz="2800" dirty="0">
              <a:solidFill>
                <a:srgbClr val="0033CC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 smtClean="0"/>
              <a:t>A story has to have facts, context, characters, plot, and resolution. </a:t>
            </a:r>
          </a:p>
          <a:p>
            <a:pPr lvl="1"/>
            <a:r>
              <a:rPr lang="en-US" altLang="zh-TW" dirty="0" smtClean="0"/>
              <a:t>Show personas in different situations </a:t>
            </a:r>
          </a:p>
          <a:p>
            <a:pPr lvl="1"/>
            <a:r>
              <a:rPr lang="en-US" altLang="zh-TW" dirty="0" smtClean="0"/>
              <a:t>Show how the problem of that situation is resolved</a:t>
            </a:r>
            <a:endParaRPr lang="zh-TW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Good stories --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Are short</a:t>
            </a:r>
          </a:p>
          <a:p>
            <a:pPr lvl="1"/>
            <a:r>
              <a:rPr lang="en-US" altLang="zh-TW" dirty="0" smtClean="0"/>
              <a:t>Goal is to make a point quickly and effectively</a:t>
            </a:r>
          </a:p>
          <a:p>
            <a:pPr lvl="1"/>
            <a:r>
              <a:rPr lang="en-US" altLang="zh-TW" dirty="0" smtClean="0"/>
              <a:t>&lt; 350 words </a:t>
            </a:r>
            <a:r>
              <a:rPr lang="zh-TW" altLang="en-US" dirty="0" smtClean="0"/>
              <a:t>，一分鐘</a:t>
            </a:r>
            <a:endParaRPr lang="en-US" altLang="zh-TW" dirty="0" smtClean="0"/>
          </a:p>
          <a:p>
            <a:r>
              <a:rPr lang="en-US" altLang="zh-TW" dirty="0" smtClean="0"/>
              <a:t>Have just the right details</a:t>
            </a:r>
          </a:p>
          <a:p>
            <a:pPr lvl="1"/>
            <a:r>
              <a:rPr lang="zh-TW" altLang="en-US" dirty="0" smtClean="0"/>
              <a:t>需要足夠細節，但並非細到只能代表此人的某個特殊情境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幫助他人去了解此人物的原形</a:t>
            </a:r>
            <a:r>
              <a:rPr lang="en-US" altLang="zh-TW" dirty="0" smtClean="0"/>
              <a:t>archetype</a:t>
            </a:r>
          </a:p>
          <a:p>
            <a:pPr lvl="1"/>
            <a:r>
              <a:rPr lang="en-US" altLang="zh-TW" dirty="0" smtClean="0"/>
              <a:t>Use events to paint a picture of </a:t>
            </a:r>
            <a:r>
              <a:rPr lang="zh-TW" altLang="en-US" dirty="0" smtClean="0"/>
              <a:t>產品幫助此人把事情做得更好</a:t>
            </a:r>
            <a:endParaRPr lang="en-US" altLang="zh-TW" dirty="0" smtClean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Stories work when people believe in them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363272" cy="4525963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 smtClean="0"/>
              <a:t>Springboard effect</a:t>
            </a:r>
            <a:r>
              <a:rPr lang="zh-TW" altLang="en-US" dirty="0" smtClean="0"/>
              <a:t> 跳板效應 </a:t>
            </a:r>
            <a:r>
              <a:rPr lang="en-US" altLang="zh-TW" dirty="0" smtClean="0"/>
              <a:t>(Stephen Denning)</a:t>
            </a:r>
          </a:p>
          <a:p>
            <a:pPr lvl="1"/>
            <a:r>
              <a:rPr lang="en-US" altLang="zh-TW" dirty="0" smtClean="0"/>
              <a:t>Understandable to the audience</a:t>
            </a:r>
          </a:p>
          <a:p>
            <a:pPr lvl="1"/>
            <a:r>
              <a:rPr lang="en-US" altLang="zh-TW" dirty="0" smtClean="0"/>
              <a:t> Told from the perspective of a single central character</a:t>
            </a:r>
            <a:r>
              <a:rPr lang="zh-TW" altLang="en-US" dirty="0" smtClean="0"/>
              <a:t>核心人物觀點 </a:t>
            </a:r>
            <a:r>
              <a:rPr lang="en-US" altLang="zh-TW" dirty="0" smtClean="0"/>
              <a:t>(what personas do)</a:t>
            </a:r>
          </a:p>
          <a:p>
            <a:pPr lvl="1"/>
            <a:r>
              <a:rPr lang="en-US" altLang="zh-TW" dirty="0" smtClean="0"/>
              <a:t>Prototypical </a:t>
            </a:r>
            <a:r>
              <a:rPr lang="zh-TW" altLang="en-US" dirty="0" smtClean="0"/>
              <a:t>典型的 </a:t>
            </a:r>
            <a:r>
              <a:rPr lang="en-US" altLang="zh-TW" dirty="0" smtClean="0"/>
              <a:t>(</a:t>
            </a:r>
            <a:r>
              <a:rPr lang="zh-TW" altLang="en-US" dirty="0" smtClean="0"/>
              <a:t>代表典型使用者，會遇到的情況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dirty="0" smtClean="0"/>
              <a:t>Have a degree of strangeness or incongruity, but are eerily</a:t>
            </a:r>
            <a:r>
              <a:rPr lang="zh-TW" altLang="en-US" sz="2000" dirty="0" smtClean="0"/>
              <a:t>怪異地</a:t>
            </a:r>
            <a:r>
              <a:rPr lang="en-US" altLang="zh-TW" dirty="0" smtClean="0"/>
              <a:t> familiar</a:t>
            </a:r>
            <a:r>
              <a:rPr lang="zh-TW" altLang="en-US" dirty="0" smtClean="0"/>
              <a:t>  </a:t>
            </a:r>
            <a:r>
              <a:rPr lang="en-US" altLang="zh-TW" dirty="0" smtClean="0"/>
              <a:t>(</a:t>
            </a:r>
            <a:r>
              <a:rPr lang="zh-TW" altLang="en-US" dirty="0" smtClean="0"/>
              <a:t>根據使用者的趣聞軼事編成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dirty="0" smtClean="0"/>
              <a:t>Are based on a real event</a:t>
            </a:r>
            <a:r>
              <a:rPr lang="zh-TW" altLang="en-US" dirty="0" smtClean="0"/>
              <a:t> </a:t>
            </a:r>
            <a:r>
              <a:rPr lang="en-US" altLang="zh-TW" dirty="0" smtClean="0"/>
              <a:t>(</a:t>
            </a:r>
            <a:r>
              <a:rPr lang="zh-TW" altLang="en-US" dirty="0" smtClean="0"/>
              <a:t>真實根據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solidFill>
                  <a:srgbClr val="0070C0"/>
                </a:solidFill>
              </a:rPr>
              <a:t>補充</a:t>
            </a:r>
            <a:r>
              <a:rPr lang="en-US" altLang="zh-TW" dirty="0" smtClean="0">
                <a:solidFill>
                  <a:srgbClr val="0070C0"/>
                </a:solidFill>
              </a:rPr>
              <a:t>:</a:t>
            </a:r>
            <a:r>
              <a:rPr lang="zh-TW" altLang="en-US" dirty="0" smtClean="0">
                <a:solidFill>
                  <a:srgbClr val="0070C0"/>
                </a:solidFill>
              </a:rPr>
              <a:t> </a:t>
            </a:r>
            <a:r>
              <a:rPr lang="zh-TW" altLang="en-US" dirty="0" smtClean="0"/>
              <a:t>情境故事法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91264" cy="478112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TW" altLang="en-US" sz="24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生活就是一連串不斷上演的故事</a:t>
            </a: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，透過對生活情境的觀察，了解產品在生活中扮演的角色，營造產品的使用情境，有助設計者產生具有人性的貼心創意。</a:t>
            </a:r>
            <a:endParaRPr lang="en-US" altLang="zh-TW" sz="2400" dirty="0" smtClean="0">
              <a:latin typeface="微軟正黑體" pitchFamily="34" charset="-120"/>
              <a:ea typeface="微軟正黑體" pitchFamily="34" charset="-120"/>
            </a:endParaRPr>
          </a:p>
          <a:p>
            <a:pPr>
              <a:lnSpc>
                <a:spcPct val="110000"/>
              </a:lnSpc>
            </a:pP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將</a:t>
            </a:r>
            <a:r>
              <a:rPr lang="zh-TW" altLang="en-US" sz="24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使用者的特性、事件、產品與環境之間的關係</a:t>
            </a: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，透過</a:t>
            </a:r>
            <a:r>
              <a:rPr lang="zh-TW" altLang="en-US" b="1" dirty="0" smtClean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想像描述未來使用情境</a:t>
            </a: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，以探討產品構想與設計主題。</a:t>
            </a:r>
            <a:endParaRPr lang="en-US" altLang="zh-TW" sz="2400" dirty="0" smtClean="0">
              <a:latin typeface="微軟正黑體" pitchFamily="34" charset="-120"/>
              <a:ea typeface="微軟正黑體" pitchFamily="34" charset="-120"/>
            </a:endParaRPr>
          </a:p>
          <a:p>
            <a:pPr lvl="1">
              <a:lnSpc>
                <a:spcPct val="110000"/>
              </a:lnSpc>
            </a:pP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以視覺化及實際體驗的方式，引導</a:t>
            </a:r>
            <a:r>
              <a:rPr lang="en-US" altLang="zh-TW" sz="2400" dirty="0" smtClean="0">
                <a:latin typeface="微軟正黑體" pitchFamily="34" charset="-120"/>
                <a:ea typeface="微軟正黑體" pitchFamily="34" charset="-120"/>
              </a:rPr>
              <a:t>designers</a:t>
            </a: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，從使用者及使用情境去評價產品設計</a:t>
            </a:r>
            <a:endParaRPr lang="en-US" altLang="zh-TW" sz="2400" dirty="0" smtClean="0">
              <a:latin typeface="微軟正黑體" pitchFamily="34" charset="-120"/>
              <a:ea typeface="微軟正黑體" pitchFamily="34" charset="-120"/>
            </a:endParaRPr>
          </a:p>
          <a:p>
            <a:pPr>
              <a:lnSpc>
                <a:spcPct val="110000"/>
              </a:lnSpc>
            </a:pPr>
            <a:r>
              <a:rPr lang="zh-TW" altLang="en-US" sz="2400" dirty="0" smtClean="0"/>
              <a:t>利用不同使用者的特性所發展的情境故事，可以讓設計師從不同的觀點，去設想</a:t>
            </a:r>
            <a:r>
              <a:rPr lang="zh-TW" altLang="en-US" sz="2400" dirty="0" smtClean="0">
                <a:solidFill>
                  <a:srgbClr val="C00000"/>
                </a:solidFill>
              </a:rPr>
              <a:t>不同的使用者如何以不同的方式去使用產品</a:t>
            </a:r>
            <a:endParaRPr lang="zh-TW" altLang="en-US" sz="2400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zh-TW" altLang="en-US" dirty="0" smtClean="0">
                <a:solidFill>
                  <a:srgbClr val="0070C0"/>
                </a:solidFill>
              </a:rPr>
              <a:t>補充</a:t>
            </a:r>
            <a:r>
              <a:rPr lang="en-US" altLang="zh-TW" dirty="0" smtClean="0">
                <a:solidFill>
                  <a:srgbClr val="0070C0"/>
                </a:solidFill>
              </a:rPr>
              <a:t>:</a:t>
            </a:r>
            <a:r>
              <a:rPr lang="zh-TW" altLang="en-US" dirty="0" smtClean="0">
                <a:solidFill>
                  <a:srgbClr val="0070C0"/>
                </a:solidFill>
              </a:rPr>
              <a:t> </a:t>
            </a:r>
            <a:r>
              <a:rPr lang="zh-TW" altLang="en-US" dirty="0" smtClean="0"/>
              <a:t>角色描寫的要素</a:t>
            </a:r>
            <a:br>
              <a:rPr lang="zh-TW" altLang="en-US" dirty="0" smtClean="0"/>
            </a:b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251520" y="1196752"/>
            <a:ext cx="8507288" cy="566124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有以下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5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點，分別是外觀、心理、背景、情感態度、個人特色：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pPr>
              <a:lnSpc>
                <a:spcPct val="120000"/>
              </a:lnSpc>
            </a:pP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pPr>
              <a:lnSpc>
                <a:spcPct val="120000"/>
              </a:lnSpc>
            </a:pPr>
            <a:r>
              <a:rPr lang="zh-TW" altLang="en-US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外觀（</a:t>
            </a:r>
            <a:r>
              <a:rPr lang="en-US" altLang="zh-TW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Body</a:t>
            </a:r>
            <a:r>
              <a:rPr lang="zh-TW" altLang="en-US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）：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找出最能呈現角色模樣的照片，或是詳細描述角色外觀，除了長相與身材，更可以包括角色的</a:t>
            </a:r>
            <a:r>
              <a:rPr lang="zh-TW" altLang="en-US" dirty="0" smtClean="0">
                <a:solidFill>
                  <a:srgbClr val="0033CC"/>
                </a:solidFill>
                <a:latin typeface="微軟正黑體" pitchFamily="34" charset="-120"/>
                <a:ea typeface="微軟正黑體" pitchFamily="34" charset="-120"/>
              </a:rPr>
              <a:t>動作型態、姿勢與穿著服裝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，種種關於角色的描繪都是理解角色的重要線索。目的是為了建立角色的真實感，讓設計者產生與真人互動的感覺，在心底形成角色印象，將之視為真人般對待，就能有更多投入與互動的結果。</a:t>
            </a:r>
          </a:p>
          <a:p>
            <a:pPr>
              <a:lnSpc>
                <a:spcPct val="120000"/>
              </a:lnSpc>
            </a:pPr>
            <a:r>
              <a:rPr lang="zh-TW" altLang="en-US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心理（ </a:t>
            </a:r>
            <a:r>
              <a:rPr lang="en-US" altLang="zh-TW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Psyche</a:t>
            </a:r>
            <a:r>
              <a:rPr lang="zh-TW" altLang="en-US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）：</a:t>
            </a:r>
            <a:r>
              <a:rPr lang="zh-TW" altLang="en-US" dirty="0" smtClean="0">
                <a:solidFill>
                  <a:srgbClr val="0033CC"/>
                </a:solidFill>
                <a:latin typeface="微軟正黑體" pitchFamily="34" charset="-120"/>
                <a:ea typeface="微軟正黑體" pitchFamily="34" charset="-120"/>
              </a:rPr>
              <a:t>角色最底層的慾望和恐懼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。心理面是建造生動角色的骨幹，掌握角色形成的核心，就能理解他們對人生和環境的整體態度。慾望促使我們貪心、渴望更多滿足，恐懼則讓我們試圖逃避或是對抗某些人事物，這些因子都會不斷影響我們思考與行動，決定一個人面對問題的反應。</a:t>
            </a:r>
          </a:p>
          <a:p>
            <a:pPr>
              <a:lnSpc>
                <a:spcPct val="120000"/>
              </a:lnSpc>
            </a:pP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107504" y="404664"/>
            <a:ext cx="8820472" cy="6984776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zh-TW" altLang="en-US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背景（</a:t>
            </a:r>
            <a:r>
              <a:rPr lang="en-US" altLang="zh-TW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Background</a:t>
            </a:r>
            <a:r>
              <a:rPr lang="zh-TW" altLang="en-US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）：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不僅止是傳統的人口地理學的分類法，而是完整構建出</a:t>
            </a:r>
            <a:r>
              <a:rPr lang="zh-TW" altLang="en-US" dirty="0" smtClean="0">
                <a:solidFill>
                  <a:srgbClr val="0033CC"/>
                </a:solidFill>
                <a:latin typeface="微軟正黑體" pitchFamily="34" charset="-120"/>
                <a:ea typeface="微軟正黑體" pitchFamily="34" charset="-120"/>
              </a:rPr>
              <a:t>角色的社會性特徵。包含了年齡、家庭、教育、種族、性別、職業、生活脈絡</a:t>
            </a:r>
            <a:r>
              <a:rPr lang="en-US" altLang="zh-TW" dirty="0" smtClean="0">
                <a:solidFill>
                  <a:srgbClr val="0033CC"/>
                </a:solidFill>
                <a:latin typeface="微軟正黑體" pitchFamily="34" charset="-120"/>
                <a:ea typeface="微軟正黑體" pitchFamily="34" charset="-120"/>
              </a:rPr>
              <a:t>……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，背景必須是有脈絡可循的，因角色背景型塑該角色的能力、態度和世界觀。</a:t>
            </a:r>
          </a:p>
          <a:p>
            <a:pPr>
              <a:lnSpc>
                <a:spcPct val="120000"/>
              </a:lnSpc>
            </a:pPr>
            <a:r>
              <a:rPr lang="zh-TW" altLang="en-US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情感與態度（</a:t>
            </a:r>
            <a:r>
              <a:rPr lang="en-US" altLang="zh-TW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Emotions and attitudes</a:t>
            </a:r>
            <a:r>
              <a:rPr lang="zh-TW" altLang="en-US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）：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細緻的去談角色的</a:t>
            </a:r>
            <a:r>
              <a:rPr lang="zh-TW" altLang="en-US" dirty="0" smtClean="0">
                <a:solidFill>
                  <a:srgbClr val="0033CC"/>
                </a:solidFill>
                <a:latin typeface="微軟正黑體" pitchFamily="34" charset="-120"/>
                <a:ea typeface="微軟正黑體" pitchFamily="34" charset="-120"/>
              </a:rPr>
              <a:t>嗜好和習慣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，分析角色對生活周遭、器物、知識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……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的觀感。</a:t>
            </a:r>
          </a:p>
          <a:p>
            <a:pPr>
              <a:lnSpc>
                <a:spcPct val="120000"/>
              </a:lnSpc>
            </a:pPr>
            <a:r>
              <a:rPr lang="zh-TW" altLang="en-US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個人特色（</a:t>
            </a:r>
            <a:r>
              <a:rPr lang="en-US" altLang="zh-TW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Personal traits</a:t>
            </a:r>
            <a:r>
              <a:rPr lang="zh-TW" altLang="en-US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）：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在小說中，人物設計依角色發展完整度分成兩種，扁平角色和成熟角色。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pPr lvl="1">
              <a:lnSpc>
                <a:spcPct val="120000"/>
              </a:lnSpc>
            </a:pP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扁平角色（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flat character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）只具有一個或少數的角色特質，角色性格十分固定，因而扁平角色的行動是容易且可預測的，讓人一眼就能看穿。扁平角色與刻板印象往往十分雷同，如壞心的老鴇、欺善怕惡的小混混、善良樸實的農家女、忠心耿耿的管家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……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。因欠缺多變性，扁平角色較單調，難以讓人投入、與角色產生互動。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pPr lvl="1">
              <a:lnSpc>
                <a:spcPct val="120000"/>
              </a:lnSpc>
            </a:pP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成熟角色（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rounded character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）則</a:t>
            </a:r>
            <a:r>
              <a:rPr lang="zh-TW" altLang="en-US" dirty="0" smtClean="0">
                <a:solidFill>
                  <a:srgbClr val="0033CC"/>
                </a:solidFill>
                <a:latin typeface="微軟正黑體" pitchFamily="34" charset="-120"/>
                <a:ea typeface="微軟正黑體" pitchFamily="34" charset="-120"/>
              </a:rPr>
              <a:t>擁有複雜多重的角色特質，行動難以預測，角色的層次越多越複雜，越令觀者好奇，進而對角色產生高涉入度，建立角色逼真性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。因而設計者要注意的是，在設計人物時，儘量避免落入刻板印象，而要以創建出讓團隊成員都能高涉入的角色當作核心設計要旨。</a:t>
            </a:r>
          </a:p>
          <a:p>
            <a:pPr>
              <a:lnSpc>
                <a:spcPct val="120000"/>
              </a:lnSpc>
            </a:pP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story that came true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 smtClean="0"/>
              <a:t>Stories can be based on things you observed in user research. </a:t>
            </a:r>
          </a:p>
          <a:p>
            <a:pPr lvl="1"/>
            <a:r>
              <a:rPr lang="en-US" altLang="zh-TW" dirty="0" smtClean="0"/>
              <a:t>Start from a real context or event</a:t>
            </a:r>
          </a:p>
          <a:p>
            <a:pPr lvl="1"/>
            <a:r>
              <a:rPr lang="zh-TW" altLang="en-US" dirty="0" smtClean="0"/>
              <a:t>想法越創新，越需要建構在熟悉的情境中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Tell the negative story of how bad the problem is right now</a:t>
            </a:r>
          </a:p>
          <a:p>
            <a:pPr lvl="1"/>
            <a:r>
              <a:rPr lang="en-US" altLang="zh-TW" dirty="0" smtClean="0"/>
              <a:t>Stories must sound believable to be compelling</a:t>
            </a:r>
            <a:r>
              <a:rPr lang="zh-TW" altLang="en-US" dirty="0" smtClean="0"/>
              <a:t>越真實越容易信服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Based on facts and real anecdotes</a:t>
            </a:r>
            <a:r>
              <a:rPr lang="zh-TW" altLang="en-US" dirty="0" smtClean="0"/>
              <a:t> </a:t>
            </a:r>
            <a:r>
              <a:rPr lang="zh-TW" altLang="en-US" sz="2000" dirty="0" smtClean="0"/>
              <a:t>軼聞趣事</a:t>
            </a:r>
            <a:endParaRPr lang="zh-TW" alt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Stories and scenarios</a:t>
            </a:r>
            <a:endParaRPr lang="zh-TW" altLang="en-US" dirty="0"/>
          </a:p>
        </p:txBody>
      </p:sp>
      <p:pic>
        <p:nvPicPr>
          <p:cNvPr id="67586" name="Picture 2" descr="http://sehlhorst.smugmug.com/photos/466745248_2KGgn-L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1484784"/>
            <a:ext cx="4286250" cy="2543175"/>
          </a:xfrm>
          <a:prstGeom prst="rect">
            <a:avLst/>
          </a:prstGeom>
          <a:noFill/>
        </p:spPr>
      </p:pic>
      <p:pic>
        <p:nvPicPr>
          <p:cNvPr id="67588" name="Picture 4" descr="http://sehlhorst.smugmug.com/photos/466745337_mifdy-L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32040" y="2664760"/>
            <a:ext cx="4211960" cy="41932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資料庫圖表 3"/>
          <p:cNvGraphicFramePr/>
          <p:nvPr/>
        </p:nvGraphicFramePr>
        <p:xfrm>
          <a:off x="0" y="-99392"/>
          <a:ext cx="9323512" cy="66247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>
          <a:xfrm>
            <a:off x="467544" y="620688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zh-TW" altLang="en-US" dirty="0" smtClean="0"/>
              <a:t>從左 </a:t>
            </a:r>
            <a:r>
              <a:rPr lang="en-US" altLang="zh-TW" dirty="0" smtClean="0"/>
              <a:t>(initial discovery and exploration)</a:t>
            </a:r>
            <a:r>
              <a:rPr lang="zh-TW" altLang="en-US" dirty="0" smtClean="0"/>
              <a:t> </a:t>
            </a:r>
            <a:endParaRPr lang="en-US" altLang="zh-TW" dirty="0" smtClean="0"/>
          </a:p>
          <a:p>
            <a:pPr algn="ctr">
              <a:buNone/>
            </a:pPr>
            <a:r>
              <a:rPr lang="zh-TW" altLang="en-US" dirty="0" smtClean="0"/>
              <a:t>到</a:t>
            </a:r>
            <a:endParaRPr lang="en-US" altLang="zh-TW" dirty="0" smtClean="0"/>
          </a:p>
          <a:p>
            <a:pPr>
              <a:buNone/>
            </a:pPr>
            <a:r>
              <a:rPr lang="zh-TW" altLang="en-US" dirty="0" smtClean="0"/>
              <a:t>右 </a:t>
            </a:r>
            <a:r>
              <a:rPr lang="en-US" altLang="zh-TW" dirty="0" smtClean="0"/>
              <a:t>(detailed interface and interaction design)</a:t>
            </a:r>
            <a:endParaRPr lang="zh-TW" altLang="en-US" dirty="0"/>
          </a:p>
        </p:txBody>
      </p:sp>
      <p:grpSp>
        <p:nvGrpSpPr>
          <p:cNvPr id="6" name="群組 5"/>
          <p:cNvGrpSpPr/>
          <p:nvPr/>
        </p:nvGrpSpPr>
        <p:grpSpPr>
          <a:xfrm>
            <a:off x="1047458" y="3717032"/>
            <a:ext cx="2517530" cy="1296145"/>
            <a:chOff x="2270102" y="2664295"/>
            <a:chExt cx="2517530" cy="1296145"/>
          </a:xfrm>
        </p:grpSpPr>
        <p:sp>
          <p:nvSpPr>
            <p:cNvPr id="13" name="＞形箭號 12"/>
            <p:cNvSpPr/>
            <p:nvPr/>
          </p:nvSpPr>
          <p:spPr>
            <a:xfrm>
              <a:off x="2270102" y="2664295"/>
              <a:ext cx="2517530" cy="1296145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＞形箭號 4"/>
            <p:cNvSpPr/>
            <p:nvPr/>
          </p:nvSpPr>
          <p:spPr>
            <a:xfrm>
              <a:off x="2918175" y="2664295"/>
              <a:ext cx="1221385" cy="129614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26670" rIns="26670" bIns="26670" numCol="1" spcCol="1270" anchor="ctr" anchorCtr="0">
              <a:noAutofit/>
            </a:bodyPr>
            <a:lstStyle/>
            <a:p>
              <a:pPr lvl="0" algn="ctr" defTabSz="889000">
                <a:lnSpc>
                  <a:spcPct val="7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TW" sz="2000" b="1" kern="1200" dirty="0" smtClean="0"/>
                <a:t>Points of pain stories</a:t>
              </a:r>
              <a:endParaRPr lang="zh-TW" altLang="en-US" sz="2000" b="1" kern="1200" dirty="0"/>
            </a:p>
          </p:txBody>
        </p:sp>
      </p:grpSp>
      <p:grpSp>
        <p:nvGrpSpPr>
          <p:cNvPr id="7" name="群組 6"/>
          <p:cNvGrpSpPr/>
          <p:nvPr/>
        </p:nvGrpSpPr>
        <p:grpSpPr>
          <a:xfrm>
            <a:off x="3203848" y="3717032"/>
            <a:ext cx="2517530" cy="1296145"/>
            <a:chOff x="4535879" y="2664295"/>
            <a:chExt cx="2517530" cy="1296145"/>
          </a:xfrm>
        </p:grpSpPr>
        <p:sp>
          <p:nvSpPr>
            <p:cNvPr id="11" name="＞形箭號 10"/>
            <p:cNvSpPr/>
            <p:nvPr/>
          </p:nvSpPr>
          <p:spPr>
            <a:xfrm>
              <a:off x="4535879" y="2664295"/>
              <a:ext cx="2517530" cy="1296145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＞形箭號 6"/>
            <p:cNvSpPr/>
            <p:nvPr/>
          </p:nvSpPr>
          <p:spPr>
            <a:xfrm>
              <a:off x="5183952" y="2664295"/>
              <a:ext cx="1221385" cy="129614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26670" rIns="26670" bIns="26670" numCol="1" spcCol="1270" anchor="ctr" anchorCtr="0">
              <a:noAutofit/>
            </a:bodyPr>
            <a:lstStyle/>
            <a:p>
              <a:pPr lvl="0" algn="ctr" defTabSz="889000">
                <a:lnSpc>
                  <a:spcPct val="7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TW" sz="2000" b="1" kern="1200" dirty="0" smtClean="0"/>
                <a:t>Design map</a:t>
              </a:r>
              <a:endParaRPr lang="zh-TW" altLang="en-US" sz="2000" b="1" kern="1200" dirty="0"/>
            </a:p>
          </p:txBody>
        </p:sp>
      </p:grpSp>
      <p:grpSp>
        <p:nvGrpSpPr>
          <p:cNvPr id="8" name="群組 7"/>
          <p:cNvGrpSpPr/>
          <p:nvPr/>
        </p:nvGrpSpPr>
        <p:grpSpPr>
          <a:xfrm>
            <a:off x="5469625" y="3717032"/>
            <a:ext cx="2517530" cy="1296145"/>
            <a:chOff x="6801656" y="2664295"/>
            <a:chExt cx="2517530" cy="1296145"/>
          </a:xfrm>
        </p:grpSpPr>
        <p:sp>
          <p:nvSpPr>
            <p:cNvPr id="9" name="＞形箭號 8"/>
            <p:cNvSpPr/>
            <p:nvPr/>
          </p:nvSpPr>
          <p:spPr>
            <a:xfrm>
              <a:off x="6801656" y="2664295"/>
              <a:ext cx="2517530" cy="1296145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＞形箭號 8"/>
            <p:cNvSpPr/>
            <p:nvPr/>
          </p:nvSpPr>
          <p:spPr>
            <a:xfrm>
              <a:off x="7449729" y="2664295"/>
              <a:ext cx="1221385" cy="129614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26670" rIns="26670" bIns="26670" numCol="1" spcCol="1270" anchor="ctr" anchorCtr="0">
              <a:noAutofit/>
            </a:bodyPr>
            <a:lstStyle/>
            <a:p>
              <a:pPr lvl="0" algn="ctr" defTabSz="889000">
                <a:lnSpc>
                  <a:spcPct val="7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TW" sz="2000" b="1" dirty="0" smtClean="0"/>
                <a:t>Flow diagrams</a:t>
              </a:r>
              <a:endParaRPr lang="en-US" altLang="zh-TW" sz="2000" b="1" kern="1200" dirty="0" smtClean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125760"/>
            <a:ext cx="8229600" cy="1143000"/>
          </a:xfrm>
        </p:spPr>
        <p:txBody>
          <a:bodyPr/>
          <a:lstStyle/>
          <a:p>
            <a:r>
              <a:rPr lang="zh-TW" altLang="en-US" dirty="0" smtClean="0"/>
              <a:t>各種</a:t>
            </a:r>
            <a:r>
              <a:rPr lang="en-US" altLang="zh-TW" dirty="0" smtClean="0"/>
              <a:t>story</a:t>
            </a:r>
            <a:r>
              <a:rPr lang="zh-TW" altLang="en-US" dirty="0" smtClean="0"/>
              <a:t>形式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457200" y="1412776"/>
            <a:ext cx="8229600" cy="4713387"/>
          </a:xfrm>
        </p:spPr>
        <p:txBody>
          <a:bodyPr>
            <a:normAutofit fontScale="85000" lnSpcReduction="20000"/>
          </a:bodyPr>
          <a:lstStyle/>
          <a:p>
            <a:pPr lvl="0">
              <a:lnSpc>
                <a:spcPct val="120000"/>
              </a:lnSpc>
            </a:pPr>
            <a:r>
              <a:rPr lang="en-US" altLang="zh-TW" sz="3000" dirty="0" smtClean="0"/>
              <a:t>Springboard stories </a:t>
            </a:r>
            <a:r>
              <a:rPr lang="zh-TW" altLang="en-US" sz="3000" dirty="0" smtClean="0"/>
              <a:t>僅簡短呈現問題</a:t>
            </a:r>
            <a:endParaRPr lang="en-US" altLang="zh-TW" sz="3000" dirty="0" smtClean="0"/>
          </a:p>
          <a:p>
            <a:pPr>
              <a:lnSpc>
                <a:spcPct val="120000"/>
              </a:lnSpc>
            </a:pPr>
            <a:r>
              <a:rPr lang="en-US" altLang="zh-TW" sz="3000" dirty="0" smtClean="0"/>
              <a:t>Points of pain stories</a:t>
            </a:r>
            <a:r>
              <a:rPr lang="zh-TW" altLang="en-US" sz="3000" dirty="0" smtClean="0"/>
              <a:t> 呈現不同形式的問題 </a:t>
            </a:r>
            <a:r>
              <a:rPr lang="en-US" altLang="zh-TW" sz="3000" dirty="0" smtClean="0"/>
              <a:t>&amp;</a:t>
            </a:r>
            <a:r>
              <a:rPr lang="zh-TW" altLang="en-US" sz="3000" dirty="0" smtClean="0"/>
              <a:t> 可能的解決方法</a:t>
            </a:r>
          </a:p>
          <a:p>
            <a:pPr>
              <a:lnSpc>
                <a:spcPct val="120000"/>
              </a:lnSpc>
            </a:pPr>
            <a:r>
              <a:rPr lang="en-US" altLang="zh-TW" sz="3000" dirty="0" smtClean="0"/>
              <a:t>Key scenarios </a:t>
            </a:r>
            <a:r>
              <a:rPr lang="zh-TW" altLang="en-US" sz="3000" dirty="0" smtClean="0"/>
              <a:t> </a:t>
            </a:r>
            <a:endParaRPr lang="en-US" altLang="zh-TW" sz="3000" dirty="0" smtClean="0"/>
          </a:p>
          <a:p>
            <a:pPr lvl="1">
              <a:lnSpc>
                <a:spcPct val="120000"/>
              </a:lnSpc>
            </a:pPr>
            <a:r>
              <a:rPr lang="zh-TW" altLang="en-US" sz="3000" dirty="0" smtClean="0"/>
              <a:t>描述</a:t>
            </a:r>
            <a:r>
              <a:rPr lang="en-US" altLang="zh-TW" sz="3000" dirty="0" smtClean="0"/>
              <a:t>personal </a:t>
            </a:r>
            <a:r>
              <a:rPr lang="zh-TW" altLang="en-US" sz="3000" dirty="0" smtClean="0"/>
              <a:t>與產品互動狀況</a:t>
            </a:r>
          </a:p>
          <a:p>
            <a:pPr lvl="1">
              <a:lnSpc>
                <a:spcPct val="120000"/>
              </a:lnSpc>
            </a:pPr>
            <a:r>
              <a:rPr lang="zh-TW" altLang="en-US" sz="3000" dirty="0" smtClean="0"/>
              <a:t>呈現複雜情境</a:t>
            </a:r>
            <a:endParaRPr lang="en-US" altLang="zh-TW" sz="3000" dirty="0" smtClean="0"/>
          </a:p>
          <a:p>
            <a:pPr lvl="2">
              <a:lnSpc>
                <a:spcPct val="120000"/>
              </a:lnSpc>
            </a:pPr>
            <a:r>
              <a:rPr lang="zh-TW" altLang="en-US" sz="3000" dirty="0" smtClean="0"/>
              <a:t>達到目標的</a:t>
            </a:r>
            <a:r>
              <a:rPr lang="en-US" altLang="zh-TW" sz="3000" dirty="0" smtClean="0"/>
              <a:t>gap</a:t>
            </a:r>
          </a:p>
          <a:p>
            <a:pPr lvl="2">
              <a:lnSpc>
                <a:spcPct val="120000"/>
              </a:lnSpc>
            </a:pPr>
            <a:r>
              <a:rPr lang="zh-TW" altLang="en-US" sz="3000" dirty="0" smtClean="0"/>
              <a:t>現有解決方案的問題</a:t>
            </a:r>
            <a:endParaRPr lang="en-US" altLang="zh-TW" sz="3000" dirty="0" smtClean="0"/>
          </a:p>
          <a:p>
            <a:pPr lvl="2">
              <a:lnSpc>
                <a:spcPct val="120000"/>
              </a:lnSpc>
            </a:pPr>
            <a:r>
              <a:rPr lang="zh-TW" altLang="en-US" sz="3000" dirty="0" smtClean="0"/>
              <a:t>使用性問題</a:t>
            </a:r>
            <a:endParaRPr lang="en-US" altLang="zh-TW" sz="3000" dirty="0" smtClean="0"/>
          </a:p>
          <a:p>
            <a:pPr lvl="2">
              <a:lnSpc>
                <a:spcPct val="120000"/>
              </a:lnSpc>
            </a:pPr>
            <a:r>
              <a:rPr lang="zh-TW" altLang="en-US" sz="3000" dirty="0" smtClean="0"/>
              <a:t>新的需求</a:t>
            </a:r>
            <a:endParaRPr lang="en-US" altLang="zh-TW" sz="3000" dirty="0" smtClean="0"/>
          </a:p>
          <a:p>
            <a:pPr>
              <a:lnSpc>
                <a:spcPct val="120000"/>
              </a:lnSpc>
            </a:pPr>
            <a:endParaRPr lang="en-US" altLang="zh-TW" sz="2800" dirty="0" smtClean="0"/>
          </a:p>
          <a:p>
            <a:pPr lvl="0">
              <a:lnSpc>
                <a:spcPct val="120000"/>
              </a:lnSpc>
            </a:pPr>
            <a:endParaRPr lang="zh-TW" altLang="en-US" sz="2800" dirty="0" smtClean="0"/>
          </a:p>
          <a:p>
            <a:pPr>
              <a:lnSpc>
                <a:spcPct val="120000"/>
              </a:lnSpc>
            </a:pPr>
            <a:endParaRPr lang="zh-TW" altLang="en-US" sz="2800" dirty="0" smtClean="0"/>
          </a:p>
          <a:p>
            <a:pPr lvl="0">
              <a:lnSpc>
                <a:spcPct val="120000"/>
              </a:lnSpc>
            </a:pPr>
            <a:endParaRPr lang="zh-TW" altLang="en-US" sz="2800" dirty="0" smtClean="0"/>
          </a:p>
          <a:p>
            <a:pPr>
              <a:lnSpc>
                <a:spcPct val="120000"/>
              </a:lnSpc>
            </a:pPr>
            <a:endParaRPr lang="zh-TW" alt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467544" y="692696"/>
            <a:ext cx="8229600" cy="5577483"/>
          </a:xfrm>
        </p:spPr>
        <p:txBody>
          <a:bodyPr>
            <a:normAutofit lnSpcReduction="10000"/>
          </a:bodyPr>
          <a:lstStyle/>
          <a:p>
            <a:pPr lvl="0"/>
            <a:r>
              <a:rPr lang="en-US" altLang="zh-TW" sz="2800" dirty="0" smtClean="0">
                <a:latin typeface="微軟正黑體" pitchFamily="34" charset="-120"/>
                <a:ea typeface="微軟正黑體" pitchFamily="34" charset="-120"/>
              </a:rPr>
              <a:t>Narrative scenarios </a:t>
            </a:r>
          </a:p>
          <a:p>
            <a:pPr lvl="1"/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Longer 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從頭到尾描述一個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task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或情境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pPr lvl="1"/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Present </a:t>
            </a:r>
            <a:r>
              <a:rPr lang="en-US" altLang="zh-TW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entire tasks 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in narrative format</a:t>
            </a:r>
          </a:p>
          <a:p>
            <a:pPr lvl="1"/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Help to make sure the </a:t>
            </a:r>
            <a:r>
              <a:rPr lang="en-US" altLang="zh-TW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proposed design, flow, or use case makes sense</a:t>
            </a:r>
          </a:p>
          <a:p>
            <a:pPr marL="342900" lvl="1" indent="-342900">
              <a:buFont typeface="Arial" pitchFamily="34" charset="0"/>
              <a:buChar char="•"/>
            </a:pP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pPr marL="342900" lvl="1" indent="-342900">
              <a:buFont typeface="Arial" pitchFamily="34" charset="0"/>
              <a:buChar char="•"/>
            </a:pP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Design map</a:t>
            </a:r>
          </a:p>
          <a:p>
            <a:pPr lvl="1"/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從</a:t>
            </a:r>
            <a:r>
              <a:rPr lang="en-US" altLang="zh-TW" sz="2400" dirty="0" smtClean="0">
                <a:latin typeface="微軟正黑體" pitchFamily="34" charset="-120"/>
                <a:ea typeface="微軟正黑體" pitchFamily="34" charset="-120"/>
              </a:rPr>
              <a:t>persona </a:t>
            </a: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角度來看互動過程</a:t>
            </a:r>
            <a:endParaRPr lang="en-US" altLang="zh-TW" sz="2400" dirty="0" smtClean="0">
              <a:latin typeface="微軟正黑體" pitchFamily="34" charset="-120"/>
              <a:ea typeface="微軟正黑體" pitchFamily="34" charset="-120"/>
            </a:endParaRPr>
          </a:p>
          <a:p>
            <a:pPr lvl="1"/>
            <a:r>
              <a:rPr lang="zh-TW" altLang="en-US" sz="24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呈現事件的順序與步驟</a:t>
            </a:r>
            <a:endParaRPr lang="en-US" altLang="zh-TW" sz="2400" dirty="0" smtClean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 lvl="1"/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更深入的探索重要情境</a:t>
            </a:r>
            <a:r>
              <a:rPr lang="en-US" altLang="zh-TW" sz="2400" dirty="0" smtClean="0">
                <a:latin typeface="微軟正黑體" pitchFamily="34" charset="-120"/>
                <a:ea typeface="微軟正黑體" pitchFamily="34" charset="-120"/>
              </a:rPr>
              <a:t>&amp;</a:t>
            </a: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互動細節</a:t>
            </a:r>
            <a:endParaRPr lang="en-US" altLang="zh-TW" sz="2400" dirty="0" smtClean="0">
              <a:latin typeface="微軟正黑體" pitchFamily="34" charset="-120"/>
              <a:ea typeface="微軟正黑體" pitchFamily="34" charset="-120"/>
            </a:endParaRPr>
          </a:p>
          <a:p>
            <a:pPr lvl="1"/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幫助</a:t>
            </a:r>
            <a:r>
              <a:rPr lang="en-US" altLang="zh-TW" sz="2400" dirty="0" smtClean="0">
                <a:latin typeface="微軟正黑體" pitchFamily="34" charset="-120"/>
                <a:ea typeface="微軟正黑體" pitchFamily="34" charset="-120"/>
              </a:rPr>
              <a:t>designers </a:t>
            </a:r>
            <a:r>
              <a:rPr lang="zh-TW" altLang="en-US" sz="2400" dirty="0" smtClean="0">
                <a:latin typeface="微軟正黑體" pitchFamily="34" charset="-120"/>
                <a:ea typeface="微軟正黑體" pitchFamily="34" charset="-120"/>
              </a:rPr>
              <a:t>從早期的呈現故事轉換到實際明確的產品</a:t>
            </a:r>
            <a:endParaRPr lang="en-US" altLang="zh-TW" sz="2400" dirty="0" smtClean="0">
              <a:latin typeface="微軟正黑體" pitchFamily="34" charset="-120"/>
              <a:ea typeface="微軟正黑體" pitchFamily="34" charset="-120"/>
            </a:endParaRPr>
          </a:p>
          <a:p>
            <a:pPr lvl="1"/>
            <a:endParaRPr lang="en-US" altLang="zh-TW" sz="2400" dirty="0" smtClean="0">
              <a:latin typeface="微軟正黑體" pitchFamily="34" charset="-120"/>
              <a:ea typeface="微軟正黑體" pitchFamily="34" charset="-120"/>
            </a:endParaRPr>
          </a:p>
          <a:p>
            <a:endParaRPr lang="zh-TW" altLang="en-US" sz="2800" dirty="0"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2" descr="http://www.ustudy.in/imagebrowser/view/image/5963/_original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9992" y="1772816"/>
            <a:ext cx="4752975" cy="4962526"/>
          </a:xfrm>
          <a:prstGeom prst="rect">
            <a:avLst/>
          </a:prstGeom>
          <a:noFill/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Flow diagrams</a:t>
            </a:r>
          </a:p>
          <a:p>
            <a:pPr lvl="1"/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Walking through the logic of a process</a:t>
            </a:r>
          </a:p>
          <a:p>
            <a:pPr lvl="1"/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如同情境敘述的骨幹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pPr lvl="0"/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pPr lvl="0"/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Use cases </a:t>
            </a:r>
          </a:p>
          <a:p>
            <a:pPr lvl="1"/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Sequence of actions</a:t>
            </a:r>
            <a:endParaRPr lang="zh-TW" altLang="en-US" dirty="0" smtClean="0">
              <a:latin typeface="微軟正黑體" pitchFamily="34" charset="-120"/>
              <a:ea typeface="微軟正黑體" pitchFamily="34" charset="-120"/>
            </a:endParaRP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We can write a story to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457200" y="1443568"/>
            <a:ext cx="8229600" cy="4937760"/>
          </a:xfrm>
        </p:spPr>
        <p:txBody>
          <a:bodyPr>
            <a:normAutofit fontScale="85000" lnSpcReduction="10000"/>
          </a:bodyPr>
          <a:lstStyle/>
          <a:p>
            <a:r>
              <a:rPr lang="en-US" altLang="zh-TW" dirty="0" smtClean="0"/>
              <a:t>Establish a situation or context</a:t>
            </a:r>
          </a:p>
          <a:p>
            <a:pPr lvl="1"/>
            <a:r>
              <a:rPr lang="zh-TW" altLang="en-US" dirty="0" smtClean="0"/>
              <a:t>故事背景需要與產品設計有關，去除無關細節</a:t>
            </a:r>
            <a:endParaRPr lang="en-US" altLang="zh-TW" dirty="0" smtClean="0"/>
          </a:p>
          <a:p>
            <a:r>
              <a:rPr lang="en-US" altLang="zh-TW" dirty="0" smtClean="0"/>
              <a:t>Illustrate a problem or a positive experience</a:t>
            </a:r>
          </a:p>
          <a:p>
            <a:pPr lvl="1"/>
            <a:r>
              <a:rPr lang="en-US" altLang="zh-TW" dirty="0" smtClean="0"/>
              <a:t>Show how the current situation prevents the persona from reaching a goal or completing a task.</a:t>
            </a:r>
          </a:p>
          <a:p>
            <a:pPr lvl="1"/>
            <a:r>
              <a:rPr lang="en-US" altLang="zh-TW" dirty="0" smtClean="0"/>
              <a:t>Provide explanations for how the persona behaves.</a:t>
            </a:r>
          </a:p>
          <a:p>
            <a:pPr lvl="1"/>
            <a:r>
              <a:rPr lang="en-US" altLang="zh-TW" dirty="0" smtClean="0"/>
              <a:t>Implication: the new product will change the ending</a:t>
            </a:r>
          </a:p>
          <a:p>
            <a:r>
              <a:rPr lang="en-US" altLang="zh-TW" dirty="0" smtClean="0"/>
              <a:t>Propose a new solution</a:t>
            </a:r>
          </a:p>
          <a:p>
            <a:pPr lvl="1"/>
            <a:r>
              <a:rPr lang="en-US" altLang="zh-TW" dirty="0" smtClean="0"/>
              <a:t>Explore new ways persona can meet their goals. 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638259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Story element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39551" y="1340766"/>
          <a:ext cx="8064897" cy="5389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82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8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0094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Element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Questions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Answers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0094"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Goals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/>
                        <a:t>寫故事的目標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0094"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Character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/>
                        <a:t>故事中的主角</a:t>
                      </a:r>
                      <a:endParaRPr lang="en-US" altLang="zh-TW" sz="2400" dirty="0" smtClean="0"/>
                    </a:p>
                    <a:p>
                      <a:r>
                        <a:rPr lang="zh-TW" altLang="en-US" sz="2400" dirty="0" smtClean="0"/>
                        <a:t>其他相關角色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0094"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Situation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/>
                        <a:t>事件前的狀況</a:t>
                      </a:r>
                      <a:endParaRPr lang="en-US" altLang="zh-TW" sz="2400" dirty="0" smtClean="0"/>
                    </a:p>
                    <a:p>
                      <a:r>
                        <a:rPr lang="zh-TW" altLang="en-US" sz="2400" dirty="0" smtClean="0"/>
                        <a:t>主角的目標</a:t>
                      </a:r>
                      <a:endParaRPr lang="en-US" altLang="zh-TW" sz="2400" dirty="0" smtClean="0"/>
                    </a:p>
                    <a:p>
                      <a:r>
                        <a:rPr lang="zh-TW" altLang="en-US" sz="2400" dirty="0" smtClean="0"/>
                        <a:t>甚麼觸發行動</a:t>
                      </a:r>
                      <a:r>
                        <a:rPr lang="en-US" altLang="zh-TW" sz="2400" dirty="0" smtClean="0"/>
                        <a:t>?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0094"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Action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/>
                        <a:t>事情發生經過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0094"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Resolution 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/>
                        <a:t>事情的結果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原創">
  <a:themeElements>
    <a:clrScheme name="原創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原創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原創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365</TotalTime>
  <Words>1582</Words>
  <Application>Microsoft Office PowerPoint</Application>
  <PresentationFormat>如螢幕大小 (4:3)</PresentationFormat>
  <Paragraphs>186</Paragraphs>
  <Slides>23</Slides>
  <Notes>17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33" baseType="lpstr">
      <vt:lpstr>微軟正黑體</vt:lpstr>
      <vt:lpstr>新細明體</vt:lpstr>
      <vt:lpstr>標楷體</vt:lpstr>
      <vt:lpstr>Arial</vt:lpstr>
      <vt:lpstr>Bookman Old Style</vt:lpstr>
      <vt:lpstr>Calibri</vt:lpstr>
      <vt:lpstr>Gill Sans MT</vt:lpstr>
      <vt:lpstr>Wingdings</vt:lpstr>
      <vt:lpstr>Wingdings 3</vt:lpstr>
      <vt:lpstr>原創</vt:lpstr>
      <vt:lpstr>Story telling and narrative</vt:lpstr>
      <vt:lpstr>Reasons to write a story</vt:lpstr>
      <vt:lpstr>PowerPoint 簡報</vt:lpstr>
      <vt:lpstr>PowerPoint 簡報</vt:lpstr>
      <vt:lpstr>採用故事理由</vt:lpstr>
      <vt:lpstr>PowerPoint 簡報</vt:lpstr>
      <vt:lpstr>Stories communicate culture </vt:lpstr>
      <vt:lpstr>Stories organize and transmit information</vt:lpstr>
      <vt:lpstr>Stories explore new ideas</vt:lpstr>
      <vt:lpstr>PowerPoint 簡報</vt:lpstr>
      <vt:lpstr>Good stories --</vt:lpstr>
      <vt:lpstr>Stories work when people believe in them</vt:lpstr>
      <vt:lpstr>補充: 情境故事法</vt:lpstr>
      <vt:lpstr>補充: 角色描寫的要素 </vt:lpstr>
      <vt:lpstr>PowerPoint 簡報</vt:lpstr>
      <vt:lpstr>The story that came true</vt:lpstr>
      <vt:lpstr>Stories and scenarios</vt:lpstr>
      <vt:lpstr>PowerPoint 簡報</vt:lpstr>
      <vt:lpstr>各種story形式</vt:lpstr>
      <vt:lpstr>PowerPoint 簡報</vt:lpstr>
      <vt:lpstr>PowerPoint 簡報</vt:lpstr>
      <vt:lpstr>We can write a story to</vt:lpstr>
      <vt:lpstr>Story element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W11  C 9 Story telling and narrative</dc:title>
  <dc:creator>user</dc:creator>
  <cp:lastModifiedBy>User</cp:lastModifiedBy>
  <cp:revision>175</cp:revision>
  <dcterms:created xsi:type="dcterms:W3CDTF">2011-05-02T15:20:03Z</dcterms:created>
  <dcterms:modified xsi:type="dcterms:W3CDTF">2018-09-13T07:54:10Z</dcterms:modified>
</cp:coreProperties>
</file>