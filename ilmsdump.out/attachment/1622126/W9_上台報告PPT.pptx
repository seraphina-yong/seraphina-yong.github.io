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7" name="Shape 57"/>
        <p:cNvGrpSpPr/>
        <p:nvPr/>
      </p:nvGrpSpPr>
      <p:grpSpPr>
        <a:xfrm>
          <a:off x="0" y="0"/>
          <a:ext cx="0" cy="0"/>
          <a:chOff x="0" y="0"/>
          <a:chExt cx="0" cy="0"/>
        </a:xfrm>
      </p:grpSpPr>
      <p:sp>
        <p:nvSpPr>
          <p:cNvPr id="58" name="Google Shape;58;g45abe82a2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45abe82a2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3" name="Shape 63"/>
        <p:cNvGrpSpPr/>
        <p:nvPr/>
      </p:nvGrpSpPr>
      <p:grpSpPr>
        <a:xfrm>
          <a:off x="0" y="0"/>
          <a:ext cx="0" cy="0"/>
          <a:chOff x="0" y="0"/>
          <a:chExt cx="0" cy="0"/>
        </a:xfrm>
      </p:grpSpPr>
      <p:sp>
        <p:nvSpPr>
          <p:cNvPr id="64" name="Google Shape;64;g45abe82a2b_0_6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45abe82a2b_0_6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9" name="Shape 69"/>
        <p:cNvGrpSpPr/>
        <p:nvPr/>
      </p:nvGrpSpPr>
      <p:grpSpPr>
        <a:xfrm>
          <a:off x="0" y="0"/>
          <a:ext cx="0" cy="0"/>
          <a:chOff x="0" y="0"/>
          <a:chExt cx="0" cy="0"/>
        </a:xfrm>
      </p:grpSpPr>
      <p:sp>
        <p:nvSpPr>
          <p:cNvPr id="70" name="Google Shape;70;g45abe82a2b_0_6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45abe82a2b_0_6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4" name="Shape 74"/>
        <p:cNvGrpSpPr/>
        <p:nvPr/>
      </p:nvGrpSpPr>
      <p:grpSpPr>
        <a:xfrm>
          <a:off x="0" y="0"/>
          <a:ext cx="0" cy="0"/>
          <a:chOff x="0" y="0"/>
          <a:chExt cx="0" cy="0"/>
        </a:xfrm>
      </p:grpSpPr>
      <p:sp>
        <p:nvSpPr>
          <p:cNvPr id="75" name="Google Shape;75;g46cfd171f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46cfd171f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0" name="Shape 80"/>
        <p:cNvGrpSpPr/>
        <p:nvPr/>
      </p:nvGrpSpPr>
      <p:grpSpPr>
        <a:xfrm>
          <a:off x="0" y="0"/>
          <a:ext cx="0" cy="0"/>
          <a:chOff x="0" y="0"/>
          <a:chExt cx="0" cy="0"/>
        </a:xfrm>
      </p:grpSpPr>
      <p:sp>
        <p:nvSpPr>
          <p:cNvPr id="81" name="Google Shape;81;g45abe82a2b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45abe82a2b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7" name="Shape 87"/>
        <p:cNvGrpSpPr/>
        <p:nvPr/>
      </p:nvGrpSpPr>
      <p:grpSpPr>
        <a:xfrm>
          <a:off x="0" y="0"/>
          <a:ext cx="0" cy="0"/>
          <a:chOff x="0" y="0"/>
          <a:chExt cx="0" cy="0"/>
        </a:xfrm>
      </p:grpSpPr>
      <p:sp>
        <p:nvSpPr>
          <p:cNvPr id="88" name="Google Shape;88;g45abe82a2b_0_8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45abe82a2b_0_8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3" name="Shape 93"/>
        <p:cNvGrpSpPr/>
        <p:nvPr/>
      </p:nvGrpSpPr>
      <p:grpSpPr>
        <a:xfrm>
          <a:off x="0" y="0"/>
          <a:ext cx="0" cy="0"/>
          <a:chOff x="0" y="0"/>
          <a:chExt cx="0" cy="0"/>
        </a:xfrm>
      </p:grpSpPr>
      <p:sp>
        <p:nvSpPr>
          <p:cNvPr id="94" name="Google Shape;94;g46cfd171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46cfd171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9" name="Shape 99"/>
        <p:cNvGrpSpPr/>
        <p:nvPr/>
      </p:nvGrpSpPr>
      <p:grpSpPr>
        <a:xfrm>
          <a:off x="0" y="0"/>
          <a:ext cx="0" cy="0"/>
          <a:chOff x="0" y="0"/>
          <a:chExt cx="0" cy="0"/>
        </a:xfrm>
      </p:grpSpPr>
      <p:sp>
        <p:nvSpPr>
          <p:cNvPr id="100" name="Google Shape;100;g45abe82a2b_0_8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45abe82a2b_0_8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4" name="Shape 104"/>
        <p:cNvGrpSpPr/>
        <p:nvPr/>
      </p:nvGrpSpPr>
      <p:grpSpPr>
        <a:xfrm>
          <a:off x="0" y="0"/>
          <a:ext cx="0" cy="0"/>
          <a:chOff x="0" y="0"/>
          <a:chExt cx="0" cy="0"/>
        </a:xfrm>
      </p:grpSpPr>
      <p:sp>
        <p:nvSpPr>
          <p:cNvPr id="105" name="Google Shape;105;g45abe82a2b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45abe82a2b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8" name="Shape 218"/>
        <p:cNvGrpSpPr/>
        <p:nvPr/>
      </p:nvGrpSpPr>
      <p:grpSpPr>
        <a:xfrm>
          <a:off x="0" y="0"/>
          <a:ext cx="0" cy="0"/>
          <a:chOff x="0" y="0"/>
          <a:chExt cx="0" cy="0"/>
        </a:xfrm>
      </p:grpSpPr>
      <p:sp>
        <p:nvSpPr>
          <p:cNvPr id="219" name="Google Shape;219;g45b7b22eb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45b7b22eb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找痛點</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4" name="Shape 224"/>
        <p:cNvGrpSpPr/>
        <p:nvPr/>
      </p:nvGrpSpPr>
      <p:grpSpPr>
        <a:xfrm>
          <a:off x="0" y="0"/>
          <a:ext cx="0" cy="0"/>
          <a:chOff x="0" y="0"/>
          <a:chExt cx="0" cy="0"/>
        </a:xfrm>
      </p:grpSpPr>
      <p:sp>
        <p:nvSpPr>
          <p:cNvPr id="225" name="Google Shape;225;g46cfd171f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46cfd171f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0" name="Shape 230"/>
        <p:cNvGrpSpPr/>
        <p:nvPr/>
      </p:nvGrpSpPr>
      <p:grpSpPr>
        <a:xfrm>
          <a:off x="0" y="0"/>
          <a:ext cx="0" cy="0"/>
          <a:chOff x="0" y="0"/>
          <a:chExt cx="0" cy="0"/>
        </a:xfrm>
      </p:grpSpPr>
      <p:sp>
        <p:nvSpPr>
          <p:cNvPr id="231" name="Google Shape;231;g46cfd171f3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46cfd171f3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目標</a:t>
            </a:r>
            <a:endParaRPr/>
          </a:p>
          <a:p>
            <a:pPr indent="0" lvl="0" marL="0" rtl="0" algn="l">
              <a:spcBef>
                <a:spcPts val="0"/>
              </a:spcBef>
              <a:spcAft>
                <a:spcPts val="0"/>
              </a:spcAft>
              <a:buNone/>
            </a:pPr>
            <a:r>
              <a:rPr lang="pl"/>
              <a:t>多</a:t>
            </a:r>
            <a:endParaRPr/>
          </a:p>
          <a:p>
            <a:pPr indent="0" lvl="0" marL="0" rtl="0" algn="l">
              <a:spcBef>
                <a:spcPts val="0"/>
              </a:spcBef>
              <a:spcAft>
                <a:spcPts val="0"/>
              </a:spcAft>
              <a:buNone/>
            </a:pPr>
            <a:r>
              <a:rPr lang="pl"/>
              <a:t>細節</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1" name="Shape 241"/>
        <p:cNvGrpSpPr/>
        <p:nvPr/>
      </p:nvGrpSpPr>
      <p:grpSpPr>
        <a:xfrm>
          <a:off x="0" y="0"/>
          <a:ext cx="0" cy="0"/>
          <a:chOff x="0" y="0"/>
          <a:chExt cx="0" cy="0"/>
        </a:xfrm>
      </p:grpSpPr>
      <p:sp>
        <p:nvSpPr>
          <p:cNvPr id="242" name="Google Shape;242;g46cfd171f3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46cfd171f3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9" name="Shape 249"/>
        <p:cNvGrpSpPr/>
        <p:nvPr/>
      </p:nvGrpSpPr>
      <p:grpSpPr>
        <a:xfrm>
          <a:off x="0" y="0"/>
          <a:ext cx="0" cy="0"/>
          <a:chOff x="0" y="0"/>
          <a:chExt cx="0" cy="0"/>
        </a:xfrm>
      </p:grpSpPr>
      <p:sp>
        <p:nvSpPr>
          <p:cNvPr id="250" name="Google Shape;250;g46cfd171f3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46cfd171f3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sz="1000">
                <a:highlight>
                  <a:srgbClr val="FFFFFF"/>
                </a:highlight>
                <a:latin typeface="Verdana"/>
                <a:ea typeface="Verdana"/>
                <a:cs typeface="Verdana"/>
                <a:sym typeface="Verdana"/>
              </a:rPr>
              <a:t>the primary persona who dictates key design decisions</a:t>
            </a:r>
            <a:endParaRPr sz="1000">
              <a:highlight>
                <a:srgbClr val="FFFFFF"/>
              </a:highlight>
              <a:latin typeface="Verdana"/>
              <a:ea typeface="Verdana"/>
              <a:cs typeface="Verdana"/>
              <a:sym typeface="Verdana"/>
            </a:endParaRPr>
          </a:p>
          <a:p>
            <a:pPr indent="0" lvl="0" marL="0" rtl="0" algn="l">
              <a:spcBef>
                <a:spcPts val="0"/>
              </a:spcBef>
              <a:spcAft>
                <a:spcPts val="0"/>
              </a:spcAft>
              <a:buNone/>
            </a:pPr>
            <a:r>
              <a:rPr lang="pl" sz="1000">
                <a:highlight>
                  <a:srgbClr val="FFFFFF"/>
                </a:highlight>
                <a:latin typeface="Verdana"/>
                <a:ea typeface="Verdana"/>
                <a:cs typeface="Verdana"/>
                <a:sym typeface="Verdana"/>
              </a:rPr>
              <a:t>the primary persona's needs cannot be met by an interface that may indeed satisfy a secondary persona</a:t>
            </a:r>
            <a:endParaRPr sz="1000">
              <a:highlight>
                <a:srgbClr val="FFFFFF"/>
              </a:highlight>
              <a:latin typeface="Verdana"/>
              <a:ea typeface="Verdana"/>
              <a:cs typeface="Verdana"/>
              <a:sym typeface="Verdana"/>
            </a:endParaRPr>
          </a:p>
          <a:p>
            <a:pPr indent="0" lvl="0" marL="0" rtl="0" algn="l">
              <a:spcBef>
                <a:spcPts val="0"/>
              </a:spcBef>
              <a:spcAft>
                <a:spcPts val="0"/>
              </a:spcAft>
              <a:buNone/>
            </a:pPr>
            <a:r>
              <a:rPr lang="pl" sz="1000">
                <a:highlight>
                  <a:srgbClr val="FFFFFF"/>
                </a:highlight>
                <a:latin typeface="Verdana"/>
                <a:ea typeface="Verdana"/>
                <a:cs typeface="Verdana"/>
                <a:sym typeface="Verdana"/>
              </a:rPr>
              <a:t>講出persona 就想到某些人</a:t>
            </a:r>
            <a:endParaRPr sz="1000">
              <a:highlight>
                <a:srgbClr val="FFFFFF"/>
              </a:highlight>
              <a:latin typeface="Verdana"/>
              <a:ea typeface="Verdana"/>
              <a:cs typeface="Verdana"/>
              <a:sym typeface="Verdana"/>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1" name="Shape 261"/>
        <p:cNvGrpSpPr/>
        <p:nvPr/>
      </p:nvGrpSpPr>
      <p:grpSpPr>
        <a:xfrm>
          <a:off x="0" y="0"/>
          <a:ext cx="0" cy="0"/>
          <a:chOff x="0" y="0"/>
          <a:chExt cx="0" cy="0"/>
        </a:xfrm>
      </p:grpSpPr>
      <p:sp>
        <p:nvSpPr>
          <p:cNvPr id="262" name="Google Shape;262;g45b7b22eb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45b7b22eb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8" name="Shape 268"/>
        <p:cNvGrpSpPr/>
        <p:nvPr/>
      </p:nvGrpSpPr>
      <p:grpSpPr>
        <a:xfrm>
          <a:off x="0" y="0"/>
          <a:ext cx="0" cy="0"/>
          <a:chOff x="0" y="0"/>
          <a:chExt cx="0" cy="0"/>
        </a:xfrm>
      </p:grpSpPr>
      <p:sp>
        <p:nvSpPr>
          <p:cNvPr id="269" name="Google Shape;269;g45b7b22ebd_1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45b7b22ebd_1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3" name="Shape 283"/>
        <p:cNvGrpSpPr/>
        <p:nvPr/>
      </p:nvGrpSpPr>
      <p:grpSpPr>
        <a:xfrm>
          <a:off x="0" y="0"/>
          <a:ext cx="0" cy="0"/>
          <a:chOff x="0" y="0"/>
          <a:chExt cx="0" cy="0"/>
        </a:xfrm>
      </p:grpSpPr>
      <p:sp>
        <p:nvSpPr>
          <p:cNvPr id="284" name="Google Shape;284;g46cfd171f3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46cfd171f3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He isn't willing to dig more than a link or two into the site.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3" name="Shape 293"/>
        <p:cNvGrpSpPr/>
        <p:nvPr/>
      </p:nvGrpSpPr>
      <p:grpSpPr>
        <a:xfrm>
          <a:off x="0" y="0"/>
          <a:ext cx="0" cy="0"/>
          <a:chOff x="0" y="0"/>
          <a:chExt cx="0" cy="0"/>
        </a:xfrm>
      </p:grpSpPr>
      <p:sp>
        <p:nvSpPr>
          <p:cNvPr id="294" name="Google Shape;294;g46cfd171f3_2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46cfd171f3_2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He isn't willing to dig more than a link or two into the site.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3" name="Shape 303"/>
        <p:cNvGrpSpPr/>
        <p:nvPr/>
      </p:nvGrpSpPr>
      <p:grpSpPr>
        <a:xfrm>
          <a:off x="0" y="0"/>
          <a:ext cx="0" cy="0"/>
          <a:chOff x="0" y="0"/>
          <a:chExt cx="0" cy="0"/>
        </a:xfrm>
      </p:grpSpPr>
      <p:sp>
        <p:nvSpPr>
          <p:cNvPr id="304" name="Google Shape;304;g46cfd171f3_2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46cfd171f3_2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He isn't willing to dig more than a link or two into the site.</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3" name="Shape 313"/>
        <p:cNvGrpSpPr/>
        <p:nvPr/>
      </p:nvGrpSpPr>
      <p:grpSpPr>
        <a:xfrm>
          <a:off x="0" y="0"/>
          <a:ext cx="0" cy="0"/>
          <a:chOff x="0" y="0"/>
          <a:chExt cx="0" cy="0"/>
        </a:xfrm>
      </p:grpSpPr>
      <p:sp>
        <p:nvSpPr>
          <p:cNvPr id="314" name="Google Shape;314;g46cfd171f3_2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46cfd171f3_2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He isn't willing to dig more than a link or two into the site.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3" name="Shape 323"/>
        <p:cNvGrpSpPr/>
        <p:nvPr/>
      </p:nvGrpSpPr>
      <p:grpSpPr>
        <a:xfrm>
          <a:off x="0" y="0"/>
          <a:ext cx="0" cy="0"/>
          <a:chOff x="0" y="0"/>
          <a:chExt cx="0" cy="0"/>
        </a:xfrm>
      </p:grpSpPr>
      <p:sp>
        <p:nvSpPr>
          <p:cNvPr id="324" name="Google Shape;324;g46cfd171f3_2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46cfd171f3_2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He isn't willing to dig more than a link or two into the site.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3" name="Shape 333"/>
        <p:cNvGrpSpPr/>
        <p:nvPr/>
      </p:nvGrpSpPr>
      <p:grpSpPr>
        <a:xfrm>
          <a:off x="0" y="0"/>
          <a:ext cx="0" cy="0"/>
          <a:chOff x="0" y="0"/>
          <a:chExt cx="0" cy="0"/>
        </a:xfrm>
      </p:grpSpPr>
      <p:sp>
        <p:nvSpPr>
          <p:cNvPr id="334" name="Google Shape;334;g46cfd171f3_2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46cfd171f3_2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He isn't willing to dig more than a link or two into the site.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3" name="Shape 343"/>
        <p:cNvGrpSpPr/>
        <p:nvPr/>
      </p:nvGrpSpPr>
      <p:grpSpPr>
        <a:xfrm>
          <a:off x="0" y="0"/>
          <a:ext cx="0" cy="0"/>
          <a:chOff x="0" y="0"/>
          <a:chExt cx="0" cy="0"/>
        </a:xfrm>
      </p:grpSpPr>
      <p:sp>
        <p:nvSpPr>
          <p:cNvPr id="344" name="Google Shape;344;g46cfd171f3_2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46cfd171f3_2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He isn't willing to dig more than a link or two into the site.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3" name="Shape 353"/>
        <p:cNvGrpSpPr/>
        <p:nvPr/>
      </p:nvGrpSpPr>
      <p:grpSpPr>
        <a:xfrm>
          <a:off x="0" y="0"/>
          <a:ext cx="0" cy="0"/>
          <a:chOff x="0" y="0"/>
          <a:chExt cx="0" cy="0"/>
        </a:xfrm>
      </p:grpSpPr>
      <p:sp>
        <p:nvSpPr>
          <p:cNvPr id="354" name="Google Shape;354;g46cfd171f3_2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46cfd171f3_2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He isn't willing to dig more than a link or two into the site.</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3" name="Shape 363"/>
        <p:cNvGrpSpPr/>
        <p:nvPr/>
      </p:nvGrpSpPr>
      <p:grpSpPr>
        <a:xfrm>
          <a:off x="0" y="0"/>
          <a:ext cx="0" cy="0"/>
          <a:chOff x="0" y="0"/>
          <a:chExt cx="0" cy="0"/>
        </a:xfrm>
      </p:grpSpPr>
      <p:sp>
        <p:nvSpPr>
          <p:cNvPr id="364" name="Google Shape;364;g46cfd171f3_2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46cfd171f3_2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He isn't willing to dig more than a link or two into the site.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3" name="Shape 373"/>
        <p:cNvGrpSpPr/>
        <p:nvPr/>
      </p:nvGrpSpPr>
      <p:grpSpPr>
        <a:xfrm>
          <a:off x="0" y="0"/>
          <a:ext cx="0" cy="0"/>
          <a:chOff x="0" y="0"/>
          <a:chExt cx="0" cy="0"/>
        </a:xfrm>
      </p:grpSpPr>
      <p:sp>
        <p:nvSpPr>
          <p:cNvPr id="374" name="Google Shape;374;g46cfd171f3_2_1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46cfd171f3_2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He isn't willing to dig more than a link or two into the site.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2" name="Shape 382"/>
        <p:cNvGrpSpPr/>
        <p:nvPr/>
      </p:nvGrpSpPr>
      <p:grpSpPr>
        <a:xfrm>
          <a:off x="0" y="0"/>
          <a:ext cx="0" cy="0"/>
          <a:chOff x="0" y="0"/>
          <a:chExt cx="0" cy="0"/>
        </a:xfrm>
      </p:grpSpPr>
      <p:sp>
        <p:nvSpPr>
          <p:cNvPr id="383" name="Google Shape;383;g46cfd171f3_2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46cfd171f3_2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He isn't willing to dig more than a link or two into the site.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1" name="Shape 391"/>
        <p:cNvGrpSpPr/>
        <p:nvPr/>
      </p:nvGrpSpPr>
      <p:grpSpPr>
        <a:xfrm>
          <a:off x="0" y="0"/>
          <a:ext cx="0" cy="0"/>
          <a:chOff x="0" y="0"/>
          <a:chExt cx="0" cy="0"/>
        </a:xfrm>
      </p:grpSpPr>
      <p:sp>
        <p:nvSpPr>
          <p:cNvPr id="392" name="Google Shape;392;g46cfd171f3_2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46cfd171f3_2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1" name="Shape 411"/>
        <p:cNvGrpSpPr/>
        <p:nvPr/>
      </p:nvGrpSpPr>
      <p:grpSpPr>
        <a:xfrm>
          <a:off x="0" y="0"/>
          <a:ext cx="0" cy="0"/>
          <a:chOff x="0" y="0"/>
          <a:chExt cx="0" cy="0"/>
        </a:xfrm>
      </p:grpSpPr>
      <p:sp>
        <p:nvSpPr>
          <p:cNvPr id="412" name="Google Shape;412;g46cfd171f3_2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46cfd171f3_2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18" name="Shape 418"/>
        <p:cNvGrpSpPr/>
        <p:nvPr/>
      </p:nvGrpSpPr>
      <p:grpSpPr>
        <a:xfrm>
          <a:off x="0" y="0"/>
          <a:ext cx="0" cy="0"/>
          <a:chOff x="0" y="0"/>
          <a:chExt cx="0" cy="0"/>
        </a:xfrm>
      </p:grpSpPr>
      <p:sp>
        <p:nvSpPr>
          <p:cNvPr id="419" name="Google Shape;419;g46cfd171f3_2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46cfd171f3_2_2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24" name="Shape 424"/>
        <p:cNvGrpSpPr/>
        <p:nvPr/>
      </p:nvGrpSpPr>
      <p:grpSpPr>
        <a:xfrm>
          <a:off x="0" y="0"/>
          <a:ext cx="0" cy="0"/>
          <a:chOff x="0" y="0"/>
          <a:chExt cx="0" cy="0"/>
        </a:xfrm>
      </p:grpSpPr>
      <p:sp>
        <p:nvSpPr>
          <p:cNvPr id="425" name="Google Shape;425;g46cfd171f3_2_2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46cfd171f3_2_2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31" name="Shape 431"/>
        <p:cNvGrpSpPr/>
        <p:nvPr/>
      </p:nvGrpSpPr>
      <p:grpSpPr>
        <a:xfrm>
          <a:off x="0" y="0"/>
          <a:ext cx="0" cy="0"/>
          <a:chOff x="0" y="0"/>
          <a:chExt cx="0" cy="0"/>
        </a:xfrm>
      </p:grpSpPr>
      <p:sp>
        <p:nvSpPr>
          <p:cNvPr id="432" name="Google Shape;432;g46cfd171f3_2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46cfd171f3_2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37" name="Shape 437"/>
        <p:cNvGrpSpPr/>
        <p:nvPr/>
      </p:nvGrpSpPr>
      <p:grpSpPr>
        <a:xfrm>
          <a:off x="0" y="0"/>
          <a:ext cx="0" cy="0"/>
          <a:chOff x="0" y="0"/>
          <a:chExt cx="0" cy="0"/>
        </a:xfrm>
      </p:grpSpPr>
      <p:sp>
        <p:nvSpPr>
          <p:cNvPr id="438" name="Google Shape;438;g46cfd171f3_2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46cfd171f3_2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1600"/>
              </a:spcBef>
              <a:spcAft>
                <a:spcPts val="0"/>
              </a:spcAft>
              <a:buClr>
                <a:schemeClr val="dk1"/>
              </a:buClr>
              <a:buSzPts val="1400"/>
              <a:buChar char="○"/>
              <a:defRPr>
                <a:solidFill>
                  <a:schemeClr val="dk1"/>
                </a:solidFill>
              </a:defRPr>
            </a:lvl2pPr>
            <a:lvl3pPr indent="-317500" lvl="2" marL="1371600">
              <a:spcBef>
                <a:spcPts val="1600"/>
              </a:spcBef>
              <a:spcAft>
                <a:spcPts val="0"/>
              </a:spcAft>
              <a:buClr>
                <a:schemeClr val="dk1"/>
              </a:buClr>
              <a:buSzPts val="1400"/>
              <a:buChar char="■"/>
              <a:defRPr>
                <a:solidFill>
                  <a:schemeClr val="dk1"/>
                </a:solidFill>
              </a:defRPr>
            </a:lvl3pPr>
            <a:lvl4pPr indent="-317500" lvl="3" marL="1828800">
              <a:spcBef>
                <a:spcPts val="1600"/>
              </a:spcBef>
              <a:spcAft>
                <a:spcPts val="0"/>
              </a:spcAft>
              <a:buClr>
                <a:schemeClr val="dk1"/>
              </a:buClr>
              <a:buSzPts val="1400"/>
              <a:buChar char="●"/>
              <a:defRPr>
                <a:solidFill>
                  <a:schemeClr val="dk1"/>
                </a:solidFill>
              </a:defRPr>
            </a:lvl4pPr>
            <a:lvl5pPr indent="-317500" lvl="4" marL="2286000">
              <a:spcBef>
                <a:spcPts val="1600"/>
              </a:spcBef>
              <a:spcAft>
                <a:spcPts val="0"/>
              </a:spcAft>
              <a:buClr>
                <a:schemeClr val="dk1"/>
              </a:buClr>
              <a:buSzPts val="1400"/>
              <a:buChar char="○"/>
              <a:defRPr>
                <a:solidFill>
                  <a:schemeClr val="dk1"/>
                </a:solidFill>
              </a:defRPr>
            </a:lvl5pPr>
            <a:lvl6pPr indent="-317500" lvl="5" marL="2743200">
              <a:spcBef>
                <a:spcPts val="1600"/>
              </a:spcBef>
              <a:spcAft>
                <a:spcPts val="0"/>
              </a:spcAft>
              <a:buClr>
                <a:schemeClr val="dk1"/>
              </a:buClr>
              <a:buSzPts val="1400"/>
              <a:buChar char="■"/>
              <a:defRPr>
                <a:solidFill>
                  <a:schemeClr val="dk1"/>
                </a:solidFill>
              </a:defRPr>
            </a:lvl6pPr>
            <a:lvl7pPr indent="-317500" lvl="6" marL="3200400">
              <a:spcBef>
                <a:spcPts val="1600"/>
              </a:spcBef>
              <a:spcAft>
                <a:spcPts val="0"/>
              </a:spcAft>
              <a:buClr>
                <a:schemeClr val="dk1"/>
              </a:buClr>
              <a:buSzPts val="1400"/>
              <a:buChar char="●"/>
              <a:defRPr>
                <a:solidFill>
                  <a:schemeClr val="dk1"/>
                </a:solidFill>
              </a:defRPr>
            </a:lvl7pPr>
            <a:lvl8pPr indent="-317500" lvl="7" marL="3657600">
              <a:spcBef>
                <a:spcPts val="1600"/>
              </a:spcBef>
              <a:spcAft>
                <a:spcPts val="0"/>
              </a:spcAft>
              <a:buClr>
                <a:schemeClr val="dk1"/>
              </a:buClr>
              <a:buSzPts val="1400"/>
              <a:buChar char="○"/>
              <a:defRPr>
                <a:solidFill>
                  <a:schemeClr val="dk1"/>
                </a:solidFill>
              </a:defRPr>
            </a:lvl8pPr>
            <a:lvl9pPr indent="-317500" lvl="8" marL="4114800">
              <a:spcBef>
                <a:spcPts val="1600"/>
              </a:spcBef>
              <a:spcAft>
                <a:spcPts val="160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1600"/>
              </a:spcBef>
              <a:spcAft>
                <a:spcPts val="0"/>
              </a:spcAft>
              <a:buClr>
                <a:schemeClr val="lt2"/>
              </a:buClr>
              <a:buSzPts val="1400"/>
              <a:buChar char="○"/>
              <a:defRPr>
                <a:solidFill>
                  <a:schemeClr val="lt2"/>
                </a:solidFill>
              </a:defRPr>
            </a:lvl2pPr>
            <a:lvl3pPr indent="-317500" lvl="2" marL="1371600">
              <a:lnSpc>
                <a:spcPct val="115000"/>
              </a:lnSpc>
              <a:spcBef>
                <a:spcPts val="1600"/>
              </a:spcBef>
              <a:spcAft>
                <a:spcPts val="0"/>
              </a:spcAft>
              <a:buClr>
                <a:schemeClr val="lt2"/>
              </a:buClr>
              <a:buSzPts val="1400"/>
              <a:buChar char="■"/>
              <a:defRPr>
                <a:solidFill>
                  <a:schemeClr val="lt2"/>
                </a:solidFill>
              </a:defRPr>
            </a:lvl3pPr>
            <a:lvl4pPr indent="-317500" lvl="3" marL="1828800">
              <a:lnSpc>
                <a:spcPct val="115000"/>
              </a:lnSpc>
              <a:spcBef>
                <a:spcPts val="1600"/>
              </a:spcBef>
              <a:spcAft>
                <a:spcPts val="0"/>
              </a:spcAft>
              <a:buClr>
                <a:schemeClr val="lt2"/>
              </a:buClr>
              <a:buSzPts val="1400"/>
              <a:buChar char="●"/>
              <a:defRPr>
                <a:solidFill>
                  <a:schemeClr val="lt2"/>
                </a:solidFill>
              </a:defRPr>
            </a:lvl4pPr>
            <a:lvl5pPr indent="-317500" lvl="4" marL="2286000">
              <a:lnSpc>
                <a:spcPct val="115000"/>
              </a:lnSpc>
              <a:spcBef>
                <a:spcPts val="1600"/>
              </a:spcBef>
              <a:spcAft>
                <a:spcPts val="0"/>
              </a:spcAft>
              <a:buClr>
                <a:schemeClr val="lt2"/>
              </a:buClr>
              <a:buSzPts val="1400"/>
              <a:buChar char="○"/>
              <a:defRPr>
                <a:solidFill>
                  <a:schemeClr val="lt2"/>
                </a:solidFill>
              </a:defRPr>
            </a:lvl5pPr>
            <a:lvl6pPr indent="-317500" lvl="5" marL="2743200">
              <a:lnSpc>
                <a:spcPct val="115000"/>
              </a:lnSpc>
              <a:spcBef>
                <a:spcPts val="1600"/>
              </a:spcBef>
              <a:spcAft>
                <a:spcPts val="0"/>
              </a:spcAft>
              <a:buClr>
                <a:schemeClr val="lt2"/>
              </a:buClr>
              <a:buSzPts val="1400"/>
              <a:buChar char="■"/>
              <a:defRPr>
                <a:solidFill>
                  <a:schemeClr val="lt2"/>
                </a:solidFill>
              </a:defRPr>
            </a:lvl6pPr>
            <a:lvl7pPr indent="-317500" lvl="6" marL="3200400">
              <a:lnSpc>
                <a:spcPct val="115000"/>
              </a:lnSpc>
              <a:spcBef>
                <a:spcPts val="1600"/>
              </a:spcBef>
              <a:spcAft>
                <a:spcPts val="0"/>
              </a:spcAft>
              <a:buClr>
                <a:schemeClr val="lt2"/>
              </a:buClr>
              <a:buSzPts val="1400"/>
              <a:buChar char="●"/>
              <a:defRPr>
                <a:solidFill>
                  <a:schemeClr val="lt2"/>
                </a:solidFill>
              </a:defRPr>
            </a:lvl7pPr>
            <a:lvl8pPr indent="-317500" lvl="7" marL="3657600">
              <a:lnSpc>
                <a:spcPct val="115000"/>
              </a:lnSpc>
              <a:spcBef>
                <a:spcPts val="1600"/>
              </a:spcBef>
              <a:spcAft>
                <a:spcPts val="0"/>
              </a:spcAft>
              <a:buClr>
                <a:schemeClr val="lt2"/>
              </a:buClr>
              <a:buSzPts val="1400"/>
              <a:buChar char="○"/>
              <a:defRPr>
                <a:solidFill>
                  <a:schemeClr val="lt2"/>
                </a:solidFill>
              </a:defRPr>
            </a:lvl8pPr>
            <a:lvl9pPr indent="-317500" lvl="8" marL="4114800">
              <a:lnSpc>
                <a:spcPct val="115000"/>
              </a:lnSpc>
              <a:spcBef>
                <a:spcPts val="1600"/>
              </a:spcBef>
              <a:spcAft>
                <a:spcPts val="160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24.png"/><Relationship Id="rId10" Type="http://schemas.openxmlformats.org/officeDocument/2006/relationships/image" Target="../media/image26.png"/><Relationship Id="rId9" Type="http://schemas.openxmlformats.org/officeDocument/2006/relationships/image" Target="../media/image11.png"/><Relationship Id="rId5" Type="http://schemas.openxmlformats.org/officeDocument/2006/relationships/image" Target="../media/image8.png"/><Relationship Id="rId6" Type="http://schemas.openxmlformats.org/officeDocument/2006/relationships/image" Target="../media/image5.png"/><Relationship Id="rId7" Type="http://schemas.openxmlformats.org/officeDocument/2006/relationships/image" Target="../media/image9.png"/><Relationship Id="rId8"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8.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0.png"/><Relationship Id="rId4" Type="http://schemas.openxmlformats.org/officeDocument/2006/relationships/image" Target="../media/image19.png"/><Relationship Id="rId5"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59725"/>
            <a:ext cx="8520600" cy="205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pl" sz="3600"/>
              <a:t>Personas: Setting the Stage for Building Usable Information Sites</a:t>
            </a:r>
            <a:endParaRPr sz="3600"/>
          </a:p>
        </p:txBody>
      </p:sp>
      <p:sp>
        <p:nvSpPr>
          <p:cNvPr id="55" name="Google Shape;55;p13"/>
          <p:cNvSpPr txBox="1"/>
          <p:nvPr>
            <p:ph idx="1" type="subTitle"/>
          </p:nvPr>
        </p:nvSpPr>
        <p:spPr>
          <a:xfrm>
            <a:off x="269250" y="1634225"/>
            <a:ext cx="8520600" cy="7926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i="1" lang="pl" sz="2400">
                <a:solidFill>
                  <a:schemeClr val="dk1"/>
                </a:solidFill>
              </a:rPr>
              <a:t>Alison J. Head</a:t>
            </a:r>
            <a:endParaRPr sz="2400"/>
          </a:p>
        </p:txBody>
      </p:sp>
      <p:pic>
        <p:nvPicPr>
          <p:cNvPr id="56" name="Google Shape;56;p13"/>
          <p:cNvPicPr preferRelativeResize="0"/>
          <p:nvPr/>
        </p:nvPicPr>
        <p:blipFill>
          <a:blip r:embed="rId3">
            <a:alphaModFix/>
          </a:blip>
          <a:stretch>
            <a:fillRect/>
          </a:stretch>
        </p:blipFill>
        <p:spPr>
          <a:xfrm>
            <a:off x="2806775" y="2571750"/>
            <a:ext cx="3445537" cy="24118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0" name="Shape 60"/>
        <p:cNvGrpSpPr/>
        <p:nvPr/>
      </p:nvGrpSpPr>
      <p:grpSpPr>
        <a:xfrm>
          <a:off x="0" y="0"/>
          <a:ext cx="0" cy="0"/>
          <a:chOff x="0" y="0"/>
          <a:chExt cx="0" cy="0"/>
        </a:xfrm>
      </p:grpSpPr>
      <p:sp>
        <p:nvSpPr>
          <p:cNvPr id="61" name="Google Shape;61;p14"/>
          <p:cNvSpPr txBox="1"/>
          <p:nvPr>
            <p:ph type="title"/>
          </p:nvPr>
        </p:nvSpPr>
        <p:spPr>
          <a:xfrm>
            <a:off x="2374200" y="338250"/>
            <a:ext cx="4395600" cy="909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pl" sz="4800"/>
              <a:t>Meet Greg</a:t>
            </a:r>
            <a:endParaRPr sz="4800"/>
          </a:p>
        </p:txBody>
      </p:sp>
      <p:pic>
        <p:nvPicPr>
          <p:cNvPr id="62" name="Google Shape;62;p14"/>
          <p:cNvPicPr preferRelativeResize="0"/>
          <p:nvPr/>
        </p:nvPicPr>
        <p:blipFill>
          <a:blip r:embed="rId3">
            <a:alphaModFix/>
          </a:blip>
          <a:stretch>
            <a:fillRect/>
          </a:stretch>
        </p:blipFill>
        <p:spPr>
          <a:xfrm>
            <a:off x="1854674" y="1448200"/>
            <a:ext cx="5434651" cy="30569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6" name="Shape 66"/>
        <p:cNvGrpSpPr/>
        <p:nvPr/>
      </p:nvGrpSpPr>
      <p:grpSpPr>
        <a:xfrm>
          <a:off x="0" y="0"/>
          <a:ext cx="0" cy="0"/>
          <a:chOff x="0" y="0"/>
          <a:chExt cx="0" cy="0"/>
        </a:xfrm>
      </p:grpSpPr>
      <p:pic>
        <p:nvPicPr>
          <p:cNvPr id="67" name="Google Shape;67;p15"/>
          <p:cNvPicPr preferRelativeResize="0"/>
          <p:nvPr/>
        </p:nvPicPr>
        <p:blipFill>
          <a:blip r:embed="rId3">
            <a:alphaModFix/>
          </a:blip>
          <a:stretch>
            <a:fillRect/>
          </a:stretch>
        </p:blipFill>
        <p:spPr>
          <a:xfrm>
            <a:off x="2519750" y="146325"/>
            <a:ext cx="4104499" cy="2308775"/>
          </a:xfrm>
          <a:prstGeom prst="rect">
            <a:avLst/>
          </a:prstGeom>
          <a:noFill/>
          <a:ln>
            <a:noFill/>
          </a:ln>
        </p:spPr>
      </p:pic>
      <p:sp>
        <p:nvSpPr>
          <p:cNvPr id="68" name="Google Shape;68;p15"/>
          <p:cNvSpPr txBox="1"/>
          <p:nvPr/>
        </p:nvSpPr>
        <p:spPr>
          <a:xfrm>
            <a:off x="873425" y="2612775"/>
            <a:ext cx="7800300" cy="17772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sz="1800">
                <a:solidFill>
                  <a:srgbClr val="FFFFFF"/>
                </a:solidFill>
              </a:rPr>
              <a:t>Greg is a 37 years old, busy senior loan manager for a bank in Santa Rosa. He was recently divorced and has joint custody of his two young children. During weekends Greg enjoys getting his kids away from the television, taking advantage of the nearby hiking trails, fishing, and canoeing available to them. He enjoys taking his girlfriend to one of the fine restaurants in his city.</a:t>
            </a:r>
            <a:endParaRPr sz="18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2" name="Shape 72"/>
        <p:cNvGrpSpPr/>
        <p:nvPr/>
      </p:nvGrpSpPr>
      <p:grpSpPr>
        <a:xfrm>
          <a:off x="0" y="0"/>
          <a:ext cx="0" cy="0"/>
          <a:chOff x="0" y="0"/>
          <a:chExt cx="0" cy="0"/>
        </a:xfrm>
      </p:grpSpPr>
      <p:pic>
        <p:nvPicPr>
          <p:cNvPr id="73" name="Google Shape;73;p16"/>
          <p:cNvPicPr preferRelativeResize="0"/>
          <p:nvPr/>
        </p:nvPicPr>
        <p:blipFill>
          <a:blip r:embed="rId3">
            <a:alphaModFix/>
          </a:blip>
          <a:stretch>
            <a:fillRect/>
          </a:stretch>
        </p:blipFill>
        <p:spPr>
          <a:xfrm>
            <a:off x="0" y="0"/>
            <a:ext cx="9144000" cy="513079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7" name="Shape 77"/>
        <p:cNvGrpSpPr/>
        <p:nvPr/>
      </p:nvGrpSpPr>
      <p:grpSpPr>
        <a:xfrm>
          <a:off x="0" y="0"/>
          <a:ext cx="0" cy="0"/>
          <a:chOff x="0" y="0"/>
          <a:chExt cx="0" cy="0"/>
        </a:xfrm>
      </p:grpSpPr>
      <p:sp>
        <p:nvSpPr>
          <p:cNvPr id="78" name="Google Shape;78;p17"/>
          <p:cNvSpPr txBox="1"/>
          <p:nvPr/>
        </p:nvSpPr>
        <p:spPr>
          <a:xfrm>
            <a:off x="1225225" y="690050"/>
            <a:ext cx="6714600" cy="305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pl" sz="2400">
                <a:solidFill>
                  <a:srgbClr val="FFFFFF"/>
                </a:solidFill>
              </a:rPr>
              <a:t>“... pulling together this site had the potential to be as awkward as needlepointing a three-piece suit.”</a:t>
            </a:r>
            <a:endParaRPr sz="2400">
              <a:solidFill>
                <a:srgbClr val="FFFFFF"/>
              </a:solidFill>
            </a:endParaRPr>
          </a:p>
        </p:txBody>
      </p:sp>
      <p:pic>
        <p:nvPicPr>
          <p:cNvPr id="79" name="Google Shape;79;p17"/>
          <p:cNvPicPr preferRelativeResize="0"/>
          <p:nvPr/>
        </p:nvPicPr>
        <p:blipFill>
          <a:blip r:embed="rId3">
            <a:alphaModFix/>
          </a:blip>
          <a:stretch>
            <a:fillRect/>
          </a:stretch>
        </p:blipFill>
        <p:spPr>
          <a:xfrm>
            <a:off x="3278837" y="1845950"/>
            <a:ext cx="2586326" cy="32597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What are personas?</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pl">
                <a:solidFill>
                  <a:srgbClr val="FFFFFF"/>
                </a:solidFill>
              </a:rPr>
              <a:t>Personas are hypothetical archetypes, or "stand-ins" for actual users</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Not “real” people, they represent them</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Not “made up” but creating during investigation process</a:t>
            </a:r>
            <a:endParaRPr>
              <a:solidFill>
                <a:srgbClr val="FFFFFF"/>
              </a:solidFill>
            </a:endParaRPr>
          </a:p>
        </p:txBody>
      </p:sp>
      <p:pic>
        <p:nvPicPr>
          <p:cNvPr id="86" name="Google Shape;86;p18"/>
          <p:cNvPicPr preferRelativeResize="0"/>
          <p:nvPr/>
        </p:nvPicPr>
        <p:blipFill>
          <a:blip r:embed="rId3">
            <a:alphaModFix/>
          </a:blip>
          <a:stretch>
            <a:fillRect/>
          </a:stretch>
        </p:blipFill>
        <p:spPr>
          <a:xfrm>
            <a:off x="2617788" y="2284875"/>
            <a:ext cx="3908426" cy="2735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Essential elements of personas</a:t>
            </a:r>
            <a:endParaRPr/>
          </a:p>
        </p:txBody>
      </p:sp>
      <p:sp>
        <p:nvSpPr>
          <p:cNvPr id="92" name="Google Shape;92;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pl">
                <a:solidFill>
                  <a:srgbClr val="FFFFFF"/>
                </a:solidFill>
              </a:rPr>
              <a:t>Name that could exist in reality</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Details like age</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Personal informations</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Work description (especially what kind of tools he/she uses)</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Computer proficiency</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Motivations</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Habits</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Quote</a:t>
            </a:r>
            <a:endParaRPr>
              <a:solidFill>
                <a:srgbClr val="FFFFF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6" name="Shape 96"/>
        <p:cNvGrpSpPr/>
        <p:nvPr/>
      </p:nvGrpSpPr>
      <p:grpSpPr>
        <a:xfrm>
          <a:off x="0" y="0"/>
          <a:ext cx="0" cy="0"/>
          <a:chOff x="0" y="0"/>
          <a:chExt cx="0" cy="0"/>
        </a:xfrm>
      </p:grpSpPr>
      <p:sp>
        <p:nvSpPr>
          <p:cNvPr id="97" name="Google Shape;97;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Why personas are useful?</a:t>
            </a:r>
            <a:endParaRPr/>
          </a:p>
        </p:txBody>
      </p:sp>
      <p:sp>
        <p:nvSpPr>
          <p:cNvPr id="98" name="Google Shape;98;p2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pl">
                <a:solidFill>
                  <a:srgbClr val="FFFFFF"/>
                </a:solidFill>
              </a:rPr>
              <a:t>Determine what a product should do and how it should behave.</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Communicate with people in the team</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Measure the design’s effectiveness</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Contribute to marketing, sales, support, etc.</a:t>
            </a:r>
            <a:endParaRPr>
              <a:solidFill>
                <a:srgbClr val="FFFFFF"/>
              </a:solidFill>
            </a:endParaRPr>
          </a:p>
          <a:p>
            <a:pPr indent="0" lvl="0" marL="0" rtl="0" algn="l">
              <a:spcBef>
                <a:spcPts val="1600"/>
              </a:spcBef>
              <a:spcAft>
                <a:spcPts val="1600"/>
              </a:spcAft>
              <a:buNone/>
            </a:pPr>
            <a:r>
              <a:t/>
            </a:r>
            <a:endParaRPr>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2" name="Shape 102"/>
        <p:cNvGrpSpPr/>
        <p:nvPr/>
      </p:nvGrpSpPr>
      <p:grpSpPr>
        <a:xfrm>
          <a:off x="0" y="0"/>
          <a:ext cx="0" cy="0"/>
          <a:chOff x="0" y="0"/>
          <a:chExt cx="0" cy="0"/>
        </a:xfrm>
      </p:grpSpPr>
      <p:pic>
        <p:nvPicPr>
          <p:cNvPr id="103" name="Google Shape;103;p21"/>
          <p:cNvPicPr preferRelativeResize="0"/>
          <p:nvPr/>
        </p:nvPicPr>
        <p:blipFill>
          <a:blip r:embed="rId3">
            <a:alphaModFix/>
          </a:blip>
          <a:stretch>
            <a:fillRect/>
          </a:stretch>
        </p:blipFill>
        <p:spPr>
          <a:xfrm>
            <a:off x="1366675" y="78013"/>
            <a:ext cx="6410650" cy="49874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7" name="Shape 107"/>
        <p:cNvGrpSpPr/>
        <p:nvPr/>
      </p:nvGrpSpPr>
      <p:grpSpPr>
        <a:xfrm>
          <a:off x="0" y="0"/>
          <a:ext cx="0" cy="0"/>
          <a:chOff x="0" y="0"/>
          <a:chExt cx="0" cy="0"/>
        </a:xfrm>
      </p:grpSpPr>
      <p:sp>
        <p:nvSpPr>
          <p:cNvPr id="108" name="Google Shape;108;p22"/>
          <p:cNvSpPr/>
          <p:nvPr/>
        </p:nvSpPr>
        <p:spPr>
          <a:xfrm>
            <a:off x="0" y="80157"/>
            <a:ext cx="8477400" cy="4080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b="0" i="0" sz="1700" u="none" cap="none" strike="noStrike">
              <a:solidFill>
                <a:srgbClr val="FFFFFF"/>
              </a:solidFill>
              <a:latin typeface="Calibri"/>
              <a:ea typeface="Calibri"/>
              <a:cs typeface="Calibri"/>
              <a:sym typeface="Calibri"/>
            </a:endParaRPr>
          </a:p>
        </p:txBody>
      </p:sp>
      <p:pic>
        <p:nvPicPr>
          <p:cNvPr descr="C:\Users\user\Desktop\User experience\NCTU.png" id="109" name="Google Shape;109;p22"/>
          <p:cNvPicPr preferRelativeResize="0"/>
          <p:nvPr/>
        </p:nvPicPr>
        <p:blipFill rotWithShape="1">
          <a:blip r:embed="rId3">
            <a:alphaModFix/>
          </a:blip>
          <a:srcRect b="0" l="0" r="0" t="0"/>
          <a:stretch/>
        </p:blipFill>
        <p:spPr>
          <a:xfrm>
            <a:off x="7734233" y="12"/>
            <a:ext cx="568292" cy="568292"/>
          </a:xfrm>
          <a:prstGeom prst="rect">
            <a:avLst/>
          </a:prstGeom>
          <a:noFill/>
          <a:ln>
            <a:noFill/>
          </a:ln>
        </p:spPr>
      </p:pic>
      <p:sp>
        <p:nvSpPr>
          <p:cNvPr id="110" name="Google Shape;110;p22"/>
          <p:cNvSpPr txBox="1"/>
          <p:nvPr/>
        </p:nvSpPr>
        <p:spPr>
          <a:xfrm>
            <a:off x="121275" y="185007"/>
            <a:ext cx="3261300" cy="1983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b="0" i="0" lang="pl" sz="2100" u="none" cap="none" strike="noStrike">
                <a:solidFill>
                  <a:srgbClr val="FFFFFF"/>
                </a:solidFill>
                <a:latin typeface="Calibri"/>
                <a:ea typeface="Calibri"/>
                <a:cs typeface="Calibri"/>
                <a:sym typeface="Calibri"/>
              </a:rPr>
              <a:t>Persona </a:t>
            </a:r>
            <a:r>
              <a:rPr lang="pl" sz="2100">
                <a:solidFill>
                  <a:srgbClr val="FFFFFF"/>
                </a:solidFill>
                <a:latin typeface="Calibri"/>
                <a:ea typeface="Calibri"/>
                <a:cs typeface="Calibri"/>
                <a:sym typeface="Calibri"/>
              </a:rPr>
              <a:t>3</a:t>
            </a:r>
            <a:r>
              <a:rPr b="0" i="0" lang="pl" sz="2100" u="none" cap="none" strike="noStrike">
                <a:solidFill>
                  <a:srgbClr val="FFFFFF"/>
                </a:solidFill>
                <a:latin typeface="Calibri"/>
                <a:ea typeface="Calibri"/>
                <a:cs typeface="Calibri"/>
                <a:sym typeface="Calibri"/>
              </a:rPr>
              <a:t>:</a:t>
            </a:r>
            <a:r>
              <a:rPr lang="pl" sz="2100">
                <a:solidFill>
                  <a:srgbClr val="FFFFFF"/>
                </a:solidFill>
                <a:latin typeface="Calibri"/>
                <a:ea typeface="Calibri"/>
                <a:cs typeface="Calibri"/>
                <a:sym typeface="Calibri"/>
              </a:rPr>
              <a:t> Raju Shrenma</a:t>
            </a:r>
            <a:endParaRPr sz="2100">
              <a:solidFill>
                <a:srgbClr val="FFFFFF"/>
              </a:solidFill>
              <a:latin typeface="Calibri"/>
              <a:ea typeface="Calibri"/>
              <a:cs typeface="Calibri"/>
              <a:sym typeface="Calibri"/>
            </a:endParaRPr>
          </a:p>
        </p:txBody>
      </p:sp>
      <p:grpSp>
        <p:nvGrpSpPr>
          <p:cNvPr id="111" name="Google Shape;111;p22"/>
          <p:cNvGrpSpPr/>
          <p:nvPr/>
        </p:nvGrpSpPr>
        <p:grpSpPr>
          <a:xfrm>
            <a:off x="121263" y="568299"/>
            <a:ext cx="1699531" cy="1699548"/>
            <a:chOff x="3577975" y="608350"/>
            <a:chExt cx="1813800" cy="1813819"/>
          </a:xfrm>
        </p:grpSpPr>
        <p:pic>
          <p:nvPicPr>
            <p:cNvPr id="112" name="Google Shape;112;p22"/>
            <p:cNvPicPr preferRelativeResize="0"/>
            <p:nvPr/>
          </p:nvPicPr>
          <p:blipFill>
            <a:blip r:embed="rId4">
              <a:alphaModFix/>
            </a:blip>
            <a:stretch>
              <a:fillRect/>
            </a:stretch>
          </p:blipFill>
          <p:spPr>
            <a:xfrm>
              <a:off x="3578009" y="608350"/>
              <a:ext cx="1813732" cy="1813748"/>
            </a:xfrm>
            <a:prstGeom prst="rect">
              <a:avLst/>
            </a:prstGeom>
            <a:noFill/>
            <a:ln>
              <a:noFill/>
            </a:ln>
          </p:spPr>
        </p:pic>
        <p:sp>
          <p:nvSpPr>
            <p:cNvPr id="113" name="Google Shape;113;p22"/>
            <p:cNvSpPr/>
            <p:nvPr/>
          </p:nvSpPr>
          <p:spPr>
            <a:xfrm>
              <a:off x="3577975" y="1887568"/>
              <a:ext cx="1813800" cy="5346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rPr lang="pl" sz="1100">
                  <a:solidFill>
                    <a:srgbClr val="FFFFFF"/>
                  </a:solidFill>
                  <a:latin typeface="Calibri"/>
                  <a:ea typeface="Calibri"/>
                  <a:cs typeface="Calibri"/>
                  <a:sym typeface="Calibri"/>
                </a:rPr>
                <a:t>“Work hard, your dreams depend on it”</a:t>
              </a:r>
              <a:endParaRPr sz="800"/>
            </a:p>
          </p:txBody>
        </p:sp>
      </p:grpSp>
      <p:sp>
        <p:nvSpPr>
          <p:cNvPr id="114" name="Google Shape;114;p22"/>
          <p:cNvSpPr txBox="1"/>
          <p:nvPr/>
        </p:nvSpPr>
        <p:spPr>
          <a:xfrm>
            <a:off x="117949" y="2452850"/>
            <a:ext cx="1809000" cy="8268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200">
                <a:solidFill>
                  <a:srgbClr val="9900FF"/>
                </a:solidFill>
                <a:latin typeface="Calibri"/>
                <a:ea typeface="Calibri"/>
                <a:cs typeface="Calibri"/>
                <a:sym typeface="Calibri"/>
              </a:rPr>
              <a:t>Age:</a:t>
            </a:r>
            <a:r>
              <a:rPr lang="pl" sz="1200">
                <a:solidFill>
                  <a:srgbClr val="434343"/>
                </a:solidFill>
                <a:latin typeface="Calibri"/>
                <a:ea typeface="Calibri"/>
                <a:cs typeface="Calibri"/>
                <a:sym typeface="Calibri"/>
              </a:rPr>
              <a:t> </a:t>
            </a:r>
            <a:r>
              <a:rPr lang="pl" sz="1200">
                <a:solidFill>
                  <a:srgbClr val="FFFFFF"/>
                </a:solidFill>
                <a:latin typeface="Calibri"/>
                <a:ea typeface="Calibri"/>
                <a:cs typeface="Calibri"/>
                <a:sym typeface="Calibri"/>
              </a:rPr>
              <a:t>29</a:t>
            </a:r>
            <a:endParaRPr sz="700">
              <a:solidFill>
                <a:srgbClr val="FFFFFF"/>
              </a:solidFill>
            </a:endParaRPr>
          </a:p>
          <a:p>
            <a:pPr indent="0" lvl="0" marL="0" marR="0" rtl="0" algn="l">
              <a:spcBef>
                <a:spcPts val="0"/>
              </a:spcBef>
              <a:spcAft>
                <a:spcPts val="0"/>
              </a:spcAft>
              <a:buNone/>
            </a:pPr>
            <a:r>
              <a:rPr lang="pl" sz="1200">
                <a:solidFill>
                  <a:srgbClr val="9900FF"/>
                </a:solidFill>
                <a:latin typeface="Calibri"/>
                <a:ea typeface="Calibri"/>
                <a:cs typeface="Calibri"/>
                <a:sym typeface="Calibri"/>
              </a:rPr>
              <a:t>Job:</a:t>
            </a:r>
            <a:r>
              <a:rPr lang="pl" sz="1200">
                <a:solidFill>
                  <a:srgbClr val="434343"/>
                </a:solidFill>
                <a:latin typeface="Calibri"/>
                <a:ea typeface="Calibri"/>
                <a:cs typeface="Calibri"/>
                <a:sym typeface="Calibri"/>
              </a:rPr>
              <a:t> </a:t>
            </a:r>
            <a:r>
              <a:rPr lang="pl" sz="1200">
                <a:solidFill>
                  <a:srgbClr val="FFFFFF"/>
                </a:solidFill>
                <a:latin typeface="Calibri"/>
                <a:ea typeface="Calibri"/>
                <a:cs typeface="Calibri"/>
                <a:sym typeface="Calibri"/>
              </a:rPr>
              <a:t>PhD Student</a:t>
            </a:r>
            <a:endParaRPr sz="700">
              <a:solidFill>
                <a:srgbClr val="FFFFFF"/>
              </a:solidFill>
            </a:endParaRPr>
          </a:p>
          <a:p>
            <a:pPr indent="0" lvl="0" marL="0" marR="0" rtl="0" algn="l">
              <a:spcBef>
                <a:spcPts val="0"/>
              </a:spcBef>
              <a:spcAft>
                <a:spcPts val="0"/>
              </a:spcAft>
              <a:buNone/>
            </a:pPr>
            <a:r>
              <a:rPr lang="pl" sz="1200">
                <a:solidFill>
                  <a:srgbClr val="9900FF"/>
                </a:solidFill>
                <a:latin typeface="Calibri"/>
                <a:ea typeface="Calibri"/>
                <a:cs typeface="Calibri"/>
                <a:sym typeface="Calibri"/>
              </a:rPr>
              <a:t>Status:</a:t>
            </a:r>
            <a:r>
              <a:rPr lang="pl" sz="1200">
                <a:solidFill>
                  <a:srgbClr val="434343"/>
                </a:solidFill>
                <a:latin typeface="Calibri"/>
                <a:ea typeface="Calibri"/>
                <a:cs typeface="Calibri"/>
                <a:sym typeface="Calibri"/>
              </a:rPr>
              <a:t> </a:t>
            </a:r>
            <a:r>
              <a:rPr lang="pl" sz="1200">
                <a:solidFill>
                  <a:srgbClr val="FFFFFF"/>
                </a:solidFill>
                <a:latin typeface="Calibri"/>
                <a:ea typeface="Calibri"/>
                <a:cs typeface="Calibri"/>
                <a:sym typeface="Calibri"/>
              </a:rPr>
              <a:t>Single</a:t>
            </a:r>
            <a:endParaRPr sz="700">
              <a:solidFill>
                <a:srgbClr val="FFFFFF"/>
              </a:solidFill>
            </a:endParaRPr>
          </a:p>
          <a:p>
            <a:pPr indent="0" lvl="0" marL="0" marR="0" rtl="0" algn="l">
              <a:spcBef>
                <a:spcPts val="0"/>
              </a:spcBef>
              <a:spcAft>
                <a:spcPts val="0"/>
              </a:spcAft>
              <a:buNone/>
            </a:pPr>
            <a:r>
              <a:rPr lang="pl" sz="1200">
                <a:solidFill>
                  <a:srgbClr val="9900FF"/>
                </a:solidFill>
                <a:latin typeface="Calibri"/>
                <a:ea typeface="Calibri"/>
                <a:cs typeface="Calibri"/>
                <a:sym typeface="Calibri"/>
              </a:rPr>
              <a:t>Location:</a:t>
            </a:r>
            <a:r>
              <a:rPr lang="pl" sz="1200">
                <a:solidFill>
                  <a:srgbClr val="434343"/>
                </a:solidFill>
                <a:latin typeface="Calibri"/>
                <a:ea typeface="Calibri"/>
                <a:cs typeface="Calibri"/>
                <a:sym typeface="Calibri"/>
              </a:rPr>
              <a:t> </a:t>
            </a:r>
            <a:r>
              <a:rPr lang="pl" sz="1200">
                <a:solidFill>
                  <a:srgbClr val="FFFFFF"/>
                </a:solidFill>
                <a:latin typeface="Calibri"/>
                <a:ea typeface="Calibri"/>
                <a:cs typeface="Calibri"/>
                <a:sym typeface="Calibri"/>
              </a:rPr>
              <a:t>Hsinchu</a:t>
            </a:r>
            <a:endParaRPr sz="700">
              <a:solidFill>
                <a:srgbClr val="FFFFFF"/>
              </a:solidFill>
            </a:endParaRPr>
          </a:p>
          <a:p>
            <a:pPr indent="0" lvl="0" marL="0" marR="0" rtl="0" algn="l">
              <a:spcBef>
                <a:spcPts val="0"/>
              </a:spcBef>
              <a:spcAft>
                <a:spcPts val="0"/>
              </a:spcAft>
              <a:buNone/>
            </a:pPr>
            <a:r>
              <a:rPr lang="pl" sz="1200">
                <a:solidFill>
                  <a:srgbClr val="9900FF"/>
                </a:solidFill>
                <a:latin typeface="Calibri"/>
                <a:ea typeface="Calibri"/>
                <a:cs typeface="Calibri"/>
                <a:sym typeface="Calibri"/>
              </a:rPr>
              <a:t>Archetype:</a:t>
            </a:r>
            <a:r>
              <a:rPr lang="pl" sz="1200">
                <a:solidFill>
                  <a:srgbClr val="434343"/>
                </a:solidFill>
                <a:latin typeface="Calibri"/>
                <a:ea typeface="Calibri"/>
                <a:cs typeface="Calibri"/>
                <a:sym typeface="Calibri"/>
              </a:rPr>
              <a:t> </a:t>
            </a:r>
            <a:r>
              <a:rPr lang="pl" sz="1200">
                <a:solidFill>
                  <a:srgbClr val="FFFFFF"/>
                </a:solidFill>
                <a:latin typeface="Calibri"/>
                <a:ea typeface="Calibri"/>
                <a:cs typeface="Calibri"/>
                <a:sym typeface="Calibri"/>
              </a:rPr>
              <a:t>The wise man</a:t>
            </a:r>
            <a:endParaRPr sz="1200">
              <a:solidFill>
                <a:srgbClr val="FFFFFF"/>
              </a:solidFill>
              <a:latin typeface="Calibri"/>
              <a:ea typeface="Calibri"/>
              <a:cs typeface="Calibri"/>
              <a:sym typeface="Calibri"/>
            </a:endParaRPr>
          </a:p>
          <a:p>
            <a:pPr indent="0" lvl="0" marL="0" rtl="0" algn="l">
              <a:spcBef>
                <a:spcPts val="0"/>
              </a:spcBef>
              <a:spcAft>
                <a:spcPts val="0"/>
              </a:spcAft>
              <a:buClr>
                <a:srgbClr val="000000"/>
              </a:buClr>
              <a:buFont typeface="Arial"/>
              <a:buNone/>
            </a:pPr>
            <a:r>
              <a:rPr lang="pl" sz="1200">
                <a:solidFill>
                  <a:srgbClr val="9900FF"/>
                </a:solidFill>
                <a:latin typeface="Calibri"/>
                <a:ea typeface="Calibri"/>
                <a:cs typeface="Calibri"/>
                <a:sym typeface="Calibri"/>
              </a:rPr>
              <a:t>Traits: </a:t>
            </a:r>
            <a:r>
              <a:rPr lang="pl" sz="1200">
                <a:solidFill>
                  <a:srgbClr val="FFFFFF"/>
                </a:solidFill>
                <a:latin typeface="Calibri"/>
                <a:ea typeface="Calibri"/>
                <a:cs typeface="Calibri"/>
                <a:sym typeface="Calibri"/>
              </a:rPr>
              <a:t>Friendly, Helpful, Assertive, Demanding</a:t>
            </a:r>
            <a:endParaRPr sz="1200">
              <a:solidFill>
                <a:srgbClr val="FFFFFF"/>
              </a:solidFill>
              <a:latin typeface="Calibri"/>
              <a:ea typeface="Calibri"/>
              <a:cs typeface="Calibri"/>
              <a:sym typeface="Calibri"/>
            </a:endParaRPr>
          </a:p>
          <a:p>
            <a:pPr indent="0" lvl="0" marL="0" marR="0" rtl="0" algn="l">
              <a:spcBef>
                <a:spcPts val="0"/>
              </a:spcBef>
              <a:spcAft>
                <a:spcPts val="0"/>
              </a:spcAft>
              <a:buNone/>
            </a:pPr>
            <a:r>
              <a:t/>
            </a:r>
            <a:endParaRPr sz="1200">
              <a:solidFill>
                <a:srgbClr val="434343"/>
              </a:solidFill>
              <a:latin typeface="Calibri"/>
              <a:ea typeface="Calibri"/>
              <a:cs typeface="Calibri"/>
              <a:sym typeface="Calibri"/>
            </a:endParaRPr>
          </a:p>
        </p:txBody>
      </p:sp>
      <p:sp>
        <p:nvSpPr>
          <p:cNvPr id="115" name="Google Shape;115;p22"/>
          <p:cNvSpPr txBox="1"/>
          <p:nvPr/>
        </p:nvSpPr>
        <p:spPr>
          <a:xfrm>
            <a:off x="98185" y="2271029"/>
            <a:ext cx="1195200" cy="1968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300">
                <a:solidFill>
                  <a:srgbClr val="9900FF"/>
                </a:solidFill>
                <a:latin typeface="Calibri"/>
                <a:ea typeface="Calibri"/>
                <a:cs typeface="Calibri"/>
                <a:sym typeface="Calibri"/>
              </a:rPr>
              <a:t>Demographics:</a:t>
            </a:r>
            <a:endParaRPr sz="1300">
              <a:solidFill>
                <a:srgbClr val="9900FF"/>
              </a:solidFill>
              <a:latin typeface="Calibri"/>
              <a:ea typeface="Calibri"/>
              <a:cs typeface="Calibri"/>
              <a:sym typeface="Calibri"/>
            </a:endParaRPr>
          </a:p>
        </p:txBody>
      </p:sp>
      <p:sp>
        <p:nvSpPr>
          <p:cNvPr id="116" name="Google Shape;116;p22"/>
          <p:cNvSpPr/>
          <p:nvPr/>
        </p:nvSpPr>
        <p:spPr>
          <a:xfrm flipH="1">
            <a:off x="2168675" y="568300"/>
            <a:ext cx="29400" cy="4487400"/>
          </a:xfrm>
          <a:prstGeom prst="rect">
            <a:avLst/>
          </a:prstGeom>
          <a:solidFill>
            <a:srgbClr val="9900FF"/>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2"/>
          <p:cNvSpPr txBox="1"/>
          <p:nvPr/>
        </p:nvSpPr>
        <p:spPr>
          <a:xfrm>
            <a:off x="153081" y="3947438"/>
            <a:ext cx="615000" cy="1575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595959"/>
                </a:solidFill>
                <a:latin typeface="Calibri"/>
                <a:ea typeface="Calibri"/>
                <a:cs typeface="Calibri"/>
                <a:sym typeface="Calibri"/>
              </a:rPr>
              <a:t>Extrovert</a:t>
            </a:r>
            <a:endParaRPr sz="1000">
              <a:solidFill>
                <a:srgbClr val="595959"/>
              </a:solidFill>
              <a:latin typeface="Calibri"/>
              <a:ea typeface="Calibri"/>
              <a:cs typeface="Calibri"/>
              <a:sym typeface="Calibri"/>
            </a:endParaRPr>
          </a:p>
        </p:txBody>
      </p:sp>
      <p:sp>
        <p:nvSpPr>
          <p:cNvPr id="118" name="Google Shape;118;p22"/>
          <p:cNvSpPr txBox="1"/>
          <p:nvPr/>
        </p:nvSpPr>
        <p:spPr>
          <a:xfrm>
            <a:off x="1244331" y="3947450"/>
            <a:ext cx="718500" cy="157500"/>
          </a:xfrm>
          <a:prstGeom prst="rect">
            <a:avLst/>
          </a:prstGeom>
          <a:noFill/>
          <a:ln>
            <a:noFill/>
          </a:ln>
        </p:spPr>
        <p:txBody>
          <a:bodyPr anchorCtr="0" anchor="t" bIns="24775" lIns="49550" spcFirstLastPara="1" rIns="49550" wrap="square" tIns="24775">
            <a:noAutofit/>
          </a:bodyPr>
          <a:lstStyle/>
          <a:p>
            <a:pPr indent="0" lvl="0" marL="0" marR="0" rtl="0" algn="r">
              <a:spcBef>
                <a:spcPts val="0"/>
              </a:spcBef>
              <a:spcAft>
                <a:spcPts val="0"/>
              </a:spcAft>
              <a:buNone/>
            </a:pPr>
            <a:r>
              <a:rPr lang="pl" sz="1000">
                <a:solidFill>
                  <a:srgbClr val="595959"/>
                </a:solidFill>
                <a:latin typeface="Calibri"/>
                <a:ea typeface="Calibri"/>
                <a:cs typeface="Calibri"/>
                <a:sym typeface="Calibri"/>
              </a:rPr>
              <a:t>Introvert</a:t>
            </a:r>
            <a:endParaRPr sz="1000">
              <a:solidFill>
                <a:srgbClr val="595959"/>
              </a:solidFill>
              <a:latin typeface="Calibri"/>
              <a:ea typeface="Calibri"/>
              <a:cs typeface="Calibri"/>
              <a:sym typeface="Calibri"/>
            </a:endParaRPr>
          </a:p>
        </p:txBody>
      </p:sp>
      <p:sp>
        <p:nvSpPr>
          <p:cNvPr id="119" name="Google Shape;119;p22"/>
          <p:cNvSpPr/>
          <p:nvPr/>
        </p:nvSpPr>
        <p:spPr>
          <a:xfrm>
            <a:off x="151424" y="4110025"/>
            <a:ext cx="1809000" cy="786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20" name="Google Shape;120;p22"/>
          <p:cNvSpPr/>
          <p:nvPr/>
        </p:nvSpPr>
        <p:spPr>
          <a:xfrm>
            <a:off x="823731" y="4118705"/>
            <a:ext cx="188100" cy="699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21" name="Google Shape;121;p22"/>
          <p:cNvSpPr txBox="1"/>
          <p:nvPr/>
        </p:nvSpPr>
        <p:spPr>
          <a:xfrm>
            <a:off x="153081" y="4149313"/>
            <a:ext cx="615000" cy="1575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595959"/>
                </a:solidFill>
                <a:latin typeface="Calibri"/>
                <a:ea typeface="Calibri"/>
                <a:cs typeface="Calibri"/>
                <a:sym typeface="Calibri"/>
              </a:rPr>
              <a:t>Sensing</a:t>
            </a:r>
            <a:endParaRPr sz="1000">
              <a:solidFill>
                <a:srgbClr val="595959"/>
              </a:solidFill>
              <a:latin typeface="Calibri"/>
              <a:ea typeface="Calibri"/>
              <a:cs typeface="Calibri"/>
              <a:sym typeface="Calibri"/>
            </a:endParaRPr>
          </a:p>
        </p:txBody>
      </p:sp>
      <p:sp>
        <p:nvSpPr>
          <p:cNvPr id="122" name="Google Shape;122;p22"/>
          <p:cNvSpPr txBox="1"/>
          <p:nvPr/>
        </p:nvSpPr>
        <p:spPr>
          <a:xfrm>
            <a:off x="1244331" y="4188600"/>
            <a:ext cx="718500" cy="157500"/>
          </a:xfrm>
          <a:prstGeom prst="rect">
            <a:avLst/>
          </a:prstGeom>
          <a:noFill/>
          <a:ln>
            <a:noFill/>
          </a:ln>
        </p:spPr>
        <p:txBody>
          <a:bodyPr anchorCtr="0" anchor="t" bIns="24775" lIns="49550" spcFirstLastPara="1" rIns="49550" wrap="square" tIns="24775">
            <a:noAutofit/>
          </a:bodyPr>
          <a:lstStyle/>
          <a:p>
            <a:pPr indent="0" lvl="0" marL="0" marR="0" rtl="0" algn="r">
              <a:spcBef>
                <a:spcPts val="0"/>
              </a:spcBef>
              <a:spcAft>
                <a:spcPts val="0"/>
              </a:spcAft>
              <a:buNone/>
            </a:pPr>
            <a:r>
              <a:rPr lang="pl" sz="1000">
                <a:solidFill>
                  <a:srgbClr val="595959"/>
                </a:solidFill>
                <a:latin typeface="Calibri"/>
                <a:ea typeface="Calibri"/>
                <a:cs typeface="Calibri"/>
                <a:sym typeface="Calibri"/>
              </a:rPr>
              <a:t>Intuition</a:t>
            </a:r>
            <a:endParaRPr sz="1000">
              <a:solidFill>
                <a:srgbClr val="595959"/>
              </a:solidFill>
              <a:latin typeface="Calibri"/>
              <a:ea typeface="Calibri"/>
              <a:cs typeface="Calibri"/>
              <a:sym typeface="Calibri"/>
            </a:endParaRPr>
          </a:p>
        </p:txBody>
      </p:sp>
      <p:sp>
        <p:nvSpPr>
          <p:cNvPr id="123" name="Google Shape;123;p22"/>
          <p:cNvSpPr/>
          <p:nvPr/>
        </p:nvSpPr>
        <p:spPr>
          <a:xfrm>
            <a:off x="151424" y="4351175"/>
            <a:ext cx="1779000" cy="786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24" name="Google Shape;124;p22"/>
          <p:cNvSpPr/>
          <p:nvPr/>
        </p:nvSpPr>
        <p:spPr>
          <a:xfrm>
            <a:off x="1011831" y="4355555"/>
            <a:ext cx="188100" cy="699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25" name="Google Shape;125;p22"/>
          <p:cNvSpPr txBox="1"/>
          <p:nvPr/>
        </p:nvSpPr>
        <p:spPr>
          <a:xfrm>
            <a:off x="124487" y="4434910"/>
            <a:ext cx="709200" cy="1575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595959"/>
                </a:solidFill>
                <a:latin typeface="Calibri"/>
                <a:ea typeface="Calibri"/>
                <a:cs typeface="Calibri"/>
                <a:sym typeface="Calibri"/>
              </a:rPr>
              <a:t>Thinking</a:t>
            </a:r>
            <a:endParaRPr sz="1000">
              <a:solidFill>
                <a:srgbClr val="595959"/>
              </a:solidFill>
              <a:latin typeface="Calibri"/>
              <a:ea typeface="Calibri"/>
              <a:cs typeface="Calibri"/>
              <a:sym typeface="Calibri"/>
            </a:endParaRPr>
          </a:p>
        </p:txBody>
      </p:sp>
      <p:sp>
        <p:nvSpPr>
          <p:cNvPr id="126" name="Google Shape;126;p22"/>
          <p:cNvSpPr txBox="1"/>
          <p:nvPr/>
        </p:nvSpPr>
        <p:spPr>
          <a:xfrm>
            <a:off x="1142313" y="4434922"/>
            <a:ext cx="828600" cy="157500"/>
          </a:xfrm>
          <a:prstGeom prst="rect">
            <a:avLst/>
          </a:prstGeom>
          <a:noFill/>
          <a:ln>
            <a:noFill/>
          </a:ln>
        </p:spPr>
        <p:txBody>
          <a:bodyPr anchorCtr="0" anchor="t" bIns="24775" lIns="49550" spcFirstLastPara="1" rIns="49550" wrap="square" tIns="24775">
            <a:noAutofit/>
          </a:bodyPr>
          <a:lstStyle/>
          <a:p>
            <a:pPr indent="0" lvl="0" marL="0" marR="0" rtl="0" algn="r">
              <a:spcBef>
                <a:spcPts val="0"/>
              </a:spcBef>
              <a:spcAft>
                <a:spcPts val="0"/>
              </a:spcAft>
              <a:buNone/>
            </a:pPr>
            <a:r>
              <a:rPr lang="pl" sz="1000">
                <a:solidFill>
                  <a:srgbClr val="595959"/>
                </a:solidFill>
                <a:latin typeface="Calibri"/>
                <a:ea typeface="Calibri"/>
                <a:cs typeface="Calibri"/>
                <a:sym typeface="Calibri"/>
              </a:rPr>
              <a:t>Feeling</a:t>
            </a:r>
            <a:endParaRPr sz="1000">
              <a:solidFill>
                <a:srgbClr val="595959"/>
              </a:solidFill>
              <a:latin typeface="Calibri"/>
              <a:ea typeface="Calibri"/>
              <a:cs typeface="Calibri"/>
              <a:sym typeface="Calibri"/>
            </a:endParaRPr>
          </a:p>
        </p:txBody>
      </p:sp>
      <p:sp>
        <p:nvSpPr>
          <p:cNvPr id="127" name="Google Shape;127;p22"/>
          <p:cNvSpPr/>
          <p:nvPr/>
        </p:nvSpPr>
        <p:spPr>
          <a:xfrm>
            <a:off x="174375" y="4597500"/>
            <a:ext cx="1779000" cy="786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28" name="Google Shape;128;p22"/>
          <p:cNvSpPr/>
          <p:nvPr/>
        </p:nvSpPr>
        <p:spPr>
          <a:xfrm>
            <a:off x="1056232" y="4606177"/>
            <a:ext cx="216900" cy="699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29" name="Google Shape;129;p22"/>
          <p:cNvSpPr txBox="1"/>
          <p:nvPr/>
        </p:nvSpPr>
        <p:spPr>
          <a:xfrm>
            <a:off x="121239" y="4709800"/>
            <a:ext cx="615000" cy="1575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595959"/>
                </a:solidFill>
                <a:latin typeface="Calibri"/>
                <a:ea typeface="Calibri"/>
                <a:cs typeface="Calibri"/>
                <a:sym typeface="Calibri"/>
              </a:rPr>
              <a:t>Judging</a:t>
            </a:r>
            <a:endParaRPr sz="1000">
              <a:solidFill>
                <a:srgbClr val="595959"/>
              </a:solidFill>
              <a:latin typeface="Calibri"/>
              <a:ea typeface="Calibri"/>
              <a:cs typeface="Calibri"/>
              <a:sym typeface="Calibri"/>
            </a:endParaRPr>
          </a:p>
        </p:txBody>
      </p:sp>
      <p:sp>
        <p:nvSpPr>
          <p:cNvPr id="130" name="Google Shape;130;p22"/>
          <p:cNvSpPr txBox="1"/>
          <p:nvPr/>
        </p:nvSpPr>
        <p:spPr>
          <a:xfrm>
            <a:off x="1244323" y="4709800"/>
            <a:ext cx="718500" cy="157500"/>
          </a:xfrm>
          <a:prstGeom prst="rect">
            <a:avLst/>
          </a:prstGeom>
          <a:noFill/>
          <a:ln>
            <a:noFill/>
          </a:ln>
        </p:spPr>
        <p:txBody>
          <a:bodyPr anchorCtr="0" anchor="t" bIns="24775" lIns="49550" spcFirstLastPara="1" rIns="49550" wrap="square" tIns="24775">
            <a:noAutofit/>
          </a:bodyPr>
          <a:lstStyle/>
          <a:p>
            <a:pPr indent="0" lvl="0" marL="0" marR="0" rtl="0" algn="r">
              <a:spcBef>
                <a:spcPts val="0"/>
              </a:spcBef>
              <a:spcAft>
                <a:spcPts val="0"/>
              </a:spcAft>
              <a:buNone/>
            </a:pPr>
            <a:r>
              <a:rPr lang="pl" sz="1000">
                <a:solidFill>
                  <a:srgbClr val="595959"/>
                </a:solidFill>
                <a:latin typeface="Calibri"/>
                <a:ea typeface="Calibri"/>
                <a:cs typeface="Calibri"/>
                <a:sym typeface="Calibri"/>
              </a:rPr>
              <a:t>Perceiving</a:t>
            </a:r>
            <a:endParaRPr sz="1000">
              <a:solidFill>
                <a:srgbClr val="595959"/>
              </a:solidFill>
              <a:latin typeface="Calibri"/>
              <a:ea typeface="Calibri"/>
              <a:cs typeface="Calibri"/>
              <a:sym typeface="Calibri"/>
            </a:endParaRPr>
          </a:p>
        </p:txBody>
      </p:sp>
      <p:sp>
        <p:nvSpPr>
          <p:cNvPr id="131" name="Google Shape;131;p22"/>
          <p:cNvSpPr/>
          <p:nvPr/>
        </p:nvSpPr>
        <p:spPr>
          <a:xfrm>
            <a:off x="170350" y="4901025"/>
            <a:ext cx="1779000" cy="786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32" name="Google Shape;132;p22"/>
          <p:cNvSpPr/>
          <p:nvPr/>
        </p:nvSpPr>
        <p:spPr>
          <a:xfrm>
            <a:off x="954783" y="4895255"/>
            <a:ext cx="188100" cy="699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grpSp>
        <p:nvGrpSpPr>
          <p:cNvPr id="133" name="Google Shape;133;p22"/>
          <p:cNvGrpSpPr/>
          <p:nvPr/>
        </p:nvGrpSpPr>
        <p:grpSpPr>
          <a:xfrm>
            <a:off x="2507403" y="577534"/>
            <a:ext cx="3434425" cy="1794172"/>
            <a:chOff x="2480380" y="1838486"/>
            <a:chExt cx="3714900" cy="1549639"/>
          </a:xfrm>
        </p:grpSpPr>
        <p:sp>
          <p:nvSpPr>
            <p:cNvPr id="134" name="Google Shape;134;p22"/>
            <p:cNvSpPr/>
            <p:nvPr/>
          </p:nvSpPr>
          <p:spPr>
            <a:xfrm>
              <a:off x="2480380" y="1838486"/>
              <a:ext cx="3714900" cy="14838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b="0" i="0" sz="1100" u="none" cap="none" strike="noStrike">
                <a:solidFill>
                  <a:srgbClr val="595959"/>
                </a:solidFill>
                <a:latin typeface="Calibri"/>
                <a:ea typeface="Calibri"/>
                <a:cs typeface="Calibri"/>
                <a:sym typeface="Calibri"/>
              </a:endParaRPr>
            </a:p>
          </p:txBody>
        </p:sp>
        <p:sp>
          <p:nvSpPr>
            <p:cNvPr id="135" name="Google Shape;135;p22"/>
            <p:cNvSpPr txBox="1"/>
            <p:nvPr/>
          </p:nvSpPr>
          <p:spPr>
            <a:xfrm>
              <a:off x="2584993" y="1931237"/>
              <a:ext cx="1195200" cy="1968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300">
                  <a:solidFill>
                    <a:srgbClr val="9900FF"/>
                  </a:solidFill>
                  <a:latin typeface="Calibri"/>
                  <a:ea typeface="Calibri"/>
                  <a:cs typeface="Calibri"/>
                  <a:sym typeface="Calibri"/>
                </a:rPr>
                <a:t>Bio:</a:t>
              </a:r>
              <a:endParaRPr sz="1300">
                <a:solidFill>
                  <a:srgbClr val="9900FF"/>
                </a:solidFill>
                <a:latin typeface="Calibri"/>
                <a:ea typeface="Calibri"/>
                <a:cs typeface="Calibri"/>
                <a:sym typeface="Calibri"/>
              </a:endParaRPr>
            </a:p>
          </p:txBody>
        </p:sp>
        <p:sp>
          <p:nvSpPr>
            <p:cNvPr id="136" name="Google Shape;136;p22"/>
            <p:cNvSpPr txBox="1"/>
            <p:nvPr/>
          </p:nvSpPr>
          <p:spPr>
            <a:xfrm>
              <a:off x="2585000" y="2150025"/>
              <a:ext cx="3455700" cy="12381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595959"/>
                  </a:solidFill>
                  <a:latin typeface="Calibri"/>
                  <a:ea typeface="Calibri"/>
                  <a:cs typeface="Calibri"/>
                  <a:sym typeface="Calibri"/>
                </a:rPr>
                <a:t>Raju is a PhD student from India. He was very unhappy with the previous platform, because his knowledge of Mandarin is still basic. This year his professor asked him to be the Teaching Assistant for the computer science course. Raju hopes that the new platform won’t be an obstacle in his job.</a:t>
              </a:r>
              <a:r>
                <a:rPr lang="pl" sz="800"/>
                <a:t>    </a:t>
              </a:r>
              <a:endParaRPr sz="800"/>
            </a:p>
            <a:p>
              <a:pPr indent="0" lvl="0" marL="0" marR="0" rtl="0" algn="l">
                <a:spcBef>
                  <a:spcPts val="0"/>
                </a:spcBef>
                <a:spcAft>
                  <a:spcPts val="0"/>
                </a:spcAft>
                <a:buNone/>
              </a:pPr>
              <a:r>
                <a:t/>
              </a:r>
              <a:endParaRPr sz="1000">
                <a:solidFill>
                  <a:srgbClr val="000000"/>
                </a:solidFill>
                <a:latin typeface="Calibri"/>
                <a:ea typeface="Calibri"/>
                <a:cs typeface="Calibri"/>
                <a:sym typeface="Calibri"/>
              </a:endParaRPr>
            </a:p>
          </p:txBody>
        </p:sp>
      </p:grpSp>
      <p:sp>
        <p:nvSpPr>
          <p:cNvPr id="137" name="Google Shape;137;p22"/>
          <p:cNvSpPr txBox="1"/>
          <p:nvPr/>
        </p:nvSpPr>
        <p:spPr>
          <a:xfrm>
            <a:off x="2430181" y="3894672"/>
            <a:ext cx="1195200" cy="1968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300">
                <a:solidFill>
                  <a:srgbClr val="9900FF"/>
                </a:solidFill>
                <a:latin typeface="Calibri"/>
                <a:ea typeface="Calibri"/>
                <a:cs typeface="Calibri"/>
                <a:sym typeface="Calibri"/>
              </a:rPr>
              <a:t>Technology:</a:t>
            </a:r>
            <a:endParaRPr sz="1300">
              <a:solidFill>
                <a:srgbClr val="9900FF"/>
              </a:solidFill>
              <a:latin typeface="Calibri"/>
              <a:ea typeface="Calibri"/>
              <a:cs typeface="Calibri"/>
              <a:sym typeface="Calibri"/>
            </a:endParaRPr>
          </a:p>
        </p:txBody>
      </p:sp>
      <p:sp>
        <p:nvSpPr>
          <p:cNvPr id="138" name="Google Shape;138;p22"/>
          <p:cNvSpPr txBox="1"/>
          <p:nvPr/>
        </p:nvSpPr>
        <p:spPr>
          <a:xfrm>
            <a:off x="2503203" y="4086920"/>
            <a:ext cx="1067700" cy="1575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595959"/>
                </a:solidFill>
                <a:latin typeface="Calibri"/>
                <a:ea typeface="Calibri"/>
                <a:cs typeface="Calibri"/>
                <a:sym typeface="Calibri"/>
              </a:rPr>
              <a:t>IT and Internet</a:t>
            </a:r>
            <a:endParaRPr sz="1000">
              <a:solidFill>
                <a:srgbClr val="595959"/>
              </a:solidFill>
              <a:latin typeface="Calibri"/>
              <a:ea typeface="Calibri"/>
              <a:cs typeface="Calibri"/>
              <a:sym typeface="Calibri"/>
            </a:endParaRPr>
          </a:p>
        </p:txBody>
      </p:sp>
      <p:sp>
        <p:nvSpPr>
          <p:cNvPr id="139" name="Google Shape;139;p22"/>
          <p:cNvSpPr txBox="1"/>
          <p:nvPr/>
        </p:nvSpPr>
        <p:spPr>
          <a:xfrm>
            <a:off x="2517487" y="4316881"/>
            <a:ext cx="786300" cy="1575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595959"/>
                </a:solidFill>
                <a:latin typeface="Calibri"/>
                <a:ea typeface="Calibri"/>
                <a:cs typeface="Calibri"/>
                <a:sym typeface="Calibri"/>
              </a:rPr>
              <a:t>Software</a:t>
            </a:r>
            <a:endParaRPr sz="1000">
              <a:solidFill>
                <a:srgbClr val="595959"/>
              </a:solidFill>
              <a:latin typeface="Calibri"/>
              <a:ea typeface="Calibri"/>
              <a:cs typeface="Calibri"/>
              <a:sym typeface="Calibri"/>
            </a:endParaRPr>
          </a:p>
        </p:txBody>
      </p:sp>
      <p:sp>
        <p:nvSpPr>
          <p:cNvPr id="140" name="Google Shape;140;p22"/>
          <p:cNvSpPr/>
          <p:nvPr/>
        </p:nvSpPr>
        <p:spPr>
          <a:xfrm>
            <a:off x="2510095" y="4264025"/>
            <a:ext cx="1659000" cy="699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41" name="Google Shape;141;p22"/>
          <p:cNvSpPr/>
          <p:nvPr/>
        </p:nvSpPr>
        <p:spPr>
          <a:xfrm>
            <a:off x="2516278" y="4263900"/>
            <a:ext cx="1439100" cy="699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42" name="Google Shape;142;p22"/>
          <p:cNvSpPr txBox="1"/>
          <p:nvPr/>
        </p:nvSpPr>
        <p:spPr>
          <a:xfrm>
            <a:off x="2529681" y="4594124"/>
            <a:ext cx="945900" cy="1575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595959"/>
                </a:solidFill>
                <a:latin typeface="Calibri"/>
                <a:ea typeface="Calibri"/>
                <a:cs typeface="Calibri"/>
                <a:sym typeface="Calibri"/>
              </a:rPr>
              <a:t>Mobile Apps</a:t>
            </a:r>
            <a:endParaRPr sz="1000">
              <a:solidFill>
                <a:srgbClr val="595959"/>
              </a:solidFill>
              <a:latin typeface="Calibri"/>
              <a:ea typeface="Calibri"/>
              <a:cs typeface="Calibri"/>
              <a:sym typeface="Calibri"/>
            </a:endParaRPr>
          </a:p>
        </p:txBody>
      </p:sp>
      <p:sp>
        <p:nvSpPr>
          <p:cNvPr id="143" name="Google Shape;143;p22"/>
          <p:cNvSpPr txBox="1"/>
          <p:nvPr/>
        </p:nvSpPr>
        <p:spPr>
          <a:xfrm>
            <a:off x="2517470" y="4853236"/>
            <a:ext cx="1173000" cy="1575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595959"/>
                </a:solidFill>
                <a:latin typeface="Calibri"/>
                <a:ea typeface="Calibri"/>
                <a:cs typeface="Calibri"/>
                <a:sym typeface="Calibri"/>
              </a:rPr>
              <a:t>Social Networks</a:t>
            </a:r>
            <a:endParaRPr sz="1000">
              <a:solidFill>
                <a:srgbClr val="595959"/>
              </a:solidFill>
              <a:latin typeface="Calibri"/>
              <a:ea typeface="Calibri"/>
              <a:cs typeface="Calibri"/>
              <a:sym typeface="Calibri"/>
            </a:endParaRPr>
          </a:p>
        </p:txBody>
      </p:sp>
      <p:sp>
        <p:nvSpPr>
          <p:cNvPr id="144" name="Google Shape;144;p22"/>
          <p:cNvSpPr/>
          <p:nvPr/>
        </p:nvSpPr>
        <p:spPr>
          <a:xfrm>
            <a:off x="2503200" y="4506450"/>
            <a:ext cx="1659000" cy="699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45" name="Google Shape;145;p22"/>
          <p:cNvSpPr/>
          <p:nvPr/>
        </p:nvSpPr>
        <p:spPr>
          <a:xfrm>
            <a:off x="2509383" y="4506350"/>
            <a:ext cx="1279200" cy="699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46" name="Google Shape;146;p22"/>
          <p:cNvSpPr/>
          <p:nvPr/>
        </p:nvSpPr>
        <p:spPr>
          <a:xfrm>
            <a:off x="2504069" y="4769475"/>
            <a:ext cx="1659000" cy="699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47" name="Google Shape;147;p22"/>
          <p:cNvSpPr/>
          <p:nvPr/>
        </p:nvSpPr>
        <p:spPr>
          <a:xfrm>
            <a:off x="2510252" y="4769375"/>
            <a:ext cx="1165800" cy="699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48" name="Google Shape;148;p22"/>
          <p:cNvSpPr/>
          <p:nvPr/>
        </p:nvSpPr>
        <p:spPr>
          <a:xfrm>
            <a:off x="2503200" y="5010850"/>
            <a:ext cx="1659000" cy="699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49" name="Google Shape;149;p22"/>
          <p:cNvSpPr/>
          <p:nvPr/>
        </p:nvSpPr>
        <p:spPr>
          <a:xfrm>
            <a:off x="2509383" y="5010725"/>
            <a:ext cx="1037700" cy="699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50" name="Google Shape;150;p22"/>
          <p:cNvSpPr txBox="1"/>
          <p:nvPr/>
        </p:nvSpPr>
        <p:spPr>
          <a:xfrm>
            <a:off x="2439811" y="2379921"/>
            <a:ext cx="1195200" cy="1968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300">
                <a:solidFill>
                  <a:srgbClr val="9900FF"/>
                </a:solidFill>
                <a:latin typeface="Calibri"/>
                <a:ea typeface="Calibri"/>
                <a:cs typeface="Calibri"/>
                <a:sym typeface="Calibri"/>
              </a:rPr>
              <a:t>Motivation:</a:t>
            </a:r>
            <a:endParaRPr sz="1300">
              <a:solidFill>
                <a:srgbClr val="9900FF"/>
              </a:solidFill>
              <a:latin typeface="Calibri"/>
              <a:ea typeface="Calibri"/>
              <a:cs typeface="Calibri"/>
              <a:sym typeface="Calibri"/>
            </a:endParaRPr>
          </a:p>
        </p:txBody>
      </p:sp>
      <p:sp>
        <p:nvSpPr>
          <p:cNvPr id="151" name="Google Shape;151;p22"/>
          <p:cNvSpPr/>
          <p:nvPr/>
        </p:nvSpPr>
        <p:spPr>
          <a:xfrm>
            <a:off x="2516000" y="2591525"/>
            <a:ext cx="1659000" cy="1452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52" name="Google Shape;152;p22"/>
          <p:cNvSpPr/>
          <p:nvPr/>
        </p:nvSpPr>
        <p:spPr>
          <a:xfrm>
            <a:off x="2516000" y="2591525"/>
            <a:ext cx="1060200" cy="1452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53" name="Google Shape;153;p22"/>
          <p:cNvSpPr txBox="1"/>
          <p:nvPr/>
        </p:nvSpPr>
        <p:spPr>
          <a:xfrm>
            <a:off x="2516011" y="2582866"/>
            <a:ext cx="691200" cy="157500"/>
          </a:xfrm>
          <a:prstGeom prst="rect">
            <a:avLst/>
          </a:prstGeom>
          <a:noFill/>
          <a:ln>
            <a:noFill/>
          </a:ln>
        </p:spPr>
        <p:txBody>
          <a:bodyPr anchorCtr="0" anchor="ctr" bIns="24775" lIns="49550" spcFirstLastPara="1" rIns="49550" wrap="square" tIns="24775">
            <a:noAutofit/>
          </a:bodyPr>
          <a:lstStyle/>
          <a:p>
            <a:pPr indent="0" lvl="0" marL="0" marR="0" rtl="0" algn="l">
              <a:spcBef>
                <a:spcPts val="0"/>
              </a:spcBef>
              <a:spcAft>
                <a:spcPts val="0"/>
              </a:spcAft>
              <a:buNone/>
            </a:pPr>
            <a:r>
              <a:rPr lang="pl" sz="1000">
                <a:solidFill>
                  <a:srgbClr val="FFFFFF"/>
                </a:solidFill>
                <a:latin typeface="Calibri"/>
                <a:ea typeface="Calibri"/>
                <a:cs typeface="Calibri"/>
                <a:sym typeface="Calibri"/>
              </a:rPr>
              <a:t>Incentive</a:t>
            </a:r>
            <a:endParaRPr sz="1000">
              <a:solidFill>
                <a:srgbClr val="FFFFFF"/>
              </a:solidFill>
              <a:latin typeface="Calibri"/>
              <a:ea typeface="Calibri"/>
              <a:cs typeface="Calibri"/>
              <a:sym typeface="Calibri"/>
            </a:endParaRPr>
          </a:p>
        </p:txBody>
      </p:sp>
      <p:sp>
        <p:nvSpPr>
          <p:cNvPr id="154" name="Google Shape;154;p22"/>
          <p:cNvSpPr/>
          <p:nvPr/>
        </p:nvSpPr>
        <p:spPr>
          <a:xfrm>
            <a:off x="2515997" y="2815750"/>
            <a:ext cx="1659000" cy="1452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55" name="Google Shape;155;p22"/>
          <p:cNvSpPr/>
          <p:nvPr/>
        </p:nvSpPr>
        <p:spPr>
          <a:xfrm>
            <a:off x="2516000" y="2815750"/>
            <a:ext cx="615000" cy="1452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56" name="Google Shape;156;p22"/>
          <p:cNvSpPr txBox="1"/>
          <p:nvPr/>
        </p:nvSpPr>
        <p:spPr>
          <a:xfrm>
            <a:off x="2516012" y="2807087"/>
            <a:ext cx="615000" cy="157500"/>
          </a:xfrm>
          <a:prstGeom prst="rect">
            <a:avLst/>
          </a:prstGeom>
          <a:noFill/>
          <a:ln>
            <a:noFill/>
          </a:ln>
        </p:spPr>
        <p:txBody>
          <a:bodyPr anchorCtr="0" anchor="ctr" bIns="24775" lIns="49550" spcFirstLastPara="1" rIns="49550" wrap="square" tIns="24775">
            <a:noAutofit/>
          </a:bodyPr>
          <a:lstStyle/>
          <a:p>
            <a:pPr indent="0" lvl="0" marL="0" marR="0" rtl="0" algn="l">
              <a:spcBef>
                <a:spcPts val="0"/>
              </a:spcBef>
              <a:spcAft>
                <a:spcPts val="0"/>
              </a:spcAft>
              <a:buNone/>
            </a:pPr>
            <a:r>
              <a:rPr lang="pl" sz="1000">
                <a:solidFill>
                  <a:srgbClr val="FFFFFF"/>
                </a:solidFill>
                <a:latin typeface="Calibri"/>
                <a:ea typeface="Calibri"/>
                <a:cs typeface="Calibri"/>
                <a:sym typeface="Calibri"/>
              </a:rPr>
              <a:t>Fear</a:t>
            </a:r>
            <a:endParaRPr sz="1000">
              <a:solidFill>
                <a:srgbClr val="FFFFFF"/>
              </a:solidFill>
              <a:latin typeface="Calibri"/>
              <a:ea typeface="Calibri"/>
              <a:cs typeface="Calibri"/>
              <a:sym typeface="Calibri"/>
            </a:endParaRPr>
          </a:p>
        </p:txBody>
      </p:sp>
      <p:sp>
        <p:nvSpPr>
          <p:cNvPr id="157" name="Google Shape;157;p22"/>
          <p:cNvSpPr/>
          <p:nvPr/>
        </p:nvSpPr>
        <p:spPr>
          <a:xfrm>
            <a:off x="2515997" y="3043625"/>
            <a:ext cx="1659000" cy="1452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58" name="Google Shape;158;p22"/>
          <p:cNvSpPr/>
          <p:nvPr/>
        </p:nvSpPr>
        <p:spPr>
          <a:xfrm>
            <a:off x="2516000" y="3043625"/>
            <a:ext cx="1308600" cy="1452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59" name="Google Shape;159;p22"/>
          <p:cNvSpPr txBox="1"/>
          <p:nvPr/>
        </p:nvSpPr>
        <p:spPr>
          <a:xfrm>
            <a:off x="2516011" y="3034959"/>
            <a:ext cx="907200" cy="157500"/>
          </a:xfrm>
          <a:prstGeom prst="rect">
            <a:avLst/>
          </a:prstGeom>
          <a:noFill/>
          <a:ln>
            <a:noFill/>
          </a:ln>
        </p:spPr>
        <p:txBody>
          <a:bodyPr anchorCtr="0" anchor="ctr" bIns="24775" lIns="49550" spcFirstLastPara="1" rIns="49550" wrap="square" tIns="24775">
            <a:noAutofit/>
          </a:bodyPr>
          <a:lstStyle/>
          <a:p>
            <a:pPr indent="0" lvl="0" marL="0" marR="0" rtl="0" algn="l">
              <a:spcBef>
                <a:spcPts val="0"/>
              </a:spcBef>
              <a:spcAft>
                <a:spcPts val="0"/>
              </a:spcAft>
              <a:buNone/>
            </a:pPr>
            <a:r>
              <a:rPr lang="pl" sz="1000">
                <a:solidFill>
                  <a:srgbClr val="FFFFFF"/>
                </a:solidFill>
                <a:latin typeface="Calibri"/>
                <a:ea typeface="Calibri"/>
                <a:cs typeface="Calibri"/>
                <a:sym typeface="Calibri"/>
              </a:rPr>
              <a:t>Achievement</a:t>
            </a:r>
            <a:endParaRPr sz="1000">
              <a:solidFill>
                <a:srgbClr val="FFFFFF"/>
              </a:solidFill>
              <a:latin typeface="Calibri"/>
              <a:ea typeface="Calibri"/>
              <a:cs typeface="Calibri"/>
              <a:sym typeface="Calibri"/>
            </a:endParaRPr>
          </a:p>
        </p:txBody>
      </p:sp>
      <p:sp>
        <p:nvSpPr>
          <p:cNvPr id="160" name="Google Shape;160;p22"/>
          <p:cNvSpPr/>
          <p:nvPr/>
        </p:nvSpPr>
        <p:spPr>
          <a:xfrm>
            <a:off x="2515997" y="3261725"/>
            <a:ext cx="1659000" cy="1452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61" name="Google Shape;161;p22"/>
          <p:cNvSpPr/>
          <p:nvPr/>
        </p:nvSpPr>
        <p:spPr>
          <a:xfrm>
            <a:off x="2520824" y="3259425"/>
            <a:ext cx="907200" cy="1452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62" name="Google Shape;162;p22"/>
          <p:cNvSpPr txBox="1"/>
          <p:nvPr/>
        </p:nvSpPr>
        <p:spPr>
          <a:xfrm>
            <a:off x="2516011" y="3253059"/>
            <a:ext cx="615000" cy="157500"/>
          </a:xfrm>
          <a:prstGeom prst="rect">
            <a:avLst/>
          </a:prstGeom>
          <a:noFill/>
          <a:ln>
            <a:noFill/>
          </a:ln>
        </p:spPr>
        <p:txBody>
          <a:bodyPr anchorCtr="0" anchor="ctr" bIns="24775" lIns="49550" spcFirstLastPara="1" rIns="49550" wrap="square" tIns="24775">
            <a:noAutofit/>
          </a:bodyPr>
          <a:lstStyle/>
          <a:p>
            <a:pPr indent="0" lvl="0" marL="0" marR="0" rtl="0" algn="l">
              <a:spcBef>
                <a:spcPts val="0"/>
              </a:spcBef>
              <a:spcAft>
                <a:spcPts val="0"/>
              </a:spcAft>
              <a:buNone/>
            </a:pPr>
            <a:r>
              <a:rPr lang="pl" sz="1000">
                <a:solidFill>
                  <a:srgbClr val="FFFFFF"/>
                </a:solidFill>
                <a:latin typeface="Calibri"/>
                <a:ea typeface="Calibri"/>
                <a:cs typeface="Calibri"/>
                <a:sym typeface="Calibri"/>
              </a:rPr>
              <a:t>Power</a:t>
            </a:r>
            <a:endParaRPr sz="1000">
              <a:solidFill>
                <a:srgbClr val="FFFFFF"/>
              </a:solidFill>
              <a:latin typeface="Calibri"/>
              <a:ea typeface="Calibri"/>
              <a:cs typeface="Calibri"/>
              <a:sym typeface="Calibri"/>
            </a:endParaRPr>
          </a:p>
        </p:txBody>
      </p:sp>
      <p:sp>
        <p:nvSpPr>
          <p:cNvPr id="163" name="Google Shape;163;p22"/>
          <p:cNvSpPr/>
          <p:nvPr/>
        </p:nvSpPr>
        <p:spPr>
          <a:xfrm>
            <a:off x="2516015" y="3483875"/>
            <a:ext cx="1659000" cy="1452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64" name="Google Shape;164;p22"/>
          <p:cNvSpPr/>
          <p:nvPr/>
        </p:nvSpPr>
        <p:spPr>
          <a:xfrm>
            <a:off x="2516000" y="3483875"/>
            <a:ext cx="1223100" cy="1452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65" name="Google Shape;165;p22"/>
          <p:cNvSpPr txBox="1"/>
          <p:nvPr/>
        </p:nvSpPr>
        <p:spPr>
          <a:xfrm>
            <a:off x="2516013" y="3475208"/>
            <a:ext cx="615000" cy="1575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FFFFFF"/>
                </a:solidFill>
                <a:latin typeface="Calibri"/>
                <a:ea typeface="Calibri"/>
                <a:cs typeface="Calibri"/>
                <a:sym typeface="Calibri"/>
              </a:rPr>
              <a:t>Social</a:t>
            </a:r>
            <a:endParaRPr sz="1000">
              <a:solidFill>
                <a:srgbClr val="FFFFFF"/>
              </a:solidFill>
              <a:latin typeface="Calibri"/>
              <a:ea typeface="Calibri"/>
              <a:cs typeface="Calibri"/>
              <a:sym typeface="Calibri"/>
            </a:endParaRPr>
          </a:p>
        </p:txBody>
      </p:sp>
      <p:sp>
        <p:nvSpPr>
          <p:cNvPr id="166" name="Google Shape;166;p22"/>
          <p:cNvSpPr/>
          <p:nvPr/>
        </p:nvSpPr>
        <p:spPr>
          <a:xfrm flipH="1">
            <a:off x="6271275" y="577525"/>
            <a:ext cx="29400" cy="4487400"/>
          </a:xfrm>
          <a:prstGeom prst="rect">
            <a:avLst/>
          </a:prstGeom>
          <a:solidFill>
            <a:srgbClr val="9900FF"/>
          </a:solidFill>
          <a:ln cap="flat" cmpd="sng" w="9525">
            <a:solidFill>
              <a:srgbClr val="99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2"/>
          <p:cNvSpPr txBox="1"/>
          <p:nvPr/>
        </p:nvSpPr>
        <p:spPr>
          <a:xfrm>
            <a:off x="6590085" y="546779"/>
            <a:ext cx="1195200" cy="1968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300">
                <a:solidFill>
                  <a:srgbClr val="9900FF"/>
                </a:solidFill>
                <a:latin typeface="Calibri"/>
                <a:ea typeface="Calibri"/>
                <a:cs typeface="Calibri"/>
                <a:sym typeface="Calibri"/>
              </a:rPr>
              <a:t>Needs:</a:t>
            </a:r>
            <a:endParaRPr sz="1300">
              <a:solidFill>
                <a:srgbClr val="9900FF"/>
              </a:solidFill>
              <a:latin typeface="Calibri"/>
              <a:ea typeface="Calibri"/>
              <a:cs typeface="Calibri"/>
              <a:sym typeface="Calibri"/>
            </a:endParaRPr>
          </a:p>
        </p:txBody>
      </p:sp>
      <p:sp>
        <p:nvSpPr>
          <p:cNvPr id="168" name="Google Shape;168;p22"/>
          <p:cNvSpPr txBox="1"/>
          <p:nvPr/>
        </p:nvSpPr>
        <p:spPr>
          <a:xfrm>
            <a:off x="4248425" y="3179850"/>
            <a:ext cx="2022900" cy="5514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300">
                <a:solidFill>
                  <a:srgbClr val="9900FF"/>
                </a:solidFill>
                <a:latin typeface="Calibri"/>
                <a:ea typeface="Calibri"/>
                <a:cs typeface="Calibri"/>
                <a:sym typeface="Calibri"/>
              </a:rPr>
              <a:t>Frustrations:</a:t>
            </a:r>
            <a:endParaRPr sz="800">
              <a:solidFill>
                <a:srgbClr val="9900FF"/>
              </a:solidFill>
            </a:endParaRPr>
          </a:p>
          <a:p>
            <a:pPr indent="-152400" lvl="0" marL="152400" marR="0" rtl="0" algn="l">
              <a:spcBef>
                <a:spcPts val="0"/>
              </a:spcBef>
              <a:spcAft>
                <a:spcPts val="0"/>
              </a:spcAft>
              <a:buClr>
                <a:srgbClr val="7F7F7F"/>
              </a:buClr>
              <a:buSzPts val="1000"/>
              <a:buFont typeface="Arial"/>
              <a:buChar char="•"/>
            </a:pPr>
            <a:r>
              <a:rPr b="1" lang="pl" sz="1000">
                <a:solidFill>
                  <a:srgbClr val="7F7F7F"/>
                </a:solidFill>
                <a:latin typeface="Calibri"/>
                <a:ea typeface="Calibri"/>
                <a:cs typeface="Calibri"/>
                <a:sym typeface="Calibri"/>
              </a:rPr>
              <a:t>Students that don’t listen</a:t>
            </a:r>
            <a:endParaRPr sz="800"/>
          </a:p>
          <a:p>
            <a:pPr indent="-152400" lvl="0" marL="152400" marR="0" rtl="0" algn="l">
              <a:spcBef>
                <a:spcPts val="0"/>
              </a:spcBef>
              <a:spcAft>
                <a:spcPts val="0"/>
              </a:spcAft>
              <a:buClr>
                <a:srgbClr val="7F7F7F"/>
              </a:buClr>
              <a:buSzPts val="1000"/>
              <a:buFont typeface="Arial"/>
              <a:buChar char="•"/>
            </a:pPr>
            <a:r>
              <a:rPr b="1" lang="pl" sz="1000">
                <a:solidFill>
                  <a:srgbClr val="7F7F7F"/>
                </a:solidFill>
                <a:latin typeface="Calibri"/>
                <a:ea typeface="Calibri"/>
                <a:cs typeface="Calibri"/>
                <a:sym typeface="Calibri"/>
              </a:rPr>
              <a:t>Doesn’t have enough time for his hobbies</a:t>
            </a:r>
            <a:endParaRPr sz="800"/>
          </a:p>
        </p:txBody>
      </p:sp>
      <p:sp>
        <p:nvSpPr>
          <p:cNvPr id="169" name="Google Shape;169;p22"/>
          <p:cNvSpPr txBox="1"/>
          <p:nvPr/>
        </p:nvSpPr>
        <p:spPr>
          <a:xfrm>
            <a:off x="4248425" y="3965950"/>
            <a:ext cx="2022900" cy="5514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300">
                <a:solidFill>
                  <a:srgbClr val="9900FF"/>
                </a:solidFill>
                <a:latin typeface="Calibri"/>
                <a:ea typeface="Calibri"/>
                <a:cs typeface="Calibri"/>
                <a:sym typeface="Calibri"/>
              </a:rPr>
              <a:t>Hobby:</a:t>
            </a:r>
            <a:endParaRPr sz="800">
              <a:solidFill>
                <a:srgbClr val="9900FF"/>
              </a:solidFill>
            </a:endParaRPr>
          </a:p>
          <a:p>
            <a:pPr indent="-152400" lvl="0" marL="152400" marR="0" rtl="0" algn="l">
              <a:spcBef>
                <a:spcPts val="0"/>
              </a:spcBef>
              <a:spcAft>
                <a:spcPts val="0"/>
              </a:spcAft>
              <a:buClr>
                <a:srgbClr val="7F7F7F"/>
              </a:buClr>
              <a:buSzPts val="1000"/>
              <a:buFont typeface="Arial"/>
              <a:buChar char="•"/>
            </a:pPr>
            <a:r>
              <a:rPr b="1" lang="pl" sz="1000">
                <a:solidFill>
                  <a:srgbClr val="7F7F7F"/>
                </a:solidFill>
                <a:latin typeface="Calibri"/>
                <a:ea typeface="Calibri"/>
                <a:cs typeface="Calibri"/>
                <a:sym typeface="Calibri"/>
              </a:rPr>
              <a:t>Learning new programming </a:t>
            </a:r>
            <a:endParaRPr b="1" sz="1000">
              <a:solidFill>
                <a:srgbClr val="7F7F7F"/>
              </a:solidFill>
              <a:latin typeface="Calibri"/>
              <a:ea typeface="Calibri"/>
              <a:cs typeface="Calibri"/>
              <a:sym typeface="Calibri"/>
            </a:endParaRPr>
          </a:p>
          <a:p>
            <a:pPr indent="0" lvl="0" marL="0" marR="0" rtl="0" algn="l">
              <a:spcBef>
                <a:spcPts val="0"/>
              </a:spcBef>
              <a:spcAft>
                <a:spcPts val="0"/>
              </a:spcAft>
              <a:buNone/>
            </a:pPr>
            <a:r>
              <a:rPr b="1" lang="pl" sz="1000">
                <a:solidFill>
                  <a:srgbClr val="7F7F7F"/>
                </a:solidFill>
                <a:latin typeface="Calibri"/>
                <a:ea typeface="Calibri"/>
                <a:cs typeface="Calibri"/>
                <a:sym typeface="Calibri"/>
              </a:rPr>
              <a:t>     languages</a:t>
            </a:r>
            <a:endParaRPr b="1" sz="1000">
              <a:solidFill>
                <a:srgbClr val="7F7F7F"/>
              </a:solidFill>
              <a:latin typeface="Calibri"/>
              <a:ea typeface="Calibri"/>
              <a:cs typeface="Calibri"/>
              <a:sym typeface="Calibri"/>
            </a:endParaRPr>
          </a:p>
          <a:p>
            <a:pPr indent="-152400" lvl="0" marL="152400" marR="0" rtl="0" algn="l">
              <a:spcBef>
                <a:spcPts val="0"/>
              </a:spcBef>
              <a:spcAft>
                <a:spcPts val="0"/>
              </a:spcAft>
              <a:buClr>
                <a:srgbClr val="7F7F7F"/>
              </a:buClr>
              <a:buSzPts val="1000"/>
              <a:buFont typeface="Calibri"/>
              <a:buChar char="•"/>
            </a:pPr>
            <a:r>
              <a:rPr b="1" lang="pl" sz="1000">
                <a:solidFill>
                  <a:srgbClr val="7F7F7F"/>
                </a:solidFill>
                <a:latin typeface="Calibri"/>
                <a:ea typeface="Calibri"/>
                <a:cs typeface="Calibri"/>
                <a:sym typeface="Calibri"/>
              </a:rPr>
              <a:t>Watching Bollywood movies</a:t>
            </a:r>
            <a:endParaRPr b="1" sz="1000">
              <a:solidFill>
                <a:srgbClr val="7F7F7F"/>
              </a:solidFill>
              <a:latin typeface="Calibri"/>
              <a:ea typeface="Calibri"/>
              <a:cs typeface="Calibri"/>
              <a:sym typeface="Calibri"/>
            </a:endParaRPr>
          </a:p>
          <a:p>
            <a:pPr indent="-152400" lvl="0" marL="152400" marR="0" rtl="0" algn="l">
              <a:spcBef>
                <a:spcPts val="0"/>
              </a:spcBef>
              <a:spcAft>
                <a:spcPts val="0"/>
              </a:spcAft>
              <a:buClr>
                <a:srgbClr val="7F7F7F"/>
              </a:buClr>
              <a:buSzPts val="1000"/>
              <a:buFont typeface="Calibri"/>
              <a:buChar char="•"/>
            </a:pPr>
            <a:r>
              <a:rPr b="1" lang="pl" sz="1000">
                <a:solidFill>
                  <a:srgbClr val="7F7F7F"/>
                </a:solidFill>
                <a:latin typeface="Calibri"/>
                <a:ea typeface="Calibri"/>
                <a:cs typeface="Calibri"/>
                <a:sym typeface="Calibri"/>
              </a:rPr>
              <a:t>Cooking</a:t>
            </a:r>
            <a:endParaRPr b="1" sz="1000">
              <a:solidFill>
                <a:srgbClr val="7F7F7F"/>
              </a:solidFill>
              <a:latin typeface="Calibri"/>
              <a:ea typeface="Calibri"/>
              <a:cs typeface="Calibri"/>
              <a:sym typeface="Calibri"/>
            </a:endParaRPr>
          </a:p>
        </p:txBody>
      </p:sp>
      <p:sp>
        <p:nvSpPr>
          <p:cNvPr id="170" name="Google Shape;170;p22"/>
          <p:cNvSpPr txBox="1"/>
          <p:nvPr/>
        </p:nvSpPr>
        <p:spPr>
          <a:xfrm>
            <a:off x="4261650" y="2461075"/>
            <a:ext cx="1841700" cy="5514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300">
                <a:solidFill>
                  <a:srgbClr val="9900FF"/>
                </a:solidFill>
                <a:latin typeface="Calibri"/>
                <a:ea typeface="Calibri"/>
                <a:cs typeface="Calibri"/>
                <a:sym typeface="Calibri"/>
              </a:rPr>
              <a:t>Goals</a:t>
            </a:r>
            <a:r>
              <a:rPr b="1" lang="pl" sz="1300">
                <a:solidFill>
                  <a:srgbClr val="9900FF"/>
                </a:solidFill>
                <a:latin typeface="Calibri"/>
                <a:ea typeface="Calibri"/>
                <a:cs typeface="Calibri"/>
                <a:sym typeface="Calibri"/>
              </a:rPr>
              <a:t>:</a:t>
            </a:r>
            <a:endParaRPr sz="800">
              <a:solidFill>
                <a:srgbClr val="9900FF"/>
              </a:solidFill>
            </a:endParaRPr>
          </a:p>
          <a:p>
            <a:pPr indent="-152400" lvl="0" marL="152400" marR="0" rtl="0" algn="l">
              <a:spcBef>
                <a:spcPts val="0"/>
              </a:spcBef>
              <a:spcAft>
                <a:spcPts val="0"/>
              </a:spcAft>
              <a:buClr>
                <a:srgbClr val="7F7F7F"/>
              </a:buClr>
              <a:buSzPts val="1000"/>
              <a:buFont typeface="Arial"/>
              <a:buChar char="•"/>
            </a:pPr>
            <a:r>
              <a:rPr b="1" lang="pl" sz="1000">
                <a:solidFill>
                  <a:srgbClr val="7F7F7F"/>
                </a:solidFill>
                <a:latin typeface="Calibri"/>
                <a:ea typeface="Calibri"/>
                <a:cs typeface="Calibri"/>
                <a:sym typeface="Calibri"/>
              </a:rPr>
              <a:t>Get professors position</a:t>
            </a:r>
            <a:endParaRPr sz="800"/>
          </a:p>
          <a:p>
            <a:pPr indent="-152400" lvl="0" marL="152400" marR="0" rtl="0" algn="l">
              <a:spcBef>
                <a:spcPts val="0"/>
              </a:spcBef>
              <a:spcAft>
                <a:spcPts val="0"/>
              </a:spcAft>
              <a:buClr>
                <a:srgbClr val="7F7F7F"/>
              </a:buClr>
              <a:buSzPts val="1000"/>
              <a:buFont typeface="Arial"/>
              <a:buChar char="•"/>
            </a:pPr>
            <a:r>
              <a:rPr b="1" lang="pl" sz="1000">
                <a:solidFill>
                  <a:srgbClr val="7F7F7F"/>
                </a:solidFill>
                <a:latin typeface="Calibri"/>
                <a:ea typeface="Calibri"/>
                <a:cs typeface="Calibri"/>
                <a:sym typeface="Calibri"/>
              </a:rPr>
              <a:t>To have his own laboratory</a:t>
            </a:r>
            <a:endParaRPr sz="800"/>
          </a:p>
          <a:p>
            <a:pPr indent="-152400" lvl="0" marL="152400" marR="0" rtl="0" algn="l">
              <a:spcBef>
                <a:spcPts val="0"/>
              </a:spcBef>
              <a:spcAft>
                <a:spcPts val="0"/>
              </a:spcAft>
              <a:buClr>
                <a:srgbClr val="7F7F7F"/>
              </a:buClr>
              <a:buSzPts val="1000"/>
              <a:buFont typeface="Arial"/>
              <a:buChar char="•"/>
            </a:pPr>
            <a:r>
              <a:rPr b="1" lang="pl" sz="1000">
                <a:solidFill>
                  <a:srgbClr val="7F7F7F"/>
                </a:solidFill>
                <a:latin typeface="Calibri"/>
                <a:ea typeface="Calibri"/>
                <a:cs typeface="Calibri"/>
                <a:sym typeface="Calibri"/>
              </a:rPr>
              <a:t>To invent something useful</a:t>
            </a:r>
            <a:endParaRPr sz="800"/>
          </a:p>
        </p:txBody>
      </p:sp>
      <p:sp>
        <p:nvSpPr>
          <p:cNvPr id="171" name="Google Shape;171;p22"/>
          <p:cNvSpPr txBox="1"/>
          <p:nvPr/>
        </p:nvSpPr>
        <p:spPr>
          <a:xfrm>
            <a:off x="6630123" y="2178967"/>
            <a:ext cx="1195200" cy="1968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300">
                <a:solidFill>
                  <a:srgbClr val="9900FF"/>
                </a:solidFill>
                <a:latin typeface="Calibri"/>
                <a:ea typeface="Calibri"/>
                <a:cs typeface="Calibri"/>
                <a:sym typeface="Calibri"/>
              </a:rPr>
              <a:t>Daily Tasks:</a:t>
            </a:r>
            <a:endParaRPr sz="1300">
              <a:solidFill>
                <a:srgbClr val="9900FF"/>
              </a:solidFill>
              <a:latin typeface="Calibri"/>
              <a:ea typeface="Calibri"/>
              <a:cs typeface="Calibri"/>
              <a:sym typeface="Calibri"/>
            </a:endParaRPr>
          </a:p>
        </p:txBody>
      </p:sp>
      <p:sp>
        <p:nvSpPr>
          <p:cNvPr id="172" name="Google Shape;172;p22"/>
          <p:cNvSpPr txBox="1"/>
          <p:nvPr/>
        </p:nvSpPr>
        <p:spPr>
          <a:xfrm>
            <a:off x="6630681" y="961318"/>
            <a:ext cx="981600" cy="1575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595959"/>
                </a:solidFill>
                <a:latin typeface="Calibri"/>
                <a:ea typeface="Calibri"/>
                <a:cs typeface="Calibri"/>
                <a:sym typeface="Calibri"/>
              </a:rPr>
              <a:t>Announce</a:t>
            </a:r>
            <a:endParaRPr sz="1000">
              <a:solidFill>
                <a:srgbClr val="595959"/>
              </a:solidFill>
              <a:latin typeface="Calibri"/>
              <a:ea typeface="Calibri"/>
              <a:cs typeface="Calibri"/>
              <a:sym typeface="Calibri"/>
            </a:endParaRPr>
          </a:p>
        </p:txBody>
      </p:sp>
      <p:sp>
        <p:nvSpPr>
          <p:cNvPr id="173" name="Google Shape;173;p22"/>
          <p:cNvSpPr txBox="1"/>
          <p:nvPr/>
        </p:nvSpPr>
        <p:spPr>
          <a:xfrm>
            <a:off x="7582494" y="964018"/>
            <a:ext cx="1223400" cy="157500"/>
          </a:xfrm>
          <a:prstGeom prst="rect">
            <a:avLst/>
          </a:prstGeom>
          <a:noFill/>
          <a:ln>
            <a:noFill/>
          </a:ln>
        </p:spPr>
        <p:txBody>
          <a:bodyPr anchorCtr="0" anchor="t" bIns="24775" lIns="49550" spcFirstLastPara="1" rIns="49550" wrap="square" tIns="24775">
            <a:noAutofit/>
          </a:bodyPr>
          <a:lstStyle/>
          <a:p>
            <a:pPr indent="0" lvl="0" marL="0" marR="0" rtl="0" algn="r">
              <a:spcBef>
                <a:spcPts val="0"/>
              </a:spcBef>
              <a:spcAft>
                <a:spcPts val="0"/>
              </a:spcAft>
              <a:buNone/>
            </a:pPr>
            <a:r>
              <a:rPr lang="pl" sz="1000">
                <a:solidFill>
                  <a:srgbClr val="595959"/>
                </a:solidFill>
                <a:latin typeface="Calibri"/>
                <a:ea typeface="Calibri"/>
                <a:cs typeface="Calibri"/>
                <a:sym typeface="Calibri"/>
              </a:rPr>
              <a:t>Be informed</a:t>
            </a:r>
            <a:endParaRPr sz="1000">
              <a:solidFill>
                <a:srgbClr val="595959"/>
              </a:solidFill>
              <a:latin typeface="Calibri"/>
              <a:ea typeface="Calibri"/>
              <a:cs typeface="Calibri"/>
              <a:sym typeface="Calibri"/>
            </a:endParaRPr>
          </a:p>
        </p:txBody>
      </p:sp>
      <p:sp>
        <p:nvSpPr>
          <p:cNvPr id="174" name="Google Shape;174;p22"/>
          <p:cNvSpPr/>
          <p:nvPr/>
        </p:nvSpPr>
        <p:spPr>
          <a:xfrm>
            <a:off x="6630130" y="1156566"/>
            <a:ext cx="2176200" cy="786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75" name="Google Shape;175;p22"/>
          <p:cNvSpPr/>
          <p:nvPr/>
        </p:nvSpPr>
        <p:spPr>
          <a:xfrm>
            <a:off x="7720875" y="1155850"/>
            <a:ext cx="188100" cy="699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grpSp>
        <p:nvGrpSpPr>
          <p:cNvPr id="176" name="Google Shape;176;p22"/>
          <p:cNvGrpSpPr/>
          <p:nvPr/>
        </p:nvGrpSpPr>
        <p:grpSpPr>
          <a:xfrm>
            <a:off x="6630130" y="733663"/>
            <a:ext cx="2176200" cy="248138"/>
            <a:chOff x="6630130" y="737900"/>
            <a:chExt cx="2176200" cy="248138"/>
          </a:xfrm>
        </p:grpSpPr>
        <p:sp>
          <p:nvSpPr>
            <p:cNvPr id="177" name="Google Shape;177;p22"/>
            <p:cNvSpPr txBox="1"/>
            <p:nvPr/>
          </p:nvSpPr>
          <p:spPr>
            <a:xfrm>
              <a:off x="6634057" y="742251"/>
              <a:ext cx="855000" cy="1575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595959"/>
                  </a:solidFill>
                  <a:latin typeface="Calibri"/>
                  <a:ea typeface="Calibri"/>
                  <a:cs typeface="Calibri"/>
                  <a:sym typeface="Calibri"/>
                </a:rPr>
                <a:t>Learn</a:t>
              </a:r>
              <a:endParaRPr sz="1000">
                <a:solidFill>
                  <a:srgbClr val="595959"/>
                </a:solidFill>
                <a:latin typeface="Calibri"/>
                <a:ea typeface="Calibri"/>
                <a:cs typeface="Calibri"/>
                <a:sym typeface="Calibri"/>
              </a:endParaRPr>
            </a:p>
          </p:txBody>
        </p:sp>
        <p:sp>
          <p:nvSpPr>
            <p:cNvPr id="178" name="Google Shape;178;p22"/>
            <p:cNvSpPr txBox="1"/>
            <p:nvPr/>
          </p:nvSpPr>
          <p:spPr>
            <a:xfrm>
              <a:off x="7848071" y="737900"/>
              <a:ext cx="947100" cy="157500"/>
            </a:xfrm>
            <a:prstGeom prst="rect">
              <a:avLst/>
            </a:prstGeom>
            <a:noFill/>
            <a:ln>
              <a:noFill/>
            </a:ln>
          </p:spPr>
          <p:txBody>
            <a:bodyPr anchorCtr="0" anchor="t" bIns="24775" lIns="49550" spcFirstLastPara="1" rIns="49550" wrap="square" tIns="24775">
              <a:noAutofit/>
            </a:bodyPr>
            <a:lstStyle/>
            <a:p>
              <a:pPr indent="0" lvl="0" marL="0" marR="0" rtl="0" algn="r">
                <a:spcBef>
                  <a:spcPts val="0"/>
                </a:spcBef>
                <a:spcAft>
                  <a:spcPts val="0"/>
                </a:spcAft>
                <a:buNone/>
              </a:pPr>
              <a:r>
                <a:rPr lang="pl" sz="1000">
                  <a:solidFill>
                    <a:srgbClr val="595959"/>
                  </a:solidFill>
                  <a:latin typeface="Calibri"/>
                  <a:ea typeface="Calibri"/>
                  <a:cs typeface="Calibri"/>
                  <a:sym typeface="Calibri"/>
                </a:rPr>
                <a:t>Teach</a:t>
              </a:r>
              <a:endParaRPr sz="1000">
                <a:solidFill>
                  <a:srgbClr val="595959"/>
                </a:solidFill>
                <a:latin typeface="Calibri"/>
                <a:ea typeface="Calibri"/>
                <a:cs typeface="Calibri"/>
                <a:sym typeface="Calibri"/>
              </a:endParaRPr>
            </a:p>
          </p:txBody>
        </p:sp>
        <p:sp>
          <p:nvSpPr>
            <p:cNvPr id="179" name="Google Shape;179;p22"/>
            <p:cNvSpPr/>
            <p:nvPr/>
          </p:nvSpPr>
          <p:spPr>
            <a:xfrm>
              <a:off x="6630130" y="907438"/>
              <a:ext cx="2176200" cy="786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80" name="Google Shape;180;p22"/>
            <p:cNvSpPr/>
            <p:nvPr/>
          </p:nvSpPr>
          <p:spPr>
            <a:xfrm>
              <a:off x="7394388" y="912163"/>
              <a:ext cx="188100" cy="699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grpSp>
      <p:grpSp>
        <p:nvGrpSpPr>
          <p:cNvPr id="181" name="Google Shape;181;p22"/>
          <p:cNvGrpSpPr/>
          <p:nvPr/>
        </p:nvGrpSpPr>
        <p:grpSpPr>
          <a:xfrm>
            <a:off x="6590078" y="1192562"/>
            <a:ext cx="2230158" cy="269695"/>
            <a:chOff x="6590078" y="1301912"/>
            <a:chExt cx="2230158" cy="269695"/>
          </a:xfrm>
        </p:grpSpPr>
        <p:sp>
          <p:nvSpPr>
            <p:cNvPr id="182" name="Google Shape;182;p22"/>
            <p:cNvSpPr txBox="1"/>
            <p:nvPr/>
          </p:nvSpPr>
          <p:spPr>
            <a:xfrm>
              <a:off x="6590078" y="1301912"/>
              <a:ext cx="855000" cy="1575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595959"/>
                  </a:solidFill>
                  <a:latin typeface="Calibri"/>
                  <a:ea typeface="Calibri"/>
                  <a:cs typeface="Calibri"/>
                  <a:sym typeface="Calibri"/>
                </a:rPr>
                <a:t>Demand</a:t>
              </a:r>
              <a:endParaRPr sz="1000">
                <a:solidFill>
                  <a:srgbClr val="595959"/>
                </a:solidFill>
                <a:latin typeface="Calibri"/>
                <a:ea typeface="Calibri"/>
                <a:cs typeface="Calibri"/>
                <a:sym typeface="Calibri"/>
              </a:endParaRPr>
            </a:p>
          </p:txBody>
        </p:sp>
        <p:sp>
          <p:nvSpPr>
            <p:cNvPr id="183" name="Google Shape;183;p22"/>
            <p:cNvSpPr txBox="1"/>
            <p:nvPr/>
          </p:nvSpPr>
          <p:spPr>
            <a:xfrm>
              <a:off x="7823036" y="1301923"/>
              <a:ext cx="997200" cy="157500"/>
            </a:xfrm>
            <a:prstGeom prst="rect">
              <a:avLst/>
            </a:prstGeom>
            <a:noFill/>
            <a:ln>
              <a:noFill/>
            </a:ln>
          </p:spPr>
          <p:txBody>
            <a:bodyPr anchorCtr="0" anchor="t" bIns="24775" lIns="49550" spcFirstLastPara="1" rIns="49550" wrap="square" tIns="24775">
              <a:noAutofit/>
            </a:bodyPr>
            <a:lstStyle/>
            <a:p>
              <a:pPr indent="0" lvl="0" marL="0" marR="0" rtl="0" algn="r">
                <a:spcBef>
                  <a:spcPts val="0"/>
                </a:spcBef>
                <a:spcAft>
                  <a:spcPts val="0"/>
                </a:spcAft>
                <a:buNone/>
              </a:pPr>
              <a:r>
                <a:rPr lang="pl" sz="1000">
                  <a:solidFill>
                    <a:srgbClr val="595959"/>
                  </a:solidFill>
                  <a:latin typeface="Calibri"/>
                  <a:ea typeface="Calibri"/>
                  <a:cs typeface="Calibri"/>
                  <a:sym typeface="Calibri"/>
                </a:rPr>
                <a:t>Submit</a:t>
              </a:r>
              <a:endParaRPr sz="1000">
                <a:solidFill>
                  <a:srgbClr val="595959"/>
                </a:solidFill>
                <a:latin typeface="Calibri"/>
                <a:ea typeface="Calibri"/>
                <a:cs typeface="Calibri"/>
                <a:sym typeface="Calibri"/>
              </a:endParaRPr>
            </a:p>
          </p:txBody>
        </p:sp>
        <p:sp>
          <p:nvSpPr>
            <p:cNvPr id="184" name="Google Shape;184;p22"/>
            <p:cNvSpPr/>
            <p:nvPr/>
          </p:nvSpPr>
          <p:spPr>
            <a:xfrm>
              <a:off x="6630627" y="1493006"/>
              <a:ext cx="2176200" cy="786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85" name="Google Shape;185;p22"/>
            <p:cNvSpPr/>
            <p:nvPr/>
          </p:nvSpPr>
          <p:spPr>
            <a:xfrm>
              <a:off x="7498225" y="1498400"/>
              <a:ext cx="188100" cy="699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grpSp>
      <p:grpSp>
        <p:nvGrpSpPr>
          <p:cNvPr id="186" name="Google Shape;186;p22"/>
          <p:cNvGrpSpPr/>
          <p:nvPr/>
        </p:nvGrpSpPr>
        <p:grpSpPr>
          <a:xfrm>
            <a:off x="6590078" y="1408914"/>
            <a:ext cx="2230158" cy="258970"/>
            <a:chOff x="6590078" y="1594464"/>
            <a:chExt cx="2230158" cy="258970"/>
          </a:xfrm>
        </p:grpSpPr>
        <p:sp>
          <p:nvSpPr>
            <p:cNvPr id="187" name="Google Shape;187;p22"/>
            <p:cNvSpPr txBox="1"/>
            <p:nvPr/>
          </p:nvSpPr>
          <p:spPr>
            <a:xfrm>
              <a:off x="6590078" y="1594464"/>
              <a:ext cx="855000" cy="1575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595959"/>
                  </a:solidFill>
                  <a:latin typeface="Calibri"/>
                  <a:ea typeface="Calibri"/>
                  <a:cs typeface="Calibri"/>
                  <a:sym typeface="Calibri"/>
                </a:rPr>
                <a:t>View</a:t>
              </a:r>
              <a:endParaRPr sz="1000">
                <a:solidFill>
                  <a:srgbClr val="595959"/>
                </a:solidFill>
                <a:latin typeface="Calibri"/>
                <a:ea typeface="Calibri"/>
                <a:cs typeface="Calibri"/>
                <a:sym typeface="Calibri"/>
              </a:endParaRPr>
            </a:p>
          </p:txBody>
        </p:sp>
        <p:sp>
          <p:nvSpPr>
            <p:cNvPr id="188" name="Google Shape;188;p22"/>
            <p:cNvSpPr txBox="1"/>
            <p:nvPr/>
          </p:nvSpPr>
          <p:spPr>
            <a:xfrm>
              <a:off x="7823036" y="1597451"/>
              <a:ext cx="997200" cy="157500"/>
            </a:xfrm>
            <a:prstGeom prst="rect">
              <a:avLst/>
            </a:prstGeom>
            <a:noFill/>
            <a:ln>
              <a:noFill/>
            </a:ln>
          </p:spPr>
          <p:txBody>
            <a:bodyPr anchorCtr="0" anchor="t" bIns="24775" lIns="49550" spcFirstLastPara="1" rIns="49550" wrap="square" tIns="24775">
              <a:noAutofit/>
            </a:bodyPr>
            <a:lstStyle/>
            <a:p>
              <a:pPr indent="0" lvl="0" marL="0" marR="0" rtl="0" algn="r">
                <a:spcBef>
                  <a:spcPts val="0"/>
                </a:spcBef>
                <a:spcAft>
                  <a:spcPts val="0"/>
                </a:spcAft>
                <a:buNone/>
              </a:pPr>
              <a:r>
                <a:rPr lang="pl" sz="1000">
                  <a:solidFill>
                    <a:srgbClr val="595959"/>
                  </a:solidFill>
                  <a:latin typeface="Calibri"/>
                  <a:ea typeface="Calibri"/>
                  <a:cs typeface="Calibri"/>
                  <a:sym typeface="Calibri"/>
                </a:rPr>
                <a:t>Post</a:t>
              </a:r>
              <a:endParaRPr sz="1000">
                <a:solidFill>
                  <a:srgbClr val="595959"/>
                </a:solidFill>
                <a:latin typeface="Calibri"/>
                <a:ea typeface="Calibri"/>
                <a:cs typeface="Calibri"/>
                <a:sym typeface="Calibri"/>
              </a:endParaRPr>
            </a:p>
          </p:txBody>
        </p:sp>
        <p:sp>
          <p:nvSpPr>
            <p:cNvPr id="189" name="Google Shape;189;p22"/>
            <p:cNvSpPr/>
            <p:nvPr/>
          </p:nvSpPr>
          <p:spPr>
            <a:xfrm>
              <a:off x="6630627" y="1774834"/>
              <a:ext cx="2176200" cy="786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90" name="Google Shape;190;p22"/>
            <p:cNvSpPr/>
            <p:nvPr/>
          </p:nvSpPr>
          <p:spPr>
            <a:xfrm>
              <a:off x="7785275" y="1780825"/>
              <a:ext cx="188100" cy="699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grpSp>
      <p:sp>
        <p:nvSpPr>
          <p:cNvPr id="191" name="Google Shape;191;p22"/>
          <p:cNvSpPr txBox="1"/>
          <p:nvPr/>
        </p:nvSpPr>
        <p:spPr>
          <a:xfrm>
            <a:off x="6621403" y="1616180"/>
            <a:ext cx="855000" cy="1575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595959"/>
                </a:solidFill>
                <a:latin typeface="Calibri"/>
                <a:ea typeface="Calibri"/>
                <a:cs typeface="Calibri"/>
                <a:sym typeface="Calibri"/>
              </a:rPr>
              <a:t>Ask</a:t>
            </a:r>
            <a:endParaRPr sz="1000">
              <a:solidFill>
                <a:srgbClr val="595959"/>
              </a:solidFill>
              <a:latin typeface="Calibri"/>
              <a:ea typeface="Calibri"/>
              <a:cs typeface="Calibri"/>
              <a:sym typeface="Calibri"/>
            </a:endParaRPr>
          </a:p>
        </p:txBody>
      </p:sp>
      <p:sp>
        <p:nvSpPr>
          <p:cNvPr id="192" name="Google Shape;192;p22"/>
          <p:cNvSpPr txBox="1"/>
          <p:nvPr/>
        </p:nvSpPr>
        <p:spPr>
          <a:xfrm>
            <a:off x="7873336" y="1616191"/>
            <a:ext cx="997200" cy="157500"/>
          </a:xfrm>
          <a:prstGeom prst="rect">
            <a:avLst/>
          </a:prstGeom>
          <a:noFill/>
          <a:ln>
            <a:noFill/>
          </a:ln>
        </p:spPr>
        <p:txBody>
          <a:bodyPr anchorCtr="0" anchor="t" bIns="24775" lIns="49550" spcFirstLastPara="1" rIns="49550" wrap="square" tIns="24775">
            <a:noAutofit/>
          </a:bodyPr>
          <a:lstStyle/>
          <a:p>
            <a:pPr indent="0" lvl="0" marL="0" marR="0" rtl="0" algn="r">
              <a:spcBef>
                <a:spcPts val="0"/>
              </a:spcBef>
              <a:spcAft>
                <a:spcPts val="0"/>
              </a:spcAft>
              <a:buNone/>
            </a:pPr>
            <a:r>
              <a:rPr lang="pl" sz="1000">
                <a:solidFill>
                  <a:srgbClr val="595959"/>
                </a:solidFill>
                <a:latin typeface="Calibri"/>
                <a:ea typeface="Calibri"/>
                <a:cs typeface="Calibri"/>
                <a:sym typeface="Calibri"/>
              </a:rPr>
              <a:t>Answer</a:t>
            </a:r>
            <a:endParaRPr sz="1000">
              <a:solidFill>
                <a:srgbClr val="595959"/>
              </a:solidFill>
              <a:latin typeface="Calibri"/>
              <a:ea typeface="Calibri"/>
              <a:cs typeface="Calibri"/>
              <a:sym typeface="Calibri"/>
            </a:endParaRPr>
          </a:p>
        </p:txBody>
      </p:sp>
      <p:sp>
        <p:nvSpPr>
          <p:cNvPr id="193" name="Google Shape;193;p22"/>
          <p:cNvSpPr/>
          <p:nvPr/>
        </p:nvSpPr>
        <p:spPr>
          <a:xfrm>
            <a:off x="6630627" y="1798199"/>
            <a:ext cx="2176200" cy="786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94" name="Google Shape;194;p22"/>
          <p:cNvSpPr/>
          <p:nvPr/>
        </p:nvSpPr>
        <p:spPr>
          <a:xfrm>
            <a:off x="7310125" y="1794900"/>
            <a:ext cx="188100" cy="699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195" name="Google Shape;195;p22"/>
          <p:cNvSpPr/>
          <p:nvPr/>
        </p:nvSpPr>
        <p:spPr>
          <a:xfrm>
            <a:off x="6644492" y="2429933"/>
            <a:ext cx="721800" cy="2079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rPr lang="pl" sz="1000">
                <a:solidFill>
                  <a:srgbClr val="595959"/>
                </a:solidFill>
                <a:latin typeface="Calibri"/>
                <a:ea typeface="Calibri"/>
                <a:cs typeface="Calibri"/>
                <a:sym typeface="Calibri"/>
              </a:rPr>
              <a:t>Upload</a:t>
            </a:r>
            <a:endParaRPr sz="1000">
              <a:solidFill>
                <a:srgbClr val="595959"/>
              </a:solidFill>
              <a:latin typeface="Calibri"/>
              <a:ea typeface="Calibri"/>
              <a:cs typeface="Calibri"/>
              <a:sym typeface="Calibri"/>
            </a:endParaRPr>
          </a:p>
        </p:txBody>
      </p:sp>
      <p:sp>
        <p:nvSpPr>
          <p:cNvPr id="196" name="Google Shape;196;p22"/>
          <p:cNvSpPr/>
          <p:nvPr/>
        </p:nvSpPr>
        <p:spPr>
          <a:xfrm>
            <a:off x="7442075" y="2440450"/>
            <a:ext cx="721800" cy="2079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rPr lang="pl" sz="1000">
                <a:solidFill>
                  <a:srgbClr val="595959"/>
                </a:solidFill>
                <a:latin typeface="Calibri"/>
                <a:ea typeface="Calibri"/>
                <a:cs typeface="Calibri"/>
                <a:sym typeface="Calibri"/>
              </a:rPr>
              <a:t>Download</a:t>
            </a:r>
            <a:endParaRPr sz="1000">
              <a:solidFill>
                <a:srgbClr val="595959"/>
              </a:solidFill>
              <a:latin typeface="Calibri"/>
              <a:ea typeface="Calibri"/>
              <a:cs typeface="Calibri"/>
              <a:sym typeface="Calibri"/>
            </a:endParaRPr>
          </a:p>
        </p:txBody>
      </p:sp>
      <p:sp>
        <p:nvSpPr>
          <p:cNvPr id="197" name="Google Shape;197;p22"/>
          <p:cNvSpPr txBox="1"/>
          <p:nvPr/>
        </p:nvSpPr>
        <p:spPr>
          <a:xfrm>
            <a:off x="6630128" y="1841617"/>
            <a:ext cx="855000" cy="1575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000">
                <a:solidFill>
                  <a:srgbClr val="595959"/>
                </a:solidFill>
                <a:latin typeface="Calibri"/>
                <a:ea typeface="Calibri"/>
                <a:cs typeface="Calibri"/>
                <a:sym typeface="Calibri"/>
              </a:rPr>
              <a:t>English</a:t>
            </a:r>
            <a:endParaRPr sz="1000">
              <a:solidFill>
                <a:srgbClr val="595959"/>
              </a:solidFill>
              <a:latin typeface="Calibri"/>
              <a:ea typeface="Calibri"/>
              <a:cs typeface="Calibri"/>
              <a:sym typeface="Calibri"/>
            </a:endParaRPr>
          </a:p>
        </p:txBody>
      </p:sp>
      <p:sp>
        <p:nvSpPr>
          <p:cNvPr id="198" name="Google Shape;198;p22"/>
          <p:cNvSpPr txBox="1"/>
          <p:nvPr/>
        </p:nvSpPr>
        <p:spPr>
          <a:xfrm>
            <a:off x="7600047" y="1841625"/>
            <a:ext cx="1279200" cy="157500"/>
          </a:xfrm>
          <a:prstGeom prst="rect">
            <a:avLst/>
          </a:prstGeom>
          <a:noFill/>
          <a:ln>
            <a:noFill/>
          </a:ln>
        </p:spPr>
        <p:txBody>
          <a:bodyPr anchorCtr="0" anchor="t" bIns="24775" lIns="49550" spcFirstLastPara="1" rIns="49550" wrap="square" tIns="24775">
            <a:noAutofit/>
          </a:bodyPr>
          <a:lstStyle/>
          <a:p>
            <a:pPr indent="0" lvl="0" marL="0" marR="0" rtl="0" algn="r">
              <a:spcBef>
                <a:spcPts val="0"/>
              </a:spcBef>
              <a:spcAft>
                <a:spcPts val="0"/>
              </a:spcAft>
              <a:buNone/>
            </a:pPr>
            <a:r>
              <a:rPr lang="pl" sz="1000">
                <a:solidFill>
                  <a:srgbClr val="595959"/>
                </a:solidFill>
                <a:latin typeface="Calibri"/>
                <a:ea typeface="Calibri"/>
                <a:cs typeface="Calibri"/>
                <a:sym typeface="Calibri"/>
              </a:rPr>
              <a:t>Traditional Chinese</a:t>
            </a:r>
            <a:endParaRPr sz="1000">
              <a:solidFill>
                <a:srgbClr val="595959"/>
              </a:solidFill>
              <a:latin typeface="Calibri"/>
              <a:ea typeface="Calibri"/>
              <a:cs typeface="Calibri"/>
              <a:sym typeface="Calibri"/>
            </a:endParaRPr>
          </a:p>
        </p:txBody>
      </p:sp>
      <p:sp>
        <p:nvSpPr>
          <p:cNvPr id="199" name="Google Shape;199;p22"/>
          <p:cNvSpPr/>
          <p:nvPr/>
        </p:nvSpPr>
        <p:spPr>
          <a:xfrm>
            <a:off x="6639352" y="2023637"/>
            <a:ext cx="2176200" cy="786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200" name="Google Shape;200;p22"/>
          <p:cNvSpPr/>
          <p:nvPr/>
        </p:nvSpPr>
        <p:spPr>
          <a:xfrm>
            <a:off x="6769325" y="2035063"/>
            <a:ext cx="188100" cy="69900"/>
          </a:xfrm>
          <a:prstGeom prst="rect">
            <a:avLst/>
          </a:prstGeom>
          <a:solidFill>
            <a:srgbClr val="9900FF"/>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t/>
            </a:r>
            <a:endParaRPr sz="1700">
              <a:solidFill>
                <a:srgbClr val="FFFFFF"/>
              </a:solidFill>
              <a:latin typeface="Calibri"/>
              <a:ea typeface="Calibri"/>
              <a:cs typeface="Calibri"/>
              <a:sym typeface="Calibri"/>
            </a:endParaRPr>
          </a:p>
        </p:txBody>
      </p:sp>
      <p:sp>
        <p:nvSpPr>
          <p:cNvPr id="201" name="Google Shape;201;p22"/>
          <p:cNvSpPr/>
          <p:nvPr/>
        </p:nvSpPr>
        <p:spPr>
          <a:xfrm>
            <a:off x="8239642" y="2439233"/>
            <a:ext cx="721800" cy="2079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rPr lang="pl" sz="1000">
                <a:solidFill>
                  <a:srgbClr val="595959"/>
                </a:solidFill>
                <a:latin typeface="Calibri"/>
                <a:ea typeface="Calibri"/>
                <a:cs typeface="Calibri"/>
                <a:sym typeface="Calibri"/>
              </a:rPr>
              <a:t>Grade</a:t>
            </a:r>
            <a:endParaRPr sz="1000">
              <a:solidFill>
                <a:srgbClr val="595959"/>
              </a:solidFill>
              <a:latin typeface="Calibri"/>
              <a:ea typeface="Calibri"/>
              <a:cs typeface="Calibri"/>
              <a:sym typeface="Calibri"/>
            </a:endParaRPr>
          </a:p>
        </p:txBody>
      </p:sp>
      <p:sp>
        <p:nvSpPr>
          <p:cNvPr id="202" name="Google Shape;202;p22"/>
          <p:cNvSpPr/>
          <p:nvPr/>
        </p:nvSpPr>
        <p:spPr>
          <a:xfrm>
            <a:off x="6643950" y="2691975"/>
            <a:ext cx="1173000" cy="2079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rPr lang="pl" sz="1000">
                <a:solidFill>
                  <a:srgbClr val="595959"/>
                </a:solidFill>
                <a:latin typeface="Calibri"/>
                <a:ea typeface="Calibri"/>
                <a:cs typeface="Calibri"/>
                <a:sym typeface="Calibri"/>
              </a:rPr>
              <a:t>Create Content</a:t>
            </a:r>
            <a:endParaRPr sz="1000">
              <a:solidFill>
                <a:srgbClr val="595959"/>
              </a:solidFill>
              <a:latin typeface="Calibri"/>
              <a:ea typeface="Calibri"/>
              <a:cs typeface="Calibri"/>
              <a:sym typeface="Calibri"/>
            </a:endParaRPr>
          </a:p>
        </p:txBody>
      </p:sp>
      <p:sp>
        <p:nvSpPr>
          <p:cNvPr id="203" name="Google Shape;203;p22"/>
          <p:cNvSpPr/>
          <p:nvPr/>
        </p:nvSpPr>
        <p:spPr>
          <a:xfrm>
            <a:off x="7858452" y="2691975"/>
            <a:ext cx="1103100" cy="2079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rPr lang="pl" sz="1000">
                <a:solidFill>
                  <a:srgbClr val="595959"/>
                </a:solidFill>
                <a:latin typeface="Calibri"/>
                <a:ea typeface="Calibri"/>
                <a:cs typeface="Calibri"/>
                <a:sym typeface="Calibri"/>
              </a:rPr>
              <a:t>View Content</a:t>
            </a:r>
            <a:endParaRPr sz="1000">
              <a:solidFill>
                <a:srgbClr val="595959"/>
              </a:solidFill>
              <a:latin typeface="Calibri"/>
              <a:ea typeface="Calibri"/>
              <a:cs typeface="Calibri"/>
              <a:sym typeface="Calibri"/>
            </a:endParaRPr>
          </a:p>
        </p:txBody>
      </p:sp>
      <p:sp>
        <p:nvSpPr>
          <p:cNvPr id="204" name="Google Shape;204;p22"/>
          <p:cNvSpPr txBox="1"/>
          <p:nvPr/>
        </p:nvSpPr>
        <p:spPr>
          <a:xfrm>
            <a:off x="98185" y="3793217"/>
            <a:ext cx="1195200" cy="1968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300">
                <a:solidFill>
                  <a:srgbClr val="9900FF"/>
                </a:solidFill>
                <a:latin typeface="Calibri"/>
                <a:ea typeface="Calibri"/>
                <a:cs typeface="Calibri"/>
                <a:sym typeface="Calibri"/>
              </a:rPr>
              <a:t>Personality:</a:t>
            </a:r>
            <a:endParaRPr sz="1300">
              <a:solidFill>
                <a:srgbClr val="9900FF"/>
              </a:solidFill>
              <a:latin typeface="Calibri"/>
              <a:ea typeface="Calibri"/>
              <a:cs typeface="Calibri"/>
              <a:sym typeface="Calibri"/>
            </a:endParaRPr>
          </a:p>
        </p:txBody>
      </p:sp>
      <p:sp>
        <p:nvSpPr>
          <p:cNvPr id="205" name="Google Shape;205;p22"/>
          <p:cNvSpPr/>
          <p:nvPr/>
        </p:nvSpPr>
        <p:spPr>
          <a:xfrm>
            <a:off x="6639350" y="2943500"/>
            <a:ext cx="615000" cy="2079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rPr lang="pl" sz="1000">
                <a:solidFill>
                  <a:srgbClr val="595959"/>
                </a:solidFill>
                <a:latin typeface="Calibri"/>
                <a:ea typeface="Calibri"/>
                <a:cs typeface="Calibri"/>
                <a:sym typeface="Calibri"/>
              </a:rPr>
              <a:t>Edit files</a:t>
            </a:r>
            <a:endParaRPr sz="1000">
              <a:solidFill>
                <a:srgbClr val="595959"/>
              </a:solidFill>
              <a:latin typeface="Calibri"/>
              <a:ea typeface="Calibri"/>
              <a:cs typeface="Calibri"/>
              <a:sym typeface="Calibri"/>
            </a:endParaRPr>
          </a:p>
        </p:txBody>
      </p:sp>
      <p:sp>
        <p:nvSpPr>
          <p:cNvPr id="206" name="Google Shape;206;p22"/>
          <p:cNvSpPr/>
          <p:nvPr/>
        </p:nvSpPr>
        <p:spPr>
          <a:xfrm>
            <a:off x="7310125" y="2943500"/>
            <a:ext cx="691200" cy="2079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rPr lang="pl" sz="1000">
                <a:solidFill>
                  <a:srgbClr val="595959"/>
                </a:solidFill>
                <a:latin typeface="Calibri"/>
                <a:ea typeface="Calibri"/>
                <a:cs typeface="Calibri"/>
                <a:sym typeface="Calibri"/>
              </a:rPr>
              <a:t>Check files</a:t>
            </a:r>
            <a:endParaRPr sz="1000">
              <a:solidFill>
                <a:srgbClr val="595959"/>
              </a:solidFill>
              <a:latin typeface="Calibri"/>
              <a:ea typeface="Calibri"/>
              <a:cs typeface="Calibri"/>
              <a:sym typeface="Calibri"/>
            </a:endParaRPr>
          </a:p>
        </p:txBody>
      </p:sp>
      <p:sp>
        <p:nvSpPr>
          <p:cNvPr id="207" name="Google Shape;207;p22"/>
          <p:cNvSpPr/>
          <p:nvPr/>
        </p:nvSpPr>
        <p:spPr>
          <a:xfrm>
            <a:off x="8057100" y="2943500"/>
            <a:ext cx="997200" cy="2079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rPr lang="pl" sz="1000">
                <a:solidFill>
                  <a:srgbClr val="595959"/>
                </a:solidFill>
                <a:latin typeface="Calibri"/>
                <a:ea typeface="Calibri"/>
                <a:cs typeface="Calibri"/>
                <a:sym typeface="Calibri"/>
              </a:rPr>
              <a:t>Send notification</a:t>
            </a:r>
            <a:endParaRPr sz="1000">
              <a:solidFill>
                <a:srgbClr val="595959"/>
              </a:solidFill>
              <a:latin typeface="Calibri"/>
              <a:ea typeface="Calibri"/>
              <a:cs typeface="Calibri"/>
              <a:sym typeface="Calibri"/>
            </a:endParaRPr>
          </a:p>
        </p:txBody>
      </p:sp>
      <p:sp>
        <p:nvSpPr>
          <p:cNvPr id="208" name="Google Shape;208;p22"/>
          <p:cNvSpPr/>
          <p:nvPr/>
        </p:nvSpPr>
        <p:spPr>
          <a:xfrm>
            <a:off x="6664050" y="3195025"/>
            <a:ext cx="997200" cy="2079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rPr lang="pl" sz="1000">
                <a:solidFill>
                  <a:srgbClr val="595959"/>
                </a:solidFill>
                <a:latin typeface="Calibri"/>
                <a:ea typeface="Calibri"/>
                <a:cs typeface="Calibri"/>
                <a:sym typeface="Calibri"/>
              </a:rPr>
              <a:t>Read notification</a:t>
            </a:r>
            <a:endParaRPr sz="1000">
              <a:solidFill>
                <a:srgbClr val="595959"/>
              </a:solidFill>
              <a:latin typeface="Calibri"/>
              <a:ea typeface="Calibri"/>
              <a:cs typeface="Calibri"/>
              <a:sym typeface="Calibri"/>
            </a:endParaRPr>
          </a:p>
        </p:txBody>
      </p:sp>
      <p:sp>
        <p:nvSpPr>
          <p:cNvPr id="209" name="Google Shape;209;p22"/>
          <p:cNvSpPr/>
          <p:nvPr/>
        </p:nvSpPr>
        <p:spPr>
          <a:xfrm>
            <a:off x="7695600" y="3195025"/>
            <a:ext cx="1279200" cy="2079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rPr lang="pl" sz="1000">
                <a:solidFill>
                  <a:srgbClr val="595959"/>
                </a:solidFill>
                <a:latin typeface="Calibri"/>
                <a:ea typeface="Calibri"/>
                <a:cs typeface="Calibri"/>
                <a:sym typeface="Calibri"/>
              </a:rPr>
              <a:t>Contact Professor</a:t>
            </a:r>
            <a:endParaRPr sz="1000">
              <a:solidFill>
                <a:srgbClr val="595959"/>
              </a:solidFill>
              <a:latin typeface="Calibri"/>
              <a:ea typeface="Calibri"/>
              <a:cs typeface="Calibri"/>
              <a:sym typeface="Calibri"/>
            </a:endParaRPr>
          </a:p>
        </p:txBody>
      </p:sp>
      <p:sp>
        <p:nvSpPr>
          <p:cNvPr id="210" name="Google Shape;210;p22"/>
          <p:cNvSpPr/>
          <p:nvPr/>
        </p:nvSpPr>
        <p:spPr>
          <a:xfrm>
            <a:off x="6658375" y="3446550"/>
            <a:ext cx="1279200" cy="207900"/>
          </a:xfrm>
          <a:prstGeom prst="rect">
            <a:avLst/>
          </a:prstGeom>
          <a:solidFill>
            <a:srgbClr val="F2F2F2"/>
          </a:solidFill>
          <a:ln>
            <a:noFill/>
          </a:ln>
        </p:spPr>
        <p:txBody>
          <a:bodyPr anchorCtr="0" anchor="ctr" bIns="24775" lIns="49550" spcFirstLastPara="1" rIns="49550" wrap="square" tIns="24775">
            <a:noAutofit/>
          </a:bodyPr>
          <a:lstStyle/>
          <a:p>
            <a:pPr indent="0" lvl="0" marL="0" marR="0" rtl="0" algn="ctr">
              <a:spcBef>
                <a:spcPts val="0"/>
              </a:spcBef>
              <a:spcAft>
                <a:spcPts val="0"/>
              </a:spcAft>
              <a:buNone/>
            </a:pPr>
            <a:r>
              <a:rPr lang="pl" sz="1000">
                <a:solidFill>
                  <a:srgbClr val="595959"/>
                </a:solidFill>
                <a:latin typeface="Calibri"/>
                <a:ea typeface="Calibri"/>
                <a:cs typeface="Calibri"/>
                <a:sym typeface="Calibri"/>
              </a:rPr>
              <a:t>Contact students</a:t>
            </a:r>
            <a:endParaRPr sz="1000">
              <a:solidFill>
                <a:srgbClr val="595959"/>
              </a:solidFill>
              <a:latin typeface="Calibri"/>
              <a:ea typeface="Calibri"/>
              <a:cs typeface="Calibri"/>
              <a:sym typeface="Calibri"/>
            </a:endParaRPr>
          </a:p>
        </p:txBody>
      </p:sp>
      <p:pic>
        <p:nvPicPr>
          <p:cNvPr id="211" name="Google Shape;211;p22"/>
          <p:cNvPicPr preferRelativeResize="0"/>
          <p:nvPr/>
        </p:nvPicPr>
        <p:blipFill>
          <a:blip r:embed="rId5">
            <a:alphaModFix/>
          </a:blip>
          <a:stretch>
            <a:fillRect/>
          </a:stretch>
        </p:blipFill>
        <p:spPr>
          <a:xfrm>
            <a:off x="7370013" y="3989925"/>
            <a:ext cx="567974" cy="507900"/>
          </a:xfrm>
          <a:prstGeom prst="rect">
            <a:avLst/>
          </a:prstGeom>
          <a:noFill/>
          <a:ln>
            <a:noFill/>
          </a:ln>
        </p:spPr>
      </p:pic>
      <p:pic>
        <p:nvPicPr>
          <p:cNvPr id="212" name="Google Shape;212;p22"/>
          <p:cNvPicPr preferRelativeResize="0"/>
          <p:nvPr/>
        </p:nvPicPr>
        <p:blipFill>
          <a:blip r:embed="rId6">
            <a:alphaModFix/>
          </a:blip>
          <a:stretch>
            <a:fillRect/>
          </a:stretch>
        </p:blipFill>
        <p:spPr>
          <a:xfrm>
            <a:off x="8237925" y="3991150"/>
            <a:ext cx="567975" cy="507900"/>
          </a:xfrm>
          <a:prstGeom prst="rect">
            <a:avLst/>
          </a:prstGeom>
          <a:noFill/>
          <a:ln>
            <a:noFill/>
          </a:ln>
        </p:spPr>
      </p:pic>
      <p:pic>
        <p:nvPicPr>
          <p:cNvPr id="213" name="Google Shape;213;p22"/>
          <p:cNvPicPr preferRelativeResize="0"/>
          <p:nvPr/>
        </p:nvPicPr>
        <p:blipFill>
          <a:blip r:embed="rId7">
            <a:alphaModFix/>
          </a:blip>
          <a:stretch>
            <a:fillRect/>
          </a:stretch>
        </p:blipFill>
        <p:spPr>
          <a:xfrm>
            <a:off x="6729450" y="3989925"/>
            <a:ext cx="302675" cy="507900"/>
          </a:xfrm>
          <a:prstGeom prst="rect">
            <a:avLst/>
          </a:prstGeom>
          <a:noFill/>
          <a:ln>
            <a:noFill/>
          </a:ln>
        </p:spPr>
      </p:pic>
      <p:pic>
        <p:nvPicPr>
          <p:cNvPr id="214" name="Google Shape;214;p22"/>
          <p:cNvPicPr preferRelativeResize="0"/>
          <p:nvPr/>
        </p:nvPicPr>
        <p:blipFill>
          <a:blip r:embed="rId8">
            <a:alphaModFix/>
          </a:blip>
          <a:stretch>
            <a:fillRect/>
          </a:stretch>
        </p:blipFill>
        <p:spPr>
          <a:xfrm>
            <a:off x="6585100" y="4611450"/>
            <a:ext cx="556526" cy="417400"/>
          </a:xfrm>
          <a:prstGeom prst="rect">
            <a:avLst/>
          </a:prstGeom>
          <a:noFill/>
          <a:ln>
            <a:noFill/>
          </a:ln>
        </p:spPr>
      </p:pic>
      <p:pic>
        <p:nvPicPr>
          <p:cNvPr id="215" name="Google Shape;215;p22"/>
          <p:cNvPicPr preferRelativeResize="0"/>
          <p:nvPr/>
        </p:nvPicPr>
        <p:blipFill>
          <a:blip r:embed="rId9">
            <a:alphaModFix/>
          </a:blip>
          <a:stretch>
            <a:fillRect/>
          </a:stretch>
        </p:blipFill>
        <p:spPr>
          <a:xfrm>
            <a:off x="7394798" y="4539700"/>
            <a:ext cx="521850" cy="502150"/>
          </a:xfrm>
          <a:prstGeom prst="rect">
            <a:avLst/>
          </a:prstGeom>
          <a:noFill/>
          <a:ln>
            <a:noFill/>
          </a:ln>
        </p:spPr>
      </p:pic>
      <p:pic>
        <p:nvPicPr>
          <p:cNvPr id="216" name="Google Shape;216;p22"/>
          <p:cNvPicPr preferRelativeResize="0"/>
          <p:nvPr/>
        </p:nvPicPr>
        <p:blipFill>
          <a:blip r:embed="rId10">
            <a:alphaModFix/>
          </a:blip>
          <a:stretch>
            <a:fillRect/>
          </a:stretch>
        </p:blipFill>
        <p:spPr>
          <a:xfrm>
            <a:off x="8291260" y="4645525"/>
            <a:ext cx="461300" cy="345975"/>
          </a:xfrm>
          <a:prstGeom prst="rect">
            <a:avLst/>
          </a:prstGeom>
          <a:noFill/>
          <a:ln>
            <a:noFill/>
          </a:ln>
        </p:spPr>
      </p:pic>
      <p:sp>
        <p:nvSpPr>
          <p:cNvPr id="217" name="Google Shape;217;p22"/>
          <p:cNvSpPr txBox="1"/>
          <p:nvPr/>
        </p:nvSpPr>
        <p:spPr>
          <a:xfrm>
            <a:off x="6664052" y="3723775"/>
            <a:ext cx="2297400" cy="196800"/>
          </a:xfrm>
          <a:prstGeom prst="rect">
            <a:avLst/>
          </a:prstGeom>
          <a:noFill/>
          <a:ln>
            <a:noFill/>
          </a:ln>
        </p:spPr>
        <p:txBody>
          <a:bodyPr anchorCtr="0" anchor="t" bIns="24775" lIns="49550" spcFirstLastPara="1" rIns="49550" wrap="square" tIns="24775">
            <a:noAutofit/>
          </a:bodyPr>
          <a:lstStyle/>
          <a:p>
            <a:pPr indent="0" lvl="0" marL="0" marR="0" rtl="0" algn="l">
              <a:spcBef>
                <a:spcPts val="0"/>
              </a:spcBef>
              <a:spcAft>
                <a:spcPts val="0"/>
              </a:spcAft>
              <a:buNone/>
            </a:pPr>
            <a:r>
              <a:rPr lang="pl" sz="1300">
                <a:solidFill>
                  <a:srgbClr val="9900FF"/>
                </a:solidFill>
                <a:latin typeface="Calibri"/>
                <a:ea typeface="Calibri"/>
                <a:cs typeface="Calibri"/>
                <a:sym typeface="Calibri"/>
              </a:rPr>
              <a:t>Devices and platforms:</a:t>
            </a:r>
            <a:endParaRPr sz="1300">
              <a:solidFill>
                <a:srgbClr val="9900FF"/>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1" name="Shape 221"/>
        <p:cNvGrpSpPr/>
        <p:nvPr/>
      </p:nvGrpSpPr>
      <p:grpSpPr>
        <a:xfrm>
          <a:off x="0" y="0"/>
          <a:ext cx="0" cy="0"/>
          <a:chOff x="0" y="0"/>
          <a:chExt cx="0" cy="0"/>
        </a:xfrm>
      </p:grpSpPr>
      <p:sp>
        <p:nvSpPr>
          <p:cNvPr id="222" name="Google Shape;222;p2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Goal of personas</a:t>
            </a:r>
            <a:endParaRPr/>
          </a:p>
        </p:txBody>
      </p:sp>
      <p:pic>
        <p:nvPicPr>
          <p:cNvPr id="223" name="Google Shape;223;p23"/>
          <p:cNvPicPr preferRelativeResize="0"/>
          <p:nvPr/>
        </p:nvPicPr>
        <p:blipFill>
          <a:blip r:embed="rId3">
            <a:alphaModFix/>
          </a:blip>
          <a:stretch>
            <a:fillRect/>
          </a:stretch>
        </p:blipFill>
        <p:spPr>
          <a:xfrm>
            <a:off x="1846625" y="1299225"/>
            <a:ext cx="5695975" cy="34797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7" name="Shape 227"/>
        <p:cNvGrpSpPr/>
        <p:nvPr/>
      </p:nvGrpSpPr>
      <p:grpSpPr>
        <a:xfrm>
          <a:off x="0" y="0"/>
          <a:ext cx="0" cy="0"/>
          <a:chOff x="0" y="0"/>
          <a:chExt cx="0" cy="0"/>
        </a:xfrm>
      </p:grpSpPr>
      <p:sp>
        <p:nvSpPr>
          <p:cNvPr id="228" name="Google Shape;228;p2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Design </a:t>
            </a:r>
            <a:r>
              <a:rPr lang="pl"/>
              <a:t>personas</a:t>
            </a:r>
            <a:endParaRPr/>
          </a:p>
        </p:txBody>
      </p:sp>
      <p:pic>
        <p:nvPicPr>
          <p:cNvPr id="229" name="Google Shape;229;p24"/>
          <p:cNvPicPr preferRelativeResize="0"/>
          <p:nvPr/>
        </p:nvPicPr>
        <p:blipFill>
          <a:blip r:embed="rId3">
            <a:alphaModFix/>
          </a:blip>
          <a:stretch>
            <a:fillRect/>
          </a:stretch>
        </p:blipFill>
        <p:spPr>
          <a:xfrm>
            <a:off x="1477025" y="1557338"/>
            <a:ext cx="6448425" cy="2028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3" name="Shape 233"/>
        <p:cNvGrpSpPr/>
        <p:nvPr/>
      </p:nvGrpSpPr>
      <p:grpSpPr>
        <a:xfrm>
          <a:off x="0" y="0"/>
          <a:ext cx="0" cy="0"/>
          <a:chOff x="0" y="0"/>
          <a:chExt cx="0" cy="0"/>
        </a:xfrm>
      </p:grpSpPr>
      <p:sp>
        <p:nvSpPr>
          <p:cNvPr id="234" name="Google Shape;234;p2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Design personas - Interview</a:t>
            </a:r>
            <a:endParaRPr/>
          </a:p>
        </p:txBody>
      </p:sp>
      <p:sp>
        <p:nvSpPr>
          <p:cNvPr id="235" name="Google Shape;235;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pl">
                <a:solidFill>
                  <a:schemeClr val="dk1"/>
                </a:solidFill>
              </a:rPr>
              <a:t>Interviewers need to ensure that useful details are collected for informing decisions about the design.</a:t>
            </a:r>
            <a:endParaRPr>
              <a:solidFill>
                <a:schemeClr val="dk1"/>
              </a:solidFill>
            </a:endParaRPr>
          </a:p>
          <a:p>
            <a:pPr indent="-342900" lvl="0" marL="457200" rtl="0" algn="l">
              <a:spcBef>
                <a:spcPts val="0"/>
              </a:spcBef>
              <a:spcAft>
                <a:spcPts val="0"/>
              </a:spcAft>
              <a:buClr>
                <a:schemeClr val="dk1"/>
              </a:buClr>
              <a:buSzPts val="1800"/>
              <a:buChar char="-"/>
            </a:pPr>
            <a:r>
              <a:rPr lang="pl">
                <a:solidFill>
                  <a:schemeClr val="dk1"/>
                </a:solidFill>
              </a:rPr>
              <a:t>More information from interviews will be collected than can be used.</a:t>
            </a:r>
            <a:endParaRPr>
              <a:solidFill>
                <a:schemeClr val="dk1"/>
              </a:solidFill>
            </a:endParaRPr>
          </a:p>
          <a:p>
            <a:pPr indent="-342900" lvl="0" marL="457200" rtl="0" algn="l">
              <a:spcBef>
                <a:spcPts val="0"/>
              </a:spcBef>
              <a:spcAft>
                <a:spcPts val="0"/>
              </a:spcAft>
              <a:buClr>
                <a:schemeClr val="dk1"/>
              </a:buClr>
              <a:buSzPts val="1800"/>
              <a:buChar char="-"/>
            </a:pPr>
            <a:r>
              <a:rPr lang="pl">
                <a:solidFill>
                  <a:schemeClr val="dk1"/>
                </a:solidFill>
              </a:rPr>
              <a:t>An interview for an information site is with an open-ended question</a:t>
            </a:r>
            <a:endParaRPr>
              <a:solidFill>
                <a:schemeClr val="dk1"/>
              </a:solidFill>
            </a:endParaRPr>
          </a:p>
        </p:txBody>
      </p:sp>
      <p:pic>
        <p:nvPicPr>
          <p:cNvPr id="236" name="Google Shape;236;p25"/>
          <p:cNvPicPr preferRelativeResize="0"/>
          <p:nvPr/>
        </p:nvPicPr>
        <p:blipFill>
          <a:blip r:embed="rId3">
            <a:alphaModFix/>
          </a:blip>
          <a:stretch>
            <a:fillRect/>
          </a:stretch>
        </p:blipFill>
        <p:spPr>
          <a:xfrm>
            <a:off x="5603500" y="267301"/>
            <a:ext cx="2950026" cy="928150"/>
          </a:xfrm>
          <a:prstGeom prst="rect">
            <a:avLst/>
          </a:prstGeom>
          <a:noFill/>
          <a:ln>
            <a:noFill/>
          </a:ln>
        </p:spPr>
      </p:pic>
      <p:sp>
        <p:nvSpPr>
          <p:cNvPr id="237" name="Google Shape;237;p25"/>
          <p:cNvSpPr/>
          <p:nvPr/>
        </p:nvSpPr>
        <p:spPr>
          <a:xfrm>
            <a:off x="5380475" y="77800"/>
            <a:ext cx="1867800" cy="12000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5"/>
          <p:cNvSpPr/>
          <p:nvPr/>
        </p:nvSpPr>
        <p:spPr>
          <a:xfrm>
            <a:off x="1387925" y="3111475"/>
            <a:ext cx="1524000" cy="1457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sz="3000"/>
              <a:t>Goal</a:t>
            </a:r>
            <a:endParaRPr b="1" sz="3000"/>
          </a:p>
        </p:txBody>
      </p:sp>
      <p:sp>
        <p:nvSpPr>
          <p:cNvPr id="239" name="Google Shape;239;p25"/>
          <p:cNvSpPr/>
          <p:nvPr/>
        </p:nvSpPr>
        <p:spPr>
          <a:xfrm>
            <a:off x="3810000" y="3111475"/>
            <a:ext cx="1524000" cy="1457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sz="2900"/>
              <a:t>More</a:t>
            </a:r>
            <a:endParaRPr b="1" sz="2900"/>
          </a:p>
        </p:txBody>
      </p:sp>
      <p:sp>
        <p:nvSpPr>
          <p:cNvPr id="240" name="Google Shape;240;p25"/>
          <p:cNvSpPr/>
          <p:nvPr/>
        </p:nvSpPr>
        <p:spPr>
          <a:xfrm>
            <a:off x="6172200" y="3111475"/>
            <a:ext cx="1524000" cy="1457400"/>
          </a:xfrm>
          <a:prstGeom prst="ellips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sz="2500"/>
              <a:t>Detail</a:t>
            </a:r>
            <a:endParaRPr b="1" sz="25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4" name="Shape 244"/>
        <p:cNvGrpSpPr/>
        <p:nvPr/>
      </p:nvGrpSpPr>
      <p:grpSpPr>
        <a:xfrm>
          <a:off x="0" y="0"/>
          <a:ext cx="0" cy="0"/>
          <a:chOff x="0" y="0"/>
          <a:chExt cx="0" cy="0"/>
        </a:xfrm>
      </p:grpSpPr>
      <p:sp>
        <p:nvSpPr>
          <p:cNvPr id="245" name="Google Shape;245;p2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Design personas - personas</a:t>
            </a:r>
            <a:endParaRPr/>
          </a:p>
        </p:txBody>
      </p:sp>
      <p:sp>
        <p:nvSpPr>
          <p:cNvPr id="246" name="Google Shape;246;p26"/>
          <p:cNvSpPr txBox="1"/>
          <p:nvPr>
            <p:ph idx="1" type="body"/>
          </p:nvPr>
        </p:nvSpPr>
        <p:spPr>
          <a:xfrm>
            <a:off x="381000" y="1152475"/>
            <a:ext cx="90771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sz="2000">
                <a:solidFill>
                  <a:schemeClr val="dk1"/>
                </a:solidFill>
              </a:rPr>
              <a:t>Essential Details for Defining Personas</a:t>
            </a:r>
            <a:endParaRPr sz="2000">
              <a:solidFill>
                <a:schemeClr val="dk1"/>
              </a:solidFill>
            </a:endParaRPr>
          </a:p>
          <a:p>
            <a:pPr indent="-323850" lvl="0" marL="457200" rtl="0" algn="l">
              <a:spcBef>
                <a:spcPts val="1600"/>
              </a:spcBef>
              <a:spcAft>
                <a:spcPts val="0"/>
              </a:spcAft>
              <a:buClr>
                <a:schemeClr val="dk1"/>
              </a:buClr>
              <a:buSzPts val="1500"/>
              <a:buChar char="-"/>
            </a:pPr>
            <a:r>
              <a:rPr lang="pl" sz="1500">
                <a:solidFill>
                  <a:schemeClr val="dk1"/>
                </a:solidFill>
              </a:rPr>
              <a:t>A name </a:t>
            </a:r>
            <a:endParaRPr sz="1500">
              <a:solidFill>
                <a:schemeClr val="dk1"/>
              </a:solidFill>
            </a:endParaRPr>
          </a:p>
          <a:p>
            <a:pPr indent="-323850" lvl="0" marL="457200" rtl="0" algn="l">
              <a:spcBef>
                <a:spcPts val="0"/>
              </a:spcBef>
              <a:spcAft>
                <a:spcPts val="0"/>
              </a:spcAft>
              <a:buClr>
                <a:schemeClr val="dk1"/>
              </a:buClr>
              <a:buSzPts val="1500"/>
              <a:buChar char="-"/>
            </a:pPr>
            <a:r>
              <a:rPr lang="pl" sz="1500">
                <a:solidFill>
                  <a:schemeClr val="dk1"/>
                </a:solidFill>
              </a:rPr>
              <a:t>Age</a:t>
            </a:r>
            <a:endParaRPr sz="1500">
              <a:solidFill>
                <a:schemeClr val="dk1"/>
              </a:solidFill>
            </a:endParaRPr>
          </a:p>
          <a:p>
            <a:pPr indent="-323850" lvl="0" marL="457200" rtl="0" algn="l">
              <a:spcBef>
                <a:spcPts val="0"/>
              </a:spcBef>
              <a:spcAft>
                <a:spcPts val="0"/>
              </a:spcAft>
              <a:buClr>
                <a:schemeClr val="dk1"/>
              </a:buClr>
              <a:buSzPts val="1500"/>
              <a:buChar char="-"/>
            </a:pPr>
            <a:r>
              <a:rPr lang="pl" sz="1500">
                <a:solidFill>
                  <a:schemeClr val="dk1"/>
                </a:solidFill>
              </a:rPr>
              <a:t>A photo</a:t>
            </a:r>
            <a:endParaRPr sz="1500">
              <a:solidFill>
                <a:schemeClr val="dk1"/>
              </a:solidFill>
            </a:endParaRPr>
          </a:p>
          <a:p>
            <a:pPr indent="-323850" lvl="0" marL="457200" rtl="0" algn="l">
              <a:spcBef>
                <a:spcPts val="0"/>
              </a:spcBef>
              <a:spcAft>
                <a:spcPts val="0"/>
              </a:spcAft>
              <a:buClr>
                <a:schemeClr val="dk1"/>
              </a:buClr>
              <a:buSzPts val="1500"/>
              <a:buChar char="-"/>
            </a:pPr>
            <a:r>
              <a:rPr lang="pl" sz="1500">
                <a:solidFill>
                  <a:schemeClr val="dk1"/>
                </a:solidFill>
              </a:rPr>
              <a:t>Personal information, including family and home life</a:t>
            </a:r>
            <a:endParaRPr sz="1500">
              <a:solidFill>
                <a:schemeClr val="dk1"/>
              </a:solidFill>
            </a:endParaRPr>
          </a:p>
          <a:p>
            <a:pPr indent="-323850" lvl="0" marL="457200" rtl="0" algn="l">
              <a:spcBef>
                <a:spcPts val="0"/>
              </a:spcBef>
              <a:spcAft>
                <a:spcPts val="0"/>
              </a:spcAft>
              <a:buClr>
                <a:schemeClr val="dk1"/>
              </a:buClr>
              <a:buSzPts val="1500"/>
              <a:buChar char="-"/>
            </a:pPr>
            <a:r>
              <a:rPr lang="pl" sz="1500">
                <a:solidFill>
                  <a:schemeClr val="dk1"/>
                </a:solidFill>
              </a:rPr>
              <a:t>Work environment (the tools used and the conditions worked under, rather than a job description)</a:t>
            </a:r>
            <a:endParaRPr sz="1500">
              <a:solidFill>
                <a:schemeClr val="dk1"/>
              </a:solidFill>
            </a:endParaRPr>
          </a:p>
          <a:p>
            <a:pPr indent="-323850" lvl="0" marL="457200" rtl="0" algn="l">
              <a:spcBef>
                <a:spcPts val="0"/>
              </a:spcBef>
              <a:spcAft>
                <a:spcPts val="0"/>
              </a:spcAft>
              <a:buClr>
                <a:schemeClr val="dk1"/>
              </a:buClr>
              <a:buSzPts val="1500"/>
              <a:buChar char="-"/>
            </a:pPr>
            <a:r>
              <a:rPr lang="pl" sz="1500">
                <a:solidFill>
                  <a:schemeClr val="dk1"/>
                </a:solidFill>
              </a:rPr>
              <a:t>Computer proficiency and comfort level with using the Web</a:t>
            </a:r>
            <a:endParaRPr sz="1500">
              <a:solidFill>
                <a:schemeClr val="dk1"/>
              </a:solidFill>
            </a:endParaRPr>
          </a:p>
          <a:p>
            <a:pPr indent="-323850" lvl="0" marL="457200" rtl="0" algn="l">
              <a:spcBef>
                <a:spcPts val="0"/>
              </a:spcBef>
              <a:spcAft>
                <a:spcPts val="0"/>
              </a:spcAft>
              <a:buClr>
                <a:schemeClr val="dk1"/>
              </a:buClr>
              <a:buSzPts val="1500"/>
              <a:buChar char="-"/>
            </a:pPr>
            <a:r>
              <a:rPr lang="pl" sz="1500">
                <a:solidFill>
                  <a:schemeClr val="dk1"/>
                </a:solidFill>
              </a:rPr>
              <a:t>Pet peeves and technical frustrations</a:t>
            </a:r>
            <a:endParaRPr sz="1500">
              <a:solidFill>
                <a:schemeClr val="dk1"/>
              </a:solidFill>
            </a:endParaRPr>
          </a:p>
          <a:p>
            <a:pPr indent="-323850" lvl="0" marL="457200" rtl="0" algn="l">
              <a:spcBef>
                <a:spcPts val="0"/>
              </a:spcBef>
              <a:spcAft>
                <a:spcPts val="0"/>
              </a:spcAft>
              <a:buClr>
                <a:schemeClr val="dk1"/>
              </a:buClr>
              <a:buSzPts val="1500"/>
              <a:buChar char="-"/>
            </a:pPr>
            <a:r>
              <a:rPr lang="pl" sz="1500">
                <a:solidFill>
                  <a:schemeClr val="dk1"/>
                </a:solidFill>
              </a:rPr>
              <a:t>Attitudes</a:t>
            </a:r>
            <a:endParaRPr sz="1500">
              <a:solidFill>
                <a:schemeClr val="dk1"/>
              </a:solidFill>
            </a:endParaRPr>
          </a:p>
          <a:p>
            <a:pPr indent="-323850" lvl="0" marL="457200" rtl="0" algn="l">
              <a:spcBef>
                <a:spcPts val="0"/>
              </a:spcBef>
              <a:spcAft>
                <a:spcPts val="0"/>
              </a:spcAft>
              <a:buClr>
                <a:schemeClr val="dk1"/>
              </a:buClr>
              <a:buSzPts val="1500"/>
              <a:buChar char="-"/>
            </a:pPr>
            <a:r>
              <a:rPr lang="pl" sz="1500">
                <a:solidFill>
                  <a:schemeClr val="dk1"/>
                </a:solidFill>
              </a:rPr>
              <a:t>Information-seeking habits and favorite resources</a:t>
            </a:r>
            <a:endParaRPr sz="1500">
              <a:solidFill>
                <a:schemeClr val="dk1"/>
              </a:solidFill>
            </a:endParaRPr>
          </a:p>
          <a:p>
            <a:pPr indent="-323850" lvl="0" marL="457200" rtl="0" algn="l">
              <a:spcBef>
                <a:spcPts val="0"/>
              </a:spcBef>
              <a:spcAft>
                <a:spcPts val="0"/>
              </a:spcAft>
              <a:buClr>
                <a:schemeClr val="dk1"/>
              </a:buClr>
              <a:buSzPts val="1500"/>
              <a:buChar char="-"/>
            </a:pPr>
            <a:r>
              <a:rPr lang="pl" sz="1500">
                <a:solidFill>
                  <a:schemeClr val="dk1"/>
                </a:solidFill>
              </a:rPr>
              <a:t>Personal and professional goals</a:t>
            </a:r>
            <a:endParaRPr sz="1500">
              <a:solidFill>
                <a:schemeClr val="dk1"/>
              </a:solidFill>
            </a:endParaRPr>
          </a:p>
          <a:p>
            <a:pPr indent="0" lvl="0" marL="0" rtl="0" algn="l">
              <a:spcBef>
                <a:spcPts val="0"/>
              </a:spcBef>
              <a:spcAft>
                <a:spcPts val="1600"/>
              </a:spcAft>
              <a:buNone/>
            </a:pPr>
            <a:r>
              <a:t/>
            </a:r>
            <a:endParaRPr>
              <a:solidFill>
                <a:schemeClr val="dk1"/>
              </a:solidFill>
            </a:endParaRPr>
          </a:p>
        </p:txBody>
      </p:sp>
      <p:pic>
        <p:nvPicPr>
          <p:cNvPr id="247" name="Google Shape;247;p26"/>
          <p:cNvPicPr preferRelativeResize="0"/>
          <p:nvPr/>
        </p:nvPicPr>
        <p:blipFill>
          <a:blip r:embed="rId3">
            <a:alphaModFix/>
          </a:blip>
          <a:stretch>
            <a:fillRect/>
          </a:stretch>
        </p:blipFill>
        <p:spPr>
          <a:xfrm>
            <a:off x="5603500" y="267301"/>
            <a:ext cx="2950026" cy="928150"/>
          </a:xfrm>
          <a:prstGeom prst="rect">
            <a:avLst/>
          </a:prstGeom>
          <a:noFill/>
          <a:ln>
            <a:noFill/>
          </a:ln>
        </p:spPr>
      </p:pic>
      <p:sp>
        <p:nvSpPr>
          <p:cNvPr id="248" name="Google Shape;248;p26"/>
          <p:cNvSpPr/>
          <p:nvPr/>
        </p:nvSpPr>
        <p:spPr>
          <a:xfrm>
            <a:off x="7209275" y="77800"/>
            <a:ext cx="1867800" cy="12000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2" name="Shape 252"/>
        <p:cNvGrpSpPr/>
        <p:nvPr/>
      </p:nvGrpSpPr>
      <p:grpSpPr>
        <a:xfrm>
          <a:off x="0" y="0"/>
          <a:ext cx="0" cy="0"/>
          <a:chOff x="0" y="0"/>
          <a:chExt cx="0" cy="0"/>
        </a:xfrm>
      </p:grpSpPr>
      <p:sp>
        <p:nvSpPr>
          <p:cNvPr id="253" name="Google Shape;253;p2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Design personas - personas</a:t>
            </a:r>
            <a:endParaRPr/>
          </a:p>
        </p:txBody>
      </p:sp>
      <p:sp>
        <p:nvSpPr>
          <p:cNvPr id="254" name="Google Shape;254;p27"/>
          <p:cNvSpPr txBox="1"/>
          <p:nvPr>
            <p:ph idx="1" type="body"/>
          </p:nvPr>
        </p:nvSpPr>
        <p:spPr>
          <a:xfrm>
            <a:off x="311700" y="14572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pl">
                <a:solidFill>
                  <a:schemeClr val="dk1"/>
                </a:solidFill>
              </a:rPr>
              <a:t>Total number of personas should be kept relatively limited: 3 to 7 personas</a:t>
            </a:r>
            <a:endParaRPr>
              <a:solidFill>
                <a:schemeClr val="dk1"/>
              </a:solidFill>
            </a:endParaRPr>
          </a:p>
          <a:p>
            <a:pPr indent="-342900" lvl="0" marL="457200" rtl="0" algn="l">
              <a:spcBef>
                <a:spcPts val="0"/>
              </a:spcBef>
              <a:spcAft>
                <a:spcPts val="0"/>
              </a:spcAft>
              <a:buClr>
                <a:schemeClr val="dk1"/>
              </a:buClr>
              <a:buSzPts val="1800"/>
              <a:buChar char="-"/>
            </a:pPr>
            <a:r>
              <a:rPr lang="pl">
                <a:solidFill>
                  <a:schemeClr val="dk1"/>
                </a:solidFill>
              </a:rPr>
              <a:t>Definite order for personas </a:t>
            </a:r>
            <a:br>
              <a:rPr lang="pl">
                <a:solidFill>
                  <a:schemeClr val="dk1"/>
                </a:solidFill>
              </a:rPr>
            </a:br>
            <a:r>
              <a:rPr lang="pl">
                <a:solidFill>
                  <a:schemeClr val="dk1"/>
                </a:solidFill>
              </a:rPr>
              <a:t>(One persona needs to become the primary persona, primary focus of the design. The other key personas are secondary personas)</a:t>
            </a:r>
            <a:endParaRPr>
              <a:solidFill>
                <a:schemeClr val="dk1"/>
              </a:solidFill>
            </a:endParaRPr>
          </a:p>
          <a:p>
            <a:pPr indent="-342900" lvl="0" marL="457200" rtl="0" algn="l">
              <a:spcBef>
                <a:spcPts val="0"/>
              </a:spcBef>
              <a:spcAft>
                <a:spcPts val="0"/>
              </a:spcAft>
              <a:buClr>
                <a:schemeClr val="dk1"/>
              </a:buClr>
              <a:buSzPts val="1800"/>
              <a:buChar char="-"/>
            </a:pPr>
            <a:r>
              <a:rPr lang="pl">
                <a:solidFill>
                  <a:schemeClr val="dk1"/>
                </a:solidFill>
              </a:rPr>
              <a:t>Prevent negative persona </a:t>
            </a:r>
            <a:endParaRPr>
              <a:solidFill>
                <a:schemeClr val="dk1"/>
              </a:solidFill>
            </a:endParaRPr>
          </a:p>
        </p:txBody>
      </p:sp>
      <p:pic>
        <p:nvPicPr>
          <p:cNvPr id="255" name="Google Shape;255;p27"/>
          <p:cNvPicPr preferRelativeResize="0"/>
          <p:nvPr/>
        </p:nvPicPr>
        <p:blipFill>
          <a:blip r:embed="rId3">
            <a:alphaModFix/>
          </a:blip>
          <a:stretch>
            <a:fillRect/>
          </a:stretch>
        </p:blipFill>
        <p:spPr>
          <a:xfrm>
            <a:off x="5603500" y="267301"/>
            <a:ext cx="2950026" cy="928150"/>
          </a:xfrm>
          <a:prstGeom prst="rect">
            <a:avLst/>
          </a:prstGeom>
          <a:noFill/>
          <a:ln>
            <a:noFill/>
          </a:ln>
        </p:spPr>
      </p:pic>
      <p:sp>
        <p:nvSpPr>
          <p:cNvPr id="256" name="Google Shape;256;p27"/>
          <p:cNvSpPr/>
          <p:nvPr/>
        </p:nvSpPr>
        <p:spPr>
          <a:xfrm>
            <a:off x="7126850" y="131363"/>
            <a:ext cx="1867800" cy="12000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7" name="Google Shape;257;p27"/>
          <p:cNvPicPr preferRelativeResize="0"/>
          <p:nvPr/>
        </p:nvPicPr>
        <p:blipFill>
          <a:blip r:embed="rId4">
            <a:alphaModFix/>
          </a:blip>
          <a:stretch>
            <a:fillRect/>
          </a:stretch>
        </p:blipFill>
        <p:spPr>
          <a:xfrm>
            <a:off x="2023023" y="3407948"/>
            <a:ext cx="1465725" cy="1465725"/>
          </a:xfrm>
          <a:prstGeom prst="rect">
            <a:avLst/>
          </a:prstGeom>
          <a:noFill/>
          <a:ln>
            <a:noFill/>
          </a:ln>
        </p:spPr>
      </p:pic>
      <p:pic>
        <p:nvPicPr>
          <p:cNvPr id="258" name="Google Shape;258;p27"/>
          <p:cNvPicPr preferRelativeResize="0"/>
          <p:nvPr/>
        </p:nvPicPr>
        <p:blipFill>
          <a:blip r:embed="rId5">
            <a:alphaModFix/>
          </a:blip>
          <a:stretch>
            <a:fillRect/>
          </a:stretch>
        </p:blipFill>
        <p:spPr>
          <a:xfrm>
            <a:off x="5682827" y="3407938"/>
            <a:ext cx="1778925" cy="1387350"/>
          </a:xfrm>
          <a:prstGeom prst="rect">
            <a:avLst/>
          </a:prstGeom>
          <a:noFill/>
          <a:ln>
            <a:noFill/>
          </a:ln>
        </p:spPr>
      </p:pic>
      <p:sp>
        <p:nvSpPr>
          <p:cNvPr id="259" name="Google Shape;259;p27"/>
          <p:cNvSpPr txBox="1"/>
          <p:nvPr/>
        </p:nvSpPr>
        <p:spPr>
          <a:xfrm>
            <a:off x="3080800" y="3248300"/>
            <a:ext cx="621600" cy="7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l" sz="4500">
                <a:solidFill>
                  <a:srgbClr val="FF0000"/>
                </a:solidFill>
              </a:rPr>
              <a:t>O</a:t>
            </a:r>
            <a:endParaRPr b="1" sz="4500">
              <a:solidFill>
                <a:srgbClr val="FF0000"/>
              </a:solidFill>
            </a:endParaRPr>
          </a:p>
        </p:txBody>
      </p:sp>
      <p:sp>
        <p:nvSpPr>
          <p:cNvPr id="260" name="Google Shape;260;p27"/>
          <p:cNvSpPr txBox="1"/>
          <p:nvPr/>
        </p:nvSpPr>
        <p:spPr>
          <a:xfrm>
            <a:off x="7126850" y="3248300"/>
            <a:ext cx="621600" cy="7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pl" sz="4500">
                <a:solidFill>
                  <a:srgbClr val="FF0000"/>
                </a:solidFill>
              </a:rPr>
              <a:t>X</a:t>
            </a:r>
            <a:endParaRPr b="1" sz="4500">
              <a:solidFill>
                <a:srgbClr val="FF0000"/>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4" name="Shape 264"/>
        <p:cNvGrpSpPr/>
        <p:nvPr/>
      </p:nvGrpSpPr>
      <p:grpSpPr>
        <a:xfrm>
          <a:off x="0" y="0"/>
          <a:ext cx="0" cy="0"/>
          <a:chOff x="0" y="0"/>
          <a:chExt cx="0" cy="0"/>
        </a:xfrm>
      </p:grpSpPr>
      <p:sp>
        <p:nvSpPr>
          <p:cNvPr id="265" name="Google Shape;265;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The Cast For Northbay.com </a:t>
            </a:r>
            <a:endParaRPr/>
          </a:p>
        </p:txBody>
      </p:sp>
      <p:sp>
        <p:nvSpPr>
          <p:cNvPr id="266" name="Google Shape;266;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Char char="●"/>
            </a:pPr>
            <a:r>
              <a:rPr lang="pl">
                <a:solidFill>
                  <a:srgbClr val="FFFFFF"/>
                </a:solidFill>
              </a:rPr>
              <a:t>A hands-on interactive entertainment guide</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The persona interviewing process took about 3 weeks to complete. </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Interviews ran 1-2 hours each.</a:t>
            </a:r>
            <a:endParaRPr>
              <a:solidFill>
                <a:srgbClr val="FFFFFF"/>
              </a:solidFill>
            </a:endParaRPr>
          </a:p>
        </p:txBody>
      </p:sp>
      <p:pic>
        <p:nvPicPr>
          <p:cNvPr id="267" name="Google Shape;267;p28"/>
          <p:cNvPicPr preferRelativeResize="0"/>
          <p:nvPr/>
        </p:nvPicPr>
        <p:blipFill>
          <a:blip r:embed="rId3">
            <a:alphaModFix/>
          </a:blip>
          <a:stretch>
            <a:fillRect/>
          </a:stretch>
        </p:blipFill>
        <p:spPr>
          <a:xfrm>
            <a:off x="1830250" y="2750500"/>
            <a:ext cx="2909426" cy="18183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1" name="Shape 271"/>
        <p:cNvGrpSpPr/>
        <p:nvPr/>
      </p:nvGrpSpPr>
      <p:grpSpPr>
        <a:xfrm>
          <a:off x="0" y="0"/>
          <a:ext cx="0" cy="0"/>
          <a:chOff x="0" y="0"/>
          <a:chExt cx="0" cy="0"/>
        </a:xfrm>
      </p:grpSpPr>
      <p:sp>
        <p:nvSpPr>
          <p:cNvPr id="272" name="Google Shape;272;p2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F</a:t>
            </a:r>
            <a:r>
              <a:rPr lang="pl"/>
              <a:t>our Personas For The Project</a:t>
            </a:r>
            <a:endParaRPr/>
          </a:p>
        </p:txBody>
      </p:sp>
      <p:sp>
        <p:nvSpPr>
          <p:cNvPr id="273" name="Google Shape;273;p2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grpSp>
        <p:nvGrpSpPr>
          <p:cNvPr id="274" name="Google Shape;274;p29"/>
          <p:cNvGrpSpPr/>
          <p:nvPr/>
        </p:nvGrpSpPr>
        <p:grpSpPr>
          <a:xfrm>
            <a:off x="311700" y="1771663"/>
            <a:ext cx="5953463" cy="1659463"/>
            <a:chOff x="733900" y="1764963"/>
            <a:chExt cx="5953463" cy="1659463"/>
          </a:xfrm>
        </p:grpSpPr>
        <p:pic>
          <p:nvPicPr>
            <p:cNvPr id="275" name="Google Shape;275;p29"/>
            <p:cNvPicPr preferRelativeResize="0"/>
            <p:nvPr/>
          </p:nvPicPr>
          <p:blipFill>
            <a:blip r:embed="rId3">
              <a:alphaModFix/>
            </a:blip>
            <a:stretch>
              <a:fillRect/>
            </a:stretch>
          </p:blipFill>
          <p:spPr>
            <a:xfrm>
              <a:off x="733900" y="1767650"/>
              <a:ext cx="1801877" cy="1013550"/>
            </a:xfrm>
            <a:prstGeom prst="rect">
              <a:avLst/>
            </a:prstGeom>
            <a:noFill/>
            <a:ln>
              <a:noFill/>
            </a:ln>
          </p:spPr>
        </p:pic>
        <p:sp>
          <p:nvSpPr>
            <p:cNvPr id="276" name="Google Shape;276;p29"/>
            <p:cNvSpPr/>
            <p:nvPr/>
          </p:nvSpPr>
          <p:spPr>
            <a:xfrm>
              <a:off x="1286663" y="3029925"/>
              <a:ext cx="889500" cy="3945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Greg</a:t>
              </a:r>
              <a:endParaRPr b="1">
                <a:latin typeface="Comic Sans MS"/>
                <a:ea typeface="Comic Sans MS"/>
                <a:cs typeface="Comic Sans MS"/>
                <a:sym typeface="Comic Sans MS"/>
              </a:endParaRPr>
            </a:p>
          </p:txBody>
        </p:sp>
        <p:pic>
          <p:nvPicPr>
            <p:cNvPr id="277" name="Google Shape;277;p29"/>
            <p:cNvPicPr preferRelativeResize="0"/>
            <p:nvPr/>
          </p:nvPicPr>
          <p:blipFill rotWithShape="1">
            <a:blip r:embed="rId4">
              <a:alphaModFix/>
            </a:blip>
            <a:srcRect b="20256" l="37114" r="0" t="20184"/>
            <a:stretch/>
          </p:blipFill>
          <p:spPr>
            <a:xfrm>
              <a:off x="2798088" y="1764963"/>
              <a:ext cx="1796493" cy="1013550"/>
            </a:xfrm>
            <a:prstGeom prst="rect">
              <a:avLst/>
            </a:prstGeom>
            <a:noFill/>
            <a:ln>
              <a:noFill/>
            </a:ln>
          </p:spPr>
        </p:pic>
        <p:sp>
          <p:nvSpPr>
            <p:cNvPr id="278" name="Google Shape;278;p29"/>
            <p:cNvSpPr/>
            <p:nvPr/>
          </p:nvSpPr>
          <p:spPr>
            <a:xfrm>
              <a:off x="3102975" y="3029925"/>
              <a:ext cx="889500" cy="3945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Robert</a:t>
              </a:r>
              <a:endParaRPr b="1">
                <a:latin typeface="Comic Sans MS"/>
                <a:ea typeface="Comic Sans MS"/>
                <a:cs typeface="Comic Sans MS"/>
                <a:sym typeface="Comic Sans MS"/>
              </a:endParaRPr>
            </a:p>
          </p:txBody>
        </p:sp>
        <p:pic>
          <p:nvPicPr>
            <p:cNvPr id="279" name="Google Shape;279;p29"/>
            <p:cNvPicPr preferRelativeResize="0"/>
            <p:nvPr/>
          </p:nvPicPr>
          <p:blipFill rotWithShape="1">
            <a:blip r:embed="rId5">
              <a:alphaModFix/>
            </a:blip>
            <a:srcRect b="57237" l="34965" r="33581" t="4509"/>
            <a:stretch/>
          </p:blipFill>
          <p:spPr>
            <a:xfrm>
              <a:off x="4890863" y="1767638"/>
              <a:ext cx="1796501" cy="1013565"/>
            </a:xfrm>
            <a:prstGeom prst="rect">
              <a:avLst/>
            </a:prstGeom>
            <a:noFill/>
            <a:ln>
              <a:noFill/>
            </a:ln>
          </p:spPr>
        </p:pic>
        <p:sp>
          <p:nvSpPr>
            <p:cNvPr id="280" name="Google Shape;280;p29"/>
            <p:cNvSpPr/>
            <p:nvPr/>
          </p:nvSpPr>
          <p:spPr>
            <a:xfrm>
              <a:off x="5297175" y="3029925"/>
              <a:ext cx="889500" cy="3945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Sarah</a:t>
              </a:r>
              <a:endParaRPr b="1">
                <a:latin typeface="Comic Sans MS"/>
                <a:ea typeface="Comic Sans MS"/>
                <a:cs typeface="Comic Sans MS"/>
                <a:sym typeface="Comic Sans MS"/>
              </a:endParaRPr>
            </a:p>
          </p:txBody>
        </p:sp>
      </p:grpSp>
      <p:pic>
        <p:nvPicPr>
          <p:cNvPr id="281" name="Google Shape;281;p29"/>
          <p:cNvPicPr preferRelativeResize="0"/>
          <p:nvPr/>
        </p:nvPicPr>
        <p:blipFill rotWithShape="1">
          <a:blip r:embed="rId6">
            <a:alphaModFix/>
          </a:blip>
          <a:srcRect b="52016" l="39317" r="17987" t="5304"/>
          <a:stretch/>
        </p:blipFill>
        <p:spPr>
          <a:xfrm>
            <a:off x="6561475" y="1774350"/>
            <a:ext cx="1790150" cy="1008182"/>
          </a:xfrm>
          <a:prstGeom prst="rect">
            <a:avLst/>
          </a:prstGeom>
          <a:noFill/>
          <a:ln>
            <a:noFill/>
          </a:ln>
        </p:spPr>
      </p:pic>
      <p:sp>
        <p:nvSpPr>
          <p:cNvPr id="282" name="Google Shape;282;p29"/>
          <p:cNvSpPr/>
          <p:nvPr/>
        </p:nvSpPr>
        <p:spPr>
          <a:xfrm>
            <a:off x="6952700" y="3036625"/>
            <a:ext cx="1007700" cy="3945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Annette</a:t>
            </a:r>
            <a:endParaRPr b="1">
              <a:latin typeface="Comic Sans MS"/>
              <a:ea typeface="Comic Sans MS"/>
              <a:cs typeface="Comic Sans MS"/>
              <a:sym typeface="Comic Sans M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6" name="Shape 286"/>
        <p:cNvGrpSpPr/>
        <p:nvPr/>
      </p:nvGrpSpPr>
      <p:grpSpPr>
        <a:xfrm>
          <a:off x="0" y="0"/>
          <a:ext cx="0" cy="0"/>
          <a:chOff x="0" y="0"/>
          <a:chExt cx="0" cy="0"/>
        </a:xfrm>
      </p:grpSpPr>
      <p:pic>
        <p:nvPicPr>
          <p:cNvPr id="287" name="Google Shape;287;p30"/>
          <p:cNvPicPr preferRelativeResize="0"/>
          <p:nvPr/>
        </p:nvPicPr>
        <p:blipFill>
          <a:blip r:embed="rId3">
            <a:alphaModFix/>
          </a:blip>
          <a:stretch>
            <a:fillRect/>
          </a:stretch>
        </p:blipFill>
        <p:spPr>
          <a:xfrm>
            <a:off x="2191550" y="1232750"/>
            <a:ext cx="6724550" cy="3579325"/>
          </a:xfrm>
          <a:prstGeom prst="rect">
            <a:avLst/>
          </a:prstGeom>
          <a:noFill/>
          <a:ln>
            <a:noFill/>
          </a:ln>
        </p:spPr>
      </p:pic>
      <p:sp>
        <p:nvSpPr>
          <p:cNvPr id="288" name="Google Shape;288;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Persona Chart Example - Greg</a:t>
            </a:r>
            <a:endParaRPr/>
          </a:p>
        </p:txBody>
      </p:sp>
      <p:sp>
        <p:nvSpPr>
          <p:cNvPr id="289" name="Google Shape;289;p30"/>
          <p:cNvSpPr txBox="1"/>
          <p:nvPr>
            <p:ph idx="1" type="body"/>
          </p:nvPr>
        </p:nvSpPr>
        <p:spPr>
          <a:xfrm>
            <a:off x="2306075" y="1152475"/>
            <a:ext cx="6526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pl" sz="2400">
                <a:solidFill>
                  <a:srgbClr val="000000"/>
                </a:solidFill>
                <a:latin typeface="Courier New"/>
                <a:ea typeface="Courier New"/>
                <a:cs typeface="Courier New"/>
                <a:sym typeface="Courier New"/>
              </a:rPr>
              <a:t>Background</a:t>
            </a:r>
            <a:endParaRPr b="1">
              <a:solidFill>
                <a:srgbClr val="000000"/>
              </a:solidFill>
              <a:latin typeface="Courier New"/>
              <a:ea typeface="Courier New"/>
              <a:cs typeface="Courier New"/>
              <a:sym typeface="Courier New"/>
            </a:endParaRPr>
          </a:p>
          <a:p>
            <a:pPr indent="0" lvl="0" marL="0" rtl="0" algn="l">
              <a:spcBef>
                <a:spcPts val="1600"/>
              </a:spcBef>
              <a:spcAft>
                <a:spcPts val="0"/>
              </a:spcAft>
              <a:buNone/>
            </a:pPr>
            <a:r>
              <a:rPr b="1" lang="pl">
                <a:solidFill>
                  <a:srgbClr val="000000"/>
                </a:solidFill>
                <a:latin typeface="Georgia"/>
                <a:ea typeface="Georgia"/>
                <a:cs typeface="Georgia"/>
                <a:sym typeface="Georgia"/>
              </a:rPr>
              <a:t>Age:</a:t>
            </a:r>
            <a:r>
              <a:rPr lang="pl" sz="1400">
                <a:solidFill>
                  <a:srgbClr val="000000"/>
                </a:solidFill>
                <a:latin typeface="Georgia"/>
                <a:ea typeface="Georgia"/>
                <a:cs typeface="Georgia"/>
                <a:sym typeface="Georgia"/>
              </a:rPr>
              <a:t> 37</a:t>
            </a:r>
            <a:endParaRPr sz="1400">
              <a:solidFill>
                <a:srgbClr val="000000"/>
              </a:solidFill>
              <a:latin typeface="Georgia"/>
              <a:ea typeface="Georgia"/>
              <a:cs typeface="Georgia"/>
              <a:sym typeface="Georgia"/>
            </a:endParaRPr>
          </a:p>
          <a:p>
            <a:pPr indent="0" lvl="0" marL="0" rtl="0" algn="l">
              <a:spcBef>
                <a:spcPts val="1600"/>
              </a:spcBef>
              <a:spcAft>
                <a:spcPts val="0"/>
              </a:spcAft>
              <a:buNone/>
            </a:pPr>
            <a:r>
              <a:rPr b="1" lang="pl">
                <a:solidFill>
                  <a:srgbClr val="000000"/>
                </a:solidFill>
                <a:latin typeface="Georgia"/>
                <a:ea typeface="Georgia"/>
                <a:cs typeface="Georgia"/>
                <a:sym typeface="Georgia"/>
              </a:rPr>
              <a:t>Occupation:</a:t>
            </a:r>
            <a:r>
              <a:rPr lang="pl" sz="1400">
                <a:solidFill>
                  <a:srgbClr val="000000"/>
                </a:solidFill>
                <a:latin typeface="Georgia"/>
                <a:ea typeface="Georgia"/>
                <a:cs typeface="Georgia"/>
                <a:sym typeface="Georgia"/>
              </a:rPr>
              <a:t> Senior Loan Manager, Construction and Mortgage Lending Group at Exchange Bank in Santa Rosa.</a:t>
            </a:r>
            <a:endParaRPr sz="1400">
              <a:solidFill>
                <a:srgbClr val="000000"/>
              </a:solidFill>
              <a:latin typeface="Georgia"/>
              <a:ea typeface="Georgia"/>
              <a:cs typeface="Georgia"/>
              <a:sym typeface="Georgia"/>
            </a:endParaRPr>
          </a:p>
          <a:p>
            <a:pPr indent="0" lvl="0" marL="0" rtl="0" algn="l">
              <a:spcBef>
                <a:spcPts val="1600"/>
              </a:spcBef>
              <a:spcAft>
                <a:spcPts val="0"/>
              </a:spcAft>
              <a:buNone/>
            </a:pPr>
            <a:r>
              <a:rPr b="1" lang="pl">
                <a:solidFill>
                  <a:srgbClr val="000000"/>
                </a:solidFill>
                <a:latin typeface="Georgia"/>
                <a:ea typeface="Georgia"/>
                <a:cs typeface="Georgia"/>
                <a:sym typeface="Georgia"/>
              </a:rPr>
              <a:t>Home life:</a:t>
            </a:r>
            <a:r>
              <a:rPr lang="pl" sz="1400">
                <a:solidFill>
                  <a:srgbClr val="000000"/>
                </a:solidFill>
                <a:latin typeface="Georgia"/>
                <a:ea typeface="Georgia"/>
                <a:cs typeface="Georgia"/>
                <a:sym typeface="Georgia"/>
              </a:rPr>
              <a:t> Divorced,  single dad, two children (Erin, 12, and Kyle, 8), joint custody of kids.</a:t>
            </a:r>
            <a:endParaRPr sz="1400">
              <a:solidFill>
                <a:srgbClr val="000000"/>
              </a:solidFill>
              <a:latin typeface="Georgia"/>
              <a:ea typeface="Georgia"/>
              <a:cs typeface="Georgia"/>
              <a:sym typeface="Georgia"/>
            </a:endParaRPr>
          </a:p>
          <a:p>
            <a:pPr indent="0" lvl="0" marL="0" rtl="0" algn="l">
              <a:spcBef>
                <a:spcPts val="1600"/>
              </a:spcBef>
              <a:spcAft>
                <a:spcPts val="0"/>
              </a:spcAft>
              <a:buNone/>
            </a:pPr>
            <a:r>
              <a:rPr b="1" lang="pl">
                <a:solidFill>
                  <a:srgbClr val="000000"/>
                </a:solidFill>
                <a:latin typeface="Georgia"/>
                <a:ea typeface="Georgia"/>
                <a:cs typeface="Georgia"/>
                <a:sym typeface="Georgia"/>
              </a:rPr>
              <a:t>Education:</a:t>
            </a:r>
            <a:r>
              <a:rPr lang="pl" sz="1400">
                <a:solidFill>
                  <a:srgbClr val="000000"/>
                </a:solidFill>
                <a:latin typeface="Georgia"/>
                <a:ea typeface="Georgia"/>
                <a:cs typeface="Georgia"/>
                <a:sym typeface="Georgia"/>
              </a:rPr>
              <a:t> BS in Accounting</a:t>
            </a:r>
            <a:endParaRPr sz="1400">
              <a:solidFill>
                <a:srgbClr val="000000"/>
              </a:solidFill>
              <a:latin typeface="Georgia"/>
              <a:ea typeface="Georgia"/>
              <a:cs typeface="Georgia"/>
              <a:sym typeface="Georgia"/>
            </a:endParaRPr>
          </a:p>
          <a:p>
            <a:pPr indent="0" lvl="0" marL="0" rtl="0" algn="l">
              <a:spcBef>
                <a:spcPts val="1600"/>
              </a:spcBef>
              <a:spcAft>
                <a:spcPts val="1600"/>
              </a:spcAft>
              <a:buNone/>
            </a:pPr>
            <a:r>
              <a:t/>
            </a:r>
            <a:endParaRPr>
              <a:solidFill>
                <a:srgbClr val="000000"/>
              </a:solidFill>
            </a:endParaRPr>
          </a:p>
        </p:txBody>
      </p:sp>
      <p:grpSp>
        <p:nvGrpSpPr>
          <p:cNvPr id="290" name="Google Shape;290;p30"/>
          <p:cNvGrpSpPr/>
          <p:nvPr/>
        </p:nvGrpSpPr>
        <p:grpSpPr>
          <a:xfrm>
            <a:off x="311700" y="1743363"/>
            <a:ext cx="1801877" cy="1656775"/>
            <a:chOff x="733900" y="1767650"/>
            <a:chExt cx="1801877" cy="1656775"/>
          </a:xfrm>
        </p:grpSpPr>
        <p:pic>
          <p:nvPicPr>
            <p:cNvPr id="291" name="Google Shape;291;p30"/>
            <p:cNvPicPr preferRelativeResize="0"/>
            <p:nvPr/>
          </p:nvPicPr>
          <p:blipFill>
            <a:blip r:embed="rId4">
              <a:alphaModFix/>
            </a:blip>
            <a:stretch>
              <a:fillRect/>
            </a:stretch>
          </p:blipFill>
          <p:spPr>
            <a:xfrm>
              <a:off x="733900" y="1767650"/>
              <a:ext cx="1801877" cy="1013550"/>
            </a:xfrm>
            <a:prstGeom prst="rect">
              <a:avLst/>
            </a:prstGeom>
            <a:noFill/>
            <a:ln>
              <a:noFill/>
            </a:ln>
          </p:spPr>
        </p:pic>
        <p:sp>
          <p:nvSpPr>
            <p:cNvPr id="292" name="Google Shape;292;p30"/>
            <p:cNvSpPr/>
            <p:nvPr/>
          </p:nvSpPr>
          <p:spPr>
            <a:xfrm>
              <a:off x="1286663" y="3029925"/>
              <a:ext cx="889500" cy="3945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Greg</a:t>
              </a:r>
              <a:endParaRPr b="1">
                <a:latin typeface="Comic Sans MS"/>
                <a:ea typeface="Comic Sans MS"/>
                <a:cs typeface="Comic Sans MS"/>
                <a:sym typeface="Comic Sans MS"/>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6" name="Shape 296"/>
        <p:cNvGrpSpPr/>
        <p:nvPr/>
      </p:nvGrpSpPr>
      <p:grpSpPr>
        <a:xfrm>
          <a:off x="0" y="0"/>
          <a:ext cx="0" cy="0"/>
          <a:chOff x="0" y="0"/>
          <a:chExt cx="0" cy="0"/>
        </a:xfrm>
      </p:grpSpPr>
      <p:pic>
        <p:nvPicPr>
          <p:cNvPr id="297" name="Google Shape;297;p31"/>
          <p:cNvPicPr preferRelativeResize="0"/>
          <p:nvPr/>
        </p:nvPicPr>
        <p:blipFill>
          <a:blip r:embed="rId3">
            <a:alphaModFix/>
          </a:blip>
          <a:stretch>
            <a:fillRect/>
          </a:stretch>
        </p:blipFill>
        <p:spPr>
          <a:xfrm>
            <a:off x="2191550" y="1232750"/>
            <a:ext cx="6703301" cy="3579325"/>
          </a:xfrm>
          <a:prstGeom prst="rect">
            <a:avLst/>
          </a:prstGeom>
          <a:noFill/>
          <a:ln>
            <a:noFill/>
          </a:ln>
        </p:spPr>
      </p:pic>
      <p:sp>
        <p:nvSpPr>
          <p:cNvPr id="298" name="Google Shape;298;p3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Persona Chart Example - Greg</a:t>
            </a:r>
            <a:endParaRPr/>
          </a:p>
        </p:txBody>
      </p:sp>
      <p:sp>
        <p:nvSpPr>
          <p:cNvPr id="299" name="Google Shape;299;p31"/>
          <p:cNvSpPr txBox="1"/>
          <p:nvPr>
            <p:ph idx="1" type="body"/>
          </p:nvPr>
        </p:nvSpPr>
        <p:spPr>
          <a:xfrm>
            <a:off x="2306075" y="1152475"/>
            <a:ext cx="6526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pl" sz="2400">
                <a:solidFill>
                  <a:srgbClr val="000000"/>
                </a:solidFill>
                <a:latin typeface="Courier New"/>
                <a:ea typeface="Courier New"/>
                <a:cs typeface="Courier New"/>
                <a:sym typeface="Courier New"/>
              </a:rPr>
              <a:t>Lifestyle</a:t>
            </a:r>
            <a:endParaRPr b="1" i="1" sz="2400">
              <a:solidFill>
                <a:srgbClr val="000000"/>
              </a:solidFill>
              <a:latin typeface="Courier New"/>
              <a:ea typeface="Courier New"/>
              <a:cs typeface="Courier New"/>
              <a:sym typeface="Courier New"/>
            </a:endParaRPr>
          </a:p>
          <a:p>
            <a:pPr indent="0" lvl="0" marL="0" rtl="0" algn="l">
              <a:lnSpc>
                <a:spcPct val="135000"/>
              </a:lnSpc>
              <a:spcBef>
                <a:spcPts val="1600"/>
              </a:spcBef>
              <a:spcAft>
                <a:spcPts val="0"/>
              </a:spcAft>
              <a:buNone/>
            </a:pPr>
            <a:r>
              <a:rPr b="1" lang="pl" sz="1400">
                <a:solidFill>
                  <a:srgbClr val="000000"/>
                </a:solidFill>
                <a:latin typeface="Georgia"/>
                <a:ea typeface="Georgia"/>
                <a:cs typeface="Georgia"/>
                <a:sym typeface="Georgia"/>
              </a:rPr>
              <a:t>Activities: </a:t>
            </a:r>
            <a:endParaRPr b="1" sz="1400">
              <a:solidFill>
                <a:srgbClr val="000000"/>
              </a:solidFill>
              <a:latin typeface="Georgia"/>
              <a:ea typeface="Georgia"/>
              <a:cs typeface="Georgia"/>
              <a:sym typeface="Georgia"/>
            </a:endParaRPr>
          </a:p>
          <a:p>
            <a:pPr indent="0" lvl="0" marL="0" rtl="0" algn="l">
              <a:lnSpc>
                <a:spcPct val="135000"/>
              </a:lnSpc>
              <a:spcBef>
                <a:spcPts val="0"/>
              </a:spcBef>
              <a:spcAft>
                <a:spcPts val="0"/>
              </a:spcAft>
              <a:buNone/>
            </a:pPr>
            <a:r>
              <a:rPr lang="pl" sz="1400">
                <a:solidFill>
                  <a:srgbClr val="000000"/>
                </a:solidFill>
                <a:latin typeface="Georgia"/>
                <a:ea typeface="Georgia"/>
                <a:cs typeface="Georgia"/>
                <a:sym typeface="Georgia"/>
              </a:rPr>
              <a:t>Goes out to dinner once a week with kids, three times a month for a nice dinner and a bottle of wine with a girlfriend. Fishes at local lakes, canoes, hikes, tries to take his kids on a different outing each weekend "to keep our time together special."  Plans to take kids to an ox roast in Sonoma this weekend.</a:t>
            </a:r>
            <a:endParaRPr sz="1400">
              <a:solidFill>
                <a:srgbClr val="000000"/>
              </a:solidFill>
              <a:latin typeface="Georgia"/>
              <a:ea typeface="Georgia"/>
              <a:cs typeface="Georgia"/>
              <a:sym typeface="Georgia"/>
            </a:endParaRPr>
          </a:p>
          <a:p>
            <a:pPr indent="0" lvl="0" marL="0" rtl="0" algn="l">
              <a:lnSpc>
                <a:spcPct val="135000"/>
              </a:lnSpc>
              <a:spcBef>
                <a:spcPts val="0"/>
              </a:spcBef>
              <a:spcAft>
                <a:spcPts val="0"/>
              </a:spcAft>
              <a:buNone/>
            </a:pPr>
            <a:r>
              <a:rPr b="1" lang="pl" sz="1400">
                <a:solidFill>
                  <a:srgbClr val="000000"/>
                </a:solidFill>
                <a:latin typeface="Georgia"/>
                <a:ea typeface="Georgia"/>
                <a:cs typeface="Georgia"/>
                <a:sym typeface="Georgia"/>
              </a:rPr>
              <a:t>Ultimate goal: </a:t>
            </a:r>
            <a:endParaRPr b="1" sz="1400">
              <a:solidFill>
                <a:srgbClr val="000000"/>
              </a:solidFill>
              <a:latin typeface="Georgia"/>
              <a:ea typeface="Georgia"/>
              <a:cs typeface="Georgia"/>
              <a:sym typeface="Georgia"/>
            </a:endParaRPr>
          </a:p>
          <a:p>
            <a:pPr indent="0" lvl="0" marL="0" rtl="0" algn="l">
              <a:lnSpc>
                <a:spcPct val="135000"/>
              </a:lnSpc>
              <a:spcBef>
                <a:spcPts val="0"/>
              </a:spcBef>
              <a:spcAft>
                <a:spcPts val="0"/>
              </a:spcAft>
              <a:buNone/>
            </a:pPr>
            <a:r>
              <a:rPr lang="pl" sz="1400">
                <a:solidFill>
                  <a:srgbClr val="000000"/>
                </a:solidFill>
                <a:latin typeface="Georgia"/>
                <a:ea typeface="Georgia"/>
                <a:cs typeface="Georgia"/>
                <a:sym typeface="Georgia"/>
              </a:rPr>
              <a:t>To discover new things to do with his kids. To get his kids out and away from the TV. To be a good, caring parent in an increasingly crazy and busy world.</a:t>
            </a:r>
            <a:endParaRPr sz="1400">
              <a:solidFill>
                <a:srgbClr val="000000"/>
              </a:solidFill>
              <a:latin typeface="Georgia"/>
              <a:ea typeface="Georgia"/>
              <a:cs typeface="Georgia"/>
              <a:sym typeface="Georgia"/>
            </a:endParaRPr>
          </a:p>
          <a:p>
            <a:pPr indent="0" lvl="0" marL="0" rtl="0" algn="l">
              <a:spcBef>
                <a:spcPts val="0"/>
              </a:spcBef>
              <a:spcAft>
                <a:spcPts val="0"/>
              </a:spcAft>
              <a:buNone/>
            </a:pPr>
            <a:r>
              <a:t/>
            </a:r>
            <a:endParaRPr sz="1000">
              <a:solidFill>
                <a:srgbClr val="000000"/>
              </a:solidFill>
              <a:latin typeface="Verdana"/>
              <a:ea typeface="Verdana"/>
              <a:cs typeface="Verdana"/>
              <a:sym typeface="Verdana"/>
            </a:endParaRPr>
          </a:p>
          <a:p>
            <a:pPr indent="0" lvl="0" marL="0" rtl="0" algn="l">
              <a:spcBef>
                <a:spcPts val="0"/>
              </a:spcBef>
              <a:spcAft>
                <a:spcPts val="0"/>
              </a:spcAft>
              <a:buNone/>
            </a:pPr>
            <a:r>
              <a:t/>
            </a:r>
            <a:endParaRPr b="1">
              <a:solidFill>
                <a:srgbClr val="000000"/>
              </a:solidFill>
              <a:latin typeface="Courier New"/>
              <a:ea typeface="Courier New"/>
              <a:cs typeface="Courier New"/>
              <a:sym typeface="Courier New"/>
            </a:endParaRPr>
          </a:p>
          <a:p>
            <a:pPr indent="0" lvl="0" marL="0" rtl="0" algn="l">
              <a:spcBef>
                <a:spcPts val="1600"/>
              </a:spcBef>
              <a:spcAft>
                <a:spcPts val="1600"/>
              </a:spcAft>
              <a:buNone/>
            </a:pPr>
            <a:r>
              <a:t/>
            </a:r>
            <a:endParaRPr>
              <a:solidFill>
                <a:srgbClr val="000000"/>
              </a:solidFill>
            </a:endParaRPr>
          </a:p>
        </p:txBody>
      </p:sp>
      <p:grpSp>
        <p:nvGrpSpPr>
          <p:cNvPr id="300" name="Google Shape;300;p31"/>
          <p:cNvGrpSpPr/>
          <p:nvPr/>
        </p:nvGrpSpPr>
        <p:grpSpPr>
          <a:xfrm>
            <a:off x="311700" y="1743363"/>
            <a:ext cx="1801877" cy="1656775"/>
            <a:chOff x="733900" y="1767650"/>
            <a:chExt cx="1801877" cy="1656775"/>
          </a:xfrm>
        </p:grpSpPr>
        <p:pic>
          <p:nvPicPr>
            <p:cNvPr id="301" name="Google Shape;301;p31"/>
            <p:cNvPicPr preferRelativeResize="0"/>
            <p:nvPr/>
          </p:nvPicPr>
          <p:blipFill>
            <a:blip r:embed="rId4">
              <a:alphaModFix/>
            </a:blip>
            <a:stretch>
              <a:fillRect/>
            </a:stretch>
          </p:blipFill>
          <p:spPr>
            <a:xfrm>
              <a:off x="733900" y="1767650"/>
              <a:ext cx="1801877" cy="1013550"/>
            </a:xfrm>
            <a:prstGeom prst="rect">
              <a:avLst/>
            </a:prstGeom>
            <a:noFill/>
            <a:ln>
              <a:noFill/>
            </a:ln>
          </p:spPr>
        </p:pic>
        <p:sp>
          <p:nvSpPr>
            <p:cNvPr id="302" name="Google Shape;302;p31"/>
            <p:cNvSpPr/>
            <p:nvPr/>
          </p:nvSpPr>
          <p:spPr>
            <a:xfrm>
              <a:off x="1286663" y="3029925"/>
              <a:ext cx="889500" cy="3945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Greg</a:t>
              </a:r>
              <a:endParaRPr b="1">
                <a:latin typeface="Comic Sans MS"/>
                <a:ea typeface="Comic Sans MS"/>
                <a:cs typeface="Comic Sans MS"/>
                <a:sym typeface="Comic Sans MS"/>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6" name="Shape 306"/>
        <p:cNvGrpSpPr/>
        <p:nvPr/>
      </p:nvGrpSpPr>
      <p:grpSpPr>
        <a:xfrm>
          <a:off x="0" y="0"/>
          <a:ext cx="0" cy="0"/>
          <a:chOff x="0" y="0"/>
          <a:chExt cx="0" cy="0"/>
        </a:xfrm>
      </p:grpSpPr>
      <p:pic>
        <p:nvPicPr>
          <p:cNvPr id="307" name="Google Shape;307;p32"/>
          <p:cNvPicPr preferRelativeResize="0"/>
          <p:nvPr/>
        </p:nvPicPr>
        <p:blipFill>
          <a:blip r:embed="rId3">
            <a:alphaModFix/>
          </a:blip>
          <a:stretch>
            <a:fillRect/>
          </a:stretch>
        </p:blipFill>
        <p:spPr>
          <a:xfrm>
            <a:off x="2191550" y="1232750"/>
            <a:ext cx="6703301" cy="3579325"/>
          </a:xfrm>
          <a:prstGeom prst="rect">
            <a:avLst/>
          </a:prstGeom>
          <a:noFill/>
          <a:ln>
            <a:noFill/>
          </a:ln>
        </p:spPr>
      </p:pic>
      <p:sp>
        <p:nvSpPr>
          <p:cNvPr id="308" name="Google Shape;308;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Persona Chart Example - Greg</a:t>
            </a:r>
            <a:endParaRPr/>
          </a:p>
        </p:txBody>
      </p:sp>
      <p:sp>
        <p:nvSpPr>
          <p:cNvPr id="309" name="Google Shape;309;p32"/>
          <p:cNvSpPr txBox="1"/>
          <p:nvPr>
            <p:ph idx="1" type="body"/>
          </p:nvPr>
        </p:nvSpPr>
        <p:spPr>
          <a:xfrm>
            <a:off x="2306075" y="1152475"/>
            <a:ext cx="6526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pl" sz="2400">
                <a:solidFill>
                  <a:srgbClr val="000000"/>
                </a:solidFill>
                <a:latin typeface="Courier New"/>
                <a:ea typeface="Courier New"/>
                <a:cs typeface="Courier New"/>
                <a:sym typeface="Courier New"/>
              </a:rPr>
              <a:t>Web Use And Information Needs</a:t>
            </a:r>
            <a:endParaRPr b="1" i="1" sz="2400">
              <a:solidFill>
                <a:srgbClr val="000000"/>
              </a:solidFill>
              <a:latin typeface="Courier New"/>
              <a:ea typeface="Courier New"/>
              <a:cs typeface="Courier New"/>
              <a:sym typeface="Courier New"/>
            </a:endParaRPr>
          </a:p>
          <a:p>
            <a:pPr indent="0" lvl="0" marL="0" rtl="0" algn="l">
              <a:lnSpc>
                <a:spcPct val="135000"/>
              </a:lnSpc>
              <a:spcBef>
                <a:spcPts val="1600"/>
              </a:spcBef>
              <a:spcAft>
                <a:spcPts val="0"/>
              </a:spcAft>
              <a:buNone/>
            </a:pPr>
            <a:r>
              <a:rPr b="1" lang="pl" sz="1400">
                <a:solidFill>
                  <a:srgbClr val="000000"/>
                </a:solidFill>
                <a:latin typeface="Georgia"/>
                <a:ea typeface="Georgia"/>
                <a:cs typeface="Georgia"/>
                <a:sym typeface="Georgia"/>
              </a:rPr>
              <a:t>Web usage: </a:t>
            </a:r>
            <a:r>
              <a:rPr lang="pl" sz="1400">
                <a:solidFill>
                  <a:srgbClr val="000000"/>
                </a:solidFill>
                <a:latin typeface="Georgia"/>
                <a:ea typeface="Georgia"/>
                <a:cs typeface="Georgia"/>
                <a:sym typeface="Georgia"/>
              </a:rPr>
              <a:t>Checks e-mail five times a day, laptop,  T1 line at work, plays fantasy sports on AOL account, reads restaurant and wine reviews a couple times a month.</a:t>
            </a:r>
            <a:endParaRPr sz="1400">
              <a:solidFill>
                <a:srgbClr val="000000"/>
              </a:solidFill>
              <a:latin typeface="Georgia"/>
              <a:ea typeface="Georgia"/>
              <a:cs typeface="Georgia"/>
              <a:sym typeface="Georgia"/>
            </a:endParaRPr>
          </a:p>
          <a:p>
            <a:pPr indent="0" lvl="0" marL="0" rtl="0" algn="l">
              <a:lnSpc>
                <a:spcPct val="135000"/>
              </a:lnSpc>
              <a:spcBef>
                <a:spcPts val="0"/>
              </a:spcBef>
              <a:spcAft>
                <a:spcPts val="0"/>
              </a:spcAft>
              <a:buNone/>
            </a:pPr>
            <a:r>
              <a:rPr b="1" lang="pl" sz="1400">
                <a:solidFill>
                  <a:srgbClr val="000000"/>
                </a:solidFill>
                <a:latin typeface="Georgia"/>
                <a:ea typeface="Georgia"/>
                <a:cs typeface="Georgia"/>
                <a:sym typeface="Georgia"/>
              </a:rPr>
              <a:t>Web competency: </a:t>
            </a:r>
            <a:r>
              <a:rPr lang="pl" sz="1400">
                <a:solidFill>
                  <a:srgbClr val="000000"/>
                </a:solidFill>
                <a:latin typeface="Georgia"/>
                <a:ea typeface="Georgia"/>
                <a:cs typeface="Georgia"/>
                <a:sym typeface="Georgia"/>
              </a:rPr>
              <a:t>Intermediate. Thinks the Web is easy to use.</a:t>
            </a:r>
            <a:endParaRPr sz="1400">
              <a:solidFill>
                <a:srgbClr val="000000"/>
              </a:solidFill>
              <a:latin typeface="Georgia"/>
              <a:ea typeface="Georgia"/>
              <a:cs typeface="Georgia"/>
              <a:sym typeface="Georgia"/>
            </a:endParaRPr>
          </a:p>
          <a:p>
            <a:pPr indent="0" lvl="0" marL="0" rtl="0" algn="l">
              <a:lnSpc>
                <a:spcPct val="135000"/>
              </a:lnSpc>
              <a:spcBef>
                <a:spcPts val="0"/>
              </a:spcBef>
              <a:spcAft>
                <a:spcPts val="0"/>
              </a:spcAft>
              <a:buNone/>
            </a:pPr>
            <a:r>
              <a:rPr b="1" lang="pl" sz="1400">
                <a:solidFill>
                  <a:srgbClr val="000000"/>
                </a:solidFill>
                <a:latin typeface="Georgia"/>
                <a:ea typeface="Georgia"/>
                <a:cs typeface="Georgia"/>
                <a:sym typeface="Georgia"/>
              </a:rPr>
              <a:t>Frustrations with the Web: </a:t>
            </a:r>
            <a:r>
              <a:rPr lang="pl" sz="1400">
                <a:solidFill>
                  <a:srgbClr val="000000"/>
                </a:solidFill>
                <a:latin typeface="Georgia"/>
                <a:ea typeface="Georgia"/>
                <a:cs typeface="Georgia"/>
                <a:sym typeface="Georgia"/>
              </a:rPr>
              <a:t>Spam and lack of credibility of information posted on sites.</a:t>
            </a:r>
            <a:endParaRPr sz="1400">
              <a:solidFill>
                <a:srgbClr val="000000"/>
              </a:solidFill>
              <a:latin typeface="Georgia"/>
              <a:ea typeface="Georgia"/>
              <a:cs typeface="Georgia"/>
              <a:sym typeface="Georgia"/>
            </a:endParaRPr>
          </a:p>
          <a:p>
            <a:pPr indent="0" lvl="0" marL="0" rtl="0" algn="l">
              <a:lnSpc>
                <a:spcPct val="135000"/>
              </a:lnSpc>
              <a:spcBef>
                <a:spcPts val="0"/>
              </a:spcBef>
              <a:spcAft>
                <a:spcPts val="0"/>
              </a:spcAft>
              <a:buNone/>
            </a:pPr>
            <a:r>
              <a:rPr b="1" lang="pl" sz="1400">
                <a:solidFill>
                  <a:srgbClr val="000000"/>
                </a:solidFill>
                <a:latin typeface="Georgia"/>
                <a:ea typeface="Georgia"/>
                <a:cs typeface="Georgia"/>
                <a:sym typeface="Georgia"/>
              </a:rPr>
              <a:t>What kind of information is hard to find: </a:t>
            </a:r>
            <a:r>
              <a:rPr lang="pl" sz="1400">
                <a:solidFill>
                  <a:srgbClr val="000000"/>
                </a:solidFill>
                <a:latin typeface="Georgia"/>
                <a:ea typeface="Georgia"/>
                <a:cs typeface="Georgia"/>
                <a:sym typeface="Georgia"/>
              </a:rPr>
              <a:t>Local sports information, up-to-date information about community events that are happening this weekend, and non tourist practicalities, such as whether broccoli is available at the farmer's market.</a:t>
            </a:r>
            <a:endParaRPr sz="1400">
              <a:solidFill>
                <a:srgbClr val="000000"/>
              </a:solidFill>
              <a:latin typeface="Georgia"/>
              <a:ea typeface="Georgia"/>
              <a:cs typeface="Georgia"/>
              <a:sym typeface="Georgia"/>
            </a:endParaRPr>
          </a:p>
          <a:p>
            <a:pPr indent="0" lvl="0" marL="0" rtl="0" algn="l">
              <a:spcBef>
                <a:spcPts val="0"/>
              </a:spcBef>
              <a:spcAft>
                <a:spcPts val="0"/>
              </a:spcAft>
              <a:buNone/>
            </a:pPr>
            <a:r>
              <a:t/>
            </a:r>
            <a:endParaRPr sz="1000">
              <a:solidFill>
                <a:srgbClr val="000000"/>
              </a:solidFill>
              <a:latin typeface="Verdana"/>
              <a:ea typeface="Verdana"/>
              <a:cs typeface="Verdana"/>
              <a:sym typeface="Verdana"/>
            </a:endParaRPr>
          </a:p>
          <a:p>
            <a:pPr indent="0" lvl="0" marL="0" rtl="0" algn="l">
              <a:spcBef>
                <a:spcPts val="0"/>
              </a:spcBef>
              <a:spcAft>
                <a:spcPts val="0"/>
              </a:spcAft>
              <a:buNone/>
            </a:pPr>
            <a:r>
              <a:t/>
            </a:r>
            <a:endParaRPr b="1">
              <a:solidFill>
                <a:srgbClr val="000000"/>
              </a:solidFill>
              <a:latin typeface="Courier New"/>
              <a:ea typeface="Courier New"/>
              <a:cs typeface="Courier New"/>
              <a:sym typeface="Courier New"/>
            </a:endParaRPr>
          </a:p>
          <a:p>
            <a:pPr indent="0" lvl="0" marL="0" rtl="0" algn="l">
              <a:spcBef>
                <a:spcPts val="1600"/>
              </a:spcBef>
              <a:spcAft>
                <a:spcPts val="1600"/>
              </a:spcAft>
              <a:buNone/>
            </a:pPr>
            <a:r>
              <a:t/>
            </a:r>
            <a:endParaRPr>
              <a:solidFill>
                <a:srgbClr val="000000"/>
              </a:solidFill>
            </a:endParaRPr>
          </a:p>
        </p:txBody>
      </p:sp>
      <p:grpSp>
        <p:nvGrpSpPr>
          <p:cNvPr id="310" name="Google Shape;310;p32"/>
          <p:cNvGrpSpPr/>
          <p:nvPr/>
        </p:nvGrpSpPr>
        <p:grpSpPr>
          <a:xfrm>
            <a:off x="311700" y="1743363"/>
            <a:ext cx="1801877" cy="1656775"/>
            <a:chOff x="733900" y="1767650"/>
            <a:chExt cx="1801877" cy="1656775"/>
          </a:xfrm>
        </p:grpSpPr>
        <p:pic>
          <p:nvPicPr>
            <p:cNvPr id="311" name="Google Shape;311;p32"/>
            <p:cNvPicPr preferRelativeResize="0"/>
            <p:nvPr/>
          </p:nvPicPr>
          <p:blipFill>
            <a:blip r:embed="rId4">
              <a:alphaModFix/>
            </a:blip>
            <a:stretch>
              <a:fillRect/>
            </a:stretch>
          </p:blipFill>
          <p:spPr>
            <a:xfrm>
              <a:off x="733900" y="1767650"/>
              <a:ext cx="1801877" cy="1013550"/>
            </a:xfrm>
            <a:prstGeom prst="rect">
              <a:avLst/>
            </a:prstGeom>
            <a:noFill/>
            <a:ln>
              <a:noFill/>
            </a:ln>
          </p:spPr>
        </p:pic>
        <p:sp>
          <p:nvSpPr>
            <p:cNvPr id="312" name="Google Shape;312;p32"/>
            <p:cNvSpPr/>
            <p:nvPr/>
          </p:nvSpPr>
          <p:spPr>
            <a:xfrm>
              <a:off x="1286663" y="3029925"/>
              <a:ext cx="889500" cy="3945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Greg</a:t>
              </a:r>
              <a:endParaRPr b="1">
                <a:latin typeface="Comic Sans MS"/>
                <a:ea typeface="Comic Sans MS"/>
                <a:cs typeface="Comic Sans MS"/>
                <a:sym typeface="Comic Sans MS"/>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6" name="Shape 316"/>
        <p:cNvGrpSpPr/>
        <p:nvPr/>
      </p:nvGrpSpPr>
      <p:grpSpPr>
        <a:xfrm>
          <a:off x="0" y="0"/>
          <a:ext cx="0" cy="0"/>
          <a:chOff x="0" y="0"/>
          <a:chExt cx="0" cy="0"/>
        </a:xfrm>
      </p:grpSpPr>
      <p:pic>
        <p:nvPicPr>
          <p:cNvPr id="317" name="Google Shape;317;p33"/>
          <p:cNvPicPr preferRelativeResize="0"/>
          <p:nvPr/>
        </p:nvPicPr>
        <p:blipFill>
          <a:blip r:embed="rId3">
            <a:alphaModFix/>
          </a:blip>
          <a:stretch>
            <a:fillRect/>
          </a:stretch>
        </p:blipFill>
        <p:spPr>
          <a:xfrm>
            <a:off x="2191550" y="1232750"/>
            <a:ext cx="6703301" cy="3579325"/>
          </a:xfrm>
          <a:prstGeom prst="rect">
            <a:avLst/>
          </a:prstGeom>
          <a:noFill/>
          <a:ln>
            <a:noFill/>
          </a:ln>
        </p:spPr>
      </p:pic>
      <p:sp>
        <p:nvSpPr>
          <p:cNvPr id="318" name="Google Shape;318;p3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Persona Chart Example - Greg</a:t>
            </a:r>
            <a:endParaRPr/>
          </a:p>
        </p:txBody>
      </p:sp>
      <p:sp>
        <p:nvSpPr>
          <p:cNvPr id="319" name="Google Shape;319;p33"/>
          <p:cNvSpPr txBox="1"/>
          <p:nvPr>
            <p:ph idx="1" type="body"/>
          </p:nvPr>
        </p:nvSpPr>
        <p:spPr>
          <a:xfrm>
            <a:off x="2306075" y="1152475"/>
            <a:ext cx="6526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pl" sz="2400">
                <a:solidFill>
                  <a:srgbClr val="000000"/>
                </a:solidFill>
                <a:latin typeface="Courier New"/>
                <a:ea typeface="Courier New"/>
                <a:cs typeface="Courier New"/>
                <a:sym typeface="Courier New"/>
              </a:rPr>
              <a:t>Web Use And Information Needs</a:t>
            </a:r>
            <a:endParaRPr b="1" i="1" sz="2400">
              <a:solidFill>
                <a:srgbClr val="000000"/>
              </a:solidFill>
              <a:latin typeface="Courier New"/>
              <a:ea typeface="Courier New"/>
              <a:cs typeface="Courier New"/>
              <a:sym typeface="Courier New"/>
            </a:endParaRPr>
          </a:p>
          <a:p>
            <a:pPr indent="0" lvl="0" marL="0" rtl="0" algn="l">
              <a:lnSpc>
                <a:spcPct val="135000"/>
              </a:lnSpc>
              <a:spcBef>
                <a:spcPts val="1600"/>
              </a:spcBef>
              <a:spcAft>
                <a:spcPts val="0"/>
              </a:spcAft>
              <a:buNone/>
            </a:pPr>
            <a:r>
              <a:rPr b="1" lang="pl" sz="1400">
                <a:solidFill>
                  <a:srgbClr val="000000"/>
                </a:solidFill>
                <a:latin typeface="Georgia"/>
                <a:ea typeface="Georgia"/>
                <a:cs typeface="Georgia"/>
                <a:sym typeface="Georgia"/>
              </a:rPr>
              <a:t>Frequent sources of information: </a:t>
            </a:r>
            <a:r>
              <a:rPr lang="pl" sz="1400">
                <a:solidFill>
                  <a:srgbClr val="000000"/>
                </a:solidFill>
                <a:latin typeface="Georgia"/>
                <a:ea typeface="Georgia"/>
                <a:cs typeface="Georgia"/>
                <a:sym typeface="Georgia"/>
              </a:rPr>
              <a:t>Anything that'shandy, including clipped ads from the paper, magazine listings, local Websites, and other listings of upcoming events.</a:t>
            </a:r>
            <a:endParaRPr sz="1400">
              <a:solidFill>
                <a:srgbClr val="000000"/>
              </a:solidFill>
              <a:latin typeface="Georgia"/>
              <a:ea typeface="Georgia"/>
              <a:cs typeface="Georgia"/>
              <a:sym typeface="Georgia"/>
            </a:endParaRPr>
          </a:p>
          <a:p>
            <a:pPr indent="0" lvl="0" marL="0" rtl="0" algn="l">
              <a:lnSpc>
                <a:spcPct val="135000"/>
              </a:lnSpc>
              <a:spcBef>
                <a:spcPts val="0"/>
              </a:spcBef>
              <a:spcAft>
                <a:spcPts val="0"/>
              </a:spcAft>
              <a:buNone/>
            </a:pPr>
            <a:r>
              <a:t/>
            </a:r>
            <a:endParaRPr b="1" sz="1400">
              <a:solidFill>
                <a:srgbClr val="000000"/>
              </a:solidFill>
              <a:latin typeface="Georgia"/>
              <a:ea typeface="Georgia"/>
              <a:cs typeface="Georgia"/>
              <a:sym typeface="Georgia"/>
            </a:endParaRPr>
          </a:p>
          <a:p>
            <a:pPr indent="0" lvl="0" marL="0" rtl="0" algn="l">
              <a:lnSpc>
                <a:spcPct val="135000"/>
              </a:lnSpc>
              <a:spcBef>
                <a:spcPts val="0"/>
              </a:spcBef>
              <a:spcAft>
                <a:spcPts val="0"/>
              </a:spcAft>
              <a:buNone/>
            </a:pPr>
            <a:r>
              <a:rPr b="1" lang="pl" sz="1400">
                <a:solidFill>
                  <a:srgbClr val="000000"/>
                </a:solidFill>
                <a:latin typeface="Georgia"/>
                <a:ea typeface="Georgia"/>
                <a:cs typeface="Georgia"/>
                <a:sym typeface="Georgia"/>
              </a:rPr>
              <a:t>Quote: </a:t>
            </a:r>
            <a:r>
              <a:rPr lang="pl" sz="1400">
                <a:solidFill>
                  <a:srgbClr val="000000"/>
                </a:solidFill>
                <a:latin typeface="Georgia"/>
                <a:ea typeface="Georgia"/>
                <a:cs typeface="Georgia"/>
                <a:sym typeface="Georgia"/>
              </a:rPr>
              <a:t>"I'm an explorer. I'mthe kind of guy who wants to know every road in the county and where it might take me."</a:t>
            </a:r>
            <a:endParaRPr sz="1400">
              <a:solidFill>
                <a:srgbClr val="000000"/>
              </a:solidFill>
              <a:latin typeface="Georgia"/>
              <a:ea typeface="Georgia"/>
              <a:cs typeface="Georgia"/>
              <a:sym typeface="Georgia"/>
            </a:endParaRPr>
          </a:p>
          <a:p>
            <a:pPr indent="0" lvl="0" marL="0" rtl="0" algn="l">
              <a:lnSpc>
                <a:spcPct val="135000"/>
              </a:lnSpc>
              <a:spcBef>
                <a:spcPts val="0"/>
              </a:spcBef>
              <a:spcAft>
                <a:spcPts val="0"/>
              </a:spcAft>
              <a:buNone/>
            </a:pPr>
            <a:r>
              <a:t/>
            </a:r>
            <a:endParaRPr b="1" sz="1400">
              <a:solidFill>
                <a:srgbClr val="000000"/>
              </a:solidFill>
              <a:latin typeface="Georgia"/>
              <a:ea typeface="Georgia"/>
              <a:cs typeface="Georgia"/>
              <a:sym typeface="Georgia"/>
            </a:endParaRPr>
          </a:p>
          <a:p>
            <a:pPr indent="0" lvl="0" marL="0" rtl="0" algn="l">
              <a:spcBef>
                <a:spcPts val="0"/>
              </a:spcBef>
              <a:spcAft>
                <a:spcPts val="0"/>
              </a:spcAft>
              <a:buNone/>
            </a:pPr>
            <a:r>
              <a:t/>
            </a:r>
            <a:endParaRPr sz="1000">
              <a:solidFill>
                <a:srgbClr val="000000"/>
              </a:solidFill>
              <a:latin typeface="Verdana"/>
              <a:ea typeface="Verdana"/>
              <a:cs typeface="Verdana"/>
              <a:sym typeface="Verdana"/>
            </a:endParaRPr>
          </a:p>
          <a:p>
            <a:pPr indent="0" lvl="0" marL="0" rtl="0" algn="l">
              <a:spcBef>
                <a:spcPts val="0"/>
              </a:spcBef>
              <a:spcAft>
                <a:spcPts val="0"/>
              </a:spcAft>
              <a:buNone/>
            </a:pPr>
            <a:r>
              <a:t/>
            </a:r>
            <a:endParaRPr b="1">
              <a:solidFill>
                <a:srgbClr val="000000"/>
              </a:solidFill>
              <a:latin typeface="Courier New"/>
              <a:ea typeface="Courier New"/>
              <a:cs typeface="Courier New"/>
              <a:sym typeface="Courier New"/>
            </a:endParaRPr>
          </a:p>
          <a:p>
            <a:pPr indent="0" lvl="0" marL="0" rtl="0" algn="l">
              <a:spcBef>
                <a:spcPts val="1600"/>
              </a:spcBef>
              <a:spcAft>
                <a:spcPts val="1600"/>
              </a:spcAft>
              <a:buNone/>
            </a:pPr>
            <a:r>
              <a:t/>
            </a:r>
            <a:endParaRPr>
              <a:solidFill>
                <a:srgbClr val="000000"/>
              </a:solidFill>
            </a:endParaRPr>
          </a:p>
        </p:txBody>
      </p:sp>
      <p:grpSp>
        <p:nvGrpSpPr>
          <p:cNvPr id="320" name="Google Shape;320;p33"/>
          <p:cNvGrpSpPr/>
          <p:nvPr/>
        </p:nvGrpSpPr>
        <p:grpSpPr>
          <a:xfrm>
            <a:off x="311700" y="1743363"/>
            <a:ext cx="1801877" cy="1656775"/>
            <a:chOff x="733900" y="1767650"/>
            <a:chExt cx="1801877" cy="1656775"/>
          </a:xfrm>
        </p:grpSpPr>
        <p:pic>
          <p:nvPicPr>
            <p:cNvPr id="321" name="Google Shape;321;p33"/>
            <p:cNvPicPr preferRelativeResize="0"/>
            <p:nvPr/>
          </p:nvPicPr>
          <p:blipFill>
            <a:blip r:embed="rId4">
              <a:alphaModFix/>
            </a:blip>
            <a:stretch>
              <a:fillRect/>
            </a:stretch>
          </p:blipFill>
          <p:spPr>
            <a:xfrm>
              <a:off x="733900" y="1767650"/>
              <a:ext cx="1801877" cy="1013550"/>
            </a:xfrm>
            <a:prstGeom prst="rect">
              <a:avLst/>
            </a:prstGeom>
            <a:noFill/>
            <a:ln>
              <a:noFill/>
            </a:ln>
          </p:spPr>
        </p:pic>
        <p:sp>
          <p:nvSpPr>
            <p:cNvPr id="322" name="Google Shape;322;p33"/>
            <p:cNvSpPr/>
            <p:nvPr/>
          </p:nvSpPr>
          <p:spPr>
            <a:xfrm>
              <a:off x="1286663" y="3029925"/>
              <a:ext cx="889500" cy="3945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Greg</a:t>
              </a:r>
              <a:endParaRPr b="1">
                <a:latin typeface="Comic Sans MS"/>
                <a:ea typeface="Comic Sans MS"/>
                <a:cs typeface="Comic Sans MS"/>
                <a:sym typeface="Comic Sans MS"/>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6" name="Shape 326"/>
        <p:cNvGrpSpPr/>
        <p:nvPr/>
      </p:nvGrpSpPr>
      <p:grpSpPr>
        <a:xfrm>
          <a:off x="0" y="0"/>
          <a:ext cx="0" cy="0"/>
          <a:chOff x="0" y="0"/>
          <a:chExt cx="0" cy="0"/>
        </a:xfrm>
      </p:grpSpPr>
      <p:sp>
        <p:nvSpPr>
          <p:cNvPr id="327" name="Google Shape;327;p3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Primary Persona - Greg</a:t>
            </a:r>
            <a:endParaRPr/>
          </a:p>
        </p:txBody>
      </p:sp>
      <p:sp>
        <p:nvSpPr>
          <p:cNvPr id="328" name="Google Shape;328;p34"/>
          <p:cNvSpPr txBox="1"/>
          <p:nvPr>
            <p:ph idx="1" type="body"/>
          </p:nvPr>
        </p:nvSpPr>
        <p:spPr>
          <a:xfrm>
            <a:off x="2306075" y="1152475"/>
            <a:ext cx="6526200" cy="34164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solidFill>
                <a:srgbClr val="FFFFFF"/>
              </a:solidFill>
            </a:endParaRPr>
          </a:p>
          <a:p>
            <a:pPr indent="-342900" lvl="0" marL="457200" rtl="0" algn="l">
              <a:spcBef>
                <a:spcPts val="1600"/>
              </a:spcBef>
              <a:spcAft>
                <a:spcPts val="0"/>
              </a:spcAft>
              <a:buClr>
                <a:srgbClr val="FFFFFF"/>
              </a:buClr>
              <a:buSzPts val="1800"/>
              <a:buChar char="●"/>
            </a:pPr>
            <a:r>
              <a:rPr lang="pl">
                <a:solidFill>
                  <a:srgbClr val="FFFFFF"/>
                </a:solidFill>
              </a:rPr>
              <a:t>The site's design needed to be accessible and quick to use.</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On the first load of the home page or go other websites.</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Local events information for both kids' activities and adult splurges.</a:t>
            </a:r>
            <a:endParaRPr>
              <a:solidFill>
                <a:srgbClr val="FFFFFF"/>
              </a:solidFill>
            </a:endParaRPr>
          </a:p>
        </p:txBody>
      </p:sp>
      <p:grpSp>
        <p:nvGrpSpPr>
          <p:cNvPr id="329" name="Google Shape;329;p34"/>
          <p:cNvGrpSpPr/>
          <p:nvPr/>
        </p:nvGrpSpPr>
        <p:grpSpPr>
          <a:xfrm>
            <a:off x="311700" y="1743363"/>
            <a:ext cx="1801877" cy="1656775"/>
            <a:chOff x="733900" y="1767650"/>
            <a:chExt cx="1801877" cy="1656775"/>
          </a:xfrm>
        </p:grpSpPr>
        <p:pic>
          <p:nvPicPr>
            <p:cNvPr id="330" name="Google Shape;330;p34"/>
            <p:cNvPicPr preferRelativeResize="0"/>
            <p:nvPr/>
          </p:nvPicPr>
          <p:blipFill>
            <a:blip r:embed="rId3">
              <a:alphaModFix/>
            </a:blip>
            <a:stretch>
              <a:fillRect/>
            </a:stretch>
          </p:blipFill>
          <p:spPr>
            <a:xfrm>
              <a:off x="733900" y="1767650"/>
              <a:ext cx="1801877" cy="1013550"/>
            </a:xfrm>
            <a:prstGeom prst="rect">
              <a:avLst/>
            </a:prstGeom>
            <a:noFill/>
            <a:ln>
              <a:noFill/>
            </a:ln>
          </p:spPr>
        </p:pic>
        <p:sp>
          <p:nvSpPr>
            <p:cNvPr id="331" name="Google Shape;331;p34"/>
            <p:cNvSpPr/>
            <p:nvPr/>
          </p:nvSpPr>
          <p:spPr>
            <a:xfrm>
              <a:off x="1286663" y="3029925"/>
              <a:ext cx="889500" cy="3945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Greg</a:t>
              </a:r>
              <a:endParaRPr b="1">
                <a:latin typeface="Comic Sans MS"/>
                <a:ea typeface="Comic Sans MS"/>
                <a:cs typeface="Comic Sans MS"/>
                <a:sym typeface="Comic Sans MS"/>
              </a:endParaRPr>
            </a:p>
          </p:txBody>
        </p:sp>
      </p:grpSp>
      <p:sp>
        <p:nvSpPr>
          <p:cNvPr id="332" name="Google Shape;332;p34"/>
          <p:cNvSpPr/>
          <p:nvPr/>
        </p:nvSpPr>
        <p:spPr>
          <a:xfrm rot="-1282795">
            <a:off x="6397464" y="3889512"/>
            <a:ext cx="1870523" cy="573759"/>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l" sz="2400">
                <a:solidFill>
                  <a:srgbClr val="FF0000"/>
                </a:solidFill>
                <a:latin typeface="Impact"/>
                <a:ea typeface="Impact"/>
                <a:cs typeface="Impact"/>
                <a:sym typeface="Impact"/>
              </a:rPr>
              <a:t>Design</a:t>
            </a:r>
            <a:endParaRPr sz="2400">
              <a:solidFill>
                <a:srgbClr val="FF0000"/>
              </a:solidFill>
              <a:latin typeface="Impact"/>
              <a:ea typeface="Impact"/>
              <a:cs typeface="Impact"/>
              <a:sym typeface="Impac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6" name="Shape 336"/>
        <p:cNvGrpSpPr/>
        <p:nvPr/>
      </p:nvGrpSpPr>
      <p:grpSpPr>
        <a:xfrm>
          <a:off x="0" y="0"/>
          <a:ext cx="0" cy="0"/>
          <a:chOff x="0" y="0"/>
          <a:chExt cx="0" cy="0"/>
        </a:xfrm>
      </p:grpSpPr>
      <p:sp>
        <p:nvSpPr>
          <p:cNvPr id="337" name="Google Shape;337;p3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S</a:t>
            </a:r>
            <a:r>
              <a:rPr lang="pl"/>
              <a:t>econdary P</a:t>
            </a:r>
            <a:r>
              <a:rPr lang="pl"/>
              <a:t>ersona - </a:t>
            </a:r>
            <a:r>
              <a:rPr lang="pl"/>
              <a:t>Robert</a:t>
            </a:r>
            <a:endParaRPr/>
          </a:p>
        </p:txBody>
      </p:sp>
      <p:sp>
        <p:nvSpPr>
          <p:cNvPr id="338" name="Google Shape;338;p35"/>
          <p:cNvSpPr txBox="1"/>
          <p:nvPr>
            <p:ph idx="1" type="body"/>
          </p:nvPr>
        </p:nvSpPr>
        <p:spPr>
          <a:xfrm>
            <a:off x="2306075" y="1152475"/>
            <a:ext cx="6526200" cy="34164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solidFill>
                <a:srgbClr val="FFFFFF"/>
              </a:solidFill>
            </a:endParaRPr>
          </a:p>
          <a:p>
            <a:pPr indent="-342900" lvl="0" marL="457200" rtl="0" algn="l">
              <a:spcBef>
                <a:spcPts val="1600"/>
              </a:spcBef>
              <a:spcAft>
                <a:spcPts val="0"/>
              </a:spcAft>
              <a:buClr>
                <a:srgbClr val="FFFFFF"/>
              </a:buClr>
              <a:buSzPts val="1800"/>
              <a:buChar char="●"/>
            </a:pPr>
            <a:r>
              <a:rPr lang="pl">
                <a:solidFill>
                  <a:srgbClr val="FFFFFF"/>
                </a:solidFill>
              </a:rPr>
              <a:t>R</a:t>
            </a:r>
            <a:r>
              <a:rPr lang="pl">
                <a:solidFill>
                  <a:srgbClr val="FFFFFF"/>
                </a:solidFill>
              </a:rPr>
              <a:t>etired business executive</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A</a:t>
            </a:r>
            <a:r>
              <a:rPr lang="pl">
                <a:solidFill>
                  <a:srgbClr val="FFFFFF"/>
                </a:solidFill>
              </a:rPr>
              <a:t>ctive and adventuresome</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Like to hike and take long drives on country roads with his wife.</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E</a:t>
            </a:r>
            <a:r>
              <a:rPr lang="pl">
                <a:solidFill>
                  <a:srgbClr val="FFFFFF"/>
                </a:solidFill>
              </a:rPr>
              <a:t>ntertains family and friends coming to the wine country on weekends. </a:t>
            </a:r>
            <a:endParaRPr>
              <a:solidFill>
                <a:srgbClr val="FFFFFF"/>
              </a:solidFill>
            </a:endParaRPr>
          </a:p>
        </p:txBody>
      </p:sp>
      <p:grpSp>
        <p:nvGrpSpPr>
          <p:cNvPr id="339" name="Google Shape;339;p35"/>
          <p:cNvGrpSpPr/>
          <p:nvPr/>
        </p:nvGrpSpPr>
        <p:grpSpPr>
          <a:xfrm>
            <a:off x="388638" y="1742013"/>
            <a:ext cx="1796493" cy="1659463"/>
            <a:chOff x="2798088" y="1764963"/>
            <a:chExt cx="1796493" cy="1659463"/>
          </a:xfrm>
        </p:grpSpPr>
        <p:pic>
          <p:nvPicPr>
            <p:cNvPr id="340" name="Google Shape;340;p35"/>
            <p:cNvPicPr preferRelativeResize="0"/>
            <p:nvPr/>
          </p:nvPicPr>
          <p:blipFill rotWithShape="1">
            <a:blip r:embed="rId3">
              <a:alphaModFix/>
            </a:blip>
            <a:srcRect b="20256" l="37114" r="0" t="20184"/>
            <a:stretch/>
          </p:blipFill>
          <p:spPr>
            <a:xfrm>
              <a:off x="2798088" y="1764963"/>
              <a:ext cx="1796493" cy="1013550"/>
            </a:xfrm>
            <a:prstGeom prst="rect">
              <a:avLst/>
            </a:prstGeom>
            <a:noFill/>
            <a:ln cap="flat" cmpd="sng" w="9525">
              <a:solidFill>
                <a:srgbClr val="CFE2F3"/>
              </a:solidFill>
              <a:prstDash val="solid"/>
              <a:round/>
              <a:headEnd len="sm" w="sm" type="none"/>
              <a:tailEnd len="sm" w="sm" type="none"/>
            </a:ln>
          </p:spPr>
        </p:pic>
        <p:sp>
          <p:nvSpPr>
            <p:cNvPr id="341" name="Google Shape;341;p35"/>
            <p:cNvSpPr/>
            <p:nvPr/>
          </p:nvSpPr>
          <p:spPr>
            <a:xfrm>
              <a:off x="3102975" y="3029925"/>
              <a:ext cx="889500" cy="394500"/>
            </a:xfrm>
            <a:prstGeom prst="roundRect">
              <a:avLst>
                <a:gd fmla="val 16667" name="adj"/>
              </a:avLst>
            </a:prstGeom>
            <a:solidFill>
              <a:srgbClr val="C9DAF8"/>
            </a:solidFill>
            <a:ln cap="flat" cmpd="sng" w="9525">
              <a:solidFill>
                <a:srgbClr val="CFE2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Robert</a:t>
              </a:r>
              <a:endParaRPr b="1">
                <a:latin typeface="Comic Sans MS"/>
                <a:ea typeface="Comic Sans MS"/>
                <a:cs typeface="Comic Sans MS"/>
                <a:sym typeface="Comic Sans MS"/>
              </a:endParaRPr>
            </a:p>
          </p:txBody>
        </p:sp>
      </p:grpSp>
      <p:sp>
        <p:nvSpPr>
          <p:cNvPr id="342" name="Google Shape;342;p35"/>
          <p:cNvSpPr/>
          <p:nvPr/>
        </p:nvSpPr>
        <p:spPr>
          <a:xfrm rot="-1282795">
            <a:off x="6397464" y="3889512"/>
            <a:ext cx="1870523" cy="573759"/>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l" sz="2400">
                <a:solidFill>
                  <a:srgbClr val="FF0000"/>
                </a:solidFill>
                <a:latin typeface="Impact"/>
                <a:ea typeface="Impact"/>
                <a:cs typeface="Impact"/>
                <a:sym typeface="Impact"/>
              </a:rPr>
              <a:t>Personality</a:t>
            </a:r>
            <a:endParaRPr sz="2400">
              <a:solidFill>
                <a:srgbClr val="FF0000"/>
              </a:solidFill>
              <a:latin typeface="Impact"/>
              <a:ea typeface="Impact"/>
              <a:cs typeface="Impact"/>
              <a:sym typeface="Impac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6" name="Shape 346"/>
        <p:cNvGrpSpPr/>
        <p:nvPr/>
      </p:nvGrpSpPr>
      <p:grpSpPr>
        <a:xfrm>
          <a:off x="0" y="0"/>
          <a:ext cx="0" cy="0"/>
          <a:chOff x="0" y="0"/>
          <a:chExt cx="0" cy="0"/>
        </a:xfrm>
      </p:grpSpPr>
      <p:sp>
        <p:nvSpPr>
          <p:cNvPr id="347" name="Google Shape;347;p3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Secondary Persona - Robert</a:t>
            </a:r>
            <a:endParaRPr/>
          </a:p>
        </p:txBody>
      </p:sp>
      <p:sp>
        <p:nvSpPr>
          <p:cNvPr id="348" name="Google Shape;348;p36"/>
          <p:cNvSpPr txBox="1"/>
          <p:nvPr>
            <p:ph idx="1" type="body"/>
          </p:nvPr>
        </p:nvSpPr>
        <p:spPr>
          <a:xfrm>
            <a:off x="2306075" y="1152475"/>
            <a:ext cx="6526200" cy="34164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solidFill>
                <a:srgbClr val="FFFFFF"/>
              </a:solidFill>
            </a:endParaRPr>
          </a:p>
          <a:p>
            <a:pPr indent="-342900" lvl="0" marL="457200" rtl="0" algn="l">
              <a:spcBef>
                <a:spcPts val="1600"/>
              </a:spcBef>
              <a:spcAft>
                <a:spcPts val="0"/>
              </a:spcAft>
              <a:buClr>
                <a:srgbClr val="FFFFFF"/>
              </a:buClr>
              <a:buSzPts val="1800"/>
              <a:buChar char="●"/>
            </a:pPr>
            <a:r>
              <a:rPr lang="pl">
                <a:solidFill>
                  <a:srgbClr val="FFFFFF"/>
                </a:solidFill>
              </a:rPr>
              <a:t>Robert has the time, energy, and computer skills to browse. </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Easy to use and current can satisfy Robert.</a:t>
            </a:r>
            <a:endParaRPr>
              <a:solidFill>
                <a:srgbClr val="FFFFFF"/>
              </a:solidFill>
            </a:endParaRPr>
          </a:p>
        </p:txBody>
      </p:sp>
      <p:grpSp>
        <p:nvGrpSpPr>
          <p:cNvPr id="349" name="Google Shape;349;p36"/>
          <p:cNvGrpSpPr/>
          <p:nvPr/>
        </p:nvGrpSpPr>
        <p:grpSpPr>
          <a:xfrm>
            <a:off x="388638" y="1742013"/>
            <a:ext cx="1796493" cy="1659463"/>
            <a:chOff x="2798088" y="1764963"/>
            <a:chExt cx="1796493" cy="1659463"/>
          </a:xfrm>
        </p:grpSpPr>
        <p:pic>
          <p:nvPicPr>
            <p:cNvPr id="350" name="Google Shape;350;p36"/>
            <p:cNvPicPr preferRelativeResize="0"/>
            <p:nvPr/>
          </p:nvPicPr>
          <p:blipFill rotWithShape="1">
            <a:blip r:embed="rId3">
              <a:alphaModFix/>
            </a:blip>
            <a:srcRect b="20256" l="37114" r="0" t="20184"/>
            <a:stretch/>
          </p:blipFill>
          <p:spPr>
            <a:xfrm>
              <a:off x="2798088" y="1764963"/>
              <a:ext cx="1796493" cy="1013550"/>
            </a:xfrm>
            <a:prstGeom prst="rect">
              <a:avLst/>
            </a:prstGeom>
            <a:noFill/>
            <a:ln>
              <a:noFill/>
            </a:ln>
          </p:spPr>
        </p:pic>
        <p:sp>
          <p:nvSpPr>
            <p:cNvPr id="351" name="Google Shape;351;p36"/>
            <p:cNvSpPr/>
            <p:nvPr/>
          </p:nvSpPr>
          <p:spPr>
            <a:xfrm>
              <a:off x="3102975" y="3029925"/>
              <a:ext cx="889500" cy="3945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Robert</a:t>
              </a:r>
              <a:endParaRPr b="1">
                <a:latin typeface="Comic Sans MS"/>
                <a:ea typeface="Comic Sans MS"/>
                <a:cs typeface="Comic Sans MS"/>
                <a:sym typeface="Comic Sans MS"/>
              </a:endParaRPr>
            </a:p>
          </p:txBody>
        </p:sp>
      </p:grpSp>
      <p:sp>
        <p:nvSpPr>
          <p:cNvPr id="352" name="Google Shape;352;p36"/>
          <p:cNvSpPr/>
          <p:nvPr/>
        </p:nvSpPr>
        <p:spPr>
          <a:xfrm rot="-1282795">
            <a:off x="6397464" y="3889512"/>
            <a:ext cx="1870523" cy="573759"/>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l" sz="2400">
                <a:solidFill>
                  <a:srgbClr val="FF0000"/>
                </a:solidFill>
                <a:latin typeface="Impact"/>
                <a:ea typeface="Impact"/>
                <a:cs typeface="Impact"/>
                <a:sym typeface="Impact"/>
              </a:rPr>
              <a:t>Design</a:t>
            </a:r>
            <a:endParaRPr sz="2400">
              <a:solidFill>
                <a:srgbClr val="FF0000"/>
              </a:solidFill>
              <a:latin typeface="Impact"/>
              <a:ea typeface="Impact"/>
              <a:cs typeface="Impact"/>
              <a:sym typeface="Impac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6" name="Shape 356"/>
        <p:cNvGrpSpPr/>
        <p:nvPr/>
      </p:nvGrpSpPr>
      <p:grpSpPr>
        <a:xfrm>
          <a:off x="0" y="0"/>
          <a:ext cx="0" cy="0"/>
          <a:chOff x="0" y="0"/>
          <a:chExt cx="0" cy="0"/>
        </a:xfrm>
      </p:grpSpPr>
      <p:sp>
        <p:nvSpPr>
          <p:cNvPr id="357" name="Google Shape;357;p3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Secondary Persona - </a:t>
            </a:r>
            <a:r>
              <a:rPr lang="pl">
                <a:solidFill>
                  <a:srgbClr val="FFFFFF"/>
                </a:solidFill>
              </a:rPr>
              <a:t>Sarah</a:t>
            </a:r>
            <a:endParaRPr/>
          </a:p>
        </p:txBody>
      </p:sp>
      <p:sp>
        <p:nvSpPr>
          <p:cNvPr id="358" name="Google Shape;358;p37"/>
          <p:cNvSpPr txBox="1"/>
          <p:nvPr>
            <p:ph idx="1" type="body"/>
          </p:nvPr>
        </p:nvSpPr>
        <p:spPr>
          <a:xfrm>
            <a:off x="2306075" y="1152475"/>
            <a:ext cx="6526200" cy="34164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solidFill>
                <a:srgbClr val="FFFFFF"/>
              </a:solidFill>
            </a:endParaRPr>
          </a:p>
          <a:p>
            <a:pPr indent="-342900" lvl="0" marL="457200" rtl="0" algn="l">
              <a:spcBef>
                <a:spcPts val="1600"/>
              </a:spcBef>
              <a:spcAft>
                <a:spcPts val="0"/>
              </a:spcAft>
              <a:buClr>
                <a:srgbClr val="FFFFFF"/>
              </a:buClr>
              <a:buSzPts val="1800"/>
              <a:buChar char="●"/>
            </a:pPr>
            <a:r>
              <a:rPr lang="pl">
                <a:solidFill>
                  <a:srgbClr val="FFFFFF"/>
                </a:solidFill>
              </a:rPr>
              <a:t>A salesperson for Demptos Glass Company, Inc.</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She regularly travels the North Bay region, "wining and dining" clients, as well as prospective customers.</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She prides herself her expansive knowledge about wineries, the arts, restaurants, and the wine industry.</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She sees herself as a trusted opinion leader within her circle of friends. </a:t>
            </a:r>
            <a:endParaRPr>
              <a:solidFill>
                <a:srgbClr val="FFFFFF"/>
              </a:solidFill>
            </a:endParaRPr>
          </a:p>
        </p:txBody>
      </p:sp>
      <p:grpSp>
        <p:nvGrpSpPr>
          <p:cNvPr id="359" name="Google Shape;359;p37"/>
          <p:cNvGrpSpPr/>
          <p:nvPr/>
        </p:nvGrpSpPr>
        <p:grpSpPr>
          <a:xfrm>
            <a:off x="509563" y="1743350"/>
            <a:ext cx="1796501" cy="1656788"/>
            <a:chOff x="4890863" y="1767638"/>
            <a:chExt cx="1796501" cy="1656788"/>
          </a:xfrm>
        </p:grpSpPr>
        <p:pic>
          <p:nvPicPr>
            <p:cNvPr id="360" name="Google Shape;360;p37"/>
            <p:cNvPicPr preferRelativeResize="0"/>
            <p:nvPr/>
          </p:nvPicPr>
          <p:blipFill rotWithShape="1">
            <a:blip r:embed="rId3">
              <a:alphaModFix/>
            </a:blip>
            <a:srcRect b="57237" l="34965" r="33581" t="4509"/>
            <a:stretch/>
          </p:blipFill>
          <p:spPr>
            <a:xfrm>
              <a:off x="4890863" y="1767638"/>
              <a:ext cx="1796501" cy="1013565"/>
            </a:xfrm>
            <a:prstGeom prst="rect">
              <a:avLst/>
            </a:prstGeom>
            <a:noFill/>
            <a:ln>
              <a:noFill/>
            </a:ln>
          </p:spPr>
        </p:pic>
        <p:sp>
          <p:nvSpPr>
            <p:cNvPr id="361" name="Google Shape;361;p37"/>
            <p:cNvSpPr/>
            <p:nvPr/>
          </p:nvSpPr>
          <p:spPr>
            <a:xfrm>
              <a:off x="5297175" y="3029925"/>
              <a:ext cx="889500" cy="3945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Sarah</a:t>
              </a:r>
              <a:endParaRPr b="1">
                <a:latin typeface="Comic Sans MS"/>
                <a:ea typeface="Comic Sans MS"/>
                <a:cs typeface="Comic Sans MS"/>
                <a:sym typeface="Comic Sans MS"/>
              </a:endParaRPr>
            </a:p>
          </p:txBody>
        </p:sp>
      </p:grpSp>
      <p:sp>
        <p:nvSpPr>
          <p:cNvPr id="362" name="Google Shape;362;p37"/>
          <p:cNvSpPr/>
          <p:nvPr/>
        </p:nvSpPr>
        <p:spPr>
          <a:xfrm rot="-1282795">
            <a:off x="6429339" y="3985137"/>
            <a:ext cx="1870523" cy="573759"/>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l" sz="2400">
                <a:solidFill>
                  <a:srgbClr val="FF0000"/>
                </a:solidFill>
                <a:latin typeface="Impact"/>
                <a:ea typeface="Impact"/>
                <a:cs typeface="Impact"/>
                <a:sym typeface="Impact"/>
              </a:rPr>
              <a:t>Personality</a:t>
            </a:r>
            <a:endParaRPr sz="2400">
              <a:solidFill>
                <a:srgbClr val="FF0000"/>
              </a:solidFill>
              <a:latin typeface="Impact"/>
              <a:ea typeface="Impact"/>
              <a:cs typeface="Impact"/>
              <a:sym typeface="Impac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6" name="Shape 366"/>
        <p:cNvGrpSpPr/>
        <p:nvPr/>
      </p:nvGrpSpPr>
      <p:grpSpPr>
        <a:xfrm>
          <a:off x="0" y="0"/>
          <a:ext cx="0" cy="0"/>
          <a:chOff x="0" y="0"/>
          <a:chExt cx="0" cy="0"/>
        </a:xfrm>
      </p:grpSpPr>
      <p:sp>
        <p:nvSpPr>
          <p:cNvPr id="367" name="Google Shape;367;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Secondary Persona - </a:t>
            </a:r>
            <a:r>
              <a:rPr lang="pl">
                <a:solidFill>
                  <a:srgbClr val="FFFFFF"/>
                </a:solidFill>
              </a:rPr>
              <a:t>Sarah</a:t>
            </a:r>
            <a:endParaRPr/>
          </a:p>
        </p:txBody>
      </p:sp>
      <p:sp>
        <p:nvSpPr>
          <p:cNvPr id="368" name="Google Shape;368;p38"/>
          <p:cNvSpPr txBox="1"/>
          <p:nvPr>
            <p:ph idx="1" type="body"/>
          </p:nvPr>
        </p:nvSpPr>
        <p:spPr>
          <a:xfrm>
            <a:off x="2306075" y="1152475"/>
            <a:ext cx="6526200" cy="34164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solidFill>
                <a:srgbClr val="FFFFFF"/>
              </a:solidFill>
            </a:endParaRPr>
          </a:p>
          <a:p>
            <a:pPr indent="-342900" lvl="0" marL="457200" rtl="0" algn="l">
              <a:spcBef>
                <a:spcPts val="1600"/>
              </a:spcBef>
              <a:spcAft>
                <a:spcPts val="0"/>
              </a:spcAft>
              <a:buClr>
                <a:srgbClr val="FFFFFF"/>
              </a:buClr>
              <a:buSzPts val="1800"/>
              <a:buChar char="●"/>
            </a:pPr>
            <a:r>
              <a:rPr lang="pl">
                <a:solidFill>
                  <a:srgbClr val="FFFFFF"/>
                </a:solidFill>
              </a:rPr>
              <a:t>As long as detailed and current restaurant and movie reviews are posted on Northbay, then, sure enough, she will find them. </a:t>
            </a:r>
            <a:endParaRPr>
              <a:solidFill>
                <a:srgbClr val="FFFFFF"/>
              </a:solidFill>
            </a:endParaRPr>
          </a:p>
        </p:txBody>
      </p:sp>
      <p:grpSp>
        <p:nvGrpSpPr>
          <p:cNvPr id="369" name="Google Shape;369;p38"/>
          <p:cNvGrpSpPr/>
          <p:nvPr/>
        </p:nvGrpSpPr>
        <p:grpSpPr>
          <a:xfrm>
            <a:off x="509563" y="1743350"/>
            <a:ext cx="1796501" cy="1656788"/>
            <a:chOff x="4890863" y="1767638"/>
            <a:chExt cx="1796501" cy="1656788"/>
          </a:xfrm>
        </p:grpSpPr>
        <p:pic>
          <p:nvPicPr>
            <p:cNvPr id="370" name="Google Shape;370;p38"/>
            <p:cNvPicPr preferRelativeResize="0"/>
            <p:nvPr/>
          </p:nvPicPr>
          <p:blipFill rotWithShape="1">
            <a:blip r:embed="rId3">
              <a:alphaModFix/>
            </a:blip>
            <a:srcRect b="57237" l="34965" r="33581" t="4509"/>
            <a:stretch/>
          </p:blipFill>
          <p:spPr>
            <a:xfrm>
              <a:off x="4890863" y="1767638"/>
              <a:ext cx="1796501" cy="1013565"/>
            </a:xfrm>
            <a:prstGeom prst="rect">
              <a:avLst/>
            </a:prstGeom>
            <a:noFill/>
            <a:ln>
              <a:noFill/>
            </a:ln>
          </p:spPr>
        </p:pic>
        <p:sp>
          <p:nvSpPr>
            <p:cNvPr id="371" name="Google Shape;371;p38"/>
            <p:cNvSpPr/>
            <p:nvPr/>
          </p:nvSpPr>
          <p:spPr>
            <a:xfrm>
              <a:off x="5297175" y="3029925"/>
              <a:ext cx="889500" cy="3945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Sarah</a:t>
              </a:r>
              <a:endParaRPr b="1">
                <a:latin typeface="Comic Sans MS"/>
                <a:ea typeface="Comic Sans MS"/>
                <a:cs typeface="Comic Sans MS"/>
                <a:sym typeface="Comic Sans MS"/>
              </a:endParaRPr>
            </a:p>
          </p:txBody>
        </p:sp>
      </p:grpSp>
      <p:sp>
        <p:nvSpPr>
          <p:cNvPr id="372" name="Google Shape;372;p38"/>
          <p:cNvSpPr/>
          <p:nvPr/>
        </p:nvSpPr>
        <p:spPr>
          <a:xfrm rot="-1282795">
            <a:off x="6397464" y="3889512"/>
            <a:ext cx="1870523" cy="573759"/>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l" sz="2400">
                <a:solidFill>
                  <a:srgbClr val="FF0000"/>
                </a:solidFill>
                <a:latin typeface="Impact"/>
                <a:ea typeface="Impact"/>
                <a:cs typeface="Impact"/>
                <a:sym typeface="Impact"/>
              </a:rPr>
              <a:t>Design</a:t>
            </a:r>
            <a:endParaRPr sz="2400">
              <a:solidFill>
                <a:srgbClr val="FF0000"/>
              </a:solidFill>
              <a:latin typeface="Impact"/>
              <a:ea typeface="Impact"/>
              <a:cs typeface="Impact"/>
              <a:sym typeface="Impac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6" name="Shape 376"/>
        <p:cNvGrpSpPr/>
        <p:nvPr/>
      </p:nvGrpSpPr>
      <p:grpSpPr>
        <a:xfrm>
          <a:off x="0" y="0"/>
          <a:ext cx="0" cy="0"/>
          <a:chOff x="0" y="0"/>
          <a:chExt cx="0" cy="0"/>
        </a:xfrm>
      </p:grpSpPr>
      <p:sp>
        <p:nvSpPr>
          <p:cNvPr id="377" name="Google Shape;377;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Negative P</a:t>
            </a:r>
            <a:r>
              <a:rPr lang="pl"/>
              <a:t>ersona - </a:t>
            </a:r>
            <a:r>
              <a:rPr lang="pl">
                <a:solidFill>
                  <a:srgbClr val="FFFFFF"/>
                </a:solidFill>
              </a:rPr>
              <a:t>Annette</a:t>
            </a:r>
            <a:endParaRPr>
              <a:solidFill>
                <a:srgbClr val="FFFFFF"/>
              </a:solidFill>
            </a:endParaRPr>
          </a:p>
        </p:txBody>
      </p:sp>
      <p:sp>
        <p:nvSpPr>
          <p:cNvPr id="378" name="Google Shape;378;p39"/>
          <p:cNvSpPr txBox="1"/>
          <p:nvPr>
            <p:ph idx="1" type="body"/>
          </p:nvPr>
        </p:nvSpPr>
        <p:spPr>
          <a:xfrm>
            <a:off x="2306075" y="1152475"/>
            <a:ext cx="6526200" cy="34164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solidFill>
                <a:srgbClr val="FFFFFF"/>
              </a:solidFill>
            </a:endParaRPr>
          </a:p>
          <a:p>
            <a:pPr indent="-342900" lvl="0" marL="457200" rtl="0" algn="l">
              <a:spcBef>
                <a:spcPts val="1600"/>
              </a:spcBef>
              <a:spcAft>
                <a:spcPts val="0"/>
              </a:spcAft>
              <a:buClr>
                <a:srgbClr val="FFFFFF"/>
              </a:buClr>
              <a:buSzPts val="1800"/>
              <a:buChar char="●"/>
            </a:pPr>
            <a:r>
              <a:rPr lang="pl">
                <a:solidFill>
                  <a:srgbClr val="FFFFFF"/>
                </a:solidFill>
              </a:rPr>
              <a:t>O</a:t>
            </a:r>
            <a:r>
              <a:rPr lang="pl">
                <a:solidFill>
                  <a:srgbClr val="FFFFFF"/>
                </a:solidFill>
              </a:rPr>
              <a:t>ffice manager and a creature of habit. </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She takes her three kids once a week to the same Olive Garden restaurant.</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She seeks stability and order in her busy life as a single mother.</a:t>
            </a:r>
            <a:endParaRPr>
              <a:solidFill>
                <a:srgbClr val="FFFFFF"/>
              </a:solidFill>
            </a:endParaRPr>
          </a:p>
        </p:txBody>
      </p:sp>
      <p:pic>
        <p:nvPicPr>
          <p:cNvPr id="379" name="Google Shape;379;p39"/>
          <p:cNvPicPr preferRelativeResize="0"/>
          <p:nvPr/>
        </p:nvPicPr>
        <p:blipFill rotWithShape="1">
          <a:blip r:embed="rId3">
            <a:alphaModFix/>
          </a:blip>
          <a:srcRect b="52016" l="39317" r="17987" t="5304"/>
          <a:stretch/>
        </p:blipFill>
        <p:spPr>
          <a:xfrm>
            <a:off x="515925" y="1743363"/>
            <a:ext cx="1790150" cy="1008182"/>
          </a:xfrm>
          <a:prstGeom prst="rect">
            <a:avLst/>
          </a:prstGeom>
          <a:noFill/>
          <a:ln>
            <a:noFill/>
          </a:ln>
        </p:spPr>
      </p:pic>
      <p:sp>
        <p:nvSpPr>
          <p:cNvPr id="380" name="Google Shape;380;p39"/>
          <p:cNvSpPr/>
          <p:nvPr/>
        </p:nvSpPr>
        <p:spPr>
          <a:xfrm>
            <a:off x="907150" y="3005638"/>
            <a:ext cx="1007700" cy="3945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Annette</a:t>
            </a:r>
            <a:endParaRPr b="1">
              <a:latin typeface="Comic Sans MS"/>
              <a:ea typeface="Comic Sans MS"/>
              <a:cs typeface="Comic Sans MS"/>
              <a:sym typeface="Comic Sans MS"/>
            </a:endParaRPr>
          </a:p>
        </p:txBody>
      </p:sp>
      <p:sp>
        <p:nvSpPr>
          <p:cNvPr id="381" name="Google Shape;381;p39"/>
          <p:cNvSpPr/>
          <p:nvPr/>
        </p:nvSpPr>
        <p:spPr>
          <a:xfrm rot="-1282795">
            <a:off x="6397464" y="3889512"/>
            <a:ext cx="1870523" cy="573759"/>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l" sz="2400">
                <a:solidFill>
                  <a:srgbClr val="FF0000"/>
                </a:solidFill>
                <a:latin typeface="Impact"/>
                <a:ea typeface="Impact"/>
                <a:cs typeface="Impact"/>
                <a:sym typeface="Impact"/>
              </a:rPr>
              <a:t>Personality</a:t>
            </a:r>
            <a:endParaRPr sz="2400">
              <a:solidFill>
                <a:srgbClr val="FF0000"/>
              </a:solidFill>
              <a:latin typeface="Impact"/>
              <a:ea typeface="Impact"/>
              <a:cs typeface="Impact"/>
              <a:sym typeface="Impac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5" name="Shape 385"/>
        <p:cNvGrpSpPr/>
        <p:nvPr/>
      </p:nvGrpSpPr>
      <p:grpSpPr>
        <a:xfrm>
          <a:off x="0" y="0"/>
          <a:ext cx="0" cy="0"/>
          <a:chOff x="0" y="0"/>
          <a:chExt cx="0" cy="0"/>
        </a:xfrm>
      </p:grpSpPr>
      <p:sp>
        <p:nvSpPr>
          <p:cNvPr id="386" name="Google Shape;386;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t>Negative Persona - </a:t>
            </a:r>
            <a:r>
              <a:rPr lang="pl">
                <a:solidFill>
                  <a:srgbClr val="FFFFFF"/>
                </a:solidFill>
              </a:rPr>
              <a:t>Annette</a:t>
            </a:r>
            <a:endParaRPr>
              <a:solidFill>
                <a:srgbClr val="FFFFFF"/>
              </a:solidFill>
            </a:endParaRPr>
          </a:p>
        </p:txBody>
      </p:sp>
      <p:sp>
        <p:nvSpPr>
          <p:cNvPr id="387" name="Google Shape;387;p40"/>
          <p:cNvSpPr txBox="1"/>
          <p:nvPr>
            <p:ph idx="1" type="body"/>
          </p:nvPr>
        </p:nvSpPr>
        <p:spPr>
          <a:xfrm>
            <a:off x="2306075" y="1152475"/>
            <a:ext cx="6526200" cy="3416400"/>
          </a:xfrm>
          <a:prstGeom prst="rect">
            <a:avLst/>
          </a:prstGeom>
        </p:spPr>
        <p:txBody>
          <a:bodyPr anchorCtr="0" anchor="t" bIns="91425" lIns="91425" spcFirstLastPara="1" rIns="91425" wrap="square" tIns="91425">
            <a:noAutofit/>
          </a:bodyPr>
          <a:lstStyle/>
          <a:p>
            <a:pPr indent="0" lvl="0" marL="457200" rtl="0" algn="l">
              <a:spcBef>
                <a:spcPts val="0"/>
              </a:spcBef>
              <a:spcAft>
                <a:spcPts val="0"/>
              </a:spcAft>
              <a:buNone/>
            </a:pPr>
            <a:r>
              <a:t/>
            </a:r>
            <a:endParaRPr>
              <a:solidFill>
                <a:srgbClr val="FFFFFF"/>
              </a:solidFill>
            </a:endParaRPr>
          </a:p>
          <a:p>
            <a:pPr indent="-342900" lvl="0" marL="457200" rtl="0" algn="l">
              <a:spcBef>
                <a:spcPts val="1600"/>
              </a:spcBef>
              <a:spcAft>
                <a:spcPts val="0"/>
              </a:spcAft>
              <a:buClr>
                <a:srgbClr val="FFFFFF"/>
              </a:buClr>
              <a:buSzPts val="1800"/>
              <a:buChar char="●"/>
            </a:pPr>
            <a:r>
              <a:rPr lang="pl">
                <a:solidFill>
                  <a:srgbClr val="FFFFFF"/>
                </a:solidFill>
              </a:rPr>
              <a:t>Northbay is a site that Annette is not likely to use with any frequency.</a:t>
            </a:r>
            <a:endParaRPr>
              <a:solidFill>
                <a:srgbClr val="FFFFFF"/>
              </a:solidFill>
            </a:endParaRPr>
          </a:p>
          <a:p>
            <a:pPr indent="-342900" lvl="0" marL="457200" rtl="0" algn="l">
              <a:spcBef>
                <a:spcPts val="0"/>
              </a:spcBef>
              <a:spcAft>
                <a:spcPts val="0"/>
              </a:spcAft>
              <a:buClr>
                <a:srgbClr val="FFFFFF"/>
              </a:buClr>
              <a:buSzPts val="1800"/>
              <a:buChar char="●"/>
            </a:pPr>
            <a:r>
              <a:rPr lang="pl">
                <a:solidFill>
                  <a:srgbClr val="FFFFFF"/>
                </a:solidFill>
              </a:rPr>
              <a:t>Not the target user.</a:t>
            </a:r>
            <a:endParaRPr>
              <a:solidFill>
                <a:srgbClr val="FFFFFF"/>
              </a:solidFill>
            </a:endParaRPr>
          </a:p>
        </p:txBody>
      </p:sp>
      <p:pic>
        <p:nvPicPr>
          <p:cNvPr id="388" name="Google Shape;388;p40"/>
          <p:cNvPicPr preferRelativeResize="0"/>
          <p:nvPr/>
        </p:nvPicPr>
        <p:blipFill rotWithShape="1">
          <a:blip r:embed="rId3">
            <a:alphaModFix/>
          </a:blip>
          <a:srcRect b="52016" l="39317" r="17987" t="5304"/>
          <a:stretch/>
        </p:blipFill>
        <p:spPr>
          <a:xfrm>
            <a:off x="515925" y="1743363"/>
            <a:ext cx="1790150" cy="1008182"/>
          </a:xfrm>
          <a:prstGeom prst="rect">
            <a:avLst/>
          </a:prstGeom>
          <a:noFill/>
          <a:ln>
            <a:noFill/>
          </a:ln>
        </p:spPr>
      </p:pic>
      <p:sp>
        <p:nvSpPr>
          <p:cNvPr id="389" name="Google Shape;389;p40"/>
          <p:cNvSpPr/>
          <p:nvPr/>
        </p:nvSpPr>
        <p:spPr>
          <a:xfrm>
            <a:off x="907150" y="3005638"/>
            <a:ext cx="1007700" cy="394500"/>
          </a:xfrm>
          <a:prstGeom prst="roundRect">
            <a:avLst>
              <a:gd fmla="val 16667" name="adj"/>
            </a:avLst>
          </a:prstGeom>
          <a:solidFill>
            <a:srgbClr val="EAD1D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Annette</a:t>
            </a:r>
            <a:endParaRPr b="1">
              <a:latin typeface="Comic Sans MS"/>
              <a:ea typeface="Comic Sans MS"/>
              <a:cs typeface="Comic Sans MS"/>
              <a:sym typeface="Comic Sans MS"/>
            </a:endParaRPr>
          </a:p>
        </p:txBody>
      </p:sp>
      <p:sp>
        <p:nvSpPr>
          <p:cNvPr id="390" name="Google Shape;390;p40"/>
          <p:cNvSpPr/>
          <p:nvPr/>
        </p:nvSpPr>
        <p:spPr>
          <a:xfrm rot="-1282795">
            <a:off x="6397464" y="3889512"/>
            <a:ext cx="1870523" cy="573759"/>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pl" sz="2400">
                <a:solidFill>
                  <a:srgbClr val="FF0000"/>
                </a:solidFill>
                <a:latin typeface="Impact"/>
                <a:ea typeface="Impact"/>
                <a:cs typeface="Impact"/>
                <a:sym typeface="Impact"/>
              </a:rPr>
              <a:t>Design</a:t>
            </a:r>
            <a:endParaRPr sz="2400">
              <a:solidFill>
                <a:srgbClr val="FF0000"/>
              </a:solidFill>
              <a:latin typeface="Impact"/>
              <a:ea typeface="Impact"/>
              <a:cs typeface="Impact"/>
              <a:sym typeface="Impac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4" name="Shape 394"/>
        <p:cNvGrpSpPr/>
        <p:nvPr/>
      </p:nvGrpSpPr>
      <p:grpSpPr>
        <a:xfrm>
          <a:off x="0" y="0"/>
          <a:ext cx="0" cy="0"/>
          <a:chOff x="0" y="0"/>
          <a:chExt cx="0" cy="0"/>
        </a:xfrm>
      </p:grpSpPr>
      <p:sp>
        <p:nvSpPr>
          <p:cNvPr id="395" name="Google Shape;395;p4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solidFill>
                  <a:srgbClr val="FFFFFF"/>
                </a:solidFill>
              </a:rPr>
              <a:t>Design for Persona</a:t>
            </a:r>
            <a:endParaRPr>
              <a:solidFill>
                <a:srgbClr val="FFFFFF"/>
              </a:solidFill>
            </a:endParaRPr>
          </a:p>
        </p:txBody>
      </p:sp>
      <p:sp>
        <p:nvSpPr>
          <p:cNvPr id="396" name="Google Shape;396;p4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
        <p:nvSpPr>
          <p:cNvPr id="397" name="Google Shape;397;p41"/>
          <p:cNvSpPr/>
          <p:nvPr/>
        </p:nvSpPr>
        <p:spPr>
          <a:xfrm>
            <a:off x="1134688" y="3181125"/>
            <a:ext cx="1572900" cy="5526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Target search</a:t>
            </a:r>
            <a:endParaRPr b="1">
              <a:latin typeface="Comic Sans MS"/>
              <a:ea typeface="Comic Sans MS"/>
              <a:cs typeface="Comic Sans MS"/>
              <a:sym typeface="Comic Sans MS"/>
            </a:endParaRPr>
          </a:p>
        </p:txBody>
      </p:sp>
      <p:sp>
        <p:nvSpPr>
          <p:cNvPr id="398" name="Google Shape;398;p41"/>
          <p:cNvSpPr/>
          <p:nvPr/>
        </p:nvSpPr>
        <p:spPr>
          <a:xfrm>
            <a:off x="3945275" y="3181125"/>
            <a:ext cx="1572900" cy="5526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Top 10</a:t>
            </a:r>
            <a:endParaRPr b="1">
              <a:latin typeface="Comic Sans MS"/>
              <a:ea typeface="Comic Sans MS"/>
              <a:cs typeface="Comic Sans MS"/>
              <a:sym typeface="Comic Sans MS"/>
            </a:endParaRPr>
          </a:p>
        </p:txBody>
      </p:sp>
      <p:grpSp>
        <p:nvGrpSpPr>
          <p:cNvPr id="399" name="Google Shape;399;p41"/>
          <p:cNvGrpSpPr/>
          <p:nvPr/>
        </p:nvGrpSpPr>
        <p:grpSpPr>
          <a:xfrm>
            <a:off x="1020200" y="1219613"/>
            <a:ext cx="1801877" cy="1656775"/>
            <a:chOff x="733900" y="1767650"/>
            <a:chExt cx="1801877" cy="1656775"/>
          </a:xfrm>
        </p:grpSpPr>
        <p:pic>
          <p:nvPicPr>
            <p:cNvPr id="400" name="Google Shape;400;p41"/>
            <p:cNvPicPr preferRelativeResize="0"/>
            <p:nvPr/>
          </p:nvPicPr>
          <p:blipFill>
            <a:blip r:embed="rId3">
              <a:alphaModFix/>
            </a:blip>
            <a:stretch>
              <a:fillRect/>
            </a:stretch>
          </p:blipFill>
          <p:spPr>
            <a:xfrm>
              <a:off x="733900" y="1767650"/>
              <a:ext cx="1801877" cy="1013550"/>
            </a:xfrm>
            <a:prstGeom prst="rect">
              <a:avLst/>
            </a:prstGeom>
            <a:noFill/>
            <a:ln>
              <a:noFill/>
            </a:ln>
          </p:spPr>
        </p:pic>
        <p:sp>
          <p:nvSpPr>
            <p:cNvPr id="401" name="Google Shape;401;p41"/>
            <p:cNvSpPr/>
            <p:nvPr/>
          </p:nvSpPr>
          <p:spPr>
            <a:xfrm>
              <a:off x="1286663" y="3029925"/>
              <a:ext cx="889500" cy="394500"/>
            </a:xfrm>
            <a:prstGeom prst="roundRect">
              <a:avLst>
                <a:gd fmla="val 16667" name="adj"/>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Greg</a:t>
              </a:r>
              <a:endParaRPr b="1">
                <a:latin typeface="Comic Sans MS"/>
                <a:ea typeface="Comic Sans MS"/>
                <a:cs typeface="Comic Sans MS"/>
                <a:sym typeface="Comic Sans MS"/>
              </a:endParaRPr>
            </a:p>
          </p:txBody>
        </p:sp>
      </p:grpSp>
      <p:grpSp>
        <p:nvGrpSpPr>
          <p:cNvPr id="402" name="Google Shape;402;p41"/>
          <p:cNvGrpSpPr/>
          <p:nvPr/>
        </p:nvGrpSpPr>
        <p:grpSpPr>
          <a:xfrm>
            <a:off x="6588238" y="1148225"/>
            <a:ext cx="1796501" cy="1656788"/>
            <a:chOff x="4890863" y="1767638"/>
            <a:chExt cx="1796501" cy="1656788"/>
          </a:xfrm>
        </p:grpSpPr>
        <p:pic>
          <p:nvPicPr>
            <p:cNvPr id="403" name="Google Shape;403;p41"/>
            <p:cNvPicPr preferRelativeResize="0"/>
            <p:nvPr/>
          </p:nvPicPr>
          <p:blipFill rotWithShape="1">
            <a:blip r:embed="rId4">
              <a:alphaModFix/>
            </a:blip>
            <a:srcRect b="57237" l="34965" r="33581" t="4509"/>
            <a:stretch/>
          </p:blipFill>
          <p:spPr>
            <a:xfrm>
              <a:off x="4890863" y="1767638"/>
              <a:ext cx="1796501" cy="1013565"/>
            </a:xfrm>
            <a:prstGeom prst="rect">
              <a:avLst/>
            </a:prstGeom>
            <a:noFill/>
            <a:ln>
              <a:noFill/>
            </a:ln>
          </p:spPr>
        </p:pic>
        <p:sp>
          <p:nvSpPr>
            <p:cNvPr id="404" name="Google Shape;404;p41"/>
            <p:cNvSpPr/>
            <p:nvPr/>
          </p:nvSpPr>
          <p:spPr>
            <a:xfrm>
              <a:off x="5297175" y="3029925"/>
              <a:ext cx="889500" cy="394500"/>
            </a:xfrm>
            <a:prstGeom prst="roundRect">
              <a:avLst>
                <a:gd fmla="val 16667" name="adj"/>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Sarah</a:t>
              </a:r>
              <a:endParaRPr b="1">
                <a:latin typeface="Comic Sans MS"/>
                <a:ea typeface="Comic Sans MS"/>
                <a:cs typeface="Comic Sans MS"/>
                <a:sym typeface="Comic Sans MS"/>
              </a:endParaRPr>
            </a:p>
          </p:txBody>
        </p:sp>
      </p:grpSp>
      <p:grpSp>
        <p:nvGrpSpPr>
          <p:cNvPr id="405" name="Google Shape;405;p41"/>
          <p:cNvGrpSpPr/>
          <p:nvPr/>
        </p:nvGrpSpPr>
        <p:grpSpPr>
          <a:xfrm>
            <a:off x="3833488" y="1218275"/>
            <a:ext cx="1796493" cy="1659463"/>
            <a:chOff x="2798088" y="1764963"/>
            <a:chExt cx="1796493" cy="1659463"/>
          </a:xfrm>
        </p:grpSpPr>
        <p:pic>
          <p:nvPicPr>
            <p:cNvPr id="406" name="Google Shape;406;p41"/>
            <p:cNvPicPr preferRelativeResize="0"/>
            <p:nvPr/>
          </p:nvPicPr>
          <p:blipFill rotWithShape="1">
            <a:blip r:embed="rId5">
              <a:alphaModFix/>
            </a:blip>
            <a:srcRect b="20256" l="37114" r="0" t="20184"/>
            <a:stretch/>
          </p:blipFill>
          <p:spPr>
            <a:xfrm>
              <a:off x="2798088" y="1764963"/>
              <a:ext cx="1796493" cy="1013550"/>
            </a:xfrm>
            <a:prstGeom prst="rect">
              <a:avLst/>
            </a:prstGeom>
            <a:noFill/>
            <a:ln>
              <a:noFill/>
            </a:ln>
          </p:spPr>
        </p:pic>
        <p:sp>
          <p:nvSpPr>
            <p:cNvPr id="407" name="Google Shape;407;p41"/>
            <p:cNvSpPr/>
            <p:nvPr/>
          </p:nvSpPr>
          <p:spPr>
            <a:xfrm>
              <a:off x="3102975" y="3029925"/>
              <a:ext cx="889500" cy="394500"/>
            </a:xfrm>
            <a:prstGeom prst="roundRect">
              <a:avLst>
                <a:gd fmla="val 16667" name="adj"/>
              </a:avLst>
            </a:prstGeom>
            <a:solidFill>
              <a:srgbClr val="CFE2F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Robert</a:t>
              </a:r>
              <a:endParaRPr b="1">
                <a:latin typeface="Comic Sans MS"/>
                <a:ea typeface="Comic Sans MS"/>
                <a:cs typeface="Comic Sans MS"/>
                <a:sym typeface="Comic Sans MS"/>
              </a:endParaRPr>
            </a:p>
          </p:txBody>
        </p:sp>
      </p:grpSp>
      <p:sp>
        <p:nvSpPr>
          <p:cNvPr id="408" name="Google Shape;408;p41"/>
          <p:cNvSpPr/>
          <p:nvPr/>
        </p:nvSpPr>
        <p:spPr>
          <a:xfrm>
            <a:off x="6490050" y="3038925"/>
            <a:ext cx="1992900" cy="6558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Target search-</a:t>
            </a:r>
            <a:endParaRPr b="1">
              <a:latin typeface="Comic Sans MS"/>
              <a:ea typeface="Comic Sans MS"/>
              <a:cs typeface="Comic Sans MS"/>
              <a:sym typeface="Comic Sans MS"/>
            </a:endParaRPr>
          </a:p>
          <a:p>
            <a:pPr indent="0" lvl="0" marL="0" rtl="0" algn="ctr">
              <a:spcBef>
                <a:spcPts val="0"/>
              </a:spcBef>
              <a:spcAft>
                <a:spcPts val="0"/>
              </a:spcAft>
              <a:buNone/>
            </a:pPr>
            <a:r>
              <a:rPr lang="pl">
                <a:latin typeface="Comic Sans MS"/>
                <a:ea typeface="Comic Sans MS"/>
                <a:cs typeface="Comic Sans MS"/>
                <a:sym typeface="Comic Sans MS"/>
              </a:rPr>
              <a:t>filtered restaurant search</a:t>
            </a:r>
            <a:endParaRPr b="1">
              <a:latin typeface="Comic Sans MS"/>
              <a:ea typeface="Comic Sans MS"/>
              <a:cs typeface="Comic Sans MS"/>
              <a:sym typeface="Comic Sans MS"/>
            </a:endParaRPr>
          </a:p>
        </p:txBody>
      </p:sp>
      <p:sp>
        <p:nvSpPr>
          <p:cNvPr id="409" name="Google Shape;409;p41"/>
          <p:cNvSpPr/>
          <p:nvPr/>
        </p:nvSpPr>
        <p:spPr>
          <a:xfrm>
            <a:off x="6700038" y="3928625"/>
            <a:ext cx="1572900" cy="5526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Top 10</a:t>
            </a:r>
            <a:endParaRPr b="1">
              <a:latin typeface="Comic Sans MS"/>
              <a:ea typeface="Comic Sans MS"/>
              <a:cs typeface="Comic Sans MS"/>
              <a:sym typeface="Comic Sans MS"/>
            </a:endParaRPr>
          </a:p>
        </p:txBody>
      </p:sp>
      <p:sp>
        <p:nvSpPr>
          <p:cNvPr id="410" name="Google Shape;410;p41"/>
          <p:cNvSpPr/>
          <p:nvPr/>
        </p:nvSpPr>
        <p:spPr>
          <a:xfrm>
            <a:off x="1077388" y="3877025"/>
            <a:ext cx="1687500" cy="655800"/>
          </a:xfrm>
          <a:prstGeom prst="roundRect">
            <a:avLst>
              <a:gd fmla="val 16667" name="adj"/>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pl">
                <a:latin typeface="Comic Sans MS"/>
                <a:ea typeface="Comic Sans MS"/>
                <a:cs typeface="Comic Sans MS"/>
                <a:sym typeface="Comic Sans MS"/>
              </a:rPr>
              <a:t>Detailed "kid-friendly" rating</a:t>
            </a:r>
            <a:endParaRPr b="1">
              <a:latin typeface="Comic Sans MS"/>
              <a:ea typeface="Comic Sans MS"/>
              <a:cs typeface="Comic Sans MS"/>
              <a:sym typeface="Comic Sans M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14" name="Shape 414"/>
        <p:cNvGrpSpPr/>
        <p:nvPr/>
      </p:nvGrpSpPr>
      <p:grpSpPr>
        <a:xfrm>
          <a:off x="0" y="0"/>
          <a:ext cx="0" cy="0"/>
          <a:chOff x="0" y="0"/>
          <a:chExt cx="0" cy="0"/>
        </a:xfrm>
      </p:grpSpPr>
      <p:sp>
        <p:nvSpPr>
          <p:cNvPr id="415" name="Google Shape;415;p4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solidFill>
                  <a:srgbClr val="FFFFFF"/>
                </a:solidFill>
              </a:rPr>
              <a:t>Talking with Persona Maven Kim Goodwin</a:t>
            </a:r>
            <a:endParaRPr>
              <a:solidFill>
                <a:srgbClr val="FFFFFF"/>
              </a:solidFill>
            </a:endParaRPr>
          </a:p>
        </p:txBody>
      </p:sp>
      <p:sp>
        <p:nvSpPr>
          <p:cNvPr id="416" name="Google Shape;416;p42"/>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EA9999"/>
              </a:buClr>
              <a:buSzPts val="1800"/>
              <a:buFont typeface="Comic Sans MS"/>
              <a:buChar char="➔"/>
            </a:pPr>
            <a:r>
              <a:rPr i="1" lang="pl">
                <a:solidFill>
                  <a:srgbClr val="EA9999"/>
                </a:solidFill>
                <a:latin typeface="Comic Sans MS"/>
                <a:ea typeface="Comic Sans MS"/>
                <a:cs typeface="Comic Sans MS"/>
                <a:sym typeface="Comic Sans MS"/>
              </a:rPr>
              <a:t>Why use personas ?</a:t>
            </a:r>
            <a:endParaRPr i="1">
              <a:solidFill>
                <a:srgbClr val="EA9999"/>
              </a:solidFill>
              <a:latin typeface="Comic Sans MS"/>
              <a:ea typeface="Comic Sans MS"/>
              <a:cs typeface="Comic Sans MS"/>
              <a:sym typeface="Comic Sans MS"/>
            </a:endParaRPr>
          </a:p>
          <a:p>
            <a:pPr indent="-342900" lvl="0" marL="457200" rtl="0" algn="l">
              <a:spcBef>
                <a:spcPts val="0"/>
              </a:spcBef>
              <a:spcAft>
                <a:spcPts val="0"/>
              </a:spcAft>
              <a:buClr>
                <a:srgbClr val="FFFFFF"/>
              </a:buClr>
              <a:buSzPts val="1800"/>
              <a:buFont typeface="Comic Sans MS"/>
              <a:buChar char="●"/>
            </a:pPr>
            <a:r>
              <a:rPr lang="pl">
                <a:solidFill>
                  <a:srgbClr val="FFFFFF"/>
                </a:solidFill>
                <a:latin typeface="Comic Sans MS"/>
                <a:ea typeface="Comic Sans MS"/>
                <a:cs typeface="Comic Sans MS"/>
                <a:sym typeface="Comic Sans MS"/>
              </a:rPr>
              <a:t>A set of personas represents the key behaviors, attitudes, skill levels, goals, and workflows of real people we interview and observe, which we then use along with scenarios to guide the product's functionality and design.</a:t>
            </a:r>
            <a:endParaRPr>
              <a:solidFill>
                <a:srgbClr val="FFFFFF"/>
              </a:solidFill>
              <a:latin typeface="Comic Sans MS"/>
              <a:ea typeface="Comic Sans MS"/>
              <a:cs typeface="Comic Sans MS"/>
              <a:sym typeface="Comic Sans MS"/>
            </a:endParaRPr>
          </a:p>
        </p:txBody>
      </p:sp>
      <p:pic>
        <p:nvPicPr>
          <p:cNvPr id="417" name="Google Shape;417;p42"/>
          <p:cNvPicPr preferRelativeResize="0"/>
          <p:nvPr/>
        </p:nvPicPr>
        <p:blipFill>
          <a:blip r:embed="rId3">
            <a:alphaModFix/>
          </a:blip>
          <a:stretch>
            <a:fillRect/>
          </a:stretch>
        </p:blipFill>
        <p:spPr>
          <a:xfrm>
            <a:off x="5472999" y="2759925"/>
            <a:ext cx="2038550" cy="208442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21" name="Shape 421"/>
        <p:cNvGrpSpPr/>
        <p:nvPr/>
      </p:nvGrpSpPr>
      <p:grpSpPr>
        <a:xfrm>
          <a:off x="0" y="0"/>
          <a:ext cx="0" cy="0"/>
          <a:chOff x="0" y="0"/>
          <a:chExt cx="0" cy="0"/>
        </a:xfrm>
      </p:grpSpPr>
      <p:sp>
        <p:nvSpPr>
          <p:cNvPr id="422" name="Google Shape;422;p4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solidFill>
                  <a:srgbClr val="FFFFFF"/>
                </a:solidFill>
              </a:rPr>
              <a:t>Talking with Persona Maven Kim Goodwin</a:t>
            </a:r>
            <a:endParaRPr>
              <a:solidFill>
                <a:srgbClr val="FFFFFF"/>
              </a:solidFill>
            </a:endParaRPr>
          </a:p>
          <a:p>
            <a:pPr indent="0" lvl="0" marL="0" rtl="0" algn="l">
              <a:spcBef>
                <a:spcPts val="0"/>
              </a:spcBef>
              <a:spcAft>
                <a:spcPts val="0"/>
              </a:spcAft>
              <a:buNone/>
            </a:pPr>
            <a:r>
              <a:t/>
            </a:r>
            <a:endParaRPr/>
          </a:p>
        </p:txBody>
      </p:sp>
      <p:sp>
        <p:nvSpPr>
          <p:cNvPr id="423" name="Google Shape;423;p4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EA9999"/>
              </a:buClr>
              <a:buSzPts val="1800"/>
              <a:buFont typeface="Comic Sans MS"/>
              <a:buChar char="➔"/>
            </a:pPr>
            <a:r>
              <a:rPr i="1" lang="pl">
                <a:solidFill>
                  <a:srgbClr val="EA9999"/>
                </a:solidFill>
                <a:latin typeface="Comic Sans MS"/>
                <a:ea typeface="Comic Sans MS"/>
                <a:cs typeface="Comic Sans MS"/>
                <a:sym typeface="Comic Sans MS"/>
              </a:rPr>
              <a:t>Who should conduct the persona interviews ? Who should be interviewed ?</a:t>
            </a:r>
            <a:endParaRPr i="1">
              <a:solidFill>
                <a:srgbClr val="FFFFFF"/>
              </a:solidFill>
              <a:latin typeface="Comic Sans MS"/>
              <a:ea typeface="Comic Sans MS"/>
              <a:cs typeface="Comic Sans MS"/>
              <a:sym typeface="Comic Sans MS"/>
            </a:endParaRPr>
          </a:p>
          <a:p>
            <a:pPr indent="-342900" lvl="0" marL="457200" rtl="0" algn="l">
              <a:spcBef>
                <a:spcPts val="0"/>
              </a:spcBef>
              <a:spcAft>
                <a:spcPts val="0"/>
              </a:spcAft>
              <a:buClr>
                <a:srgbClr val="FFFFFF"/>
              </a:buClr>
              <a:buSzPts val="1800"/>
              <a:buFont typeface="Comic Sans MS"/>
              <a:buChar char="●"/>
            </a:pPr>
            <a:r>
              <a:rPr lang="pl">
                <a:solidFill>
                  <a:srgbClr val="FFFFFF"/>
                </a:solidFill>
                <a:latin typeface="Comic Sans MS"/>
                <a:ea typeface="Comic Sans MS"/>
                <a:cs typeface="Comic Sans MS"/>
                <a:sym typeface="Comic Sans MS"/>
              </a:rPr>
              <a:t>The same people who will be doing the design should conduct the persona interviews. </a:t>
            </a:r>
            <a:endParaRPr>
              <a:solidFill>
                <a:srgbClr val="FFFFFF"/>
              </a:solidFill>
              <a:latin typeface="Comic Sans MS"/>
              <a:ea typeface="Comic Sans MS"/>
              <a:cs typeface="Comic Sans MS"/>
              <a:sym typeface="Comic Sans MS"/>
            </a:endParaRPr>
          </a:p>
          <a:p>
            <a:pPr indent="-342900" lvl="0" marL="457200" rtl="0" algn="l">
              <a:spcBef>
                <a:spcPts val="0"/>
              </a:spcBef>
              <a:spcAft>
                <a:spcPts val="0"/>
              </a:spcAft>
              <a:buClr>
                <a:srgbClr val="FFFFFF"/>
              </a:buClr>
              <a:buSzPts val="1800"/>
              <a:buFont typeface="Comic Sans MS"/>
              <a:buChar char="●"/>
            </a:pPr>
            <a:r>
              <a:rPr lang="pl">
                <a:solidFill>
                  <a:srgbClr val="FFFFFF"/>
                </a:solidFill>
                <a:latin typeface="Comic Sans MS"/>
                <a:ea typeface="Comic Sans MS"/>
                <a:cs typeface="Comic Sans MS"/>
                <a:sym typeface="Comic Sans MS"/>
              </a:rPr>
              <a:t>In a sense, you're forming a hypothesis about who your personas might be. Ideally, interview a broad set of people, because you might find differences you didn't expect.</a:t>
            </a:r>
            <a:endParaRPr>
              <a:solidFill>
                <a:srgbClr val="FFFFFF"/>
              </a:solidFill>
              <a:latin typeface="Comic Sans MS"/>
              <a:ea typeface="Comic Sans MS"/>
              <a:cs typeface="Comic Sans MS"/>
              <a:sym typeface="Comic Sans MS"/>
            </a:endParaRPr>
          </a:p>
          <a:p>
            <a:pPr indent="0" lvl="0" marL="457200" rtl="0" algn="l">
              <a:spcBef>
                <a:spcPts val="1600"/>
              </a:spcBef>
              <a:spcAft>
                <a:spcPts val="0"/>
              </a:spcAft>
              <a:buNone/>
            </a:pPr>
            <a:r>
              <a:t/>
            </a:r>
            <a:endParaRPr>
              <a:solidFill>
                <a:srgbClr val="FFFFFF"/>
              </a:solidFill>
            </a:endParaRPr>
          </a:p>
          <a:p>
            <a:pPr indent="0" lvl="0" marL="0" rtl="0" algn="l">
              <a:spcBef>
                <a:spcPts val="1600"/>
              </a:spcBef>
              <a:spcAft>
                <a:spcPts val="16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27" name="Shape 427"/>
        <p:cNvGrpSpPr/>
        <p:nvPr/>
      </p:nvGrpSpPr>
      <p:grpSpPr>
        <a:xfrm>
          <a:off x="0" y="0"/>
          <a:ext cx="0" cy="0"/>
          <a:chOff x="0" y="0"/>
          <a:chExt cx="0" cy="0"/>
        </a:xfrm>
      </p:grpSpPr>
      <p:sp>
        <p:nvSpPr>
          <p:cNvPr id="428" name="Google Shape;428;p4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solidFill>
                  <a:srgbClr val="FFFFFF"/>
                </a:solidFill>
              </a:rPr>
              <a:t>Talking with Persona Maven Kim Goodwin</a:t>
            </a:r>
            <a:endParaRPr>
              <a:solidFill>
                <a:srgbClr val="FFFFFF"/>
              </a:solidFill>
            </a:endParaRPr>
          </a:p>
          <a:p>
            <a:pPr indent="0" lvl="0" marL="0" rtl="0" algn="l">
              <a:spcBef>
                <a:spcPts val="0"/>
              </a:spcBef>
              <a:spcAft>
                <a:spcPts val="0"/>
              </a:spcAft>
              <a:buNone/>
            </a:pPr>
            <a:r>
              <a:t/>
            </a:r>
            <a:endParaRPr/>
          </a:p>
        </p:txBody>
      </p:sp>
      <p:sp>
        <p:nvSpPr>
          <p:cNvPr id="429" name="Google Shape;429;p4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EA9999"/>
              </a:buClr>
              <a:buSzPts val="1800"/>
              <a:buFont typeface="Comic Sans MS"/>
              <a:buChar char="➔"/>
            </a:pPr>
            <a:r>
              <a:rPr i="1" lang="pl">
                <a:solidFill>
                  <a:srgbClr val="EA9999"/>
                </a:solidFill>
                <a:latin typeface="Comic Sans MS"/>
                <a:ea typeface="Comic Sans MS"/>
                <a:cs typeface="Comic Sans MS"/>
                <a:sym typeface="Comic Sans MS"/>
              </a:rPr>
              <a:t>How long it might take to do the interviews ?</a:t>
            </a:r>
            <a:endParaRPr i="1">
              <a:solidFill>
                <a:srgbClr val="EA9999"/>
              </a:solidFill>
              <a:latin typeface="Comic Sans MS"/>
              <a:ea typeface="Comic Sans MS"/>
              <a:cs typeface="Comic Sans MS"/>
              <a:sym typeface="Comic Sans MS"/>
            </a:endParaRPr>
          </a:p>
          <a:p>
            <a:pPr indent="-342900" lvl="0" marL="457200" rtl="0" algn="l">
              <a:spcBef>
                <a:spcPts val="0"/>
              </a:spcBef>
              <a:spcAft>
                <a:spcPts val="0"/>
              </a:spcAft>
              <a:buClr>
                <a:srgbClr val="FFFFFF"/>
              </a:buClr>
              <a:buSzPts val="1800"/>
              <a:buFont typeface="Comic Sans MS"/>
              <a:buChar char="●"/>
            </a:pPr>
            <a:r>
              <a:rPr lang="pl">
                <a:solidFill>
                  <a:srgbClr val="FFFFFF"/>
                </a:solidFill>
                <a:latin typeface="Comic Sans MS"/>
                <a:ea typeface="Comic Sans MS"/>
                <a:cs typeface="Comic Sans MS"/>
                <a:sym typeface="Comic Sans MS"/>
              </a:rPr>
              <a:t>Simple consumer products    </a:t>
            </a:r>
            <a:endParaRPr>
              <a:solidFill>
                <a:srgbClr val="FFFFFF"/>
              </a:solidFill>
              <a:latin typeface="Comic Sans MS"/>
              <a:ea typeface="Comic Sans MS"/>
              <a:cs typeface="Comic Sans MS"/>
              <a:sym typeface="Comic Sans MS"/>
            </a:endParaRPr>
          </a:p>
          <a:p>
            <a:pPr indent="-342900" lvl="1" marL="914400" rtl="0" algn="l">
              <a:spcBef>
                <a:spcPts val="0"/>
              </a:spcBef>
              <a:spcAft>
                <a:spcPts val="0"/>
              </a:spcAft>
              <a:buClr>
                <a:srgbClr val="FFFFFF"/>
              </a:buClr>
              <a:buSzPts val="1800"/>
              <a:buFont typeface="Comic Sans MS"/>
              <a:buChar char="○"/>
            </a:pPr>
            <a:r>
              <a:rPr lang="pl" sz="1800">
                <a:solidFill>
                  <a:srgbClr val="FFFFFF"/>
                </a:solidFill>
                <a:latin typeface="Comic Sans MS"/>
                <a:ea typeface="Comic Sans MS"/>
                <a:cs typeface="Comic Sans MS"/>
                <a:sym typeface="Comic Sans MS"/>
              </a:rPr>
              <a:t>2 weeks</a:t>
            </a:r>
            <a:endParaRPr sz="1800">
              <a:solidFill>
                <a:srgbClr val="FFFFFF"/>
              </a:solidFill>
              <a:latin typeface="Comic Sans MS"/>
              <a:ea typeface="Comic Sans MS"/>
              <a:cs typeface="Comic Sans MS"/>
              <a:sym typeface="Comic Sans MS"/>
            </a:endParaRPr>
          </a:p>
          <a:p>
            <a:pPr indent="-342900" lvl="0" marL="457200" rtl="0" algn="l">
              <a:spcBef>
                <a:spcPts val="0"/>
              </a:spcBef>
              <a:spcAft>
                <a:spcPts val="0"/>
              </a:spcAft>
              <a:buClr>
                <a:srgbClr val="FFFFFF"/>
              </a:buClr>
              <a:buSzPts val="1800"/>
              <a:buFont typeface="Comic Sans MS"/>
              <a:buChar char="●"/>
            </a:pPr>
            <a:r>
              <a:rPr lang="pl">
                <a:solidFill>
                  <a:srgbClr val="FFFFFF"/>
                </a:solidFill>
                <a:latin typeface="Comic Sans MS"/>
                <a:ea typeface="Comic Sans MS"/>
                <a:cs typeface="Comic Sans MS"/>
                <a:sym typeface="Comic Sans MS"/>
              </a:rPr>
              <a:t>Complex enterprise application with multiple interface </a:t>
            </a:r>
            <a:endParaRPr>
              <a:solidFill>
                <a:srgbClr val="FFFFFF"/>
              </a:solidFill>
              <a:latin typeface="Comic Sans MS"/>
              <a:ea typeface="Comic Sans MS"/>
              <a:cs typeface="Comic Sans MS"/>
              <a:sym typeface="Comic Sans MS"/>
            </a:endParaRPr>
          </a:p>
          <a:p>
            <a:pPr indent="-342900" lvl="1" marL="914400" rtl="0" algn="l">
              <a:spcBef>
                <a:spcPts val="0"/>
              </a:spcBef>
              <a:spcAft>
                <a:spcPts val="0"/>
              </a:spcAft>
              <a:buClr>
                <a:srgbClr val="FFFFFF"/>
              </a:buClr>
              <a:buSzPts val="1800"/>
              <a:buFont typeface="Comic Sans MS"/>
              <a:buChar char="○"/>
            </a:pPr>
            <a:r>
              <a:rPr lang="pl" sz="1800">
                <a:solidFill>
                  <a:srgbClr val="FFFFFF"/>
                </a:solidFill>
                <a:latin typeface="Comic Sans MS"/>
                <a:ea typeface="Comic Sans MS"/>
                <a:cs typeface="Comic Sans MS"/>
                <a:sym typeface="Comic Sans MS"/>
              </a:rPr>
              <a:t>4 ~ 5 weeks</a:t>
            </a:r>
            <a:endParaRPr sz="1800">
              <a:solidFill>
                <a:srgbClr val="FFFFFF"/>
              </a:solidFill>
              <a:latin typeface="Comic Sans MS"/>
              <a:ea typeface="Comic Sans MS"/>
              <a:cs typeface="Comic Sans MS"/>
              <a:sym typeface="Comic Sans MS"/>
            </a:endParaRPr>
          </a:p>
        </p:txBody>
      </p:sp>
      <p:pic>
        <p:nvPicPr>
          <p:cNvPr id="430" name="Google Shape;430;p44"/>
          <p:cNvPicPr preferRelativeResize="0"/>
          <p:nvPr/>
        </p:nvPicPr>
        <p:blipFill>
          <a:blip r:embed="rId3">
            <a:alphaModFix/>
          </a:blip>
          <a:stretch>
            <a:fillRect/>
          </a:stretch>
        </p:blipFill>
        <p:spPr>
          <a:xfrm>
            <a:off x="4708780" y="2850125"/>
            <a:ext cx="3117450" cy="19556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34" name="Shape 434"/>
        <p:cNvGrpSpPr/>
        <p:nvPr/>
      </p:nvGrpSpPr>
      <p:grpSpPr>
        <a:xfrm>
          <a:off x="0" y="0"/>
          <a:ext cx="0" cy="0"/>
          <a:chOff x="0" y="0"/>
          <a:chExt cx="0" cy="0"/>
        </a:xfrm>
      </p:grpSpPr>
      <p:sp>
        <p:nvSpPr>
          <p:cNvPr id="435" name="Google Shape;435;p4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a:solidFill>
                  <a:srgbClr val="FFFFFF"/>
                </a:solidFill>
              </a:rPr>
              <a:t>Talking with Persona Maven Kim Goodwin</a:t>
            </a:r>
            <a:endParaRPr>
              <a:solidFill>
                <a:srgbClr val="FFFFFF"/>
              </a:solidFill>
            </a:endParaRPr>
          </a:p>
          <a:p>
            <a:pPr indent="0" lvl="0" marL="0" rtl="0" algn="l">
              <a:spcBef>
                <a:spcPts val="0"/>
              </a:spcBef>
              <a:spcAft>
                <a:spcPts val="0"/>
              </a:spcAft>
              <a:buNone/>
            </a:pPr>
            <a:r>
              <a:t/>
            </a:r>
            <a:endParaRPr/>
          </a:p>
        </p:txBody>
      </p:sp>
      <p:sp>
        <p:nvSpPr>
          <p:cNvPr id="436" name="Google Shape;436;p4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EA9999"/>
              </a:buClr>
              <a:buSzPts val="1800"/>
              <a:buFont typeface="Comic Sans MS"/>
              <a:buChar char="➔"/>
            </a:pPr>
            <a:r>
              <a:rPr i="1" lang="pl">
                <a:solidFill>
                  <a:srgbClr val="EA9999"/>
                </a:solidFill>
                <a:latin typeface="Comic Sans MS"/>
                <a:ea typeface="Comic Sans MS"/>
                <a:cs typeface="Comic Sans MS"/>
                <a:sym typeface="Comic Sans MS"/>
              </a:rPr>
              <a:t>Does the primary persona usually turn out to be the one that has the fewest skills or is the lowest common denominator in all of the people that are interviewed?</a:t>
            </a:r>
            <a:endParaRPr i="1">
              <a:solidFill>
                <a:srgbClr val="EA9999"/>
              </a:solidFill>
              <a:latin typeface="Comic Sans MS"/>
              <a:ea typeface="Comic Sans MS"/>
              <a:cs typeface="Comic Sans MS"/>
              <a:sym typeface="Comic Sans MS"/>
            </a:endParaRPr>
          </a:p>
          <a:p>
            <a:pPr indent="-342900" lvl="0" marL="457200" marR="0" rtl="0" algn="l">
              <a:lnSpc>
                <a:spcPct val="115000"/>
              </a:lnSpc>
              <a:spcBef>
                <a:spcPts val="0"/>
              </a:spcBef>
              <a:spcAft>
                <a:spcPts val="0"/>
              </a:spcAft>
              <a:buClr>
                <a:srgbClr val="FFFFFF"/>
              </a:buClr>
              <a:buSzPts val="1800"/>
              <a:buFont typeface="Comic Sans MS"/>
              <a:buChar char="●"/>
            </a:pPr>
            <a:r>
              <a:rPr lang="pl">
                <a:solidFill>
                  <a:srgbClr val="FFFFFF"/>
                </a:solidFill>
                <a:latin typeface="Comic Sans MS"/>
                <a:ea typeface="Comic Sans MS"/>
                <a:cs typeface="Comic Sans MS"/>
                <a:sym typeface="Comic Sans MS"/>
              </a:rPr>
              <a:t>Fairly common for the simplest consumer products.</a:t>
            </a:r>
            <a:endParaRPr>
              <a:solidFill>
                <a:srgbClr val="FFFFFF"/>
              </a:solidFill>
              <a:latin typeface="Comic Sans MS"/>
              <a:ea typeface="Comic Sans MS"/>
              <a:cs typeface="Comic Sans MS"/>
              <a:sym typeface="Comic Sans MS"/>
            </a:endParaRPr>
          </a:p>
          <a:p>
            <a:pPr indent="-342900" lvl="0" marL="457200" marR="0" rtl="0" algn="l">
              <a:lnSpc>
                <a:spcPct val="115000"/>
              </a:lnSpc>
              <a:spcBef>
                <a:spcPts val="0"/>
              </a:spcBef>
              <a:spcAft>
                <a:spcPts val="0"/>
              </a:spcAft>
              <a:buClr>
                <a:srgbClr val="FFFFFF"/>
              </a:buClr>
              <a:buSzPts val="1800"/>
              <a:buFont typeface="Comic Sans MS"/>
              <a:buChar char="●"/>
            </a:pPr>
            <a:r>
              <a:rPr lang="pl">
                <a:solidFill>
                  <a:srgbClr val="FFFFFF"/>
                </a:solidFill>
                <a:latin typeface="Comic Sans MS"/>
                <a:ea typeface="Comic Sans MS"/>
                <a:cs typeface="Comic Sans MS"/>
                <a:sym typeface="Comic Sans MS"/>
              </a:rPr>
              <a:t>With productivity tools, the primary persona is more often perpetual intermediate.</a:t>
            </a:r>
            <a:endParaRPr>
              <a:solidFill>
                <a:srgbClr val="FFFFFF"/>
              </a:solidFill>
              <a:latin typeface="Comic Sans MS"/>
              <a:ea typeface="Comic Sans MS"/>
              <a:cs typeface="Comic Sans MS"/>
              <a:sym typeface="Comic Sans MS"/>
            </a:endParaRPr>
          </a:p>
          <a:p>
            <a:pPr indent="-342900" lvl="0" marL="457200" marR="0" rtl="0" algn="l">
              <a:lnSpc>
                <a:spcPct val="115000"/>
              </a:lnSpc>
              <a:spcBef>
                <a:spcPts val="0"/>
              </a:spcBef>
              <a:spcAft>
                <a:spcPts val="0"/>
              </a:spcAft>
              <a:buClr>
                <a:srgbClr val="FFFFFF"/>
              </a:buClr>
              <a:buSzPts val="1800"/>
              <a:buFont typeface="Comic Sans MS"/>
              <a:buChar char="●"/>
            </a:pPr>
            <a:r>
              <a:rPr lang="pl">
                <a:solidFill>
                  <a:srgbClr val="FFFFFF"/>
                </a:solidFill>
                <a:latin typeface="Comic Sans MS"/>
                <a:ea typeface="Comic Sans MS"/>
                <a:cs typeface="Comic Sans MS"/>
                <a:sym typeface="Comic Sans MS"/>
              </a:rPr>
              <a:t>In some cases, The choice of primary persona is not so much about skill level, but about how representative that person's goals and tasks are.</a:t>
            </a:r>
            <a:endParaRPr>
              <a:solidFill>
                <a:srgbClr val="FFFFFF"/>
              </a:solidFill>
              <a:latin typeface="Comic Sans MS"/>
              <a:ea typeface="Comic Sans MS"/>
              <a:cs typeface="Comic Sans MS"/>
              <a:sym typeface="Comic Sans M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40" name="Shape 440"/>
        <p:cNvGrpSpPr/>
        <p:nvPr/>
      </p:nvGrpSpPr>
      <p:grpSpPr>
        <a:xfrm>
          <a:off x="0" y="0"/>
          <a:ext cx="0" cy="0"/>
          <a:chOff x="0" y="0"/>
          <a:chExt cx="0" cy="0"/>
        </a:xfrm>
      </p:grpSpPr>
      <p:sp>
        <p:nvSpPr>
          <p:cNvPr id="441" name="Google Shape;441;p4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4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443" name="Google Shape;443;p46"/>
          <p:cNvPicPr preferRelativeResize="0"/>
          <p:nvPr/>
        </p:nvPicPr>
        <p:blipFill>
          <a:blip r:embed="rId3">
            <a:alphaModFix/>
          </a:blip>
          <a:stretch>
            <a:fillRect/>
          </a:stretch>
        </p:blipFill>
        <p:spPr>
          <a:xfrm>
            <a:off x="0" y="0"/>
            <a:ext cx="9137750" cy="5143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