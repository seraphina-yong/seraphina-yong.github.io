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0"/>
  </p:notesMasterIdLst>
  <p:sldIdLst>
    <p:sldId id="256" r:id="rId2"/>
    <p:sldId id="257" r:id="rId3"/>
    <p:sldId id="273" r:id="rId4"/>
    <p:sldId id="262" r:id="rId5"/>
    <p:sldId id="260" r:id="rId6"/>
    <p:sldId id="263" r:id="rId7"/>
    <p:sldId id="264" r:id="rId8"/>
    <p:sldId id="294" r:id="rId9"/>
    <p:sldId id="265" r:id="rId10"/>
    <p:sldId id="271" r:id="rId11"/>
    <p:sldId id="268" r:id="rId12"/>
    <p:sldId id="274" r:id="rId13"/>
    <p:sldId id="270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75" r:id="rId22"/>
    <p:sldId id="278" r:id="rId23"/>
    <p:sldId id="286" r:id="rId24"/>
    <p:sldId id="287" r:id="rId25"/>
    <p:sldId id="289" r:id="rId26"/>
    <p:sldId id="288" r:id="rId27"/>
    <p:sldId id="290" r:id="rId28"/>
    <p:sldId id="291" r:id="rId29"/>
    <p:sldId id="292" r:id="rId30"/>
    <p:sldId id="293" r:id="rId31"/>
    <p:sldId id="261" r:id="rId32"/>
    <p:sldId id="295" r:id="rId33"/>
    <p:sldId id="296" r:id="rId34"/>
    <p:sldId id="300" r:id="rId35"/>
    <p:sldId id="301" r:id="rId36"/>
    <p:sldId id="299" r:id="rId37"/>
    <p:sldId id="298" r:id="rId38"/>
    <p:sldId id="302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使用者" initials="W使" lastIdx="0" clrIdx="0">
    <p:extLst>
      <p:ext uri="{19B8F6BF-5375-455C-9EA6-DF929625EA0E}">
        <p15:presenceInfo xmlns:p15="http://schemas.microsoft.com/office/powerpoint/2012/main" userId="Windows 使用者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38" autoAdjust="0"/>
  </p:normalViewPr>
  <p:slideViewPr>
    <p:cSldViewPr snapToGrid="0">
      <p:cViewPr varScale="1">
        <p:scale>
          <a:sx n="105" d="100"/>
          <a:sy n="105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 smtClean="0"/>
              <a:t>各任務點擊次數</a:t>
            </a:r>
            <a:endParaRPr lang="zh-TW" alt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user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4</c:v>
                </c:pt>
                <c:pt idx="1">
                  <c:v>21</c:v>
                </c:pt>
                <c:pt idx="2">
                  <c:v>97</c:v>
                </c:pt>
                <c:pt idx="3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650-45B5-8EB8-6CEA7924DF0E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user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4</c:v>
                </c:pt>
                <c:pt idx="1">
                  <c:v>25</c:v>
                </c:pt>
                <c:pt idx="2">
                  <c:v>25</c:v>
                </c:pt>
                <c:pt idx="3">
                  <c:v>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A650-45B5-8EB8-6CEA7924DF0E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user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9</c:v>
                </c:pt>
                <c:pt idx="1">
                  <c:v>15</c:v>
                </c:pt>
                <c:pt idx="2">
                  <c:v>42</c:v>
                </c:pt>
                <c:pt idx="3">
                  <c:v>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A650-45B5-8EB8-6CEA7924DF0E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user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工作表1!$E$2:$E$5</c:f>
              <c:numCache>
                <c:formatCode>General</c:formatCode>
                <c:ptCount val="4"/>
                <c:pt idx="0">
                  <c:v>4</c:v>
                </c:pt>
                <c:pt idx="1">
                  <c:v>24</c:v>
                </c:pt>
                <c:pt idx="2">
                  <c:v>245</c:v>
                </c:pt>
                <c:pt idx="3">
                  <c:v>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A650-45B5-8EB8-6CEA7924DF0E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6.709070811653779E-3"/>
                  <c:y val="-2.927598191528084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650-45B5-8EB8-6CEA7924DF0E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工作表1!$F$2:$F$5</c:f>
              <c:numCache>
                <c:formatCode>0.00_);[Red]\(0.00\)</c:formatCode>
                <c:ptCount val="4"/>
                <c:pt idx="0">
                  <c:v>4.25</c:v>
                </c:pt>
                <c:pt idx="1">
                  <c:v>21.25</c:v>
                </c:pt>
                <c:pt idx="2">
                  <c:v>102.25</c:v>
                </c:pt>
                <c:pt idx="3">
                  <c:v>16.5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A650-45B5-8EB8-6CEA7924DF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1415469872"/>
        <c:axId val="-1415465520"/>
      </c:barChart>
      <c:catAx>
        <c:axId val="-14154698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dirty="0" smtClean="0"/>
                  <a:t>任務</a:t>
                </a:r>
                <a:endParaRPr lang="en-US" altLang="zh-TW" dirty="0" smtClean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1415465520"/>
        <c:crosses val="autoZero"/>
        <c:auto val="1"/>
        <c:lblAlgn val="ctr"/>
        <c:lblOffset val="100"/>
        <c:noMultiLvlLbl val="0"/>
      </c:catAx>
      <c:valAx>
        <c:axId val="-1415465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dirty="0" smtClean="0"/>
                  <a:t>點擊次數</a:t>
                </a:r>
                <a:endParaRPr lang="zh-TW" alt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1415469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 smtClean="0"/>
              <a:t>各任務花費時間</a:t>
            </a:r>
            <a:endParaRPr lang="zh-TW" alt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user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工作表1!$B$2:$B$5</c:f>
              <c:numCache>
                <c:formatCode>h:mm;@</c:formatCode>
                <c:ptCount val="4"/>
                <c:pt idx="0">
                  <c:v>3.0555555555555555E-2</c:v>
                </c:pt>
                <c:pt idx="1">
                  <c:v>7.9861111111111105E-2</c:v>
                </c:pt>
                <c:pt idx="2">
                  <c:v>0.26597222222222222</c:v>
                </c:pt>
                <c:pt idx="3">
                  <c:v>4.1666666666666664E-2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D11-4B48-956D-256F07F96F3A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user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工作表1!$C$2:$C$5</c:f>
              <c:numCache>
                <c:formatCode>h:mm;@</c:formatCode>
                <c:ptCount val="4"/>
                <c:pt idx="0">
                  <c:v>2.7777777777777776E-2</c:v>
                </c:pt>
                <c:pt idx="1">
                  <c:v>6.5972222222222224E-2</c:v>
                </c:pt>
                <c:pt idx="2">
                  <c:v>5.8333333333333327E-2</c:v>
                </c:pt>
                <c:pt idx="3">
                  <c:v>2.4999999999999998E-2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D11-4B48-956D-256F07F96F3A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user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工作表1!$D$2:$D$5</c:f>
              <c:numCache>
                <c:formatCode>h:mm;@</c:formatCode>
                <c:ptCount val="4"/>
                <c:pt idx="0">
                  <c:v>3.4027777777777775E-2</c:v>
                </c:pt>
                <c:pt idx="1">
                  <c:v>5.6944444444444443E-2</c:v>
                </c:pt>
                <c:pt idx="2">
                  <c:v>6.25E-2</c:v>
                </c:pt>
                <c:pt idx="3">
                  <c:v>2.4305555555555556E-2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D11-4B48-956D-256F07F96F3A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user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工作表1!$E$2:$E$5</c:f>
              <c:numCache>
                <c:formatCode>h:mm;@</c:formatCode>
                <c:ptCount val="4"/>
                <c:pt idx="0">
                  <c:v>2.8472222222222222E-2</c:v>
                </c:pt>
                <c:pt idx="1">
                  <c:v>6.6666666666666666E-2</c:v>
                </c:pt>
                <c:pt idx="2">
                  <c:v>0.3527777777777778</c:v>
                </c:pt>
                <c:pt idx="3">
                  <c:v>1.5972222222222224E-2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D11-4B48-956D-256F07F96F3A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6.709070811653779E-3"/>
                  <c:y val="-2.927598191528084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2D11-4B48-956D-256F07F96F3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工作表1!$F$2:$F$5</c:f>
              <c:numCache>
                <c:formatCode>h:mm;@</c:formatCode>
                <c:ptCount val="4"/>
                <c:pt idx="0">
                  <c:v>3.0555555555555555E-2</c:v>
                </c:pt>
                <c:pt idx="1">
                  <c:v>6.7361111111111108E-2</c:v>
                </c:pt>
                <c:pt idx="2">
                  <c:v>0.18472222222222223</c:v>
                </c:pt>
                <c:pt idx="3">
                  <c:v>2.7083333333333334E-2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2D11-4B48-956D-256F07F96F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1415467152"/>
        <c:axId val="-1415466064"/>
      </c:barChart>
      <c:catAx>
        <c:axId val="-14154671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dirty="0" smtClean="0"/>
                  <a:t>任務</a:t>
                </a:r>
                <a:endParaRPr lang="en-US" altLang="zh-TW" dirty="0" smtClean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1415466064"/>
        <c:crosses val="autoZero"/>
        <c:auto val="1"/>
        <c:lblAlgn val="ctr"/>
        <c:lblOffset val="100"/>
        <c:noMultiLvlLbl val="0"/>
      </c:catAx>
      <c:valAx>
        <c:axId val="-1415466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dirty="0" smtClean="0"/>
                  <a:t>點擊次數</a:t>
                </a:r>
                <a:endParaRPr lang="zh-TW" alt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h:mm;@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1415467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E439F-9A90-4C84-AC96-BD573A333F8C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09BFB-C8BD-4670-9A87-3DE53D790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85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09BFB-C8BD-4670-9A87-3DE53D790A11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2034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0621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704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824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78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998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688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77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79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35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1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6161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1766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0406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819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704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507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4803E-AD31-4A70-BCCB-4AB2A2FC3D7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FBDB629-C169-4E4F-8F49-C66C59E07E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438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80586" y="357995"/>
            <a:ext cx="8915399" cy="2262781"/>
          </a:xfrm>
        </p:spPr>
        <p:txBody>
          <a:bodyPr>
            <a:normAutofit/>
          </a:bodyPr>
          <a:lstStyle/>
          <a:p>
            <a:r>
              <a:rPr lang="en-US" altLang="zh-TW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APP</a:t>
            </a:r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新竹搭公車</a:t>
            </a:r>
            <a:r>
              <a:rPr lang="en-US" altLang="zh-TW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易</a:t>
            </a:r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用</a:t>
            </a:r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性測</a:t>
            </a:r>
            <a:r>
              <a:rPr lang="zh-TW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試</a:t>
            </a:r>
            <a:endParaRPr lang="zh-TW" altLang="en-US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373551" y="3457538"/>
            <a:ext cx="3069717" cy="112628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zh-TW" alt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成員：</a:t>
            </a:r>
            <a:r>
              <a:rPr lang="en-US" altLang="zh-TW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107062563</a:t>
            </a:r>
            <a:r>
              <a:rPr lang="zh-TW" alt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蔡宸祐</a:t>
            </a:r>
            <a:endParaRPr lang="en-US" altLang="zh-TW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TW" alt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altLang="zh-TW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107062541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TW" alt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鄭鈺敏</a:t>
            </a:r>
            <a:endParaRPr lang="en-US" altLang="zh-TW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zh-TW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TW" alt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altLang="zh-TW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107062539</a:t>
            </a:r>
            <a:r>
              <a:rPr lang="zh-TW" alt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蔡孟廷</a:t>
            </a:r>
            <a:endParaRPr lang="zh-TW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841" y="3457538"/>
            <a:ext cx="2810574" cy="231821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/>
          <a:srcRect b="6233"/>
          <a:stretch/>
        </p:blipFill>
        <p:spPr>
          <a:xfrm>
            <a:off x="8742664" y="3457538"/>
            <a:ext cx="3369447" cy="231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4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2925" y="218670"/>
            <a:ext cx="8911687" cy="1280890"/>
          </a:xfrm>
        </p:spPr>
        <p:txBody>
          <a:bodyPr>
            <a:normAutofit/>
          </a:bodyPr>
          <a:lstStyle/>
          <a:p>
            <a:r>
              <a:rPr lang="zh-TW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目錄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1578634"/>
            <a:ext cx="8915400" cy="4332588"/>
          </a:xfrm>
        </p:spPr>
        <p:txBody>
          <a:bodyPr>
            <a:normAutofit/>
          </a:bodyPr>
          <a:lstStyle/>
          <a:p>
            <a:r>
              <a:rPr lang="zh-TW" altLang="en-US" sz="2400" dirty="0" smtClean="0"/>
              <a:t>動機</a:t>
            </a:r>
            <a:endParaRPr lang="en-US" altLang="zh-TW" sz="2400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zh-TW" altLang="en-US" sz="2400" dirty="0" smtClean="0"/>
              <a:t>測試內容</a:t>
            </a:r>
            <a:endParaRPr lang="en-US" altLang="zh-TW" sz="2400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zh-TW" altLang="en-US" sz="2400" dirty="0" smtClean="0"/>
              <a:t>結果分析</a:t>
            </a:r>
            <a:endParaRPr lang="en-US" altLang="zh-TW" sz="2400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zh-TW" altLang="en-US" sz="2400" dirty="0" smtClean="0"/>
              <a:t>受測者的感想與建議</a:t>
            </a:r>
            <a:endParaRPr lang="en-US" altLang="zh-TW" sz="2400" dirty="0" smtClean="0"/>
          </a:p>
          <a:p>
            <a:endParaRPr lang="en-US" altLang="zh-TW" sz="2400" dirty="0"/>
          </a:p>
          <a:p>
            <a:r>
              <a:rPr lang="zh-TW" altLang="en-US" sz="2400" dirty="0" smtClean="0"/>
              <a:t>問題與反思</a:t>
            </a:r>
            <a:endParaRPr lang="zh-TW" altLang="en-US" sz="24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421" y="4207512"/>
            <a:ext cx="1015491" cy="853701"/>
          </a:xfrm>
          <a:prstGeom prst="rect">
            <a:avLst/>
          </a:prstGeom>
        </p:spPr>
      </p:pic>
      <p:sp>
        <p:nvSpPr>
          <p:cNvPr id="6" name="KSO_Shape"/>
          <p:cNvSpPr>
            <a:spLocks/>
          </p:cNvSpPr>
          <p:nvPr/>
        </p:nvSpPr>
        <p:spPr bwMode="auto">
          <a:xfrm>
            <a:off x="3986693" y="1299208"/>
            <a:ext cx="1039742" cy="624957"/>
          </a:xfrm>
          <a:custGeom>
            <a:avLst/>
            <a:gdLst>
              <a:gd name="T0" fmla="*/ 2147483646 w 112"/>
              <a:gd name="T1" fmla="*/ 2147483646 h 77"/>
              <a:gd name="T2" fmla="*/ 2147483646 w 112"/>
              <a:gd name="T3" fmla="*/ 2147483646 h 77"/>
              <a:gd name="T4" fmla="*/ 2147483646 w 112"/>
              <a:gd name="T5" fmla="*/ 2147483646 h 77"/>
              <a:gd name="T6" fmla="*/ 2147483646 w 112"/>
              <a:gd name="T7" fmla="*/ 2147483646 h 77"/>
              <a:gd name="T8" fmla="*/ 2147483646 w 112"/>
              <a:gd name="T9" fmla="*/ 2147483646 h 77"/>
              <a:gd name="T10" fmla="*/ 0 w 112"/>
              <a:gd name="T11" fmla="*/ 2147483646 h 77"/>
              <a:gd name="T12" fmla="*/ 2147483646 w 112"/>
              <a:gd name="T13" fmla="*/ 2147483646 h 77"/>
              <a:gd name="T14" fmla="*/ 2147483646 w 112"/>
              <a:gd name="T15" fmla="*/ 2147483646 h 77"/>
              <a:gd name="T16" fmla="*/ 2147483646 w 112"/>
              <a:gd name="T17" fmla="*/ 2147483646 h 77"/>
              <a:gd name="T18" fmla="*/ 2147483646 w 112"/>
              <a:gd name="T19" fmla="*/ 2147483646 h 77"/>
              <a:gd name="T20" fmla="*/ 2147483646 w 112"/>
              <a:gd name="T21" fmla="*/ 2147483646 h 77"/>
              <a:gd name="T22" fmla="*/ 2147483646 w 112"/>
              <a:gd name="T23" fmla="*/ 2147483646 h 77"/>
              <a:gd name="T24" fmla="*/ 2147483646 w 112"/>
              <a:gd name="T25" fmla="*/ 2147483646 h 77"/>
              <a:gd name="T26" fmla="*/ 2147483646 w 112"/>
              <a:gd name="T27" fmla="*/ 2147483646 h 77"/>
              <a:gd name="T28" fmla="*/ 2147483646 w 112"/>
              <a:gd name="T29" fmla="*/ 2147483646 h 77"/>
              <a:gd name="T30" fmla="*/ 2147483646 w 112"/>
              <a:gd name="T31" fmla="*/ 2147483646 h 77"/>
              <a:gd name="T32" fmla="*/ 2147483646 w 112"/>
              <a:gd name="T33" fmla="*/ 2147483646 h 77"/>
              <a:gd name="T34" fmla="*/ 2147483646 w 112"/>
              <a:gd name="T35" fmla="*/ 2147483646 h 77"/>
              <a:gd name="T36" fmla="*/ 2147483646 w 112"/>
              <a:gd name="T37" fmla="*/ 2147483646 h 77"/>
              <a:gd name="T38" fmla="*/ 2147483646 w 112"/>
              <a:gd name="T39" fmla="*/ 2147483646 h 77"/>
              <a:gd name="T40" fmla="*/ 2147483646 w 112"/>
              <a:gd name="T41" fmla="*/ 2147483646 h 77"/>
              <a:gd name="T42" fmla="*/ 2147483646 w 112"/>
              <a:gd name="T43" fmla="*/ 2147483646 h 77"/>
              <a:gd name="T44" fmla="*/ 2147483646 w 112"/>
              <a:gd name="T45" fmla="*/ 2147483646 h 77"/>
              <a:gd name="T46" fmla="*/ 2147483646 w 112"/>
              <a:gd name="T47" fmla="*/ 2147483646 h 77"/>
              <a:gd name="T48" fmla="*/ 2147483646 w 112"/>
              <a:gd name="T49" fmla="*/ 2147483646 h 77"/>
              <a:gd name="T50" fmla="*/ 2147483646 w 112"/>
              <a:gd name="T51" fmla="*/ 2147483646 h 77"/>
              <a:gd name="T52" fmla="*/ 2147483646 w 112"/>
              <a:gd name="T53" fmla="*/ 2147483646 h 77"/>
              <a:gd name="T54" fmla="*/ 2147483646 w 112"/>
              <a:gd name="T55" fmla="*/ 2147483646 h 77"/>
              <a:gd name="T56" fmla="*/ 2147483646 w 112"/>
              <a:gd name="T57" fmla="*/ 2147483646 h 77"/>
              <a:gd name="T58" fmla="*/ 2147483646 w 112"/>
              <a:gd name="T59" fmla="*/ 2147483646 h 77"/>
              <a:gd name="T60" fmla="*/ 2147483646 w 112"/>
              <a:gd name="T61" fmla="*/ 2147483646 h 77"/>
              <a:gd name="T62" fmla="*/ 2147483646 w 112"/>
              <a:gd name="T63" fmla="*/ 2147483646 h 77"/>
              <a:gd name="T64" fmla="*/ 2147483646 w 112"/>
              <a:gd name="T65" fmla="*/ 2147483646 h 77"/>
              <a:gd name="T66" fmla="*/ 2147483646 w 112"/>
              <a:gd name="T67" fmla="*/ 2147483646 h 77"/>
              <a:gd name="T68" fmla="*/ 2147483646 w 112"/>
              <a:gd name="T69" fmla="*/ 2147483646 h 77"/>
              <a:gd name="T70" fmla="*/ 2147483646 w 112"/>
              <a:gd name="T71" fmla="*/ 2147483646 h 77"/>
              <a:gd name="T72" fmla="*/ 2147483646 w 112"/>
              <a:gd name="T73" fmla="*/ 2147483646 h 77"/>
              <a:gd name="T74" fmla="*/ 2147483646 w 112"/>
              <a:gd name="T75" fmla="*/ 2147483646 h 77"/>
              <a:gd name="T76" fmla="*/ 2147483646 w 112"/>
              <a:gd name="T77" fmla="*/ 2147483646 h 77"/>
              <a:gd name="T78" fmla="*/ 2147483646 w 112"/>
              <a:gd name="T79" fmla="*/ 2147483646 h 77"/>
              <a:gd name="T80" fmla="*/ 2147483646 w 112"/>
              <a:gd name="T81" fmla="*/ 2147483646 h 77"/>
              <a:gd name="T82" fmla="*/ 2147483646 w 112"/>
              <a:gd name="T83" fmla="*/ 2147483646 h 77"/>
              <a:gd name="T84" fmla="*/ 2147483646 w 112"/>
              <a:gd name="T85" fmla="*/ 2147483646 h 77"/>
              <a:gd name="T86" fmla="*/ 2147483646 w 112"/>
              <a:gd name="T87" fmla="*/ 2147483646 h 7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12" h="77">
                <a:moveTo>
                  <a:pt x="56" y="0"/>
                </a:moveTo>
                <a:cubicBezTo>
                  <a:pt x="62" y="0"/>
                  <a:pt x="66" y="4"/>
                  <a:pt x="66" y="10"/>
                </a:cubicBezTo>
                <a:cubicBezTo>
                  <a:pt x="66" y="15"/>
                  <a:pt x="62" y="20"/>
                  <a:pt x="56" y="20"/>
                </a:cubicBezTo>
                <a:cubicBezTo>
                  <a:pt x="51" y="20"/>
                  <a:pt x="46" y="15"/>
                  <a:pt x="46" y="10"/>
                </a:cubicBezTo>
                <a:cubicBezTo>
                  <a:pt x="46" y="4"/>
                  <a:pt x="51" y="0"/>
                  <a:pt x="56" y="0"/>
                </a:cubicBezTo>
                <a:close/>
                <a:moveTo>
                  <a:pt x="15" y="49"/>
                </a:moveTo>
                <a:cubicBezTo>
                  <a:pt x="15" y="66"/>
                  <a:pt x="15" y="66"/>
                  <a:pt x="15" y="66"/>
                </a:cubicBezTo>
                <a:cubicBezTo>
                  <a:pt x="10" y="66"/>
                  <a:pt x="10" y="66"/>
                  <a:pt x="10" y="66"/>
                </a:cubicBezTo>
                <a:cubicBezTo>
                  <a:pt x="10" y="52"/>
                  <a:pt x="10" y="52"/>
                  <a:pt x="10" y="52"/>
                </a:cubicBezTo>
                <a:cubicBezTo>
                  <a:pt x="9" y="52"/>
                  <a:pt x="9" y="52"/>
                  <a:pt x="9" y="52"/>
                </a:cubicBezTo>
                <a:cubicBezTo>
                  <a:pt x="9" y="66"/>
                  <a:pt x="9" y="66"/>
                  <a:pt x="9" y="66"/>
                </a:cubicBezTo>
                <a:cubicBezTo>
                  <a:pt x="4" y="66"/>
                  <a:pt x="4" y="66"/>
                  <a:pt x="4" y="66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46"/>
                  <a:pt x="4" y="46"/>
                  <a:pt x="4" y="46"/>
                </a:cubicBezTo>
                <a:cubicBezTo>
                  <a:pt x="4" y="37"/>
                  <a:pt x="4" y="37"/>
                  <a:pt x="4" y="37"/>
                </a:cubicBezTo>
                <a:cubicBezTo>
                  <a:pt x="4" y="37"/>
                  <a:pt x="4" y="37"/>
                  <a:pt x="4" y="37"/>
                </a:cubicBezTo>
                <a:cubicBezTo>
                  <a:pt x="4" y="46"/>
                  <a:pt x="4" y="46"/>
                  <a:pt x="4" y="46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31"/>
                  <a:pt x="1" y="29"/>
                  <a:pt x="4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3" y="30"/>
                  <a:pt x="13" y="30"/>
                  <a:pt x="13" y="31"/>
                </a:cubicBezTo>
                <a:cubicBezTo>
                  <a:pt x="13" y="49"/>
                  <a:pt x="13" y="49"/>
                  <a:pt x="13" y="49"/>
                </a:cubicBezTo>
                <a:cubicBezTo>
                  <a:pt x="15" y="49"/>
                  <a:pt x="15" y="49"/>
                  <a:pt x="15" y="49"/>
                </a:cubicBezTo>
                <a:close/>
                <a:moveTo>
                  <a:pt x="10" y="15"/>
                </a:moveTo>
                <a:cubicBezTo>
                  <a:pt x="13" y="15"/>
                  <a:pt x="16" y="18"/>
                  <a:pt x="16" y="22"/>
                </a:cubicBezTo>
                <a:cubicBezTo>
                  <a:pt x="16" y="23"/>
                  <a:pt x="16" y="24"/>
                  <a:pt x="15" y="25"/>
                </a:cubicBezTo>
                <a:cubicBezTo>
                  <a:pt x="15" y="26"/>
                  <a:pt x="15" y="26"/>
                  <a:pt x="14" y="26"/>
                </a:cubicBezTo>
                <a:cubicBezTo>
                  <a:pt x="13" y="27"/>
                  <a:pt x="12" y="28"/>
                  <a:pt x="10" y="28"/>
                </a:cubicBezTo>
                <a:cubicBezTo>
                  <a:pt x="6" y="28"/>
                  <a:pt x="3" y="25"/>
                  <a:pt x="3" y="22"/>
                </a:cubicBezTo>
                <a:cubicBezTo>
                  <a:pt x="3" y="18"/>
                  <a:pt x="6" y="15"/>
                  <a:pt x="10" y="15"/>
                </a:cubicBezTo>
                <a:close/>
                <a:moveTo>
                  <a:pt x="96" y="49"/>
                </a:moveTo>
                <a:cubicBezTo>
                  <a:pt x="96" y="66"/>
                  <a:pt x="96" y="66"/>
                  <a:pt x="96" y="66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01" y="52"/>
                  <a:pt x="101" y="52"/>
                  <a:pt x="101" y="52"/>
                </a:cubicBezTo>
                <a:cubicBezTo>
                  <a:pt x="102" y="52"/>
                  <a:pt x="102" y="52"/>
                  <a:pt x="102" y="52"/>
                </a:cubicBezTo>
                <a:cubicBezTo>
                  <a:pt x="102" y="66"/>
                  <a:pt x="102" y="66"/>
                  <a:pt x="102" y="66"/>
                </a:cubicBezTo>
                <a:cubicBezTo>
                  <a:pt x="107" y="66"/>
                  <a:pt x="107" y="66"/>
                  <a:pt x="107" y="66"/>
                </a:cubicBezTo>
                <a:cubicBezTo>
                  <a:pt x="107" y="49"/>
                  <a:pt x="107" y="49"/>
                  <a:pt x="107" y="49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12" y="46"/>
                  <a:pt x="112" y="46"/>
                  <a:pt x="112" y="46"/>
                </a:cubicBezTo>
                <a:cubicBezTo>
                  <a:pt x="112" y="33"/>
                  <a:pt x="112" y="33"/>
                  <a:pt x="112" y="33"/>
                </a:cubicBezTo>
                <a:cubicBezTo>
                  <a:pt x="112" y="31"/>
                  <a:pt x="110" y="29"/>
                  <a:pt x="107" y="29"/>
                </a:cubicBezTo>
                <a:cubicBezTo>
                  <a:pt x="98" y="29"/>
                  <a:pt x="98" y="29"/>
                  <a:pt x="98" y="29"/>
                </a:cubicBezTo>
                <a:cubicBezTo>
                  <a:pt x="98" y="30"/>
                  <a:pt x="98" y="30"/>
                  <a:pt x="98" y="31"/>
                </a:cubicBezTo>
                <a:cubicBezTo>
                  <a:pt x="98" y="49"/>
                  <a:pt x="98" y="49"/>
                  <a:pt x="98" y="49"/>
                </a:cubicBezTo>
                <a:cubicBezTo>
                  <a:pt x="96" y="49"/>
                  <a:pt x="96" y="49"/>
                  <a:pt x="96" y="49"/>
                </a:cubicBezTo>
                <a:close/>
                <a:moveTo>
                  <a:pt x="101" y="15"/>
                </a:moveTo>
                <a:cubicBezTo>
                  <a:pt x="98" y="15"/>
                  <a:pt x="95" y="18"/>
                  <a:pt x="95" y="22"/>
                </a:cubicBezTo>
                <a:cubicBezTo>
                  <a:pt x="95" y="23"/>
                  <a:pt x="95" y="24"/>
                  <a:pt x="96" y="25"/>
                </a:cubicBezTo>
                <a:cubicBezTo>
                  <a:pt x="96" y="26"/>
                  <a:pt x="97" y="26"/>
                  <a:pt x="97" y="26"/>
                </a:cubicBezTo>
                <a:cubicBezTo>
                  <a:pt x="98" y="27"/>
                  <a:pt x="100" y="28"/>
                  <a:pt x="101" y="28"/>
                </a:cubicBezTo>
                <a:cubicBezTo>
                  <a:pt x="105" y="28"/>
                  <a:pt x="108" y="25"/>
                  <a:pt x="108" y="22"/>
                </a:cubicBezTo>
                <a:cubicBezTo>
                  <a:pt x="108" y="18"/>
                  <a:pt x="105" y="15"/>
                  <a:pt x="101" y="15"/>
                </a:cubicBezTo>
                <a:close/>
                <a:moveTo>
                  <a:pt x="75" y="51"/>
                </a:moveTo>
                <a:cubicBezTo>
                  <a:pt x="75" y="72"/>
                  <a:pt x="75" y="72"/>
                  <a:pt x="75" y="72"/>
                </a:cubicBezTo>
                <a:cubicBezTo>
                  <a:pt x="80" y="72"/>
                  <a:pt x="80" y="72"/>
                  <a:pt x="80" y="72"/>
                </a:cubicBezTo>
                <a:cubicBezTo>
                  <a:pt x="80" y="54"/>
                  <a:pt x="80" y="54"/>
                  <a:pt x="80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72"/>
                  <a:pt x="82" y="72"/>
                  <a:pt x="82" y="72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51"/>
                  <a:pt x="87" y="51"/>
                  <a:pt x="87" y="51"/>
                </a:cubicBezTo>
                <a:cubicBezTo>
                  <a:pt x="87" y="47"/>
                  <a:pt x="87" y="47"/>
                  <a:pt x="87" y="47"/>
                </a:cubicBezTo>
                <a:cubicBezTo>
                  <a:pt x="87" y="36"/>
                  <a:pt x="87" y="36"/>
                  <a:pt x="87" y="36"/>
                </a:cubicBezTo>
                <a:cubicBezTo>
                  <a:pt x="88" y="36"/>
                  <a:pt x="88" y="36"/>
                  <a:pt x="88" y="36"/>
                </a:cubicBezTo>
                <a:cubicBezTo>
                  <a:pt x="88" y="47"/>
                  <a:pt x="88" y="47"/>
                  <a:pt x="88" y="47"/>
                </a:cubicBezTo>
                <a:cubicBezTo>
                  <a:pt x="94" y="47"/>
                  <a:pt x="94" y="47"/>
                  <a:pt x="94" y="47"/>
                </a:cubicBezTo>
                <a:cubicBezTo>
                  <a:pt x="94" y="31"/>
                  <a:pt x="94" y="31"/>
                  <a:pt x="94" y="31"/>
                </a:cubicBezTo>
                <a:cubicBezTo>
                  <a:pt x="94" y="28"/>
                  <a:pt x="91" y="26"/>
                  <a:pt x="88" y="26"/>
                </a:cubicBezTo>
                <a:cubicBezTo>
                  <a:pt x="77" y="26"/>
                  <a:pt x="77" y="26"/>
                  <a:pt x="77" y="26"/>
                </a:cubicBezTo>
                <a:cubicBezTo>
                  <a:pt x="77" y="27"/>
                  <a:pt x="77" y="28"/>
                  <a:pt x="77" y="28"/>
                </a:cubicBezTo>
                <a:cubicBezTo>
                  <a:pt x="77" y="51"/>
                  <a:pt x="77" y="51"/>
                  <a:pt x="77" y="51"/>
                </a:cubicBezTo>
                <a:cubicBezTo>
                  <a:pt x="75" y="51"/>
                  <a:pt x="75" y="51"/>
                  <a:pt x="75" y="51"/>
                </a:cubicBezTo>
                <a:close/>
                <a:moveTo>
                  <a:pt x="65" y="47"/>
                </a:moveTo>
                <a:cubicBezTo>
                  <a:pt x="65" y="32"/>
                  <a:pt x="65" y="32"/>
                  <a:pt x="65" y="32"/>
                </a:cubicBezTo>
                <a:cubicBezTo>
                  <a:pt x="64" y="32"/>
                  <a:pt x="64" y="32"/>
                  <a:pt x="64" y="32"/>
                </a:cubicBezTo>
                <a:cubicBezTo>
                  <a:pt x="64" y="47"/>
                  <a:pt x="64" y="47"/>
                  <a:pt x="64" y="47"/>
                </a:cubicBezTo>
                <a:cubicBezTo>
                  <a:pt x="64" y="50"/>
                  <a:pt x="64" y="50"/>
                  <a:pt x="64" y="50"/>
                </a:cubicBezTo>
                <a:cubicBezTo>
                  <a:pt x="64" y="77"/>
                  <a:pt x="64" y="77"/>
                  <a:pt x="64" y="77"/>
                </a:cubicBezTo>
                <a:cubicBezTo>
                  <a:pt x="57" y="77"/>
                  <a:pt x="57" y="77"/>
                  <a:pt x="57" y="77"/>
                </a:cubicBezTo>
                <a:cubicBezTo>
                  <a:pt x="57" y="55"/>
                  <a:pt x="57" y="55"/>
                  <a:pt x="57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77"/>
                  <a:pt x="55" y="77"/>
                  <a:pt x="55" y="77"/>
                </a:cubicBezTo>
                <a:cubicBezTo>
                  <a:pt x="48" y="77"/>
                  <a:pt x="48" y="77"/>
                  <a:pt x="48" y="77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7"/>
                  <a:pt x="48" y="47"/>
                  <a:pt x="48" y="47"/>
                </a:cubicBezTo>
                <a:cubicBezTo>
                  <a:pt x="48" y="32"/>
                  <a:pt x="48" y="32"/>
                  <a:pt x="48" y="32"/>
                </a:cubicBezTo>
                <a:cubicBezTo>
                  <a:pt x="47" y="32"/>
                  <a:pt x="47" y="32"/>
                  <a:pt x="47" y="32"/>
                </a:cubicBezTo>
                <a:cubicBezTo>
                  <a:pt x="47" y="47"/>
                  <a:pt x="47" y="47"/>
                  <a:pt x="47" y="47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27"/>
                  <a:pt x="41" y="27"/>
                  <a:pt x="41" y="27"/>
                </a:cubicBezTo>
                <a:cubicBezTo>
                  <a:pt x="41" y="24"/>
                  <a:pt x="44" y="21"/>
                  <a:pt x="47" y="21"/>
                </a:cubicBezTo>
                <a:cubicBezTo>
                  <a:pt x="66" y="21"/>
                  <a:pt x="46" y="21"/>
                  <a:pt x="65" y="21"/>
                </a:cubicBezTo>
                <a:cubicBezTo>
                  <a:pt x="69" y="21"/>
                  <a:pt x="71" y="24"/>
                  <a:pt x="71" y="27"/>
                </a:cubicBezTo>
                <a:cubicBezTo>
                  <a:pt x="71" y="47"/>
                  <a:pt x="71" y="47"/>
                  <a:pt x="71" y="47"/>
                </a:cubicBezTo>
                <a:cubicBezTo>
                  <a:pt x="70" y="47"/>
                  <a:pt x="68" y="47"/>
                  <a:pt x="65" y="47"/>
                </a:cubicBezTo>
                <a:close/>
                <a:moveTo>
                  <a:pt x="37" y="51"/>
                </a:moveTo>
                <a:cubicBezTo>
                  <a:pt x="37" y="72"/>
                  <a:pt x="37" y="72"/>
                  <a:pt x="37" y="72"/>
                </a:cubicBezTo>
                <a:cubicBezTo>
                  <a:pt x="31" y="72"/>
                  <a:pt x="31" y="72"/>
                  <a:pt x="31" y="72"/>
                </a:cubicBezTo>
                <a:cubicBezTo>
                  <a:pt x="31" y="54"/>
                  <a:pt x="31" y="54"/>
                  <a:pt x="31" y="5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72"/>
                  <a:pt x="30" y="72"/>
                  <a:pt x="30" y="72"/>
                </a:cubicBezTo>
                <a:cubicBezTo>
                  <a:pt x="24" y="72"/>
                  <a:pt x="24" y="72"/>
                  <a:pt x="24" y="72"/>
                </a:cubicBezTo>
                <a:cubicBezTo>
                  <a:pt x="24" y="51"/>
                  <a:pt x="24" y="51"/>
                  <a:pt x="24" y="51"/>
                </a:cubicBezTo>
                <a:cubicBezTo>
                  <a:pt x="24" y="47"/>
                  <a:pt x="24" y="47"/>
                  <a:pt x="24" y="47"/>
                </a:cubicBezTo>
                <a:cubicBezTo>
                  <a:pt x="24" y="36"/>
                  <a:pt x="24" y="36"/>
                  <a:pt x="24" y="36"/>
                </a:cubicBezTo>
                <a:cubicBezTo>
                  <a:pt x="23" y="36"/>
                  <a:pt x="23" y="36"/>
                  <a:pt x="23" y="36"/>
                </a:cubicBezTo>
                <a:cubicBezTo>
                  <a:pt x="23" y="47"/>
                  <a:pt x="23" y="47"/>
                  <a:pt x="23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31"/>
                  <a:pt x="18" y="31"/>
                  <a:pt x="18" y="31"/>
                </a:cubicBezTo>
                <a:cubicBezTo>
                  <a:pt x="18" y="28"/>
                  <a:pt x="20" y="26"/>
                  <a:pt x="23" y="26"/>
                </a:cubicBezTo>
                <a:cubicBezTo>
                  <a:pt x="35" y="26"/>
                  <a:pt x="35" y="26"/>
                  <a:pt x="35" y="26"/>
                </a:cubicBezTo>
                <a:cubicBezTo>
                  <a:pt x="35" y="27"/>
                  <a:pt x="35" y="28"/>
                  <a:pt x="35" y="28"/>
                </a:cubicBezTo>
                <a:cubicBezTo>
                  <a:pt x="35" y="51"/>
                  <a:pt x="35" y="51"/>
                  <a:pt x="35" y="51"/>
                </a:cubicBezTo>
                <a:cubicBezTo>
                  <a:pt x="37" y="51"/>
                  <a:pt x="37" y="51"/>
                  <a:pt x="37" y="51"/>
                </a:cubicBezTo>
                <a:close/>
                <a:moveTo>
                  <a:pt x="31" y="9"/>
                </a:moveTo>
                <a:cubicBezTo>
                  <a:pt x="35" y="9"/>
                  <a:pt x="39" y="12"/>
                  <a:pt x="39" y="17"/>
                </a:cubicBezTo>
                <a:cubicBezTo>
                  <a:pt x="39" y="19"/>
                  <a:pt x="38" y="20"/>
                  <a:pt x="37" y="22"/>
                </a:cubicBezTo>
                <a:cubicBezTo>
                  <a:pt x="37" y="22"/>
                  <a:pt x="37" y="22"/>
                  <a:pt x="37" y="23"/>
                </a:cubicBezTo>
                <a:cubicBezTo>
                  <a:pt x="35" y="24"/>
                  <a:pt x="33" y="25"/>
                  <a:pt x="31" y="25"/>
                </a:cubicBezTo>
                <a:cubicBezTo>
                  <a:pt x="26" y="25"/>
                  <a:pt x="22" y="21"/>
                  <a:pt x="22" y="17"/>
                </a:cubicBezTo>
                <a:cubicBezTo>
                  <a:pt x="22" y="12"/>
                  <a:pt x="26" y="9"/>
                  <a:pt x="31" y="9"/>
                </a:cubicBezTo>
                <a:close/>
                <a:moveTo>
                  <a:pt x="81" y="9"/>
                </a:moveTo>
                <a:cubicBezTo>
                  <a:pt x="76" y="9"/>
                  <a:pt x="73" y="12"/>
                  <a:pt x="73" y="17"/>
                </a:cubicBezTo>
                <a:cubicBezTo>
                  <a:pt x="73" y="19"/>
                  <a:pt x="73" y="20"/>
                  <a:pt x="74" y="22"/>
                </a:cubicBezTo>
                <a:cubicBezTo>
                  <a:pt x="75" y="22"/>
                  <a:pt x="75" y="22"/>
                  <a:pt x="75" y="23"/>
                </a:cubicBezTo>
                <a:cubicBezTo>
                  <a:pt x="77" y="24"/>
                  <a:pt x="79" y="25"/>
                  <a:pt x="81" y="25"/>
                </a:cubicBezTo>
                <a:cubicBezTo>
                  <a:pt x="85" y="25"/>
                  <a:pt x="89" y="21"/>
                  <a:pt x="89" y="17"/>
                </a:cubicBezTo>
                <a:cubicBezTo>
                  <a:pt x="89" y="12"/>
                  <a:pt x="85" y="9"/>
                  <a:pt x="81" y="9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575" y="3195882"/>
            <a:ext cx="1035619" cy="93255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644" y="2145001"/>
            <a:ext cx="848741" cy="1004473"/>
          </a:xfrm>
          <a:prstGeom prst="rect">
            <a:avLst/>
          </a:prstGeom>
        </p:spPr>
      </p:pic>
      <p:pic>
        <p:nvPicPr>
          <p:cNvPr id="15362" name="Picture 2" descr="ãthinkingãçåçæå°çµæ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644" y="5061213"/>
            <a:ext cx="1139857" cy="113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174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動</a:t>
            </a:r>
            <a:r>
              <a:rPr lang="zh-TW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機</a:t>
            </a:r>
          </a:p>
        </p:txBody>
      </p:sp>
      <p:sp>
        <p:nvSpPr>
          <p:cNvPr id="12" name="流程圖: 替代處理程序 11"/>
          <p:cNvSpPr/>
          <p:nvPr/>
        </p:nvSpPr>
        <p:spPr>
          <a:xfrm>
            <a:off x="2242868" y="2121378"/>
            <a:ext cx="2087591" cy="854015"/>
          </a:xfrm>
          <a:prstGeom prst="flowChartAlternateProcess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1.</a:t>
            </a:r>
            <a:r>
              <a:rPr lang="zh-TW" altLang="en-US" sz="2000" b="1" dirty="0" smtClean="0"/>
              <a:t>有效利用</a:t>
            </a:r>
            <a:r>
              <a:rPr lang="zh-TW" altLang="en-US" sz="2000" b="1" dirty="0"/>
              <a:t>時間</a:t>
            </a:r>
          </a:p>
        </p:txBody>
      </p:sp>
      <p:sp>
        <p:nvSpPr>
          <p:cNvPr id="14" name="內容版面配置區 13"/>
          <p:cNvSpPr>
            <a:spLocks noGrp="1"/>
          </p:cNvSpPr>
          <p:nvPr>
            <p:ph idx="1"/>
          </p:nvPr>
        </p:nvSpPr>
        <p:spPr>
          <a:xfrm>
            <a:off x="4330459" y="4330461"/>
            <a:ext cx="2260122" cy="847516"/>
          </a:xfrm>
          <a:prstGeom prst="flowChartAlternateProcess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TW" sz="2000" b="1" dirty="0" smtClean="0">
                <a:latin typeface="+mn-ea"/>
              </a:rPr>
              <a:t>2.</a:t>
            </a:r>
            <a:r>
              <a:rPr lang="zh-TW" altLang="en-US" sz="2000" b="1" dirty="0" smtClean="0">
                <a:latin typeface="+mn-ea"/>
              </a:rPr>
              <a:t>避免迷路</a:t>
            </a:r>
            <a:endParaRPr lang="zh-TW" altLang="en-US" sz="2000" b="1" dirty="0">
              <a:latin typeface="+mn-ea"/>
            </a:endParaRPr>
          </a:p>
        </p:txBody>
      </p:sp>
      <p:sp>
        <p:nvSpPr>
          <p:cNvPr id="15" name="流程圖: 替代處理程序 14"/>
          <p:cNvSpPr/>
          <p:nvPr/>
        </p:nvSpPr>
        <p:spPr>
          <a:xfrm>
            <a:off x="6590581" y="2121378"/>
            <a:ext cx="1958195" cy="854015"/>
          </a:xfrm>
          <a:prstGeom prst="flowChartAlternateProcess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r>
              <a:rPr lang="en-US" altLang="zh-TW" b="1" dirty="0" smtClean="0"/>
              <a:t>.</a:t>
            </a:r>
            <a:r>
              <a:rPr lang="zh-TW" altLang="en-US" b="1" dirty="0" smtClean="0"/>
              <a:t>自動規劃路線</a:t>
            </a:r>
            <a:endParaRPr lang="zh-TW" altLang="en-US" b="1" dirty="0"/>
          </a:p>
        </p:txBody>
      </p:sp>
      <p:sp>
        <p:nvSpPr>
          <p:cNvPr id="16" name="流程圖: 替代處理程序 15"/>
          <p:cNvSpPr/>
          <p:nvPr/>
        </p:nvSpPr>
        <p:spPr>
          <a:xfrm>
            <a:off x="8548776" y="4572000"/>
            <a:ext cx="1958195" cy="854015"/>
          </a:xfrm>
          <a:prstGeom prst="flowChartAlternateProcess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latin typeface="+mn-ea"/>
              </a:rPr>
              <a:t>4.</a:t>
            </a:r>
            <a:r>
              <a:rPr lang="zh-TW" altLang="en-US" b="1" dirty="0" smtClean="0">
                <a:latin typeface="+mn-ea"/>
              </a:rPr>
              <a:t>增加安全感</a:t>
            </a:r>
            <a:endParaRPr lang="zh-TW" altLang="en-US" b="1" dirty="0">
              <a:latin typeface="+mn-ea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563375" y="5348375"/>
            <a:ext cx="19581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latin typeface="+mn-ea"/>
              </a:rPr>
              <a:t>透過</a:t>
            </a:r>
            <a:r>
              <a:rPr lang="en-US" altLang="zh-TW" sz="1600" dirty="0" smtClean="0">
                <a:latin typeface="+mn-ea"/>
              </a:rPr>
              <a:t>app</a:t>
            </a:r>
            <a:r>
              <a:rPr lang="zh-TW" altLang="en-US" sz="1600" dirty="0" smtClean="0">
                <a:latin typeface="+mn-ea"/>
              </a:rPr>
              <a:t>視覺化介面的地圖</a:t>
            </a:r>
            <a:r>
              <a:rPr lang="zh-TW" altLang="en-US" sz="1600" dirty="0">
                <a:latin typeface="+mn-ea"/>
              </a:rPr>
              <a:t>顯示</a:t>
            </a:r>
            <a:r>
              <a:rPr lang="zh-TW" altLang="en-US" sz="1600" dirty="0" smtClean="0">
                <a:latin typeface="+mn-ea"/>
              </a:rPr>
              <a:t>，可以得知離自己最近的站牌在哪</a:t>
            </a:r>
            <a:r>
              <a:rPr lang="zh-TW" altLang="en-US" sz="1600" dirty="0">
                <a:latin typeface="+mn-ea"/>
              </a:rPr>
              <a:t>！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2372264" y="3191771"/>
            <a:ext cx="19581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latin typeface="+mn-ea"/>
              </a:rPr>
              <a:t>可以透過</a:t>
            </a:r>
            <a:r>
              <a:rPr lang="en-US" altLang="zh-TW" sz="1600" dirty="0" smtClean="0">
                <a:latin typeface="+mn-ea"/>
              </a:rPr>
              <a:t>app</a:t>
            </a:r>
            <a:r>
              <a:rPr lang="zh-TW" altLang="en-US" sz="1600" dirty="0" smtClean="0">
                <a:latin typeface="+mn-ea"/>
              </a:rPr>
              <a:t>得知公車何時來，以免自己傻傻地在浪費時間提早等公車！</a:t>
            </a:r>
            <a:endParaRPr lang="zh-TW" altLang="en-US" sz="1600" dirty="0">
              <a:latin typeface="+mn-ea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590581" y="3114318"/>
            <a:ext cx="19581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latin typeface="+mn-ea"/>
              </a:rPr>
              <a:t>透過</a:t>
            </a:r>
            <a:r>
              <a:rPr lang="en-US" altLang="zh-TW" sz="1600" dirty="0" smtClean="0">
                <a:latin typeface="+mn-ea"/>
              </a:rPr>
              <a:t>app</a:t>
            </a:r>
            <a:r>
              <a:rPr lang="zh-TW" altLang="en-US" sz="1600" dirty="0" smtClean="0">
                <a:latin typeface="+mn-ea"/>
              </a:rPr>
              <a:t>輸入起點終點可以直接取得當時的最佳路線，避免手動找的麻煩</a:t>
            </a:r>
            <a:r>
              <a:rPr lang="zh-TW" altLang="en-US" sz="1600" dirty="0">
                <a:latin typeface="+mn-ea"/>
              </a:rPr>
              <a:t>！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8548776" y="5616696"/>
            <a:ext cx="19581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latin typeface="+mn-ea"/>
              </a:rPr>
              <a:t>利用</a:t>
            </a:r>
            <a:r>
              <a:rPr lang="en-US" altLang="zh-TW" sz="1600" dirty="0" smtClean="0">
                <a:latin typeface="+mn-ea"/>
              </a:rPr>
              <a:t>app</a:t>
            </a:r>
            <a:r>
              <a:rPr lang="zh-TW" altLang="en-US" sz="1600" dirty="0" smtClean="0">
                <a:latin typeface="+mn-ea"/>
              </a:rPr>
              <a:t>可以在出行之前先把公車站牌路線找好，讓內心覺得更踏實！</a:t>
            </a:r>
            <a:endParaRPr lang="zh-TW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123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0859" y="2055136"/>
            <a:ext cx="8915400" cy="4082422"/>
          </a:xfrm>
        </p:spPr>
        <p:txBody>
          <a:bodyPr>
            <a:normAutofit/>
          </a:bodyPr>
          <a:lstStyle/>
          <a:p>
            <a:r>
              <a:rPr lang="zh-TW" altLang="en-US" sz="2800" dirty="0" smtClean="0"/>
              <a:t>測試的系統：新竹搭公車 </a:t>
            </a:r>
            <a:r>
              <a:rPr lang="en-US" altLang="zh-TW" sz="2800" dirty="0" smtClean="0"/>
              <a:t>- </a:t>
            </a:r>
            <a:r>
              <a:rPr lang="zh-TW" altLang="en-US" sz="2800" dirty="0"/>
              <a:t>公車即時動態時刻表</a:t>
            </a:r>
            <a:r>
              <a:rPr lang="zh-TW" altLang="en-US" sz="2800" dirty="0" smtClean="0"/>
              <a:t>查詢</a:t>
            </a:r>
            <a:endParaRPr lang="en-US" altLang="zh-TW" sz="2800" dirty="0" smtClean="0"/>
          </a:p>
          <a:p>
            <a:pPr marL="0" indent="0">
              <a:buNone/>
            </a:pPr>
            <a:endParaRPr lang="en-US" altLang="zh-TW" sz="3600" dirty="0"/>
          </a:p>
          <a:p>
            <a:r>
              <a:rPr lang="zh-TW" altLang="en-US" sz="2800" dirty="0" smtClean="0"/>
              <a:t>測試的方式以及過程</a:t>
            </a:r>
            <a:endParaRPr lang="zh-TW" altLang="en-US" sz="2800" dirty="0"/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測試內容</a:t>
            </a:r>
            <a:endParaRPr lang="zh-TW" altLang="en-US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092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7469" y="3105943"/>
            <a:ext cx="1962150" cy="1933575"/>
          </a:xfrm>
          <a:prstGeom prst="rect">
            <a:avLst/>
          </a:prstGeom>
        </p:spPr>
      </p:pic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新竹搭公車</a:t>
            </a:r>
            <a:r>
              <a:rPr lang="en-US" altLang="zh-TW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- </a:t>
            </a: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公車即時動態時刻表查詢</a:t>
            </a:r>
          </a:p>
        </p:txBody>
      </p:sp>
      <p:sp>
        <p:nvSpPr>
          <p:cNvPr id="6" name="向右箭號 5"/>
          <p:cNvSpPr/>
          <p:nvPr/>
        </p:nvSpPr>
        <p:spPr>
          <a:xfrm>
            <a:off x="4597879" y="1961506"/>
            <a:ext cx="940279" cy="448574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右箭號 6"/>
          <p:cNvSpPr/>
          <p:nvPr/>
        </p:nvSpPr>
        <p:spPr>
          <a:xfrm>
            <a:off x="4597879" y="2881656"/>
            <a:ext cx="940279" cy="448574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4597878" y="3801806"/>
            <a:ext cx="940279" cy="448574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4597878" y="4737593"/>
            <a:ext cx="940279" cy="448574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向右箭號 9"/>
          <p:cNvSpPr/>
          <p:nvPr/>
        </p:nvSpPr>
        <p:spPr>
          <a:xfrm>
            <a:off x="4597878" y="5692682"/>
            <a:ext cx="940279" cy="448574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流程圖: 替代處理程序 12"/>
          <p:cNvSpPr/>
          <p:nvPr/>
        </p:nvSpPr>
        <p:spPr>
          <a:xfrm>
            <a:off x="5995359" y="1797604"/>
            <a:ext cx="4244196" cy="776377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路線搜尋</a:t>
            </a:r>
            <a:r>
              <a:rPr lang="zh-TW" altLang="en-US" dirty="0" smtClean="0"/>
              <a:t>：透過路線編號查詢客運路</a:t>
            </a:r>
            <a:r>
              <a:rPr lang="zh-TW" altLang="en-US" dirty="0"/>
              <a:t>線</a:t>
            </a:r>
          </a:p>
        </p:txBody>
      </p:sp>
      <p:sp>
        <p:nvSpPr>
          <p:cNvPr id="14" name="流程圖: 替代處理程序 13"/>
          <p:cNvSpPr/>
          <p:nvPr/>
        </p:nvSpPr>
        <p:spPr>
          <a:xfrm>
            <a:off x="5995359" y="2812645"/>
            <a:ext cx="4244196" cy="776377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最愛站牌</a:t>
            </a:r>
            <a:r>
              <a:rPr lang="zh-TW" altLang="en-US" dirty="0" smtClean="0"/>
              <a:t>：常搭站牌加入最愛</a:t>
            </a:r>
            <a:endParaRPr lang="zh-TW" altLang="en-US" dirty="0"/>
          </a:p>
        </p:txBody>
      </p:sp>
      <p:sp>
        <p:nvSpPr>
          <p:cNvPr id="15" name="流程圖: 替代處理程序 14"/>
          <p:cNvSpPr/>
          <p:nvPr/>
        </p:nvSpPr>
        <p:spPr>
          <a:xfrm>
            <a:off x="5995359" y="3747475"/>
            <a:ext cx="4244196" cy="776377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rgbClr val="FF0000"/>
                </a:solidFill>
              </a:rPr>
              <a:t>附近</a:t>
            </a:r>
            <a:r>
              <a:rPr lang="zh-TW" altLang="en-US" b="1" dirty="0" smtClean="0">
                <a:solidFill>
                  <a:srgbClr val="FF0000"/>
                </a:solidFill>
              </a:rPr>
              <a:t>站牌</a:t>
            </a:r>
            <a:r>
              <a:rPr lang="zh-TW" altLang="en-US" dirty="0" smtClean="0"/>
              <a:t>：快速搜尋附近站牌</a:t>
            </a:r>
            <a:endParaRPr lang="zh-TW" altLang="en-US" dirty="0"/>
          </a:p>
        </p:txBody>
      </p:sp>
      <p:sp>
        <p:nvSpPr>
          <p:cNvPr id="16" name="流程圖: 替代處理程序 15"/>
          <p:cNvSpPr/>
          <p:nvPr/>
        </p:nvSpPr>
        <p:spPr>
          <a:xfrm>
            <a:off x="5995359" y="4685916"/>
            <a:ext cx="4244196" cy="776377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站牌地圖</a:t>
            </a:r>
            <a:r>
              <a:rPr lang="zh-TW" altLang="en-US" dirty="0" smtClean="0"/>
              <a:t>：透過類似</a:t>
            </a:r>
            <a:r>
              <a:rPr lang="en-US" altLang="zh-TW" dirty="0" smtClean="0"/>
              <a:t>Google Map</a:t>
            </a:r>
            <a:r>
              <a:rPr lang="zh-TW" altLang="en-US" dirty="0" smtClean="0"/>
              <a:t>介面快速定位附近公車站牌位置</a:t>
            </a:r>
            <a:endParaRPr lang="zh-TW" altLang="en-US" dirty="0"/>
          </a:p>
        </p:txBody>
      </p:sp>
      <p:sp>
        <p:nvSpPr>
          <p:cNvPr id="17" name="流程圖: 替代處理程序 16"/>
          <p:cNvSpPr/>
          <p:nvPr/>
        </p:nvSpPr>
        <p:spPr>
          <a:xfrm>
            <a:off x="5995359" y="5624357"/>
            <a:ext cx="4244196" cy="776377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路線規劃</a:t>
            </a:r>
            <a:r>
              <a:rPr lang="zh-TW" altLang="en-US" dirty="0" smtClean="0"/>
              <a:t>：透過輸入出發地以及目的地即可獲得建議交通路線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4510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862645"/>
            <a:ext cx="8915400" cy="4349841"/>
          </a:xfrm>
        </p:spPr>
        <p:txBody>
          <a:bodyPr/>
          <a:lstStyle/>
          <a:p>
            <a:r>
              <a:rPr lang="zh-TW" altLang="en-US" sz="2400" dirty="0" smtClean="0"/>
              <a:t>受試者需先填寫完受試者同意書以及受試者相關問卷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592925" y="194882"/>
            <a:ext cx="8911687" cy="937271"/>
          </a:xfrm>
        </p:spPr>
        <p:txBody>
          <a:bodyPr>
            <a:normAutofit/>
          </a:bodyPr>
          <a:lstStyle/>
          <a:p>
            <a:r>
              <a:rPr lang="zh-TW" altLang="en-US" sz="4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測試的方</a:t>
            </a: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式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238" y="1401661"/>
            <a:ext cx="3398099" cy="511128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137" y="1401661"/>
            <a:ext cx="3818674" cy="350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8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1595887"/>
            <a:ext cx="8915400" cy="4315335"/>
          </a:xfrm>
        </p:spPr>
        <p:txBody>
          <a:bodyPr>
            <a:normAutofit/>
          </a:bodyPr>
          <a:lstStyle/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測試地點：清大資電館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734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實驗室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測試時間：二男於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10/29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下午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點至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點半、二女於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10/30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下午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點半至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點半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事前須知：告訴受試者在受試時，</a:t>
            </a:r>
            <a:r>
              <a:rPr lang="zh-TW" altLang="en-US" sz="24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會收到含有問題的</a:t>
            </a:r>
            <a:r>
              <a:rPr lang="en-US" altLang="zh-TW" sz="24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24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張紙條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，受試者需大聲唸出問題，並且在結束或是完成紙條時，需唸出相關要求並繼續完成下張紙條問題。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拍攝受試者操作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APP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的整個過程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側錄受試者使用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APP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的整個流程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受試者在完成上述流程後，需填寫事後問卷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11392"/>
          </a:xfrm>
        </p:spPr>
        <p:txBody>
          <a:bodyPr>
            <a:normAutofit/>
          </a:bodyPr>
          <a:lstStyle/>
          <a:p>
            <a:r>
              <a:rPr lang="zh-TW" altLang="en-US" sz="4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測試的方</a:t>
            </a: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式</a:t>
            </a:r>
          </a:p>
        </p:txBody>
      </p:sp>
    </p:spTree>
    <p:extLst>
      <p:ext uri="{BB962C8B-B14F-4D97-AF65-F5344CB8AC3E}">
        <p14:creationId xmlns:p14="http://schemas.microsoft.com/office/powerpoint/2010/main" val="235769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受試者需透過</a:t>
            </a:r>
            <a:r>
              <a:rPr lang="en-US" altLang="zh-TW" sz="4000" dirty="0"/>
              <a:t>APP</a:t>
            </a:r>
            <a:r>
              <a:rPr lang="zh-TW" altLang="en-US" sz="4000" dirty="0"/>
              <a:t>完成的</a:t>
            </a:r>
            <a:r>
              <a:rPr lang="en-US" altLang="zh-TW" sz="4000" dirty="0"/>
              <a:t>4</a:t>
            </a:r>
            <a:r>
              <a:rPr lang="zh-TW" altLang="en-US" sz="4000" dirty="0"/>
              <a:t>個問題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1. </a:t>
            </a:r>
            <a:r>
              <a:rPr lang="zh-TW" altLang="zh-TW" sz="2400" dirty="0"/>
              <a:t>尋找最近站牌，並唸出該站牌名稱、距離、步行</a:t>
            </a:r>
            <a:r>
              <a:rPr lang="zh-TW" altLang="zh-TW" sz="2400" dirty="0" smtClean="0"/>
              <a:t>時間</a:t>
            </a:r>
            <a:endParaRPr lang="en-US" altLang="zh-TW" sz="2400" dirty="0" smtClean="0"/>
          </a:p>
          <a:p>
            <a:pPr marL="0" indent="0">
              <a:buNone/>
            </a:pPr>
            <a:endParaRPr lang="zh-TW" altLang="zh-TW" sz="2400" dirty="0"/>
          </a:p>
          <a:p>
            <a:r>
              <a:rPr lang="en-US" altLang="zh-TW" sz="2400" dirty="0"/>
              <a:t>2. </a:t>
            </a:r>
            <a:r>
              <a:rPr lang="zh-TW" altLang="zh-TW" sz="2400" dirty="0"/>
              <a:t>尋找從自身位置到巨城的路線，並點選路線一的詳細內容</a:t>
            </a:r>
            <a:r>
              <a:rPr lang="zh-TW" altLang="zh-TW" sz="2400" dirty="0" smtClean="0"/>
              <a:t>，且</a:t>
            </a:r>
            <a:r>
              <a:rPr lang="zh-TW" altLang="zh-TW" sz="2400" dirty="0"/>
              <a:t>唸出交通方式、所需</a:t>
            </a:r>
            <a:r>
              <a:rPr lang="zh-TW" altLang="zh-TW" sz="2400" dirty="0" smtClean="0"/>
              <a:t>時間</a:t>
            </a:r>
            <a:endParaRPr lang="en-US" altLang="zh-TW" sz="2400" dirty="0" smtClean="0"/>
          </a:p>
          <a:p>
            <a:pPr marL="0" indent="0">
              <a:buNone/>
            </a:pPr>
            <a:endParaRPr lang="zh-TW" altLang="zh-TW" sz="2400" dirty="0"/>
          </a:p>
          <a:p>
            <a:r>
              <a:rPr lang="en-US" altLang="zh-TW" sz="2400" dirty="0"/>
              <a:t>3. </a:t>
            </a:r>
            <a:r>
              <a:rPr lang="zh-TW" altLang="zh-TW" sz="2400" dirty="0"/>
              <a:t>尋找距離巨城最近的站牌，需要顯示出站牌</a:t>
            </a:r>
            <a:r>
              <a:rPr lang="zh-TW" altLang="zh-TW" sz="2400" dirty="0" smtClean="0"/>
              <a:t>名稱</a:t>
            </a:r>
            <a:endParaRPr lang="en-US" altLang="zh-TW" sz="2400" dirty="0" smtClean="0"/>
          </a:p>
          <a:p>
            <a:pPr marL="0" indent="0">
              <a:buNone/>
            </a:pPr>
            <a:endParaRPr lang="zh-TW" altLang="zh-TW" sz="2400" dirty="0"/>
          </a:p>
          <a:p>
            <a:r>
              <a:rPr lang="en-US" altLang="zh-TW" sz="2400" dirty="0"/>
              <a:t>4. </a:t>
            </a:r>
            <a:r>
              <a:rPr lang="zh-TW" altLang="zh-TW" sz="2400" dirty="0"/>
              <a:t>搜尋路線</a:t>
            </a:r>
            <a:r>
              <a:rPr lang="en-US" altLang="zh-TW" sz="2400" dirty="0"/>
              <a:t>5608</a:t>
            </a:r>
            <a:r>
              <a:rPr lang="zh-TW" altLang="zh-TW" sz="2400" dirty="0"/>
              <a:t>，並且將「清華大學」加入</a:t>
            </a:r>
            <a:r>
              <a:rPr lang="zh-TW" altLang="zh-TW" sz="2400" dirty="0" smtClean="0"/>
              <a:t>最愛</a:t>
            </a:r>
            <a:endParaRPr lang="zh-TW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62835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20018"/>
          </a:xfrm>
        </p:spPr>
        <p:txBody>
          <a:bodyPr/>
          <a:lstStyle/>
          <a:p>
            <a:r>
              <a:rPr lang="zh-TW" altLang="en-US" dirty="0" smtClean="0"/>
              <a:t>測試的過程</a:t>
            </a:r>
            <a:endParaRPr lang="zh-TW" altLang="en-US" dirty="0"/>
          </a:p>
        </p:txBody>
      </p:sp>
      <p:pic>
        <p:nvPicPr>
          <p:cNvPr id="1026" name="Picture 2" descr="https://scontent-tpe1-1.xx.fbcdn.net/v/t1.15752-9/s2048x2048/45023167_888162904906577_7545154170563592192_n.jpg?_nc_cat=107&amp;_nc_ht=scontent-tpe1-1.xx&amp;oh=9d3cce0c4c68fa82749c20ef186e1aa0&amp;oe=5C7D945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107" y="1958197"/>
            <a:ext cx="4721489" cy="304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content-tpe1-1.xx.fbcdn.net/v/t1.15752-9/45030852_2218836774997502_9032993088859013120_n.png?_nc_cat=100&amp;_nc_ht=scontent-tpe1-1.xx&amp;oh=3642358d221aa171fc4a053961f06cb4&amp;oe=5C47A31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305" y="1958197"/>
            <a:ext cx="5476312" cy="304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87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20018"/>
          </a:xfrm>
        </p:spPr>
        <p:txBody>
          <a:bodyPr/>
          <a:lstStyle/>
          <a:p>
            <a:r>
              <a:rPr lang="zh-TW" altLang="en-US" dirty="0" smtClean="0"/>
              <a:t>測試的過程</a:t>
            </a:r>
            <a:endParaRPr lang="zh-TW" altLang="en-US" dirty="0"/>
          </a:p>
        </p:txBody>
      </p:sp>
      <p:pic>
        <p:nvPicPr>
          <p:cNvPr id="1026" name="Picture 2" descr="https://scontent-tpe1-1.xx.fbcdn.net/v/t1.15752-9/s2048x2048/45023167_888162904906577_7545154170563592192_n.jpg?_nc_cat=107&amp;_nc_ht=scontent-tpe1-1.xx&amp;oh=9d3cce0c4c68fa82749c20ef186e1aa0&amp;oe=5C7D945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55" y="1958197"/>
            <a:ext cx="4480735" cy="288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content-tpe1-1.xx.fbcdn.net/v/t1.15752-9/45030852_2218836774997502_9032993088859013120_n.png?_nc_cat=100&amp;_nc_ht=scontent-tpe1-1.xx&amp;oh=3642358d221aa171fc4a053961f06cb4&amp;oe=5C47A31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316" y="1958197"/>
            <a:ext cx="5223149" cy="290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scontent-tpe1-1.xx.fbcdn.net/v/t1.15752-9/45208528_1061596454022350_6308123934852120576_n.png?_nc_cat=100&amp;_nc_ht=scontent-tpe1-1.xx&amp;oh=49bbbe87f4a50722f4003e4de959c96b&amp;oe=5C4165F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55" y="1958196"/>
            <a:ext cx="4878433" cy="304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scontent-tpe1-1.xx.fbcdn.net/v/t1.15752-9/45098234_764182397262247_3560889606234701824_n.png?_nc_cat=101&amp;_nc_ht=scontent-tpe1-1.xx&amp;oh=95c6d054a26ff3f0c22350ec09681db3&amp;oe=5C42ABE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315" y="1958197"/>
            <a:ext cx="5223149" cy="304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71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測試的過程</a:t>
            </a:r>
          </a:p>
        </p:txBody>
      </p:sp>
      <p:pic>
        <p:nvPicPr>
          <p:cNvPr id="3074" name="Picture 2" descr="https://scontent-tpe1-1.xx.fbcdn.net/v/t1.15752-9/45135003_326923528099078_8530259350021734400_n.png?_nc_cat=111&amp;_nc_ht=scontent-tpe1-1.xx&amp;oh=0685bda6c33b2aaae0284068f8ded781&amp;oe=5C4746C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67" y="1904999"/>
            <a:ext cx="2626056" cy="466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scontent-tpe1-1.xx.fbcdn.net/v/t1.15752-9/45026393_1924828910942773_563244613947621376_n.png?_nc_cat=106&amp;_nc_ht=scontent-tpe1-1.xx&amp;oh=61881e1ae9bdd54e69de0269855a94b7&amp;oe=5C4F02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953" y="1904998"/>
            <a:ext cx="2626056" cy="466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scontent-tpe1-1.xx.fbcdn.net/v/t1.15752-9/45049015_254019375281377_1910294942366826496_n.png?_nc_cat=108&amp;_nc_ht=scontent-tpe1-1.xx&amp;oh=2ae41db6c6018dc11c9e3e9ed0c1a1e0&amp;oe=5C7E990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339" y="1904998"/>
            <a:ext cx="2626057" cy="466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s://scontent-tpe1-1.xx.fbcdn.net/v/t1.15752-9/45066185_772284406456592_4201881224253276160_n.png?_nc_cat=111&amp;_nc_ht=scontent-tpe1-1.xx&amp;oh=505fd799950cfbe3b935323e929c7b3c&amp;oe=5C4C81D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726" y="1904998"/>
            <a:ext cx="2626057" cy="466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38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結果分析</a:t>
            </a:r>
            <a:endParaRPr lang="zh-TW" altLang="en-US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 smtClean="0"/>
              <a:t>量化資料</a:t>
            </a:r>
            <a:endParaRPr lang="en-US" altLang="zh-TW" sz="2800" dirty="0" smtClean="0"/>
          </a:p>
          <a:p>
            <a:r>
              <a:rPr lang="zh-TW" altLang="en-US" sz="2800" dirty="0" smtClean="0"/>
              <a:t>測驗發</a:t>
            </a:r>
            <a:r>
              <a:rPr lang="zh-TW" altLang="en-US" sz="2800" dirty="0"/>
              <a:t>現</a:t>
            </a:r>
          </a:p>
        </p:txBody>
      </p:sp>
    </p:spTree>
    <p:extLst>
      <p:ext uri="{BB962C8B-B14F-4D97-AF65-F5344CB8AC3E}">
        <p14:creationId xmlns:p14="http://schemas.microsoft.com/office/powerpoint/2010/main" val="135529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使用者</a:t>
            </a:r>
            <a:endParaRPr lang="zh-TW" altLang="en-US"/>
          </a:p>
        </p:txBody>
      </p:sp>
      <p:grpSp>
        <p:nvGrpSpPr>
          <p:cNvPr id="4" name="组合 15"/>
          <p:cNvGrpSpPr/>
          <p:nvPr/>
        </p:nvGrpSpPr>
        <p:grpSpPr>
          <a:xfrm>
            <a:off x="3367677" y="1433934"/>
            <a:ext cx="2766200" cy="1912929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TextBox 21"/>
          <p:cNvSpPr txBox="1"/>
          <p:nvPr/>
        </p:nvSpPr>
        <p:spPr>
          <a:xfrm>
            <a:off x="3624785" y="1546662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User </a:t>
            </a:r>
            <a:r>
              <a:rPr lang="en-US" altLang="zh-CN" b="1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1</a:t>
            </a:r>
            <a:r>
              <a:rPr lang="zh-TW" altLang="en-US" b="1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 - - -</a:t>
            </a:r>
          </a:p>
        </p:txBody>
      </p:sp>
      <p:sp>
        <p:nvSpPr>
          <p:cNvPr id="6" name="TextBox 25"/>
          <p:cNvSpPr txBox="1"/>
          <p:nvPr/>
        </p:nvSpPr>
        <p:spPr>
          <a:xfrm>
            <a:off x="3581616" y="1889859"/>
            <a:ext cx="24600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  <a:t>21, </a:t>
            </a: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男</a:t>
            </a:r>
            <a:b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</a:b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清大資工博</a:t>
            </a:r>
            <a: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  <a:t/>
            </a:r>
            <a:b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</a:b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平常交通工具</a:t>
            </a:r>
            <a: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  <a:t>:</a:t>
            </a: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 機車</a:t>
            </a:r>
            <a:endParaRPr lang="en-US" altLang="zh-TW" sz="1400">
              <a:latin typeface="微軟正黑體" panose="020B0604030504040204" pitchFamily="34" charset="-120"/>
              <a:cs typeface="方正兰亭细黑_GBK_M" pitchFamily="2" charset="2"/>
            </a:endParaRPr>
          </a:p>
          <a:p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沒搭過</a:t>
            </a:r>
            <a:r>
              <a:rPr lang="zh-TW" altLang="en-US" sz="1400" smtClean="0">
                <a:latin typeface="微軟正黑體" panose="020B0604030504040204" pitchFamily="34" charset="-120"/>
                <a:cs typeface="方正兰亭细黑_GBK_M" pitchFamily="2" charset="2"/>
              </a:rPr>
              <a:t>公車</a:t>
            </a:r>
            <a:endParaRPr lang="zh-TW" altLang="en-US" sz="1400">
              <a:latin typeface="微軟正黑體" panose="020B0604030504040204" pitchFamily="34" charset="-120"/>
              <a:cs typeface="方正兰亭细黑_GBK_M" pitchFamily="2" charset="2"/>
            </a:endParaRPr>
          </a:p>
        </p:txBody>
      </p:sp>
      <p:grpSp>
        <p:nvGrpSpPr>
          <p:cNvPr id="9" name="组合 15"/>
          <p:cNvGrpSpPr/>
          <p:nvPr/>
        </p:nvGrpSpPr>
        <p:grpSpPr>
          <a:xfrm>
            <a:off x="3367677" y="4371675"/>
            <a:ext cx="2766200" cy="1912929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TextBox 21"/>
          <p:cNvSpPr txBox="1"/>
          <p:nvPr/>
        </p:nvSpPr>
        <p:spPr>
          <a:xfrm>
            <a:off x="3624785" y="4484403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User 2</a:t>
            </a:r>
            <a:r>
              <a:rPr lang="zh-TW" altLang="en-US" b="1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  <a:r>
              <a:rPr lang="zh-TW" altLang="en-US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  <a:r>
              <a:rPr lang="zh-TW" altLang="en-US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  <a:r>
              <a:rPr lang="zh-TW" altLang="en-US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</a:p>
        </p:txBody>
      </p:sp>
      <p:sp>
        <p:nvSpPr>
          <p:cNvPr id="11" name="TextBox 25"/>
          <p:cNvSpPr txBox="1"/>
          <p:nvPr/>
        </p:nvSpPr>
        <p:spPr>
          <a:xfrm>
            <a:off x="3581616" y="4827600"/>
            <a:ext cx="24600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  <a:t>23, </a:t>
            </a: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男</a:t>
            </a:r>
            <a:b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</a:b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清大資工碩</a:t>
            </a:r>
            <a:endParaRPr lang="en-US" altLang="zh-TW" sz="1400">
              <a:latin typeface="微軟正黑體" panose="020B0604030504040204" pitchFamily="34" charset="-120"/>
              <a:cs typeface="方正兰亭细黑_GBK_M" pitchFamily="2" charset="2"/>
            </a:endParaRPr>
          </a:p>
          <a:p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平常交通工具</a:t>
            </a:r>
            <a: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  <a:t>:</a:t>
            </a: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 機車</a:t>
            </a:r>
            <a:endParaRPr lang="en-US" altLang="zh-TW" sz="1400">
              <a:latin typeface="微軟正黑體" panose="020B0604030504040204" pitchFamily="34" charset="-120"/>
              <a:cs typeface="方正兰亭细黑_GBK_M" pitchFamily="2" charset="2"/>
            </a:endParaRPr>
          </a:p>
          <a:p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沒有機車的時候</a:t>
            </a:r>
            <a:endParaRPr lang="en-US" altLang="zh-TW" sz="1400">
              <a:latin typeface="微軟正黑體" panose="020B0604030504040204" pitchFamily="34" charset="-120"/>
              <a:cs typeface="方正兰亭细黑_GBK_M" pitchFamily="2" charset="2"/>
            </a:endParaRPr>
          </a:p>
          <a:p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會想搭公車</a:t>
            </a:r>
            <a:endParaRPr lang="en-US" altLang="zh-TW" sz="1400">
              <a:latin typeface="微軟正黑體" panose="020B0604030504040204" pitchFamily="34" charset="-120"/>
              <a:cs typeface="方正兰亭细黑_GBK_M" pitchFamily="2" charset="2"/>
            </a:endParaRPr>
          </a:p>
          <a:p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  <a:cs typeface="方正兰亭细黑_GBK_M" pitchFamily="2" charset="2"/>
            </a:endParaRPr>
          </a:p>
        </p:txBody>
      </p:sp>
      <p:grpSp>
        <p:nvGrpSpPr>
          <p:cNvPr id="14" name="组合 15"/>
          <p:cNvGrpSpPr/>
          <p:nvPr/>
        </p:nvGrpSpPr>
        <p:grpSpPr>
          <a:xfrm>
            <a:off x="7482477" y="1433934"/>
            <a:ext cx="2766200" cy="1912929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7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Box 21"/>
          <p:cNvSpPr txBox="1"/>
          <p:nvPr/>
        </p:nvSpPr>
        <p:spPr>
          <a:xfrm>
            <a:off x="7739585" y="1546662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User 3</a:t>
            </a:r>
            <a:r>
              <a:rPr lang="zh-TW" altLang="en-US" b="1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  <a:r>
              <a:rPr lang="zh-TW" altLang="en-US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  <a:r>
              <a:rPr lang="zh-TW" altLang="en-US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  <a:r>
              <a:rPr lang="zh-TW" altLang="en-US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</a:p>
        </p:txBody>
      </p:sp>
      <p:sp>
        <p:nvSpPr>
          <p:cNvPr id="16" name="TextBox 25"/>
          <p:cNvSpPr txBox="1"/>
          <p:nvPr/>
        </p:nvSpPr>
        <p:spPr>
          <a:xfrm>
            <a:off x="7696416" y="1889859"/>
            <a:ext cx="24600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smtClean="0">
                <a:latin typeface="微軟正黑體" panose="020B0604030504040204" pitchFamily="34" charset="-120"/>
                <a:cs typeface="方正兰亭细黑_GBK_M" pitchFamily="2" charset="2"/>
              </a:rPr>
              <a:t>24</a:t>
            </a:r>
            <a: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  <a:t>, </a:t>
            </a: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女</a:t>
            </a:r>
            <a:b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</a:br>
            <a:r>
              <a:rPr lang="zh-TW" altLang="en-US" sz="1400" smtClean="0">
                <a:latin typeface="微軟正黑體" panose="020B0604030504040204" pitchFamily="34" charset="-120"/>
                <a:cs typeface="方正兰亭细黑_GBK_M" pitchFamily="2" charset="2"/>
              </a:rPr>
              <a:t>清大資工</a:t>
            </a: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碩</a:t>
            </a:r>
            <a: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  <a:t/>
            </a:r>
            <a:b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</a:br>
            <a:r>
              <a:rPr lang="zh-TW" altLang="en-US" sz="1400" smtClean="0">
                <a:latin typeface="微軟正黑體" panose="020B0604030504040204" pitchFamily="34" charset="-120"/>
                <a:cs typeface="方正兰亭细黑_GBK_M" pitchFamily="2" charset="2"/>
              </a:rPr>
              <a:t>平常交通工具</a:t>
            </a:r>
            <a:r>
              <a:rPr lang="en-US" altLang="zh-TW" sz="1400" smtClean="0">
                <a:latin typeface="微軟正黑體" panose="020B0604030504040204" pitchFamily="34" charset="-120"/>
                <a:cs typeface="方正兰亭细黑_GBK_M" pitchFamily="2" charset="2"/>
              </a:rPr>
              <a:t>:</a:t>
            </a:r>
            <a:r>
              <a:rPr lang="zh-TW" altLang="en-US" sz="1400" smtClean="0">
                <a:latin typeface="微軟正黑體" panose="020B0604030504040204" pitchFamily="34" charset="-120"/>
                <a:cs typeface="方正兰亭细黑_GBK_M" pitchFamily="2" charset="2"/>
              </a:rPr>
              <a:t> 機車</a:t>
            </a:r>
            <a:endParaRPr lang="en-US" altLang="zh-TW" sz="1400" smtClean="0">
              <a:latin typeface="微軟正黑體" panose="020B0604030504040204" pitchFamily="34" charset="-120"/>
              <a:cs typeface="方正兰亭细黑_GBK_M" pitchFamily="2" charset="2"/>
            </a:endParaRPr>
          </a:p>
          <a:p>
            <a:r>
              <a:rPr lang="zh-TW" altLang="en-US" sz="1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方正兰亭细黑_GBK_M" pitchFamily="2" charset="2"/>
              </a:rPr>
              <a:t>機車壞掉</a:t>
            </a:r>
            <a:r>
              <a:rPr lang="en-US" altLang="zh-TW" sz="1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方正兰亭细黑_GBK_M" pitchFamily="2" charset="2"/>
              </a:rPr>
              <a:t>, </a:t>
            </a:r>
            <a:r>
              <a:rPr lang="zh-TW" altLang="en-US" sz="1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方正兰亭细黑_GBK_M" pitchFamily="2" charset="2"/>
              </a:rPr>
              <a:t>要去需步行</a:t>
            </a:r>
            <a:r>
              <a:rPr lang="en-US" altLang="zh-TW" sz="1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方正兰亭细黑_GBK_M" pitchFamily="2" charset="2"/>
              </a:rPr>
              <a:t>20</a:t>
            </a:r>
            <a:r>
              <a:rPr lang="zh-TW" altLang="en-US" sz="1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方正兰亭细黑_GBK_M" pitchFamily="2" charset="2"/>
              </a:rPr>
              <a:t>分鐘</a:t>
            </a:r>
            <a:endParaRPr lang="en-US" altLang="zh-TW" sz="1400" smtClean="0">
              <a:latin typeface="微軟正黑體" panose="020B0604030504040204" pitchFamily="34" charset="-120"/>
              <a:ea typeface="微軟正黑體" panose="020B0604030504040204" pitchFamily="34" charset="-120"/>
              <a:cs typeface="方正兰亭细黑_GBK_M" pitchFamily="2" charset="2"/>
            </a:endParaRPr>
          </a:p>
          <a:p>
            <a:r>
              <a:rPr lang="zh-TW" altLang="en-US" sz="1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方正兰亭细黑_GBK_M" pitchFamily="2" charset="2"/>
              </a:rPr>
              <a:t>以上的地方才會搭公</a:t>
            </a: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  <a:cs typeface="方正兰亭细黑_GBK_M" pitchFamily="2" charset="2"/>
              </a:rPr>
              <a:t>車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方正兰亭细黑_GBK_M" pitchFamily="2" charset="2"/>
            </a:endParaRPr>
          </a:p>
        </p:txBody>
      </p:sp>
      <p:grpSp>
        <p:nvGrpSpPr>
          <p:cNvPr id="21" name="组合 15"/>
          <p:cNvGrpSpPr/>
          <p:nvPr/>
        </p:nvGrpSpPr>
        <p:grpSpPr>
          <a:xfrm>
            <a:off x="7516991" y="4414001"/>
            <a:ext cx="2766200" cy="1912929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4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774099" y="4526729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User 4</a:t>
            </a:r>
            <a:r>
              <a:rPr lang="zh-TW" altLang="en-US" b="1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  <a:r>
              <a:rPr lang="zh-TW" altLang="en-US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  <a:r>
              <a:rPr lang="zh-TW" altLang="en-US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  <a:r>
              <a:rPr lang="zh-TW" altLang="en-US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 </a:t>
            </a:r>
            <a:r>
              <a:rPr lang="en-US" altLang="zh-CN" dirty="0" smtClean="0">
                <a:latin typeface="Arial Black" panose="020B0A04020102020204" pitchFamily="34" charset="0"/>
                <a:ea typeface="微軟正黑體" panose="020B0604030504040204" pitchFamily="34" charset="-120"/>
                <a:cs typeface="方正兰亭细黑_GBK_M" pitchFamily="2" charset="2"/>
              </a:rPr>
              <a:t>-</a:t>
            </a:r>
          </a:p>
        </p:txBody>
      </p:sp>
      <p:sp>
        <p:nvSpPr>
          <p:cNvPr id="23" name="TextBox 25"/>
          <p:cNvSpPr txBox="1"/>
          <p:nvPr/>
        </p:nvSpPr>
        <p:spPr>
          <a:xfrm>
            <a:off x="7730930" y="4869926"/>
            <a:ext cx="24600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smtClean="0">
                <a:latin typeface="微軟正黑體" panose="020B0604030504040204" pitchFamily="34" charset="-120"/>
                <a:cs typeface="方正兰亭细黑_GBK_M" pitchFamily="2" charset="2"/>
              </a:rPr>
              <a:t>24</a:t>
            </a:r>
            <a: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  <a:t>, </a:t>
            </a: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女</a:t>
            </a:r>
            <a:b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</a:b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清大資工碩</a:t>
            </a:r>
            <a:endParaRPr lang="en-US" altLang="zh-TW" sz="1400">
              <a:latin typeface="微軟正黑體" panose="020B0604030504040204" pitchFamily="34" charset="-120"/>
              <a:cs typeface="方正兰亭细黑_GBK_M" pitchFamily="2" charset="2"/>
            </a:endParaRPr>
          </a:p>
          <a:p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平常交通工具</a:t>
            </a:r>
            <a:r>
              <a:rPr lang="en-US" altLang="zh-TW" sz="1400">
                <a:latin typeface="微軟正黑體" panose="020B0604030504040204" pitchFamily="34" charset="-120"/>
                <a:cs typeface="方正兰亭细黑_GBK_M" pitchFamily="2" charset="2"/>
              </a:rPr>
              <a:t>:</a:t>
            </a:r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 機車</a:t>
            </a:r>
            <a:endParaRPr lang="en-US" altLang="zh-TW" sz="1400">
              <a:latin typeface="微軟正黑體" panose="020B0604030504040204" pitchFamily="34" charset="-120"/>
              <a:cs typeface="方正兰亭细黑_GBK_M" pitchFamily="2" charset="2"/>
            </a:endParaRPr>
          </a:p>
          <a:p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去高鐵站行李太多</a:t>
            </a:r>
            <a:endParaRPr lang="en-US" altLang="zh-TW" sz="1400">
              <a:latin typeface="微軟正黑體" panose="020B0604030504040204" pitchFamily="34" charset="-120"/>
              <a:cs typeface="方正兰亭细黑_GBK_M" pitchFamily="2" charset="2"/>
            </a:endParaRPr>
          </a:p>
          <a:p>
            <a:r>
              <a:rPr lang="zh-TW" altLang="en-US" sz="1400">
                <a:latin typeface="微軟正黑體" panose="020B0604030504040204" pitchFamily="34" charset="-120"/>
                <a:cs typeface="方正兰亭细黑_GBK_M" pitchFamily="2" charset="2"/>
              </a:rPr>
              <a:t>會想搭公車</a:t>
            </a:r>
          </a:p>
          <a:p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  <a:cs typeface="方正兰亭细黑_GBK_M" pitchFamily="2" charset="2"/>
            </a:endParaRPr>
          </a:p>
        </p:txBody>
      </p:sp>
      <p:pic>
        <p:nvPicPr>
          <p:cNvPr id="1030" name="Picture 6" descr="ãäººåãçåçæå°çµæ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209" y="3363162"/>
            <a:ext cx="1622217" cy="162221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62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內容版面配置區 1"/>
          <p:cNvGraphicFramePr>
            <a:graphicFrameLocks noGrp="1"/>
          </p:cNvGraphicFramePr>
          <p:nvPr>
            <p:ph idx="1"/>
            <p:extLst/>
          </p:nvPr>
        </p:nvGraphicFramePr>
        <p:xfrm>
          <a:off x="2589213" y="2133600"/>
          <a:ext cx="8915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418">
                  <a:extLst>
                    <a:ext uri="{9D8B030D-6E8A-4147-A177-3AD203B41FA5}">
                      <a16:colId xmlns="" xmlns:a16="http://schemas.microsoft.com/office/drawing/2014/main" val="1369265549"/>
                    </a:ext>
                  </a:extLst>
                </a:gridCol>
                <a:gridCol w="1688123">
                  <a:extLst>
                    <a:ext uri="{9D8B030D-6E8A-4147-A177-3AD203B41FA5}">
                      <a16:colId xmlns="" xmlns:a16="http://schemas.microsoft.com/office/drawing/2014/main" val="4254180957"/>
                    </a:ext>
                  </a:extLst>
                </a:gridCol>
                <a:gridCol w="1582615">
                  <a:extLst>
                    <a:ext uri="{9D8B030D-6E8A-4147-A177-3AD203B41FA5}">
                      <a16:colId xmlns="" xmlns:a16="http://schemas.microsoft.com/office/drawing/2014/main" val="107927196"/>
                    </a:ext>
                  </a:extLst>
                </a:gridCol>
                <a:gridCol w="1529862">
                  <a:extLst>
                    <a:ext uri="{9D8B030D-6E8A-4147-A177-3AD203B41FA5}">
                      <a16:colId xmlns="" xmlns:a16="http://schemas.microsoft.com/office/drawing/2014/main" val="2777021711"/>
                    </a:ext>
                  </a:extLst>
                </a:gridCol>
                <a:gridCol w="1481382">
                  <a:extLst>
                    <a:ext uri="{9D8B030D-6E8A-4147-A177-3AD203B41FA5}">
                      <a16:colId xmlns="" xmlns:a16="http://schemas.microsoft.com/office/drawing/2014/main" val="1706579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1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2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3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4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1118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總任務花費時間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10:20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4:15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4:16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11:08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192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總點擊次數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147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287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70437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總廣告出現次數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910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任務完成數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48691410"/>
                  </a:ext>
                </a:extLst>
              </a:tr>
            </a:tbl>
          </a:graphicData>
        </a:graphic>
      </p:graphicFrame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 smtClean="0"/>
              <a:t>量化資</a:t>
            </a:r>
            <a:r>
              <a:rPr lang="zh-TW" altLang="en-US" sz="4000" dirty="0"/>
              <a:t>料</a:t>
            </a:r>
            <a:endParaRPr lang="zh-TW" altLang="en-US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854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量化</a:t>
            </a:r>
            <a:r>
              <a:rPr lang="zh-TW" altLang="en-US" dirty="0" smtClean="0"/>
              <a:t>資料</a:t>
            </a:r>
            <a:r>
              <a:rPr lang="en-US" altLang="zh-TW" dirty="0" smtClean="0"/>
              <a:t>-</a:t>
            </a:r>
            <a:r>
              <a:rPr lang="zh-TW" altLang="en-US" dirty="0" smtClean="0"/>
              <a:t>任務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graphicFrame>
        <p:nvGraphicFramePr>
          <p:cNvPr id="4" name="內容版面配置區 1"/>
          <p:cNvGraphicFramePr>
            <a:graphicFrameLocks/>
          </p:cNvGraphicFramePr>
          <p:nvPr>
            <p:extLst/>
          </p:nvPr>
        </p:nvGraphicFramePr>
        <p:xfrm>
          <a:off x="2589212" y="2555631"/>
          <a:ext cx="8915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418">
                  <a:extLst>
                    <a:ext uri="{9D8B030D-6E8A-4147-A177-3AD203B41FA5}">
                      <a16:colId xmlns="" xmlns:a16="http://schemas.microsoft.com/office/drawing/2014/main" val="1369265549"/>
                    </a:ext>
                  </a:extLst>
                </a:gridCol>
                <a:gridCol w="1688123">
                  <a:extLst>
                    <a:ext uri="{9D8B030D-6E8A-4147-A177-3AD203B41FA5}">
                      <a16:colId xmlns="" xmlns:a16="http://schemas.microsoft.com/office/drawing/2014/main" val="4254180957"/>
                    </a:ext>
                  </a:extLst>
                </a:gridCol>
                <a:gridCol w="1582615">
                  <a:extLst>
                    <a:ext uri="{9D8B030D-6E8A-4147-A177-3AD203B41FA5}">
                      <a16:colId xmlns="" xmlns:a16="http://schemas.microsoft.com/office/drawing/2014/main" val="107927196"/>
                    </a:ext>
                  </a:extLst>
                </a:gridCol>
                <a:gridCol w="1529862">
                  <a:extLst>
                    <a:ext uri="{9D8B030D-6E8A-4147-A177-3AD203B41FA5}">
                      <a16:colId xmlns="" xmlns:a16="http://schemas.microsoft.com/office/drawing/2014/main" val="2777021711"/>
                    </a:ext>
                  </a:extLst>
                </a:gridCol>
                <a:gridCol w="1481382">
                  <a:extLst>
                    <a:ext uri="{9D8B030D-6E8A-4147-A177-3AD203B41FA5}">
                      <a16:colId xmlns="" xmlns:a16="http://schemas.microsoft.com/office/drawing/2014/main" val="1706579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1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2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3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4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1118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任務花費時間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0:44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0:40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0:49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0:41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192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點擊次數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70437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廣告出現次數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910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任務是否完成</a:t>
                      </a:r>
                      <a:r>
                        <a:rPr lang="en-US" altLang="zh-TW" dirty="0" smtClean="0"/>
                        <a:t>(</a:t>
                      </a:r>
                      <a:r>
                        <a:rPr lang="zh-TW" altLang="en-US" dirty="0" smtClean="0"/>
                        <a:t>不須提示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48691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70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量化</a:t>
            </a:r>
            <a:r>
              <a:rPr lang="zh-TW" altLang="en-US" dirty="0" smtClean="0"/>
              <a:t>資料</a:t>
            </a:r>
            <a:r>
              <a:rPr lang="en-US" altLang="zh-TW" dirty="0" smtClean="0"/>
              <a:t>-</a:t>
            </a:r>
            <a:r>
              <a:rPr lang="zh-TW" altLang="en-US" dirty="0" smtClean="0"/>
              <a:t>任務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graphicFrame>
        <p:nvGraphicFramePr>
          <p:cNvPr id="4" name="內容版面配置區 1"/>
          <p:cNvGraphicFramePr>
            <a:graphicFrameLocks/>
          </p:cNvGraphicFramePr>
          <p:nvPr>
            <p:extLst/>
          </p:nvPr>
        </p:nvGraphicFramePr>
        <p:xfrm>
          <a:off x="2589212" y="2555631"/>
          <a:ext cx="8915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418">
                  <a:extLst>
                    <a:ext uri="{9D8B030D-6E8A-4147-A177-3AD203B41FA5}">
                      <a16:colId xmlns="" xmlns:a16="http://schemas.microsoft.com/office/drawing/2014/main" val="1369265549"/>
                    </a:ext>
                  </a:extLst>
                </a:gridCol>
                <a:gridCol w="1688123">
                  <a:extLst>
                    <a:ext uri="{9D8B030D-6E8A-4147-A177-3AD203B41FA5}">
                      <a16:colId xmlns="" xmlns:a16="http://schemas.microsoft.com/office/drawing/2014/main" val="4254180957"/>
                    </a:ext>
                  </a:extLst>
                </a:gridCol>
                <a:gridCol w="1582615">
                  <a:extLst>
                    <a:ext uri="{9D8B030D-6E8A-4147-A177-3AD203B41FA5}">
                      <a16:colId xmlns="" xmlns:a16="http://schemas.microsoft.com/office/drawing/2014/main" val="107927196"/>
                    </a:ext>
                  </a:extLst>
                </a:gridCol>
                <a:gridCol w="1529862">
                  <a:extLst>
                    <a:ext uri="{9D8B030D-6E8A-4147-A177-3AD203B41FA5}">
                      <a16:colId xmlns="" xmlns:a16="http://schemas.microsoft.com/office/drawing/2014/main" val="2777021711"/>
                    </a:ext>
                  </a:extLst>
                </a:gridCol>
                <a:gridCol w="1481382">
                  <a:extLst>
                    <a:ext uri="{9D8B030D-6E8A-4147-A177-3AD203B41FA5}">
                      <a16:colId xmlns="" xmlns:a16="http://schemas.microsoft.com/office/drawing/2014/main" val="1706579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1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2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3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4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1118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任務花費時間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1:55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1:35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1:22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1:36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192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點擊次數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70437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廣告出現次數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910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任務是否完成</a:t>
                      </a:r>
                      <a:r>
                        <a:rPr lang="en-US" altLang="zh-TW" dirty="0" smtClean="0"/>
                        <a:t>(</a:t>
                      </a:r>
                      <a:r>
                        <a:rPr lang="zh-TW" altLang="en-US" dirty="0" smtClean="0"/>
                        <a:t>不須提示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48691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6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量化</a:t>
            </a:r>
            <a:r>
              <a:rPr lang="zh-TW" altLang="en-US" dirty="0" smtClean="0"/>
              <a:t>資料</a:t>
            </a:r>
            <a:r>
              <a:rPr lang="en-US" altLang="zh-TW" dirty="0" smtClean="0"/>
              <a:t>-</a:t>
            </a:r>
            <a:r>
              <a:rPr lang="zh-TW" altLang="en-US" dirty="0" smtClean="0"/>
              <a:t>任務</a:t>
            </a:r>
            <a:r>
              <a:rPr lang="en-US" altLang="zh-TW" dirty="0" smtClean="0"/>
              <a:t>3</a:t>
            </a:r>
            <a:endParaRPr lang="zh-TW" altLang="en-US" dirty="0"/>
          </a:p>
        </p:txBody>
      </p:sp>
      <p:graphicFrame>
        <p:nvGraphicFramePr>
          <p:cNvPr id="5" name="內容版面配置區 1"/>
          <p:cNvGraphicFramePr>
            <a:graphicFrameLocks/>
          </p:cNvGraphicFramePr>
          <p:nvPr>
            <p:extLst/>
          </p:nvPr>
        </p:nvGraphicFramePr>
        <p:xfrm>
          <a:off x="2589212" y="2555631"/>
          <a:ext cx="8915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418">
                  <a:extLst>
                    <a:ext uri="{9D8B030D-6E8A-4147-A177-3AD203B41FA5}">
                      <a16:colId xmlns="" xmlns:a16="http://schemas.microsoft.com/office/drawing/2014/main" val="1369265549"/>
                    </a:ext>
                  </a:extLst>
                </a:gridCol>
                <a:gridCol w="1688123">
                  <a:extLst>
                    <a:ext uri="{9D8B030D-6E8A-4147-A177-3AD203B41FA5}">
                      <a16:colId xmlns="" xmlns:a16="http://schemas.microsoft.com/office/drawing/2014/main" val="4254180957"/>
                    </a:ext>
                  </a:extLst>
                </a:gridCol>
                <a:gridCol w="1582615">
                  <a:extLst>
                    <a:ext uri="{9D8B030D-6E8A-4147-A177-3AD203B41FA5}">
                      <a16:colId xmlns="" xmlns:a16="http://schemas.microsoft.com/office/drawing/2014/main" val="107927196"/>
                    </a:ext>
                  </a:extLst>
                </a:gridCol>
                <a:gridCol w="1529862">
                  <a:extLst>
                    <a:ext uri="{9D8B030D-6E8A-4147-A177-3AD203B41FA5}">
                      <a16:colId xmlns="" xmlns:a16="http://schemas.microsoft.com/office/drawing/2014/main" val="2777021711"/>
                    </a:ext>
                  </a:extLst>
                </a:gridCol>
                <a:gridCol w="1481382">
                  <a:extLst>
                    <a:ext uri="{9D8B030D-6E8A-4147-A177-3AD203B41FA5}">
                      <a16:colId xmlns="" xmlns:a16="http://schemas.microsoft.com/office/drawing/2014/main" val="1706579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1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2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3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4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1118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任務花費時間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6:23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1:24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1:30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8:28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192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點擊次數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245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70437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廣告出現次數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910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任務是否完成</a:t>
                      </a:r>
                      <a:r>
                        <a:rPr lang="en-US" altLang="zh-TW" dirty="0" smtClean="0"/>
                        <a:t>(</a:t>
                      </a:r>
                      <a:r>
                        <a:rPr lang="zh-TW" altLang="en-US" dirty="0" smtClean="0"/>
                        <a:t>不須提示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48691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03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量化</a:t>
            </a:r>
            <a:r>
              <a:rPr lang="zh-TW" altLang="en-US" dirty="0" smtClean="0"/>
              <a:t>資料</a:t>
            </a:r>
            <a:r>
              <a:rPr lang="en-US" altLang="zh-TW" dirty="0" smtClean="0"/>
              <a:t>-</a:t>
            </a:r>
            <a:r>
              <a:rPr lang="zh-TW" altLang="en-US" dirty="0" smtClean="0"/>
              <a:t>任務</a:t>
            </a:r>
            <a:r>
              <a:rPr lang="en-US" altLang="zh-TW" dirty="0" smtClean="0"/>
              <a:t>4</a:t>
            </a:r>
            <a:endParaRPr lang="zh-TW" altLang="en-US" dirty="0"/>
          </a:p>
        </p:txBody>
      </p:sp>
      <p:graphicFrame>
        <p:nvGraphicFramePr>
          <p:cNvPr id="4" name="內容版面配置區 1"/>
          <p:cNvGraphicFramePr>
            <a:graphicFrameLocks/>
          </p:cNvGraphicFramePr>
          <p:nvPr>
            <p:extLst/>
          </p:nvPr>
        </p:nvGraphicFramePr>
        <p:xfrm>
          <a:off x="2589212" y="2555631"/>
          <a:ext cx="8915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418">
                  <a:extLst>
                    <a:ext uri="{9D8B030D-6E8A-4147-A177-3AD203B41FA5}">
                      <a16:colId xmlns="" xmlns:a16="http://schemas.microsoft.com/office/drawing/2014/main" val="1369265549"/>
                    </a:ext>
                  </a:extLst>
                </a:gridCol>
                <a:gridCol w="1688123">
                  <a:extLst>
                    <a:ext uri="{9D8B030D-6E8A-4147-A177-3AD203B41FA5}">
                      <a16:colId xmlns="" xmlns:a16="http://schemas.microsoft.com/office/drawing/2014/main" val="4254180957"/>
                    </a:ext>
                  </a:extLst>
                </a:gridCol>
                <a:gridCol w="1582615">
                  <a:extLst>
                    <a:ext uri="{9D8B030D-6E8A-4147-A177-3AD203B41FA5}">
                      <a16:colId xmlns="" xmlns:a16="http://schemas.microsoft.com/office/drawing/2014/main" val="107927196"/>
                    </a:ext>
                  </a:extLst>
                </a:gridCol>
                <a:gridCol w="1529862">
                  <a:extLst>
                    <a:ext uri="{9D8B030D-6E8A-4147-A177-3AD203B41FA5}">
                      <a16:colId xmlns="" xmlns:a16="http://schemas.microsoft.com/office/drawing/2014/main" val="2777021711"/>
                    </a:ext>
                  </a:extLst>
                </a:gridCol>
                <a:gridCol w="1481382">
                  <a:extLst>
                    <a:ext uri="{9D8B030D-6E8A-4147-A177-3AD203B41FA5}">
                      <a16:colId xmlns="" xmlns:a16="http://schemas.microsoft.com/office/drawing/2014/main" val="1706579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1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2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3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smtClean="0">
                          <a:latin typeface="微軟正黑體" panose="020B0604030504040204" pitchFamily="34" charset="-120"/>
                          <a:ea typeface="+mn-ea"/>
                        </a:rPr>
                        <a:t>User 4</a:t>
                      </a:r>
                      <a:endParaRPr lang="zh-TW" altLang="en-US" sz="1800" dirty="0" smtClean="0"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1118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任務花費時間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1:00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0:36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0:35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0:23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192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點擊次數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70437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廣告出現次數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910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任務是否完成</a:t>
                      </a:r>
                      <a:r>
                        <a:rPr lang="en-US" altLang="zh-TW" dirty="0" smtClean="0"/>
                        <a:t>(</a:t>
                      </a:r>
                      <a:r>
                        <a:rPr lang="zh-TW" altLang="en-US" dirty="0" smtClean="0"/>
                        <a:t>不須提示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48691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45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量化</a:t>
            </a:r>
            <a:r>
              <a:rPr lang="zh-TW" altLang="en-US" dirty="0" smtClean="0"/>
              <a:t>資料</a:t>
            </a:r>
            <a:r>
              <a:rPr lang="en-US" altLang="zh-TW" dirty="0" smtClean="0"/>
              <a:t>-</a:t>
            </a:r>
            <a:r>
              <a:rPr lang="zh-TW" altLang="en-US" dirty="0" smtClean="0"/>
              <a:t>點擊次數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/>
          </p:nvPr>
        </p:nvGraphicFramePr>
        <p:xfrm>
          <a:off x="2215661" y="2066193"/>
          <a:ext cx="9464798" cy="4338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279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量化</a:t>
            </a:r>
            <a:r>
              <a:rPr lang="zh-TW" altLang="en-US" dirty="0" smtClean="0"/>
              <a:t>資料</a:t>
            </a:r>
            <a:r>
              <a:rPr lang="en-US" altLang="zh-TW" dirty="0" smtClean="0"/>
              <a:t>-</a:t>
            </a:r>
            <a:r>
              <a:rPr lang="zh-TW" altLang="en-US" dirty="0" smtClean="0"/>
              <a:t>花費時間</a:t>
            </a:r>
            <a:endParaRPr lang="zh-TW" altLang="en-US" dirty="0"/>
          </a:p>
        </p:txBody>
      </p:sp>
      <p:graphicFrame>
        <p:nvGraphicFramePr>
          <p:cNvPr id="4" name="內容版面配置區 6"/>
          <p:cNvGraphicFramePr>
            <a:graphicFrameLocks noGrp="1"/>
          </p:cNvGraphicFramePr>
          <p:nvPr>
            <p:ph idx="1"/>
            <p:extLst/>
          </p:nvPr>
        </p:nvGraphicFramePr>
        <p:xfrm>
          <a:off x="2215661" y="2066193"/>
          <a:ext cx="9464798" cy="4338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4166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測驗發現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54375" y="1629676"/>
            <a:ext cx="8915400" cy="3777622"/>
          </a:xfrm>
        </p:spPr>
        <p:txBody>
          <a:bodyPr/>
          <a:lstStyle/>
          <a:p>
            <a:r>
              <a:rPr lang="zh-TW" altLang="en-US" dirty="0" smtClean="0"/>
              <a:t>第一題：</a:t>
            </a:r>
            <a:r>
              <a:rPr lang="zh-TW" altLang="zh-TW" dirty="0"/>
              <a:t>尋找最近站牌，並唸出該站牌名稱、距離、步行</a:t>
            </a:r>
            <a:r>
              <a:rPr lang="zh-TW" altLang="zh-TW" dirty="0" smtClean="0"/>
              <a:t>時間</a:t>
            </a:r>
            <a:endParaRPr lang="en-US" altLang="zh-TW" dirty="0" smtClean="0"/>
          </a:p>
          <a:p>
            <a:r>
              <a:rPr lang="zh-TW" altLang="en-US" dirty="0" smtClean="0"/>
              <a:t>預計使用流程：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6148" name="Picture 4" descr="https://scontent-tpe1-1.xx.fbcdn.net/v/t1.15752-9/45108672_2107930975918505_4675625913822478336_n.jpg?_nc_cat=104&amp;_nc_ht=scontent-tpe1-1.xx&amp;oh=725ef1eac3a68e5c554d7f84564951b9&amp;oe=5C88EF0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315" y="2463659"/>
            <a:ext cx="2022324" cy="4211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橢圓 3"/>
          <p:cNvSpPr/>
          <p:nvPr/>
        </p:nvSpPr>
        <p:spPr>
          <a:xfrm>
            <a:off x="2054375" y="5634966"/>
            <a:ext cx="1297705" cy="5434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150" name="Picture 6" descr="https://scontent-tpe1-1.xx.fbcdn.net/v/t1.15752-9/45156377_493760901144759_7718299489269710848_n.jpg?_nc_cat=106&amp;_nc_ht=scontent-tpe1-1.xx&amp;oh=0e536dfbe4b06700f53701e5f334b7a3&amp;oe=5C89425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211" y="2463659"/>
            <a:ext cx="2022325" cy="4211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橢圓 7"/>
          <p:cNvSpPr/>
          <p:nvPr/>
        </p:nvSpPr>
        <p:spPr>
          <a:xfrm>
            <a:off x="4923959" y="3349913"/>
            <a:ext cx="1423505" cy="5434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燕尾形向右箭號 4"/>
          <p:cNvSpPr/>
          <p:nvPr/>
        </p:nvSpPr>
        <p:spPr>
          <a:xfrm>
            <a:off x="4296579" y="4356174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7461849" y="3795623"/>
            <a:ext cx="344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結果：</a:t>
            </a:r>
            <a:endParaRPr lang="en-US" altLang="zh-TW" dirty="0" smtClean="0"/>
          </a:p>
          <a:p>
            <a:r>
              <a:rPr lang="zh-TW" altLang="en-US" dirty="0" smtClean="0"/>
              <a:t>使用者皆成功在</a:t>
            </a:r>
            <a:r>
              <a:rPr lang="en-US" altLang="zh-TW" dirty="0" smtClean="0"/>
              <a:t>10</a:t>
            </a:r>
            <a:r>
              <a:rPr lang="zh-TW" altLang="en-US" dirty="0" smtClean="0"/>
              <a:t>步內達成目標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56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測驗發現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054375" y="1629676"/>
            <a:ext cx="8915400" cy="3777622"/>
          </a:xfrm>
        </p:spPr>
        <p:txBody>
          <a:bodyPr/>
          <a:lstStyle/>
          <a:p>
            <a:r>
              <a:rPr lang="zh-TW" altLang="en-US" dirty="0" smtClean="0"/>
              <a:t>第二題：</a:t>
            </a:r>
            <a:r>
              <a:rPr lang="zh-TW" altLang="zh-TW" dirty="0"/>
              <a:t>尋找從自身位置到巨城的路線，並點選路線一的詳細內容，且唸出交通方式、所需</a:t>
            </a:r>
            <a:r>
              <a:rPr lang="zh-TW" altLang="zh-TW" dirty="0" smtClean="0"/>
              <a:t>時間</a:t>
            </a:r>
            <a:endParaRPr lang="en-US" altLang="zh-TW" dirty="0" smtClean="0"/>
          </a:p>
          <a:p>
            <a:r>
              <a:rPr lang="zh-TW" altLang="en-US" dirty="0" smtClean="0"/>
              <a:t>預計使用流程：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7170" name="Picture 2" descr="https://scontent-tpe1-1.xx.fbcdn.net/v/t1.15752-9/45164645_250438668914290_7561535961809551360_n.jpg?_nc_cat=107&amp;_nc_ht=scontent-tpe1-1.xx&amp;oh=dc675c5c72a54310cea9c729f7609c9b&amp;oe=5C4E11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050" y="2720785"/>
            <a:ext cx="1945976" cy="405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燕尾形向右箭號 6"/>
          <p:cNvSpPr/>
          <p:nvPr/>
        </p:nvSpPr>
        <p:spPr>
          <a:xfrm>
            <a:off x="4215947" y="4382053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174" name="Picture 6" descr="https://scontent-tpe1-1.xx.fbcdn.net/v/t1.15752-9/45071925_1271164199703466_8577957740687654912_n.jpg?_nc_cat=108&amp;_nc_ht=scontent-tpe1-1.xx&amp;oh=c114be2cc96291bb42eac5f25234a4bb&amp;oe=5C4C95B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403" y="2720785"/>
            <a:ext cx="1970016" cy="410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燕尾形向右箭號 8"/>
          <p:cNvSpPr/>
          <p:nvPr/>
        </p:nvSpPr>
        <p:spPr>
          <a:xfrm>
            <a:off x="6932789" y="4382053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034129" y="5679619"/>
            <a:ext cx="1297705" cy="5434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176" name="Picture 8" descr="https://scontent-tpe1-1.xx.fbcdn.net/v/t1.15752-9/45116622_345247486235579_6514204737821212672_n.jpg?_nc_cat=109&amp;_nc_ht=scontent-tpe1-1.xx&amp;oh=56b84b69e22b848f5cba73f20a27007b&amp;oe=5C89C29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340" y="2732130"/>
            <a:ext cx="1940527" cy="404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橢圓 12"/>
          <p:cNvSpPr/>
          <p:nvPr/>
        </p:nvSpPr>
        <p:spPr>
          <a:xfrm>
            <a:off x="5139201" y="4063643"/>
            <a:ext cx="1031846" cy="3441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538565" y="3139964"/>
            <a:ext cx="1031846" cy="3441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8893834" y="3951965"/>
            <a:ext cx="779507" cy="3441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08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測驗發現</a:t>
            </a:r>
          </a:p>
        </p:txBody>
      </p:sp>
      <p:sp>
        <p:nvSpPr>
          <p:cNvPr id="4" name="燕尾形向右箭號 3"/>
          <p:cNvSpPr/>
          <p:nvPr/>
        </p:nvSpPr>
        <p:spPr>
          <a:xfrm>
            <a:off x="1873220" y="3772593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194" name="Picture 2" descr="https://scontent-tpe1-1.xx.fbcdn.net/v/t1.15752-9/45061019_2254303501287741_7066394462431215616_n.jpg?_nc_cat=103&amp;_nc_ht=scontent-tpe1-1.xx&amp;oh=d43182e0f34ea7e540b6605a77336b30&amp;oe=5C45A86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202" y="2140791"/>
            <a:ext cx="2053810" cy="427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橢圓 5"/>
          <p:cNvSpPr/>
          <p:nvPr/>
        </p:nvSpPr>
        <p:spPr>
          <a:xfrm>
            <a:off x="4169915" y="3865627"/>
            <a:ext cx="447635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196" name="Picture 4" descr="https://scontent-tpe1-1.xx.fbcdn.net/v/t1.15752-9/45203251_1951313331836356_2357195412026163200_n.jpg?_nc_cat=107&amp;_nc_ht=scontent-tpe1-1.xx&amp;oh=3e234659186bdfdd5d270e5241fa0a73&amp;oe=5C45E04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284" y="2140790"/>
            <a:ext cx="2053812" cy="427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燕尾形向右箭號 7"/>
          <p:cNvSpPr/>
          <p:nvPr/>
        </p:nvSpPr>
        <p:spPr>
          <a:xfrm>
            <a:off x="4820302" y="3772592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198" name="Picture 6" descr="https://scontent-tpe1-1.xx.fbcdn.net/v/t1.15752-9/44998550_337247713518531_6961417095120683008_n.jpg?_nc_cat=103&amp;_nc_ht=scontent-tpe1-1.xx&amp;oh=56977f5b81f6d10627f907a36621526c&amp;oe=5C422DF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368" y="2140790"/>
            <a:ext cx="2051485" cy="427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燕尾形向右箭號 9"/>
          <p:cNvSpPr/>
          <p:nvPr/>
        </p:nvSpPr>
        <p:spPr>
          <a:xfrm>
            <a:off x="7767386" y="3772592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840748" y="2855955"/>
            <a:ext cx="926638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8173776" y="4573026"/>
            <a:ext cx="1828485" cy="14934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內容版面配置區 2"/>
          <p:cNvSpPr>
            <a:spLocks noGrp="1"/>
          </p:cNvSpPr>
          <p:nvPr>
            <p:ph idx="1"/>
          </p:nvPr>
        </p:nvSpPr>
        <p:spPr>
          <a:xfrm>
            <a:off x="2054375" y="1629676"/>
            <a:ext cx="8915400" cy="3777622"/>
          </a:xfrm>
        </p:spPr>
        <p:txBody>
          <a:bodyPr/>
          <a:lstStyle/>
          <a:p>
            <a:r>
              <a:rPr lang="zh-TW" altLang="en-US" dirty="0" smtClean="0"/>
              <a:t>預計使用流程：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492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測驗發現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/>
              <a:t>第二題測驗結果：</a:t>
            </a:r>
            <a:endParaRPr lang="en-US" altLang="zh-TW" sz="2400" dirty="0" smtClean="0"/>
          </a:p>
          <a:p>
            <a:pPr lvl="1"/>
            <a:r>
              <a:rPr lang="zh-TW" altLang="en-US" sz="2000" dirty="0" smtClean="0"/>
              <a:t>使用者皆在２５步、兩分鐘內成功達到目標。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可是在最後一個</a:t>
            </a:r>
            <a:r>
              <a:rPr lang="en-US" altLang="zh-TW" sz="2000" dirty="0" smtClean="0"/>
              <a:t>Screen</a:t>
            </a:r>
            <a:r>
              <a:rPr lang="zh-TW" altLang="en-US" sz="2000" dirty="0" smtClean="0"/>
              <a:t>的時候會有</a:t>
            </a:r>
            <a:r>
              <a:rPr lang="en-US" altLang="zh-TW" sz="2000" dirty="0" smtClean="0"/>
              <a:t>:</a:t>
            </a:r>
          </a:p>
          <a:p>
            <a:pPr lvl="2"/>
            <a:r>
              <a:rPr lang="en-US" altLang="zh-TW" sz="1800" dirty="0" smtClean="0"/>
              <a:t>1.</a:t>
            </a:r>
            <a:r>
              <a:rPr lang="zh-TW" altLang="en-US" sz="1800" dirty="0" smtClean="0"/>
              <a:t> 頭部向螢幕靠近的情況</a:t>
            </a:r>
            <a:endParaRPr lang="en-US" altLang="zh-TW" sz="1800" dirty="0" smtClean="0"/>
          </a:p>
          <a:p>
            <a:pPr lvl="2"/>
            <a:r>
              <a:rPr lang="en-US" altLang="zh-TW" sz="1800" dirty="0" smtClean="0"/>
              <a:t>2.</a:t>
            </a:r>
            <a:r>
              <a:rPr lang="zh-TW" altLang="en-US" sz="1800" dirty="0" smtClean="0"/>
              <a:t> 文字有念錯的傾向</a:t>
            </a:r>
            <a:r>
              <a:rPr lang="en-US" altLang="zh-TW" sz="1800" dirty="0" smtClean="0"/>
              <a:t>, </a:t>
            </a:r>
            <a:r>
              <a:rPr lang="zh-TW" altLang="en-US" sz="1800" dirty="0" smtClean="0"/>
              <a:t>例如公里念成公尺</a:t>
            </a:r>
            <a:endParaRPr lang="en-US" altLang="zh-TW" sz="1800" dirty="0" smtClean="0"/>
          </a:p>
        </p:txBody>
      </p:sp>
      <p:pic>
        <p:nvPicPr>
          <p:cNvPr id="4" name="Picture 6" descr="https://scontent-tpe1-1.xx.fbcdn.net/v/t1.15752-9/44998550_337247713518531_6961417095120683008_n.jpg?_nc_cat=103&amp;_nc_ht=scontent-tpe1-1.xx&amp;oh=56977f5b81f6d10627f907a36621526c&amp;oe=5C422DF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8787" y="1639148"/>
            <a:ext cx="2051485" cy="427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橢圓 4"/>
          <p:cNvSpPr/>
          <p:nvPr/>
        </p:nvSpPr>
        <p:spPr>
          <a:xfrm>
            <a:off x="8441195" y="4071384"/>
            <a:ext cx="1828485" cy="15982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6457960" y="4987788"/>
            <a:ext cx="1983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 smtClean="0"/>
              <a:t>Screen</a:t>
            </a:r>
            <a:r>
              <a:rPr lang="zh-TW" altLang="en-US" sz="1600" dirty="0" smtClean="0"/>
              <a:t>如右所示</a:t>
            </a:r>
            <a:endParaRPr lang="zh-TW" altLang="en-US" sz="1600" dirty="0"/>
          </a:p>
        </p:txBody>
      </p:sp>
      <p:sp>
        <p:nvSpPr>
          <p:cNvPr id="7" name="AutoShape 6" descr="ãæ¾å¤§é¡ãçåçæå°çµæ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9226" name="Picture 10" descr="ãæ¾å¤§é¡ãçåçæå°çµæ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589" y="4284530"/>
            <a:ext cx="1328371" cy="132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2131678" y="4412572"/>
            <a:ext cx="24929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Usability Problem1:</a:t>
            </a:r>
          </a:p>
          <a:p>
            <a:r>
              <a:rPr lang="zh-TW" altLang="en-US" dirty="0" smtClean="0"/>
              <a:t>此</a:t>
            </a:r>
            <a:r>
              <a:rPr lang="en-US" altLang="zh-TW" dirty="0" smtClean="0"/>
              <a:t>APP</a:t>
            </a:r>
            <a:r>
              <a:rPr lang="zh-TW" altLang="en-US" dirty="0" smtClean="0"/>
              <a:t>在路線規劃中的</a:t>
            </a:r>
            <a:endParaRPr lang="en-US" altLang="zh-TW" dirty="0" smtClean="0"/>
          </a:p>
          <a:p>
            <a:r>
              <a:rPr lang="zh-TW" altLang="en-US" dirty="0" smtClean="0"/>
              <a:t>路線詳細內容字形過小</a:t>
            </a:r>
            <a:endParaRPr lang="en-US" altLang="zh-TW" dirty="0" smtClean="0"/>
          </a:p>
          <a:p>
            <a:r>
              <a:rPr lang="en-US" altLang="zh-TW" dirty="0" smtClean="0"/>
              <a:t>Severity: </a:t>
            </a:r>
            <a:r>
              <a:rPr lang="en-US" altLang="zh-TW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medium</a:t>
            </a:r>
            <a:endParaRPr lang="zh-TW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88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測驗發現</a:t>
            </a: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2054375" y="1629676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第三題：</a:t>
            </a:r>
            <a:r>
              <a:rPr lang="zh-TW" altLang="zh-TW" dirty="0"/>
              <a:t>尋找距離巨城最近的站牌，需要顯示出站牌名稱</a:t>
            </a:r>
            <a:endParaRPr lang="en-US" altLang="zh-TW" dirty="0" smtClean="0"/>
          </a:p>
          <a:p>
            <a:r>
              <a:rPr lang="zh-TW" altLang="en-US" dirty="0" smtClean="0"/>
              <a:t>預計使用流程：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10242" name="Picture 2" descr="https://scontent-tpe1-1.xx.fbcdn.net/v/t1.15752-9/45164645_250438668914290_7561535961809551360_n.jpg?_nc_cat=107&amp;_nc_ht=scontent-tpe1-1.xx&amp;oh=dc675c5c72a54310cea9c729f7609c9b&amp;oe=5C4E11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429" y="2441275"/>
            <a:ext cx="2063629" cy="429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燕尾形向右箭號 5"/>
          <p:cNvSpPr/>
          <p:nvPr/>
        </p:nvSpPr>
        <p:spPr>
          <a:xfrm>
            <a:off x="4492112" y="4163639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241429" y="5215277"/>
            <a:ext cx="1149018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46" name="Picture 6" descr="https://scontent-tpe1-1.xx.fbcdn.net/v/t1.15752-9/45043739_434334030429801_4349223079524696064_n.jpg?_nc_cat=111&amp;_nc_ht=scontent-tpe1-1.xx&amp;oh=1f99f369677f8b9d31b34504059d2204&amp;oe=5C78469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858" y="2457843"/>
            <a:ext cx="2055673" cy="4280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向左箭號 4"/>
          <p:cNvSpPr/>
          <p:nvPr/>
        </p:nvSpPr>
        <p:spPr>
          <a:xfrm rot="2698136">
            <a:off x="5202033" y="3024440"/>
            <a:ext cx="569343" cy="405442"/>
          </a:xfrm>
          <a:prstGeom prst="leftArrow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48" name="Picture 8" descr="https://scontent-tpe1-1.xx.fbcdn.net/v/t1.15752-9/45008448_285639002059613_3625281375139004416_n.jpg?_nc_cat=101&amp;_nc_ht=scontent-tpe1-1.xx&amp;oh=174a963f1d7141c917faa3850ced54bb&amp;oe=5C7B8A3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331" y="2457843"/>
            <a:ext cx="2055673" cy="4280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燕尾形向右箭號 12"/>
          <p:cNvSpPr/>
          <p:nvPr/>
        </p:nvSpPr>
        <p:spPr>
          <a:xfrm>
            <a:off x="7456585" y="4163638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9206167" y="5880947"/>
            <a:ext cx="1149018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12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測驗發現</a:t>
            </a:r>
          </a:p>
        </p:txBody>
      </p:sp>
      <p:pic>
        <p:nvPicPr>
          <p:cNvPr id="11266" name="Picture 2" descr="https://scontent-tpe1-1.xx.fbcdn.net/v/t1.15752-9/45039279_1866555730058569_8923986380799868928_n.jpg?_nc_cat=109&amp;_nc_ht=scontent-tpe1-1.xx&amp;oh=5acb63685af83be3f638b65567ae904a&amp;oe=5C837AA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686" y="2069303"/>
            <a:ext cx="2285345" cy="4759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內容版面配置區 2"/>
          <p:cNvSpPr txBox="1">
            <a:spLocks/>
          </p:cNvSpPr>
          <p:nvPr/>
        </p:nvSpPr>
        <p:spPr>
          <a:xfrm>
            <a:off x="2054375" y="1629676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預計使用流程：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6" name="燕尾形向右箭號 5"/>
          <p:cNvSpPr/>
          <p:nvPr/>
        </p:nvSpPr>
        <p:spPr>
          <a:xfrm>
            <a:off x="1936680" y="3729071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3711919" y="4291825"/>
            <a:ext cx="479835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268" name="Picture 4" descr="https://scontent-tpe1-1.xx.fbcdn.net/v/t1.15752-9/44995402_338356486972645_537799458159591424_n.jpg?_nc_cat=110&amp;_nc_ht=scontent-tpe1-1.xx&amp;oh=0939d67650f4ee95aa66e2e09eec34de&amp;oe=5C3CF4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351" y="2069303"/>
            <a:ext cx="2285345" cy="4759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燕尾形向右箭號 8"/>
          <p:cNvSpPr/>
          <p:nvPr/>
        </p:nvSpPr>
        <p:spPr>
          <a:xfrm>
            <a:off x="5075345" y="3729070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292533" y="3658082"/>
            <a:ext cx="1238980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88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測驗發現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/>
          <a:p>
            <a:r>
              <a:rPr lang="zh-TW" altLang="en-US" sz="2400" dirty="0" smtClean="0"/>
              <a:t>第三題測驗結果：</a:t>
            </a:r>
            <a:endParaRPr lang="en-US" altLang="zh-TW" sz="2400" dirty="0" smtClean="0"/>
          </a:p>
          <a:p>
            <a:pPr lvl="1"/>
            <a:r>
              <a:rPr lang="zh-TW" altLang="en-US" sz="2000" dirty="0" smtClean="0"/>
              <a:t>有兩個使用者無法達成目標。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不能完成目標的定義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需要問施測者下一步驟才能完成。</a:t>
            </a:r>
            <a:endParaRPr lang="en-US" altLang="zh-TW" sz="2000" dirty="0" smtClean="0"/>
          </a:p>
          <a:p>
            <a:r>
              <a:rPr lang="zh-TW" altLang="en-US" sz="2200" dirty="0" smtClean="0"/>
              <a:t>以成功的情況來說，使用者都能在</a:t>
            </a:r>
            <a:r>
              <a:rPr lang="en-US" altLang="zh-TW" sz="2200" dirty="0" smtClean="0"/>
              <a:t>1:30</a:t>
            </a:r>
            <a:r>
              <a:rPr lang="zh-TW" altLang="en-US" sz="2200" dirty="0" smtClean="0"/>
              <a:t>內完成。</a:t>
            </a:r>
            <a:endParaRPr lang="en-US" altLang="zh-TW" sz="2200" dirty="0" smtClean="0"/>
          </a:p>
          <a:p>
            <a:r>
              <a:rPr lang="zh-TW" altLang="en-US" sz="2200" dirty="0" smtClean="0"/>
              <a:t>針對兩名測驗失敗的使用者有以下發現：</a:t>
            </a:r>
            <a:endParaRPr lang="en-US" altLang="zh-TW" sz="2200" dirty="0" smtClean="0"/>
          </a:p>
          <a:p>
            <a:pPr lvl="1"/>
            <a:r>
              <a:rPr lang="en-US" altLang="zh-TW" sz="2000" dirty="0" smtClean="0"/>
              <a:t>1.</a:t>
            </a:r>
            <a:r>
              <a:rPr lang="zh-TW" altLang="en-US" sz="2000" dirty="0" smtClean="0"/>
              <a:t> 在</a:t>
            </a:r>
            <a:r>
              <a:rPr lang="en-US" altLang="zh-TW" sz="2000" dirty="0" smtClean="0"/>
              <a:t>APP</a:t>
            </a:r>
            <a:r>
              <a:rPr lang="zh-TW" altLang="en-US" sz="2000" dirty="0" smtClean="0"/>
              <a:t>中迷路。</a:t>
            </a:r>
            <a:endParaRPr lang="en-US" altLang="zh-TW" sz="2000" dirty="0" smtClean="0"/>
          </a:p>
          <a:p>
            <a:pPr lvl="1"/>
            <a:r>
              <a:rPr lang="en-US" altLang="zh-TW" sz="2000" dirty="0" smtClean="0"/>
              <a:t>2.</a:t>
            </a:r>
            <a:r>
              <a:rPr lang="zh-TW" altLang="en-US" sz="2000" dirty="0" smtClean="0"/>
              <a:t> 嘗試使用路線規劃來找到巨城最近站牌。</a:t>
            </a:r>
            <a:endParaRPr lang="en-US" altLang="zh-TW" sz="20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8514371" y="4485000"/>
            <a:ext cx="24929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Usability Problem2:</a:t>
            </a:r>
          </a:p>
          <a:p>
            <a:r>
              <a:rPr lang="zh-TW" altLang="en-US" dirty="0" smtClean="0"/>
              <a:t>此</a:t>
            </a:r>
            <a:r>
              <a:rPr lang="en-US" altLang="zh-TW" dirty="0" smtClean="0"/>
              <a:t>APP</a:t>
            </a:r>
            <a:r>
              <a:rPr lang="zh-TW" altLang="en-US" dirty="0" smtClean="0"/>
              <a:t>的</a:t>
            </a:r>
            <a:r>
              <a:rPr lang="zh-TW" altLang="en-US" dirty="0" smtClean="0">
                <a:solidFill>
                  <a:srgbClr val="0070C0"/>
                </a:solidFill>
              </a:rPr>
              <a:t>站牌地圖</a:t>
            </a:r>
            <a:r>
              <a:rPr lang="zh-TW" altLang="en-US" dirty="0" smtClean="0"/>
              <a:t>功能</a:t>
            </a:r>
            <a:endParaRPr lang="en-US" altLang="zh-TW" dirty="0" smtClean="0"/>
          </a:p>
          <a:p>
            <a:r>
              <a:rPr lang="zh-TW" altLang="en-US" dirty="0" smtClean="0"/>
              <a:t>無法讓人正常理解使用</a:t>
            </a:r>
            <a:endParaRPr lang="en-US" altLang="zh-TW" dirty="0" smtClean="0"/>
          </a:p>
          <a:p>
            <a:r>
              <a:rPr lang="en-US" altLang="zh-TW" dirty="0" smtClean="0"/>
              <a:t>Severity: </a:t>
            </a:r>
            <a:r>
              <a:rPr lang="en-US" altLang="zh-TW" dirty="0" smtClean="0">
                <a:solidFill>
                  <a:srgbClr val="FF0000"/>
                </a:solidFill>
              </a:rPr>
              <a:t>high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17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scontent-tpe1-1.xx.fbcdn.net/v/t1.15752-9/45164645_250438668914290_7561535961809551360_n.jpg?_nc_cat=107&amp;_nc_ht=scontent-tpe1-1.xx&amp;oh=dc675c5c72a54310cea9c729f7609c9b&amp;oe=5C4E11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376" y="2423694"/>
            <a:ext cx="2075046" cy="432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測驗發現</a:t>
            </a: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2054375" y="1629676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第四題：</a:t>
            </a:r>
            <a:r>
              <a:rPr lang="zh-TW" altLang="zh-TW" dirty="0"/>
              <a:t>搜尋路線</a:t>
            </a:r>
            <a:r>
              <a:rPr lang="en-US" altLang="zh-TW" dirty="0"/>
              <a:t>5608</a:t>
            </a:r>
            <a:r>
              <a:rPr lang="zh-TW" altLang="zh-TW" dirty="0"/>
              <a:t>，並且將「清華大學」加入</a:t>
            </a:r>
            <a:r>
              <a:rPr lang="zh-TW" altLang="zh-TW" dirty="0" smtClean="0"/>
              <a:t>最愛</a:t>
            </a:r>
            <a:endParaRPr lang="en-US" altLang="zh-TW" dirty="0" smtClean="0"/>
          </a:p>
          <a:p>
            <a:r>
              <a:rPr lang="zh-TW" altLang="en-US" dirty="0" smtClean="0"/>
              <a:t>預計使用流程：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6" name="燕尾形向右箭號 5"/>
          <p:cNvSpPr/>
          <p:nvPr/>
        </p:nvSpPr>
        <p:spPr>
          <a:xfrm>
            <a:off x="4263421" y="4157946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燕尾形向右箭號 7"/>
          <p:cNvSpPr/>
          <p:nvPr/>
        </p:nvSpPr>
        <p:spPr>
          <a:xfrm>
            <a:off x="7141159" y="4157946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2018416" y="3801064"/>
            <a:ext cx="1149018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296" name="Picture 8" descr="https://scontent-tpe1-1.xx.fbcdn.net/v/t1.15752-9/45100791_2043605378995227_1136019833339510784_n.jpg?_nc_cat=111&amp;_nc_ht=scontent-tpe1-1.xx&amp;oh=e4b81a81554255ef61f0ce7776c937ea&amp;oe=5C4B54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112" y="2423694"/>
            <a:ext cx="2075046" cy="432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橢圓 10"/>
          <p:cNvSpPr/>
          <p:nvPr/>
        </p:nvSpPr>
        <p:spPr>
          <a:xfrm>
            <a:off x="5739913" y="5470671"/>
            <a:ext cx="1293381" cy="10055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6246892" y="3706579"/>
            <a:ext cx="867106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298" name="Picture 10" descr="https://scontent-tpe1-1.xx.fbcdn.net/v/t1.15752-9/45000669_353679805368486_6381120254122131456_n.jpg?_nc_cat=104&amp;_nc_ht=scontent-tpe1-1.xx&amp;oh=05d2579c694b53684182529cbcdb1200&amp;oe=5C4BD9D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906" y="2423694"/>
            <a:ext cx="2075046" cy="432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向左箭號 15"/>
          <p:cNvSpPr/>
          <p:nvPr/>
        </p:nvSpPr>
        <p:spPr>
          <a:xfrm rot="16200000">
            <a:off x="7866930" y="5438599"/>
            <a:ext cx="569343" cy="405442"/>
          </a:xfrm>
          <a:prstGeom prst="leftArrow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14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測驗發現</a:t>
            </a: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2054375" y="1629676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預計使用流程：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14338" name="Picture 2" descr="https://scontent-tpe1-1.xx.fbcdn.net/v/t1.15752-9/44990456_879145738876386_7352663223939629056_n.jpg?_nc_cat=104&amp;_nc_ht=scontent-tpe1-1.xx&amp;oh=de0ebabf4527187d259bf8cc78634729&amp;oe=5C3CA5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067" y="2037029"/>
            <a:ext cx="2218323" cy="461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燕尾形向右箭號 5"/>
          <p:cNvSpPr/>
          <p:nvPr/>
        </p:nvSpPr>
        <p:spPr>
          <a:xfrm>
            <a:off x="1873306" y="3777700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燕尾形向右箭號 6"/>
          <p:cNvSpPr/>
          <p:nvPr/>
        </p:nvSpPr>
        <p:spPr>
          <a:xfrm>
            <a:off x="4988459" y="3777700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340" name="Picture 4" descr="https://scontent-tpe1-1.xx.fbcdn.net/v/t1.15752-9/45052756_268082720506294_5924913122908307456_n.jpg?_nc_cat=105&amp;_nc_ht=scontent-tpe1-1.xx&amp;oh=53507ea8352c9f55de75ccd73939e3af&amp;oe=5C46AD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220" y="2037029"/>
            <a:ext cx="2217562" cy="461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燕尾形向右箭號 8"/>
          <p:cNvSpPr/>
          <p:nvPr/>
        </p:nvSpPr>
        <p:spPr>
          <a:xfrm>
            <a:off x="8102851" y="3777700"/>
            <a:ext cx="534692" cy="42631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342" name="Picture 6" descr="https://scontent-tpe1-1.xx.fbcdn.net/v/t1.15752-9/45204552_2246141198997426_7285825380965941248_n.jpg?_nc_cat=106&amp;_nc_ht=scontent-tpe1-1.xx&amp;oh=8b4704e559adbc5a49b1a8251f05a7c1&amp;oe=5C4F67B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612" y="2037030"/>
            <a:ext cx="2217562" cy="461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橢圓 10"/>
          <p:cNvSpPr/>
          <p:nvPr/>
        </p:nvSpPr>
        <p:spPr>
          <a:xfrm>
            <a:off x="3046782" y="4059665"/>
            <a:ext cx="867106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996971" y="3353625"/>
            <a:ext cx="867106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8852087" y="3326466"/>
            <a:ext cx="952816" cy="411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93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測驗發現</a:t>
            </a:r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/>
          <a:p>
            <a:r>
              <a:rPr lang="zh-TW" altLang="en-US" sz="2400" dirty="0" smtClean="0"/>
              <a:t>第四題測驗結果：</a:t>
            </a:r>
            <a:endParaRPr lang="en-US" altLang="zh-TW" sz="2400" dirty="0" smtClean="0"/>
          </a:p>
          <a:p>
            <a:pPr lvl="1"/>
            <a:r>
              <a:rPr lang="zh-TW" altLang="en-US" sz="2000" dirty="0" smtClean="0"/>
              <a:t>使用者皆在２５步、一分鐘內成功達到目標。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可是在第二個</a:t>
            </a:r>
            <a:r>
              <a:rPr lang="en-US" altLang="zh-TW" sz="2000" dirty="0" smtClean="0"/>
              <a:t>Screen</a:t>
            </a:r>
            <a:r>
              <a:rPr lang="zh-TW" altLang="en-US" sz="2000" dirty="0" smtClean="0"/>
              <a:t>的時候有時會輸入錯誤</a:t>
            </a:r>
            <a:endParaRPr lang="en-US" altLang="zh-TW" sz="1800" dirty="0" smtClean="0"/>
          </a:p>
        </p:txBody>
      </p:sp>
      <p:pic>
        <p:nvPicPr>
          <p:cNvPr id="8" name="Picture 8" descr="https://scontent-tpe1-1.xx.fbcdn.net/v/t1.15752-9/45100791_2043605378995227_1136019833339510784_n.jpg?_nc_cat=111&amp;_nc_ht=scontent-tpe1-1.xx&amp;oh=e4b81a81554255ef61f0ce7776c937ea&amp;oe=5C4B54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621" y="2016288"/>
            <a:ext cx="2075046" cy="432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橢圓 8"/>
          <p:cNvSpPr/>
          <p:nvPr/>
        </p:nvSpPr>
        <p:spPr>
          <a:xfrm>
            <a:off x="9560476" y="5063263"/>
            <a:ext cx="1293381" cy="10055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10058401" y="3299173"/>
            <a:ext cx="867106" cy="384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2213159" y="4157847"/>
            <a:ext cx="27238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Usability Problem3:</a:t>
            </a:r>
          </a:p>
          <a:p>
            <a:r>
              <a:rPr lang="zh-TW" altLang="en-US" dirty="0" smtClean="0"/>
              <a:t>此</a:t>
            </a:r>
            <a:r>
              <a:rPr lang="en-US" altLang="zh-TW" dirty="0" smtClean="0"/>
              <a:t>APP</a:t>
            </a:r>
            <a:r>
              <a:rPr lang="zh-TW" altLang="en-US" dirty="0" smtClean="0"/>
              <a:t>中的路線搜尋功能</a:t>
            </a:r>
            <a:endParaRPr lang="en-US" altLang="zh-TW" dirty="0" smtClean="0"/>
          </a:p>
          <a:p>
            <a:r>
              <a:rPr lang="zh-TW" altLang="en-US" dirty="0" smtClean="0"/>
              <a:t>裡面的內建鍵盤面積過小</a:t>
            </a:r>
            <a:endParaRPr lang="en-US" altLang="zh-TW" dirty="0" smtClean="0"/>
          </a:p>
          <a:p>
            <a:r>
              <a:rPr lang="en-US" altLang="zh-TW" dirty="0" smtClean="0"/>
              <a:t>Severity: </a:t>
            </a:r>
            <a:r>
              <a:rPr lang="en-US" altLang="zh-TW" dirty="0" smtClean="0">
                <a:solidFill>
                  <a:srgbClr val="00B050"/>
                </a:solidFill>
              </a:rPr>
              <a:t>low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68608" y="4176857"/>
            <a:ext cx="27238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Usability Problem4:</a:t>
            </a:r>
          </a:p>
          <a:p>
            <a:r>
              <a:rPr lang="zh-TW" altLang="en-US" dirty="0" smtClean="0"/>
              <a:t>内建鍵盤的「刪除」字眼</a:t>
            </a:r>
            <a:endParaRPr lang="en-US" altLang="zh-TW" dirty="0" smtClean="0"/>
          </a:p>
          <a:p>
            <a:r>
              <a:rPr lang="zh-TW" altLang="en-US" dirty="0" smtClean="0"/>
              <a:t>容易讓人誤認清除全</a:t>
            </a:r>
            <a:r>
              <a:rPr lang="zh-TW" altLang="en-US" dirty="0"/>
              <a:t>部</a:t>
            </a:r>
            <a:endParaRPr lang="en-US" altLang="zh-TW" dirty="0" smtClean="0"/>
          </a:p>
          <a:p>
            <a:r>
              <a:rPr lang="en-US" altLang="zh-TW" dirty="0" smtClean="0"/>
              <a:t>Severity: </a:t>
            </a:r>
            <a:r>
              <a:rPr lang="en-US" altLang="zh-TW" dirty="0" smtClean="0">
                <a:solidFill>
                  <a:srgbClr val="00B050"/>
                </a:solidFill>
              </a:rPr>
              <a:t>low</a:t>
            </a:r>
            <a:endParaRPr lang="zh-TW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22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/>
              <a:t>感想</a:t>
            </a:r>
            <a:endParaRPr lang="en-US" altLang="zh-TW" sz="2400" dirty="0" smtClean="0"/>
          </a:p>
          <a:p>
            <a:pPr lvl="1"/>
            <a:r>
              <a:rPr lang="zh-TW" altLang="en-US" sz="2200" dirty="0" smtClean="0"/>
              <a:t>哪個功能最難用？</a:t>
            </a:r>
            <a:endParaRPr lang="en-US" altLang="zh-TW" sz="2200" dirty="0" smtClean="0"/>
          </a:p>
          <a:p>
            <a:r>
              <a:rPr lang="zh-TW" altLang="en-US" sz="2400" dirty="0" smtClean="0"/>
              <a:t>建議</a:t>
            </a:r>
            <a:endParaRPr lang="en-US" altLang="zh-TW" sz="2400" dirty="0" smtClean="0"/>
          </a:p>
          <a:p>
            <a:pPr lvl="1"/>
            <a:r>
              <a:rPr lang="zh-TW" altLang="en-US" sz="2000" dirty="0"/>
              <a:t>需要新增什麼功能？</a:t>
            </a:r>
            <a:endParaRPr lang="en-US" altLang="zh-TW" sz="2000" dirty="0"/>
          </a:p>
          <a:p>
            <a:pPr lvl="1"/>
            <a:endParaRPr lang="en-US" altLang="zh-TW" sz="2200" dirty="0" smtClean="0"/>
          </a:p>
          <a:p>
            <a:pPr lvl="1"/>
            <a:endParaRPr lang="zh-TW" altLang="en-US" sz="2200" dirty="0"/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受測者的感想與建議</a:t>
            </a:r>
            <a:r>
              <a:rPr lang="en-US" altLang="zh-TW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553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zh-TW" altLang="en-US" dirty="0" smtClean="0"/>
              <a:t>哪個功能最難用？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2259623"/>
            <a:ext cx="8915400" cy="3651599"/>
          </a:xfrm>
        </p:spPr>
        <p:txBody>
          <a:bodyPr>
            <a:noAutofit/>
          </a:bodyPr>
          <a:lstStyle/>
          <a:p>
            <a:r>
              <a:rPr lang="en-US" altLang="zh-TW" sz="2000" dirty="0" smtClean="0"/>
              <a:t>User 1</a:t>
            </a:r>
            <a:r>
              <a:rPr lang="zh-TW" altLang="en-US" sz="2000" dirty="0" smtClean="0"/>
              <a:t>：以目前地圖中心找最近</a:t>
            </a:r>
            <a:r>
              <a:rPr lang="zh-TW" altLang="en-US" sz="2000" dirty="0"/>
              <a:t>站牌</a:t>
            </a:r>
            <a:endParaRPr lang="en-US" altLang="zh-TW" sz="2000" dirty="0" smtClean="0"/>
          </a:p>
          <a:p>
            <a:endParaRPr lang="en-US" altLang="zh-TW" sz="2000" dirty="0" smtClean="0"/>
          </a:p>
          <a:p>
            <a:r>
              <a:rPr lang="en-US" altLang="zh-TW" sz="2000" dirty="0"/>
              <a:t>User </a:t>
            </a:r>
            <a:r>
              <a:rPr lang="en-US" altLang="zh-TW" sz="2000" dirty="0" smtClean="0"/>
              <a:t>2</a:t>
            </a:r>
            <a:r>
              <a:rPr lang="zh-TW" altLang="en-US" sz="2000" dirty="0" smtClean="0"/>
              <a:t>：搜尋目標地點附近站牌</a:t>
            </a:r>
            <a:endParaRPr lang="en-US" altLang="zh-TW" sz="2000" dirty="0" smtClean="0"/>
          </a:p>
          <a:p>
            <a:endParaRPr lang="en-US" altLang="zh-TW" sz="2000" dirty="0" smtClean="0"/>
          </a:p>
          <a:p>
            <a:r>
              <a:rPr lang="en-US" altLang="zh-TW" sz="2000" dirty="0"/>
              <a:t>User </a:t>
            </a:r>
            <a:r>
              <a:rPr lang="en-US" altLang="zh-TW" sz="2000" dirty="0" smtClean="0"/>
              <a:t>3</a:t>
            </a:r>
            <a:r>
              <a:rPr lang="zh-TW" altLang="en-US" sz="2000" dirty="0" smtClean="0"/>
              <a:t>：站牌地圖，只能找附近位置的站牌，如果要找某個位置附近很難找</a:t>
            </a:r>
            <a:endParaRPr lang="en-US" altLang="zh-TW" sz="2000" dirty="0" smtClean="0"/>
          </a:p>
          <a:p>
            <a:endParaRPr lang="en-US" altLang="zh-TW" sz="2000" dirty="0"/>
          </a:p>
          <a:p>
            <a:r>
              <a:rPr lang="en-US" altLang="zh-TW" sz="2000" dirty="0"/>
              <a:t>User </a:t>
            </a:r>
            <a:r>
              <a:rPr lang="en-US" altLang="zh-TW" sz="2000" dirty="0" smtClean="0"/>
              <a:t>4</a:t>
            </a:r>
            <a:r>
              <a:rPr lang="zh-TW" altLang="en-US" sz="2000" dirty="0" smtClean="0"/>
              <a:t>：尋找距離某個地方最近的站牌</a:t>
            </a:r>
            <a:endParaRPr lang="en-US" altLang="zh-TW" sz="2000" dirty="0"/>
          </a:p>
          <a:p>
            <a:endParaRPr lang="en-US" altLang="zh-TW" sz="2000" dirty="0" smtClean="0"/>
          </a:p>
          <a:p>
            <a:pPr marL="0" indent="0">
              <a:buNone/>
            </a:pPr>
            <a:r>
              <a:rPr lang="en-US" altLang="zh-TW" sz="2000" dirty="0" smtClean="0">
                <a:sym typeface="Wingdings" panose="05000000000000000000" pitchFamily="2" charset="2"/>
              </a:rPr>
              <a:t>	</a:t>
            </a:r>
            <a:r>
              <a:rPr lang="en-US" altLang="zh-TW" sz="2000" b="1" dirty="0" smtClean="0">
                <a:sym typeface="Wingdings" panose="05000000000000000000" pitchFamily="2" charset="2"/>
              </a:rPr>
              <a:t></a:t>
            </a:r>
            <a:r>
              <a:rPr lang="zh-TW" altLang="en-US" sz="2000" b="1" dirty="0" smtClean="0">
                <a:sym typeface="Wingdings" panose="05000000000000000000" pitchFamily="2" charset="2"/>
              </a:rPr>
              <a:t> 站牌地圖功能確實存在很大問題</a:t>
            </a:r>
            <a:endParaRPr lang="en-US" altLang="zh-TW" sz="2000" b="1" dirty="0"/>
          </a:p>
        </p:txBody>
      </p:sp>
    </p:spTree>
    <p:extLst>
      <p:ext uri="{BB962C8B-B14F-4D97-AF65-F5344CB8AC3E}">
        <p14:creationId xmlns:p14="http://schemas.microsoft.com/office/powerpoint/2010/main" val="353162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zh-TW" altLang="en-US" dirty="0" smtClean="0"/>
              <a:t>需要新增什麼功能？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2294792"/>
            <a:ext cx="8915400" cy="3616430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User 1</a:t>
            </a:r>
            <a:r>
              <a:rPr lang="zh-TW" altLang="en-US" sz="2400" dirty="0" smtClean="0"/>
              <a:t>：希望能顯示票價</a:t>
            </a:r>
            <a:endParaRPr lang="en-US" altLang="zh-TW" sz="2400" dirty="0" smtClean="0"/>
          </a:p>
          <a:p>
            <a:endParaRPr lang="en-US" altLang="zh-TW" sz="2400" dirty="0"/>
          </a:p>
          <a:p>
            <a:r>
              <a:rPr lang="en-US" altLang="zh-TW" sz="2400" dirty="0"/>
              <a:t>User 2</a:t>
            </a:r>
            <a:r>
              <a:rPr lang="zh-TW" altLang="en-US" sz="2400" dirty="0" smtClean="0"/>
              <a:t>：</a:t>
            </a:r>
            <a:r>
              <a:rPr lang="en-US" altLang="zh-TW" sz="2400" dirty="0" smtClean="0"/>
              <a:t>UI</a:t>
            </a:r>
            <a:r>
              <a:rPr lang="zh-TW" altLang="en-US" sz="2400" dirty="0" smtClean="0"/>
              <a:t>可以設定更簡單直覺</a:t>
            </a:r>
            <a:endParaRPr lang="en-US" altLang="zh-TW" sz="2400" dirty="0" smtClean="0"/>
          </a:p>
          <a:p>
            <a:pPr marL="0" indent="0">
              <a:buNone/>
            </a:pPr>
            <a:endParaRPr lang="en-US" altLang="zh-TW" sz="2400" dirty="0"/>
          </a:p>
          <a:p>
            <a:r>
              <a:rPr lang="en-US" altLang="zh-TW" sz="2400" dirty="0"/>
              <a:t>User 4</a:t>
            </a:r>
            <a:r>
              <a:rPr lang="zh-TW" altLang="en-US" sz="2400" dirty="0" smtClean="0"/>
              <a:t>：可以用文字尋找某個地圖的地方</a:t>
            </a:r>
            <a:endParaRPr lang="en-US" altLang="zh-TW" sz="24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423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sz="2400" dirty="0" smtClean="0"/>
          </a:p>
          <a:p>
            <a:r>
              <a:rPr lang="zh-TW" altLang="en-US" sz="2400" dirty="0" smtClean="0"/>
              <a:t>系統改善</a:t>
            </a:r>
            <a:endParaRPr lang="en-US" altLang="zh-TW" sz="2400" dirty="0" smtClean="0"/>
          </a:p>
          <a:p>
            <a:pPr lvl="1"/>
            <a:r>
              <a:rPr lang="en-US" altLang="zh-TW" sz="2200" dirty="0" smtClean="0"/>
              <a:t>1. </a:t>
            </a:r>
            <a:r>
              <a:rPr lang="zh-TW" altLang="en-US" sz="2200" dirty="0" smtClean="0"/>
              <a:t>經使用者測試得出</a:t>
            </a:r>
            <a:endParaRPr lang="en-US" altLang="zh-TW" sz="2200" dirty="0" smtClean="0"/>
          </a:p>
          <a:p>
            <a:pPr lvl="1"/>
            <a:r>
              <a:rPr lang="en-US" altLang="zh-TW" sz="2200" dirty="0" smtClean="0"/>
              <a:t>2.</a:t>
            </a:r>
            <a:r>
              <a:rPr lang="zh-TW" altLang="en-US" sz="2200" dirty="0" smtClean="0"/>
              <a:t> 經施測者使用得出</a:t>
            </a:r>
            <a:endParaRPr lang="en-US" altLang="zh-TW" sz="2200" dirty="0" smtClean="0"/>
          </a:p>
          <a:p>
            <a:pPr lvl="1"/>
            <a:endParaRPr lang="en-US" altLang="zh-TW" sz="2200" dirty="0" smtClean="0"/>
          </a:p>
          <a:p>
            <a:r>
              <a:rPr lang="en-US" altLang="zh-TW" sz="2400" dirty="0"/>
              <a:t>Reflection</a:t>
            </a:r>
            <a:endParaRPr lang="en-US" altLang="zh-TW" sz="2400" dirty="0" smtClean="0"/>
          </a:p>
          <a:p>
            <a:endParaRPr lang="en-US" altLang="zh-TW" sz="2000" dirty="0" smtClean="0"/>
          </a:p>
          <a:p>
            <a:pPr lvl="1"/>
            <a:endParaRPr lang="zh-TW" altLang="en-US" sz="2000" dirty="0"/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問題與反思</a:t>
            </a:r>
            <a:endParaRPr lang="zh-TW" altLang="en-US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638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000" dirty="0"/>
              <a:t>系統</a:t>
            </a:r>
            <a:r>
              <a:rPr lang="zh-TW" altLang="en-US" sz="4000" dirty="0" smtClean="0"/>
              <a:t>改善</a:t>
            </a:r>
            <a:r>
              <a:rPr lang="en-US" altLang="zh-TW" sz="4000" dirty="0" smtClean="0"/>
              <a:t>-</a:t>
            </a:r>
            <a:r>
              <a:rPr lang="zh-TW" altLang="en-US" sz="4000" dirty="0" smtClean="0"/>
              <a:t>使用者</a:t>
            </a:r>
            <a:r>
              <a:rPr lang="zh-TW" altLang="en-US" sz="4000" dirty="0"/>
              <a:t/>
            </a:r>
            <a:br>
              <a:rPr lang="zh-TW" altLang="en-US" sz="4000" dirty="0"/>
            </a:b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 smtClean="0"/>
              <a:t>針對</a:t>
            </a:r>
            <a:r>
              <a:rPr lang="en-US" altLang="zh-TW" sz="2000" dirty="0" smtClean="0"/>
              <a:t>Usability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Problem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1:</a:t>
            </a:r>
          </a:p>
          <a:p>
            <a:pPr lvl="1"/>
            <a:r>
              <a:rPr lang="zh-TW" altLang="en-US" sz="1800" dirty="0" smtClean="0"/>
              <a:t>將字體調整至適當大小。</a:t>
            </a:r>
            <a:endParaRPr lang="en-US" altLang="zh-TW" sz="1800" dirty="0" smtClean="0"/>
          </a:p>
          <a:p>
            <a:r>
              <a:rPr lang="zh-TW" altLang="en-US" sz="2000" dirty="0" smtClean="0"/>
              <a:t>針對</a:t>
            </a:r>
            <a:r>
              <a:rPr lang="en-US" altLang="zh-TW" sz="2000" dirty="0" smtClean="0"/>
              <a:t>Usability</a:t>
            </a:r>
            <a:r>
              <a:rPr lang="zh-TW" altLang="en-US" sz="2000" dirty="0"/>
              <a:t> </a:t>
            </a:r>
            <a:r>
              <a:rPr lang="en-US" altLang="zh-TW" sz="2000" dirty="0" smtClean="0"/>
              <a:t>Problem</a:t>
            </a:r>
            <a:r>
              <a:rPr lang="zh-TW" altLang="en-US" sz="2000" dirty="0"/>
              <a:t> </a:t>
            </a:r>
            <a:r>
              <a:rPr lang="en-US" altLang="zh-TW" sz="2000" dirty="0" smtClean="0"/>
              <a:t>2:</a:t>
            </a:r>
          </a:p>
          <a:p>
            <a:pPr lvl="1"/>
            <a:r>
              <a:rPr lang="zh-TW" altLang="en-US" sz="1800" dirty="0" smtClean="0"/>
              <a:t>「站牌地圖」功能應該添加「以文字尋找地標」功能。</a:t>
            </a:r>
            <a:endParaRPr lang="en-US" altLang="zh-TW" sz="1800" dirty="0" smtClean="0"/>
          </a:p>
          <a:p>
            <a:r>
              <a:rPr lang="zh-TW" altLang="en-US" sz="2000" dirty="0" smtClean="0"/>
              <a:t>針對</a:t>
            </a:r>
            <a:r>
              <a:rPr lang="en-US" altLang="zh-TW" sz="2000" dirty="0" smtClean="0"/>
              <a:t>Usability</a:t>
            </a:r>
            <a:r>
              <a:rPr lang="zh-TW" altLang="en-US" sz="2000" dirty="0"/>
              <a:t> </a:t>
            </a:r>
            <a:r>
              <a:rPr lang="en-US" altLang="zh-TW" sz="2000" dirty="0" smtClean="0"/>
              <a:t>Problem</a:t>
            </a:r>
            <a:r>
              <a:rPr lang="zh-TW" altLang="en-US" sz="2000" dirty="0"/>
              <a:t> </a:t>
            </a:r>
            <a:r>
              <a:rPr lang="en-US" altLang="zh-TW" sz="2000" dirty="0" smtClean="0"/>
              <a:t>3:</a:t>
            </a:r>
          </a:p>
          <a:p>
            <a:pPr lvl="1"/>
            <a:r>
              <a:rPr lang="zh-TW" altLang="en-US" sz="1800" dirty="0" smtClean="0"/>
              <a:t>可以利用</a:t>
            </a:r>
            <a:r>
              <a:rPr lang="en-US" altLang="zh-TW" sz="1800" dirty="0" err="1" smtClean="0"/>
              <a:t>Fitts</a:t>
            </a:r>
            <a:r>
              <a:rPr lang="en-US" altLang="zh-TW" sz="1800" dirty="0" smtClean="0"/>
              <a:t>‘ Law</a:t>
            </a:r>
            <a:r>
              <a:rPr lang="zh-TW" altLang="en-US" sz="1800" dirty="0" smtClean="0"/>
              <a:t>去估計</a:t>
            </a:r>
            <a:r>
              <a:rPr lang="en-US" altLang="zh-TW" sz="1800" dirty="0" smtClean="0"/>
              <a:t>UI</a:t>
            </a:r>
            <a:r>
              <a:rPr lang="zh-TW" altLang="en-US" sz="1800" dirty="0" smtClean="0"/>
              <a:t>的可用性並嘗試優化。</a:t>
            </a:r>
            <a:endParaRPr lang="en-US" altLang="zh-TW" sz="1800" dirty="0" smtClean="0"/>
          </a:p>
          <a:p>
            <a:r>
              <a:rPr lang="zh-TW" altLang="en-US" sz="2000" dirty="0"/>
              <a:t>針對</a:t>
            </a:r>
            <a:r>
              <a:rPr lang="en-US" altLang="zh-TW" sz="2000" dirty="0"/>
              <a:t>Usability</a:t>
            </a:r>
            <a:r>
              <a:rPr lang="zh-TW" altLang="en-US" sz="2000" dirty="0"/>
              <a:t> </a:t>
            </a:r>
            <a:r>
              <a:rPr lang="en-US" altLang="zh-TW" sz="2000" dirty="0"/>
              <a:t>Problem</a:t>
            </a:r>
            <a:r>
              <a:rPr lang="zh-TW" altLang="en-US" sz="2000" dirty="0"/>
              <a:t> </a:t>
            </a:r>
            <a:r>
              <a:rPr lang="en-US" altLang="zh-TW" sz="2000" dirty="0" smtClean="0"/>
              <a:t>4:</a:t>
            </a:r>
            <a:endParaRPr lang="en-US" altLang="zh-TW" sz="2000" dirty="0"/>
          </a:p>
          <a:p>
            <a:pPr lvl="1"/>
            <a:r>
              <a:rPr lang="zh-TW" altLang="en-US" sz="1800" dirty="0" smtClean="0"/>
              <a:t>將「刪除」字眼改成「</a:t>
            </a:r>
            <a:r>
              <a:rPr lang="en-US" altLang="zh-TW" sz="1800" dirty="0" smtClean="0">
                <a:sym typeface="Wingdings" panose="05000000000000000000" pitchFamily="2" charset="2"/>
              </a:rPr>
              <a:t></a:t>
            </a:r>
            <a:r>
              <a:rPr lang="zh-TW" altLang="en-US" sz="1800" dirty="0" smtClean="0"/>
              <a:t>」</a:t>
            </a:r>
            <a:r>
              <a:rPr lang="zh-TW" altLang="en-US" sz="1800" dirty="0"/>
              <a:t>。</a:t>
            </a:r>
            <a:endParaRPr lang="en-US" altLang="zh-TW" sz="1800" dirty="0" smtClean="0"/>
          </a:p>
          <a:p>
            <a:pPr lvl="1"/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6681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00244"/>
          </a:xfrm>
        </p:spPr>
        <p:txBody>
          <a:bodyPr>
            <a:noAutofit/>
          </a:bodyPr>
          <a:lstStyle/>
          <a:p>
            <a:r>
              <a:rPr lang="zh-TW" altLang="en-US" sz="4000" dirty="0"/>
              <a:t>系統</a:t>
            </a:r>
            <a:r>
              <a:rPr lang="zh-TW" altLang="en-US" sz="4000" dirty="0" smtClean="0"/>
              <a:t>改善</a:t>
            </a:r>
            <a:r>
              <a:rPr lang="en-US" altLang="zh-TW" sz="4000" dirty="0" smtClean="0"/>
              <a:t>-</a:t>
            </a:r>
            <a:r>
              <a:rPr lang="zh-TW" altLang="en-US" sz="4000" dirty="0" smtClean="0"/>
              <a:t>施測者</a:t>
            </a:r>
            <a:r>
              <a:rPr lang="zh-TW" altLang="en-US" sz="4000" dirty="0"/>
              <a:t/>
            </a:r>
            <a:br>
              <a:rPr lang="zh-TW" altLang="en-US" sz="4000" dirty="0"/>
            </a:b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sz="2400" dirty="0" smtClean="0"/>
          </a:p>
          <a:p>
            <a:r>
              <a:rPr lang="zh-TW" altLang="en-US" sz="2400" dirty="0" smtClean="0"/>
              <a:t>在</a:t>
            </a:r>
            <a:r>
              <a:rPr lang="zh-TW" altLang="en-US" sz="2400" dirty="0" smtClean="0"/>
              <a:t>「路線搜尋」中用「藍</a:t>
            </a:r>
            <a:r>
              <a:rPr lang="en-US" altLang="zh-TW" sz="2400" dirty="0" smtClean="0"/>
              <a:t>1</a:t>
            </a:r>
            <a:r>
              <a:rPr lang="zh-TW" altLang="en-US" sz="2400" dirty="0" smtClean="0"/>
              <a:t>」搜尋，無法找到</a:t>
            </a:r>
            <a:r>
              <a:rPr lang="zh-TW" altLang="en-US" sz="2400" dirty="0"/>
              <a:t>「</a:t>
            </a:r>
            <a:r>
              <a:rPr lang="zh-TW" altLang="en-US" sz="2400" dirty="0" smtClean="0"/>
              <a:t>藍線</a:t>
            </a:r>
            <a:r>
              <a:rPr lang="en-US" altLang="zh-TW" sz="2400" dirty="0" smtClean="0"/>
              <a:t>1</a:t>
            </a:r>
            <a:r>
              <a:rPr lang="zh-TW" altLang="en-US" sz="2400" dirty="0" smtClean="0"/>
              <a:t>區</a:t>
            </a:r>
            <a:r>
              <a:rPr lang="zh-TW" altLang="en-US" sz="2400" dirty="0" smtClean="0"/>
              <a:t>」</a:t>
            </a:r>
            <a:endParaRPr lang="en-US" altLang="zh-TW" sz="2400" dirty="0" smtClean="0"/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廣告跳出過多，希望可以減少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6440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94736"/>
          </a:xfrm>
        </p:spPr>
        <p:txBody>
          <a:bodyPr>
            <a:noAutofit/>
          </a:bodyPr>
          <a:lstStyle/>
          <a:p>
            <a:r>
              <a:rPr lang="en-US" altLang="zh-TW" sz="4400" dirty="0" smtClean="0"/>
              <a:t>Reflection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1" y="2133600"/>
            <a:ext cx="9171239" cy="4366788"/>
          </a:xfrm>
        </p:spPr>
        <p:txBody>
          <a:bodyPr>
            <a:normAutofit/>
          </a:bodyPr>
          <a:lstStyle/>
          <a:p>
            <a:r>
              <a:rPr lang="zh-TW" altLang="en-US" sz="2400" dirty="0" smtClean="0"/>
              <a:t>可能遇到閃退情形。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>
                <a:sym typeface="Wingdings" panose="05000000000000000000" pitchFamily="2" charset="2"/>
              </a:rPr>
              <a:t></a:t>
            </a:r>
            <a:r>
              <a:rPr lang="zh-TW" altLang="en-US" sz="2400" dirty="0" smtClean="0">
                <a:sym typeface="Wingdings" panose="05000000000000000000" pitchFamily="2" charset="2"/>
              </a:rPr>
              <a:t> 需使用較穩定的手機做測試。</a:t>
            </a:r>
            <a:endParaRPr lang="en-US" altLang="zh-TW" sz="2400" dirty="0" smtClean="0"/>
          </a:p>
          <a:p>
            <a:endParaRPr lang="en-US" altLang="zh-TW" sz="2400" dirty="0"/>
          </a:p>
          <a:p>
            <a:r>
              <a:rPr lang="zh-TW" altLang="en-US" sz="2400" dirty="0" smtClean="0"/>
              <a:t>每次任務結束需要</a:t>
            </a:r>
            <a:r>
              <a:rPr lang="en-US" altLang="zh-TW" sz="2400" dirty="0" smtClean="0"/>
              <a:t>reset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app</a:t>
            </a:r>
            <a:r>
              <a:rPr lang="zh-TW" altLang="en-US" sz="2400" dirty="0" smtClean="0"/>
              <a:t>，避免影響到後面任務的正確性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>
                <a:sym typeface="Wingdings" panose="05000000000000000000" pitchFamily="2" charset="2"/>
              </a:rPr>
              <a:t></a:t>
            </a:r>
            <a:r>
              <a:rPr lang="zh-TW" altLang="en-US" sz="2400" dirty="0" smtClean="0">
                <a:sym typeface="Wingdings" panose="05000000000000000000" pitchFamily="2" charset="2"/>
              </a:rPr>
              <a:t> 才能有更客觀的測試結果。</a:t>
            </a:r>
            <a:endParaRPr lang="en-US" altLang="zh-TW" sz="2400" dirty="0" smtClean="0"/>
          </a:p>
          <a:p>
            <a:endParaRPr lang="en-US" altLang="zh-TW" sz="2400" dirty="0"/>
          </a:p>
          <a:p>
            <a:r>
              <a:rPr lang="zh-TW" altLang="en-US" sz="2400" dirty="0" smtClean="0"/>
              <a:t>攝影機一開始沒有固定對焦，且有時會晃動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>
                <a:sym typeface="Wingdings" panose="05000000000000000000" pitchFamily="2" charset="2"/>
              </a:rPr>
              <a:t></a:t>
            </a:r>
            <a:r>
              <a:rPr lang="zh-TW" altLang="en-US" sz="2400" dirty="0" smtClean="0">
                <a:sym typeface="Wingdings" panose="05000000000000000000" pitchFamily="2" charset="2"/>
              </a:rPr>
              <a:t> </a:t>
            </a:r>
            <a:r>
              <a:rPr lang="zh-TW" altLang="en-US" sz="2400" dirty="0" smtClean="0"/>
              <a:t>最好</a:t>
            </a:r>
            <a:r>
              <a:rPr lang="zh-TW" altLang="en-US" sz="2400" dirty="0" smtClean="0"/>
              <a:t>使用腳架，並固定對焦。</a:t>
            </a:r>
            <a:endParaRPr lang="en-US" altLang="zh-TW" sz="2400" dirty="0" smtClean="0"/>
          </a:p>
          <a:p>
            <a:endParaRPr lang="en-US" altLang="zh-TW" sz="24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5152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s://i0.wp.com/atomikpop.com/wp-content/uploads/2018/04/thanks.png?resize=825%2C349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081" y="2074208"/>
            <a:ext cx="6317653" cy="267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46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399</TotalTime>
  <Words>1411</Words>
  <Application>Microsoft Office PowerPoint</Application>
  <PresentationFormat>寬螢幕</PresentationFormat>
  <Paragraphs>316</Paragraphs>
  <Slides>38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51" baseType="lpstr">
      <vt:lpstr>微软雅黑</vt:lpstr>
      <vt:lpstr>宋体</vt:lpstr>
      <vt:lpstr>方正兰亭细黑_GBK_M</vt:lpstr>
      <vt:lpstr>微軟正黑體</vt:lpstr>
      <vt:lpstr>新細明體</vt:lpstr>
      <vt:lpstr>標楷體</vt:lpstr>
      <vt:lpstr>Arial</vt:lpstr>
      <vt:lpstr>Arial Black</vt:lpstr>
      <vt:lpstr>Calibri</vt:lpstr>
      <vt:lpstr>Century Gothic</vt:lpstr>
      <vt:lpstr>Wingdings</vt:lpstr>
      <vt:lpstr>Wingdings 3</vt:lpstr>
      <vt:lpstr>絲縷</vt:lpstr>
      <vt:lpstr>APP新竹搭公車 易用性測試</vt:lpstr>
      <vt:lpstr>目錄</vt:lpstr>
      <vt:lpstr>動機</vt:lpstr>
      <vt:lpstr>測試內容</vt:lpstr>
      <vt:lpstr>新竹搭公車- 公車即時動態時刻表查詢</vt:lpstr>
      <vt:lpstr>測試的方式</vt:lpstr>
      <vt:lpstr>測試的方式</vt:lpstr>
      <vt:lpstr>受試者需透過APP完成的4個問題</vt:lpstr>
      <vt:lpstr>測試的過程</vt:lpstr>
      <vt:lpstr>測試的過程</vt:lpstr>
      <vt:lpstr>測試的過程</vt:lpstr>
      <vt:lpstr>結果分析</vt:lpstr>
      <vt:lpstr>使用者</vt:lpstr>
      <vt:lpstr>量化資料</vt:lpstr>
      <vt:lpstr>量化資料-任務1</vt:lpstr>
      <vt:lpstr>量化資料-任務2</vt:lpstr>
      <vt:lpstr>量化資料-任務3</vt:lpstr>
      <vt:lpstr>量化資料-任務4</vt:lpstr>
      <vt:lpstr>量化資料-點擊次數</vt:lpstr>
      <vt:lpstr>量化資料-花費時間</vt:lpstr>
      <vt:lpstr>測驗發現</vt:lpstr>
      <vt:lpstr>測驗發現</vt:lpstr>
      <vt:lpstr>測驗發現</vt:lpstr>
      <vt:lpstr>測驗發現</vt:lpstr>
      <vt:lpstr>測驗發現</vt:lpstr>
      <vt:lpstr>測驗發現</vt:lpstr>
      <vt:lpstr>測驗發現</vt:lpstr>
      <vt:lpstr>測驗發現</vt:lpstr>
      <vt:lpstr>測驗發現</vt:lpstr>
      <vt:lpstr>測驗發現</vt:lpstr>
      <vt:lpstr>受測者的感想與建議 </vt:lpstr>
      <vt:lpstr>哪個功能最難用？</vt:lpstr>
      <vt:lpstr>需要新增什麼功能？</vt:lpstr>
      <vt:lpstr>問題與反思</vt:lpstr>
      <vt:lpstr>系統改善-使用者 </vt:lpstr>
      <vt:lpstr>系統改善-施測者 </vt:lpstr>
      <vt:lpstr>Reflection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Windows 使用者</cp:lastModifiedBy>
  <cp:revision>33</cp:revision>
  <dcterms:created xsi:type="dcterms:W3CDTF">2018-10-30T09:59:57Z</dcterms:created>
  <dcterms:modified xsi:type="dcterms:W3CDTF">2018-10-30T16:39:54Z</dcterms:modified>
</cp:coreProperties>
</file>