
<file path=[Content_Types].xml><?xml version="1.0" encoding="utf-8"?>
<Types xmlns="http://schemas.openxmlformats.org/package/2006/content-types">
  <Default Extension="xml" ContentType="application/xml"/>
  <Default Extension="doc" ContentType="application/msword"/>
  <Default Extension="png" ContentType="image/png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xls" ContentType="application/vnd.ms-excel"/>
  <Default Extension="bin" ContentType="application/vnd.openxmlformats-officedocument.presentationml.printerSettings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notesSlides/notesSlide3.xml" ContentType="application/vnd.openxmlformats-officedocument.presentationml.notesSlide+xml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embeddings/oleObject6.bin" ContentType="application/vnd.openxmlformats-officedocument.oleObject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58" r:id="rId4"/>
    <p:sldId id="288" r:id="rId5"/>
    <p:sldId id="289" r:id="rId6"/>
    <p:sldId id="298" r:id="rId7"/>
    <p:sldId id="299" r:id="rId8"/>
    <p:sldId id="300" r:id="rId9"/>
    <p:sldId id="301" r:id="rId10"/>
    <p:sldId id="302" r:id="rId11"/>
    <p:sldId id="310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120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interSettings" Target="printerSettings/printerSettings1.bin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E22B1-A489-724B-AADE-928039389399}" type="datetimeFigureOut">
              <a:rPr lang="en-US" smtClean="0"/>
              <a:t>10/27/16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04B55-90AA-4E48-9675-DA460DBC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5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4CD06-6360-1344-8231-A755EBC9259C}" type="datetimeFigureOut">
              <a:rPr lang="en-US" smtClean="0"/>
              <a:t>10/27/16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5370C-E253-5B4A-BEBB-54530F2F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660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78147A-B480-054F-82FE-6625113C61C1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42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AC6804-7D09-5D45-91A7-27F4C5F40A86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42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9pPr>
          </a:lstStyle>
          <a:p>
            <a:fld id="{6810E2F8-5FEE-EA4F-9336-65E577B26884}" type="slidenum">
              <a:rPr lang="en-GB" altLang="zh-TW" sz="1200"/>
              <a:pPr/>
              <a:t>11</a:t>
            </a:fld>
            <a:endParaRPr lang="en-GB" altLang="zh-TW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9pPr>
          </a:lstStyle>
          <a:p>
            <a:fld id="{4E87D6A7-BE9C-8C48-A0B4-9BFDF1C89F3A}" type="slidenum">
              <a:rPr lang="en-GB" altLang="zh-TW" sz="1200"/>
              <a:pPr/>
              <a:t>19</a:t>
            </a:fld>
            <a:endParaRPr lang="en-GB" altLang="zh-TW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00B33638-0594-734B-A753-D92EA5809AFA}" type="slidenum">
              <a:rPr lang="en-CA" altLang="zh-TW" sz="1300"/>
              <a:pPr eaLnBrk="1" hangingPunct="1"/>
              <a:t>20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2E3FDF7D-96FE-AB48-8231-010494A9CB0E}" type="slidenum">
              <a:rPr lang="en-CA" altLang="zh-TW" sz="1300"/>
              <a:pPr eaLnBrk="1" hangingPunct="1"/>
              <a:t>21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E6A6FE5C-FEEE-B840-BFB6-C9EC2BBD1DAB}" type="slidenum">
              <a:rPr lang="en-CA" altLang="zh-TW" sz="1300"/>
              <a:pPr eaLnBrk="1" hangingPunct="1"/>
              <a:t>22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72AB43F6-CCEE-4C44-88FC-88AAE4177E50}" type="slidenum">
              <a:rPr lang="en-CA" altLang="zh-TW" sz="1300"/>
              <a:pPr eaLnBrk="1" hangingPunct="1"/>
              <a:t>23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0358688B-9430-E347-BDCD-F41AAFAF1610}" type="slidenum">
              <a:rPr lang="en-CA" altLang="zh-TW" sz="1300"/>
              <a:pPr eaLnBrk="1" hangingPunct="1"/>
              <a:t>24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914EAE21-07C5-074F-A340-80B5B516AF08}" type="slidenum">
              <a:rPr lang="en-CA" altLang="zh-TW" sz="1300"/>
              <a:pPr eaLnBrk="1" hangingPunct="1"/>
              <a:t>25</a:t>
            </a:fld>
            <a:endParaRPr lang="en-CA" altLang="zh-TW" sz="1300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1363" cy="3414713"/>
          </a:xfrm>
          <a:ln w="12700" cap="flat">
            <a:solidFill>
              <a:schemeClr val="tx1"/>
            </a:solidFill>
          </a:ln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93683" tIns="48403" rIns="93683" bIns="48403"/>
          <a:lstStyle/>
          <a:p>
            <a:pPr eaLnBrk="1" hangingPunct="1">
              <a:spcBef>
                <a:spcPct val="0"/>
              </a:spcBef>
            </a:pPr>
            <a:endParaRPr lang="en-US" sz="230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F2626116-87CB-1942-A980-4C8FB7F8358F}" type="slidenum">
              <a:rPr lang="en-CA" altLang="zh-TW" sz="1300"/>
              <a:pPr eaLnBrk="1" hangingPunct="1"/>
              <a:t>26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4D6A7A5D-1088-D74D-854C-B57262953B88}" type="slidenum">
              <a:rPr lang="en-CA" altLang="zh-TW" sz="1300"/>
              <a:pPr eaLnBrk="1" hangingPunct="1"/>
              <a:t>27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234305F6-29AA-BF49-A43A-0FD42703C9BD}" type="slidenum">
              <a:rPr lang="en-CA" altLang="zh-TW" sz="1300"/>
              <a:pPr eaLnBrk="1" hangingPunct="1"/>
              <a:t>28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7604D5EE-F24D-8340-9E70-F902CF308E83}" type="slidenum">
              <a:rPr lang="en-CA" altLang="zh-TW" sz="1300"/>
              <a:pPr eaLnBrk="1" hangingPunct="1"/>
              <a:t>29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52FA63A5-BBED-2F43-A064-97609EA5888E}" type="slidenum">
              <a:rPr lang="en-CA" altLang="zh-TW" sz="1300"/>
              <a:pPr eaLnBrk="1" hangingPunct="1"/>
              <a:t>30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82EDC3-5426-2B43-A1C7-6FB9219EBF17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42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742856-E7A4-B44E-88E8-FD00050BEE76}" type="slidenum">
              <a:rPr lang="en-US" altLang="zh-TW"/>
              <a:pPr/>
              <a:t>32</a:t>
            </a:fld>
            <a:endParaRPr lang="en-US" altLang="zh-TW"/>
          </a:p>
        </p:txBody>
      </p:sp>
      <p:sp>
        <p:nvSpPr>
          <p:cNvPr id="37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File: AnovaDemo.xls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FEE4A9-FDCA-394D-A8E7-149E5B6142D7}" type="slidenum">
              <a:rPr lang="en-US" altLang="zh-TW"/>
              <a:pPr/>
              <a:t>33</a:t>
            </a:fld>
            <a:endParaRPr lang="en-US" altLang="zh-TW"/>
          </a:p>
        </p:txBody>
      </p:sp>
      <p:sp>
        <p:nvSpPr>
          <p:cNvPr id="42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806D96-6D22-EF48-8CD2-EC4DC561507E}" type="slidenum">
              <a:rPr lang="en-US" altLang="zh-TW"/>
              <a:pPr/>
              <a:t>34</a:t>
            </a:fld>
            <a:endParaRPr lang="en-US" altLang="zh-TW"/>
          </a:p>
        </p:txBody>
      </p:sp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File: AnovaExample1.svd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6478FE-472A-4246-A477-793D33D3E3D5}" type="slidenum">
              <a:rPr lang="en-US" altLang="zh-TW"/>
              <a:pPr/>
              <a:t>35</a:t>
            </a:fld>
            <a:endParaRPr lang="en-US" altLang="zh-TW"/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F5A35-CF36-3F41-89BF-7F9259E661D6}" type="slidenum">
              <a:rPr lang="en-US" altLang="zh-TW"/>
              <a:pPr/>
              <a:t>36</a:t>
            </a:fld>
            <a:endParaRPr lang="en-US" altLang="zh-TW"/>
          </a:p>
        </p:txBody>
      </p:sp>
      <p:sp>
        <p:nvSpPr>
          <p:cNvPr id="42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B366AF-B9CB-224A-B68C-99278261DDB2}" type="slidenum">
              <a:rPr lang="en-US" altLang="zh-TW"/>
              <a:pPr/>
              <a:t>37</a:t>
            </a:fld>
            <a:endParaRPr lang="en-US" altLang="zh-TW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File: AnovaExample2.svd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A7295D-6675-B845-AB84-6FDB3BB82AF8}" type="slidenum">
              <a:rPr lang="en-US" altLang="zh-TW"/>
              <a:pPr/>
              <a:t>38</a:t>
            </a:fld>
            <a:endParaRPr lang="en-US" altLang="zh-TW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96C3-D431-B640-8E06-C764B561EFF0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F2A3-DDF1-8A43-9438-CEDB45737B0D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C87D3-C516-1D46-AF15-FF7C5AB91090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1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56C8-3CBB-134C-92F2-EEF14138988E}" type="datetime1">
              <a:rPr lang="en-US" smtClean="0"/>
              <a:t>10/27/16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085-5C84-304B-A604-D383C411A81E}" type="datetime1">
              <a:rPr lang="en-US" smtClean="0"/>
              <a:t>10/27/16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EF518-1D25-EE43-8A7E-96097F56A74B}" type="datetime1">
              <a:rPr lang="en-US" smtClean="0"/>
              <a:t>10/27/16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1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6380-5F2B-F940-8C5C-E73F755AAB35}" type="datetime1">
              <a:rPr lang="en-US" smtClean="0"/>
              <a:t>10/27/16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0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C4EF-3883-F74D-882A-BD0ED0A46B24}" type="datetime1">
              <a:rPr lang="en-US" smtClean="0"/>
              <a:t>10/27/16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93E7-2475-E845-AEA9-5A0AB6A8E62A}" type="datetime1">
              <a:rPr lang="en-US" smtClean="0"/>
              <a:t>10/27/16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C446-F4B7-0E4C-96DC-FDD6F47AB62E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1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50CC-8AA7-4243-A1D1-C4A42410C61C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78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A33939B-CC82-664E-BAA8-42FB5E9A83C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8134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7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132"/>
            <a:ext cx="8229600" cy="5013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59F6-B31F-914F-9D11-0CE96A02EA33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rku.ca/mack/CourseNotes.pp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adford.edu/~dsnuffer/" TargetMode="External"/><Relationship Id="rId4" Type="http://schemas.openxmlformats.org/officeDocument/2006/relationships/hyperlink" Target="http://www.stat.ufl.edu/~aa/sta6126/" TargetMode="External"/><Relationship Id="rId5" Type="http://schemas.openxmlformats.org/officeDocument/2006/relationships/hyperlink" Target="http://web.cs.dal.ca/~hawkey/4163/experimental_evaluation_stats.ppt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ducation.med.imperial.ac.uk/ext/intercalate11-12/statistics.ppt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1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3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5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4___1.doc"/><Relationship Id="rId4" Type="http://schemas.openxmlformats.org/officeDocument/2006/relationships/image" Target="../media/image6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4___2.doc"/><Relationship Id="rId4" Type="http://schemas.openxmlformats.org/officeDocument/2006/relationships/image" Target="../media/image7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9.emf"/><Relationship Id="rId6" Type="http://schemas.openxmlformats.org/officeDocument/2006/relationships/oleObject" Target="../embeddings/Microsoft_Excel_97_-_2004____3.xls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4" Type="http://schemas.openxmlformats.org/officeDocument/2006/relationships/oleObject" Target="../embeddings/Microsoft_Excel_97_-_2004____4.xls"/><Relationship Id="rId5" Type="http://schemas.openxmlformats.org/officeDocument/2006/relationships/image" Target="../media/image10.emf"/><Relationship Id="rId6" Type="http://schemas.openxmlformats.org/officeDocument/2006/relationships/image" Target="../media/image11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4" Type="http://schemas.openxmlformats.org/officeDocument/2006/relationships/oleObject" Target="../embeddings/Microsoft_Excel_97_-_2004____5.xls"/><Relationship Id="rId5" Type="http://schemas.openxmlformats.org/officeDocument/2006/relationships/image" Target="../media/image13.emf"/><Relationship Id="rId6" Type="http://schemas.openxmlformats.org/officeDocument/2006/relationships/image" Target="../media/image14.e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28031"/>
            <a:ext cx="9144000" cy="3086431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Optima"/>
                <a:cs typeface="Optima"/>
              </a:rPr>
              <a:t>ISA5577 Applied Quantitative Methods for Human-Computer Interaction</a:t>
            </a:r>
            <a:r>
              <a:rPr lang="en-US" dirty="0">
                <a:latin typeface="Optima"/>
                <a:cs typeface="Optima"/>
              </a:rPr>
              <a:t/>
            </a:r>
            <a:br>
              <a:rPr lang="en-US" dirty="0">
                <a:latin typeface="Optima"/>
                <a:cs typeface="Optima"/>
              </a:rPr>
            </a:br>
            <a:r>
              <a:rPr lang="zh-TW" altLang="en-US" dirty="0" smtClean="0">
                <a:latin typeface="微軟正黑體"/>
                <a:ea typeface="微軟正黑體"/>
                <a:cs typeface="微軟正黑體"/>
              </a:rPr>
              <a:t>人機互動量化研究方法</a:t>
            </a:r>
            <a:r>
              <a:rPr lang="en-US" dirty="0" smtClean="0">
                <a:latin typeface="微軟正黑體"/>
                <a:ea typeface="微軟正黑體"/>
                <a:cs typeface="微軟正黑體"/>
              </a:rPr>
              <a:t/>
            </a:r>
            <a:br>
              <a:rPr lang="en-US" dirty="0" smtClean="0">
                <a:latin typeface="微軟正黑體"/>
                <a:ea typeface="微軟正黑體"/>
                <a:cs typeface="微軟正黑體"/>
              </a:rPr>
            </a:br>
            <a:r>
              <a:rPr lang="en-US" smtClean="0">
                <a:latin typeface="Optima"/>
                <a:cs typeface="Optima"/>
              </a:rPr>
              <a:t/>
            </a:r>
            <a:br>
              <a:rPr lang="en-US" smtClean="0">
                <a:latin typeface="Optima"/>
                <a:cs typeface="Optima"/>
              </a:rPr>
            </a:br>
            <a:r>
              <a:rPr lang="en-US" smtClean="0">
                <a:latin typeface="Optima"/>
                <a:cs typeface="Optima"/>
              </a:rPr>
              <a:t>November</a:t>
            </a:r>
            <a:r>
              <a:rPr lang="en-US" sz="3200" smtClean="0">
                <a:latin typeface="Optima"/>
                <a:cs typeface="Optima"/>
              </a:rPr>
              <a:t>, </a:t>
            </a:r>
            <a:r>
              <a:rPr lang="en-US" sz="3200" dirty="0" smtClean="0">
                <a:latin typeface="Optima"/>
                <a:cs typeface="Optima"/>
              </a:rPr>
              <a:t>2016</a:t>
            </a:r>
            <a:endParaRPr lang="en-US" sz="3200" dirty="0">
              <a:latin typeface="Optima"/>
              <a:cs typeface="Optim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6263" y="5522893"/>
            <a:ext cx="6809548" cy="970056"/>
          </a:xfrm>
        </p:spPr>
        <p:txBody>
          <a:bodyPr>
            <a:noAutofit/>
          </a:bodyPr>
          <a:lstStyle/>
          <a:p>
            <a:r>
              <a:rPr lang="en-US" sz="2700" dirty="0" err="1" smtClean="0"/>
              <a:t>Hao-Chuan</a:t>
            </a:r>
            <a:r>
              <a:rPr lang="en-US" sz="2700" dirty="0" smtClean="0"/>
              <a:t> Wang</a:t>
            </a:r>
            <a:endParaRPr lang="en-US" sz="2700" dirty="0" smtClean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3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Today’s Agenda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 smtClean="0"/>
              <a:t>Hypothesis Testing</a:t>
            </a:r>
          </a:p>
          <a:p>
            <a:r>
              <a:rPr kumimoji="1" lang="en-US" altLang="zh-TW" dirty="0" smtClean="0"/>
              <a:t>Hypothesis testing:</a:t>
            </a:r>
            <a:br>
              <a:rPr kumimoji="1" lang="en-US" altLang="zh-TW" dirty="0" smtClean="0"/>
            </a:br>
            <a:r>
              <a:rPr kumimoji="1" lang="en-US" altLang="zh-TW" dirty="0" smtClean="0"/>
              <a:t>t-test, ANOVA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144951" y="5098482"/>
            <a:ext cx="68682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/>
              <a:t>Sources: Scott </a:t>
            </a:r>
            <a:r>
              <a:rPr kumimoji="1" lang="en-US" altLang="zh-TW" dirty="0" err="1" smtClean="0"/>
              <a:t>MacKenize</a:t>
            </a:r>
            <a:r>
              <a:rPr kumimoji="1" lang="en-US" altLang="zh-TW" dirty="0"/>
              <a:t> </a:t>
            </a:r>
            <a:r>
              <a:rPr kumimoji="1" lang="en-US" altLang="zh-TW" dirty="0" smtClean="0">
                <a:hlinkClick r:id="rId2"/>
              </a:rPr>
              <a:t>http://www.yorku.ca/mack/CourseNotes.ppt</a:t>
            </a:r>
            <a:r>
              <a:rPr kumimoji="1" lang="en-US" altLang="zh-TW" dirty="0" smtClean="0"/>
              <a:t> </a:t>
            </a:r>
          </a:p>
          <a:p>
            <a:r>
              <a:rPr kumimoji="1" lang="en-US" altLang="zh-TW" dirty="0"/>
              <a:t>	</a:t>
            </a:r>
            <a:r>
              <a:rPr kumimoji="1" lang="en-US" altLang="zh-TW" dirty="0" smtClean="0"/>
              <a:t> 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8202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8933" y="2407025"/>
            <a:ext cx="7333801" cy="2056775"/>
          </a:xfrm>
        </p:spPr>
        <p:txBody>
          <a:bodyPr>
            <a:normAutofit/>
          </a:bodyPr>
          <a:lstStyle/>
          <a:p>
            <a:r>
              <a:rPr kumimoji="1" lang="en-US" altLang="zh-TW" dirty="0" smtClean="0"/>
              <a:t>Hypothesis Testing</a:t>
            </a:r>
            <a:br>
              <a:rPr kumimoji="1" lang="en-US" altLang="zh-TW" dirty="0" smtClean="0"/>
            </a:br>
            <a:r>
              <a:rPr kumimoji="1" lang="en-US" altLang="zh-TW" dirty="0" smtClean="0"/>
              <a:t>t-test, ANOVA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3</a:t>
            </a:fld>
            <a:endParaRPr lang="en-US"/>
          </a:p>
        </p:txBody>
      </p:sp>
      <p:sp>
        <p:nvSpPr>
          <p:cNvPr id="3" name="文字方塊 2"/>
          <p:cNvSpPr txBox="1"/>
          <p:nvPr/>
        </p:nvSpPr>
        <p:spPr>
          <a:xfrm>
            <a:off x="1284664" y="5006432"/>
            <a:ext cx="70318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hlinkClick r:id="rId2"/>
              </a:rPr>
              <a:t>https</a:t>
            </a:r>
            <a:r>
              <a:rPr lang="en-US" altLang="zh-TW" dirty="0">
                <a:hlinkClick r:id="rId2"/>
              </a:rPr>
              <a:t>://education.med.imperial.ac.uk/ext/intercalate11-12/</a:t>
            </a:r>
            <a:r>
              <a:rPr lang="en-US" altLang="zh-TW" b="1" dirty="0" smtClean="0">
                <a:hlinkClick r:id="rId2"/>
              </a:rPr>
              <a:t>statistics</a:t>
            </a:r>
            <a:r>
              <a:rPr lang="en-US" altLang="zh-TW" dirty="0" smtClean="0">
                <a:hlinkClick r:id="rId2"/>
              </a:rPr>
              <a:t>.</a:t>
            </a:r>
            <a:r>
              <a:rPr lang="en-US" altLang="zh-TW" b="1" dirty="0" smtClean="0">
                <a:hlinkClick r:id="rId2"/>
              </a:rPr>
              <a:t>ppt</a:t>
            </a:r>
            <a:r>
              <a:rPr lang="en-US" altLang="zh-TW" b="1" dirty="0" smtClean="0"/>
              <a:t> </a:t>
            </a:r>
          </a:p>
          <a:p>
            <a:r>
              <a:rPr kumimoji="1" lang="en-US" altLang="zh-TW" dirty="0">
                <a:hlinkClick r:id="rId3"/>
              </a:rPr>
              <a:t>http://www.radford.edu/~dsnuffer</a:t>
            </a:r>
            <a:r>
              <a:rPr kumimoji="1" lang="en-US" altLang="zh-TW" dirty="0" smtClean="0">
                <a:hlinkClick r:id="rId3"/>
              </a:rPr>
              <a:t>/</a:t>
            </a:r>
            <a:r>
              <a:rPr kumimoji="1" lang="en-US" altLang="zh-TW" dirty="0" smtClean="0"/>
              <a:t> </a:t>
            </a:r>
          </a:p>
          <a:p>
            <a:r>
              <a:rPr kumimoji="1" lang="en-US" altLang="zh-TW" dirty="0">
                <a:hlinkClick r:id="rId4"/>
              </a:rPr>
              <a:t>http://www.stat.ufl.edu/~aa/sta6126</a:t>
            </a:r>
            <a:r>
              <a:rPr kumimoji="1" lang="en-US" altLang="zh-TW" dirty="0" smtClean="0">
                <a:hlinkClick r:id="rId4"/>
              </a:rPr>
              <a:t>/</a:t>
            </a:r>
            <a:r>
              <a:rPr kumimoji="1" lang="en-US" altLang="zh-TW" dirty="0" smtClean="0"/>
              <a:t> </a:t>
            </a:r>
          </a:p>
          <a:p>
            <a:r>
              <a:rPr kumimoji="1" lang="en-US" altLang="zh-TW" dirty="0">
                <a:hlinkClick r:id="rId5"/>
              </a:rPr>
              <a:t>http://web.cs.dal.ca/~hawkey/4163/</a:t>
            </a:r>
            <a:r>
              <a:rPr kumimoji="1" lang="en-US" altLang="zh-TW" dirty="0" smtClean="0">
                <a:hlinkClick r:id="rId5"/>
              </a:rPr>
              <a:t>experimental_evaluation_stats.ppt</a:t>
            </a:r>
            <a:r>
              <a:rPr kumimoji="1" lang="en-US" altLang="zh-TW" dirty="0" smtClean="0"/>
              <a:t> </a:t>
            </a:r>
            <a:endParaRPr kumimoji="1"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181299" y="4659316"/>
            <a:ext cx="978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/>
              <a:t>Sources: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1833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Answering Research Questions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US" altLang="zh-TW"/>
              <a:t>We want to know if the measured performance on a variable (e.g., speed) is different between test conditions, so…</a:t>
            </a:r>
          </a:p>
          <a:p>
            <a:pPr marL="838200" lvl="1" indent="-381000"/>
            <a:r>
              <a:rPr lang="en-US" altLang="zh-TW"/>
              <a:t>We conduct a user study (more on this soon) and measure the performance on each test condition with a group of participants </a:t>
            </a:r>
          </a:p>
          <a:p>
            <a:pPr marL="838200" lvl="1" indent="-381000"/>
            <a:r>
              <a:rPr lang="en-US" altLang="zh-TW"/>
              <a:t>For each test condition, we compute the mean score over the group of participants</a:t>
            </a:r>
          </a:p>
          <a:p>
            <a:pPr marL="838200" lvl="1" indent="-381000"/>
            <a:r>
              <a:rPr lang="en-US" altLang="zh-TW"/>
              <a:t>Then what?</a:t>
            </a:r>
          </a:p>
        </p:txBody>
      </p:sp>
      <p:sp>
        <p:nvSpPr>
          <p:cNvPr id="326660" name="AutoShape 4"/>
          <p:cNvSpPr>
            <a:spLocks noChangeArrowheads="1"/>
          </p:cNvSpPr>
          <p:nvPr/>
        </p:nvSpPr>
        <p:spPr bwMode="auto">
          <a:xfrm>
            <a:off x="7086600" y="5791200"/>
            <a:ext cx="1676400" cy="762000"/>
          </a:xfrm>
          <a:prstGeom prst="rightArrow">
            <a:avLst>
              <a:gd name="adj1" fmla="val 50000"/>
              <a:gd name="adj2" fmla="val 24862"/>
            </a:avLst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/>
            <a:r>
              <a:rPr lang="en-US" altLang="zh-TW" sz="1800"/>
              <a:t>Next slide</a:t>
            </a:r>
          </a:p>
        </p:txBody>
      </p:sp>
    </p:spTree>
    <p:extLst>
      <p:ext uri="{BB962C8B-B14F-4D97-AF65-F5344CB8AC3E}">
        <p14:creationId xmlns:p14="http://schemas.microsoft.com/office/powerpoint/2010/main" val="12305871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Answering Empirical Questions (2)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zh-TW" sz="2400" dirty="0"/>
              <a:t>Four questions:</a:t>
            </a:r>
          </a:p>
          <a:p>
            <a:pPr marL="838200" lvl="1" indent="-381000">
              <a:lnSpc>
                <a:spcPct val="90000"/>
              </a:lnSpc>
              <a:buFontTx/>
              <a:buAutoNum type="arabicPeriod"/>
            </a:pPr>
            <a:r>
              <a:rPr lang="en-US" altLang="zh-TW" sz="2000" dirty="0"/>
              <a:t>Is there a difference?</a:t>
            </a:r>
          </a:p>
          <a:p>
            <a:pPr marL="838200" lvl="1" indent="-381000">
              <a:lnSpc>
                <a:spcPct val="90000"/>
              </a:lnSpc>
              <a:buFontTx/>
              <a:buAutoNum type="arabicPeriod"/>
            </a:pPr>
            <a:r>
              <a:rPr lang="en-US" altLang="zh-TW" sz="2000" dirty="0"/>
              <a:t>Is the difference large or small?</a:t>
            </a:r>
          </a:p>
          <a:p>
            <a:pPr marL="838200" lvl="1" indent="-381000">
              <a:lnSpc>
                <a:spcPct val="90000"/>
              </a:lnSpc>
              <a:buFontTx/>
              <a:buAutoNum type="arabicPeriod"/>
            </a:pPr>
            <a:r>
              <a:rPr lang="en-US" altLang="zh-TW" sz="2000" dirty="0"/>
              <a:t>Is the difference statistically significant (or is it due to chance)?</a:t>
            </a:r>
          </a:p>
          <a:p>
            <a:pPr marL="838200" lvl="1" indent="-381000">
              <a:lnSpc>
                <a:spcPct val="90000"/>
              </a:lnSpc>
              <a:buFontTx/>
              <a:buAutoNum type="arabicPeriod"/>
            </a:pPr>
            <a:r>
              <a:rPr lang="en-US" altLang="zh-TW" sz="2000" dirty="0"/>
              <a:t>Is the difference of practical significance?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TW" sz="2400" dirty="0"/>
              <a:t>Question #1 – obvious (some difference is likely)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TW" sz="2400" dirty="0"/>
              <a:t>Question #2 – statistics </a:t>
            </a:r>
            <a:r>
              <a:rPr lang="en-US" altLang="zh-TW" sz="2400" dirty="0" smtClean="0"/>
              <a:t>can</a:t>
            </a:r>
            <a:r>
              <a:rPr lang="en-US" altLang="zh-TW" sz="2400" dirty="0" smtClean="0">
                <a:latin typeface="Arial"/>
              </a:rPr>
              <a:t>’</a:t>
            </a:r>
            <a:r>
              <a:rPr lang="en-US" altLang="zh-TW" sz="2400" dirty="0" smtClean="0"/>
              <a:t>t </a:t>
            </a:r>
            <a:r>
              <a:rPr lang="en-US" altLang="zh-TW" sz="2400" dirty="0"/>
              <a:t>help (Is a 5% difference large or small?)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TW" sz="2400" dirty="0"/>
              <a:t>Question #3 – statistics can help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TW" sz="2400" dirty="0"/>
              <a:t>Question #4 – statistics </a:t>
            </a:r>
            <a:r>
              <a:rPr lang="en-US" altLang="zh-TW" sz="2400" dirty="0" smtClean="0"/>
              <a:t>can</a:t>
            </a:r>
            <a:r>
              <a:rPr lang="en-US" altLang="zh-TW" sz="2400" dirty="0" smtClean="0">
                <a:latin typeface="Arial"/>
              </a:rPr>
              <a:t>’</a:t>
            </a:r>
            <a:r>
              <a:rPr lang="en-US" altLang="zh-TW" sz="2400" dirty="0" smtClean="0"/>
              <a:t>t </a:t>
            </a:r>
            <a:r>
              <a:rPr lang="en-US" altLang="zh-TW" sz="2400" dirty="0"/>
              <a:t>help (Is a 5% difference useful?  People resist change!)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TW" sz="2400" dirty="0"/>
              <a:t>The basic statistical tool for Question #3 is the analysis of variance </a:t>
            </a:r>
            <a:r>
              <a:rPr lang="en-US" altLang="zh-TW" sz="2400" dirty="0" smtClean="0"/>
              <a:t>(ANOVA)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5250846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508000"/>
            <a:ext cx="8331200" cy="1600200"/>
          </a:xfrm>
        </p:spPr>
        <p:txBody>
          <a:bodyPr>
            <a:noAutofit/>
          </a:bodyPr>
          <a:lstStyle/>
          <a:p>
            <a:pPr algn="l"/>
            <a:r>
              <a:rPr lang="en-US" altLang="zh-TW" sz="2600" b="1" dirty="0"/>
              <a:t>Hypotheses</a:t>
            </a:r>
            <a:r>
              <a:rPr lang="en-US" altLang="zh-TW" sz="2600" dirty="0"/>
              <a:t>: For statistical inference, these are predictions about a population expressed in terms of parameters (e.g., population means or proportions or correlations) for the variables considered in a </a:t>
            </a:r>
            <a:r>
              <a:rPr lang="en-US" altLang="zh-TW" sz="2600" dirty="0" smtClean="0"/>
              <a:t>study.</a:t>
            </a:r>
            <a:endParaRPr lang="en-US" altLang="zh-TW" sz="2600" dirty="0"/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900" y="2362200"/>
            <a:ext cx="8445500" cy="4267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sz="2800" dirty="0"/>
              <a:t>A </a:t>
            </a:r>
            <a:r>
              <a:rPr lang="en-US" altLang="zh-TW" sz="2800" b="1" dirty="0"/>
              <a:t>significance test </a:t>
            </a:r>
            <a:r>
              <a:rPr lang="en-US" altLang="zh-TW" sz="2800" dirty="0"/>
              <a:t>uses data to evaluate a hypothesis by comparing sample point estimates of parameters to values predicted by the hypothesis.</a:t>
            </a:r>
          </a:p>
          <a:p>
            <a:pPr>
              <a:buFontTx/>
              <a:buNone/>
            </a:pPr>
            <a:endParaRPr lang="en-US" altLang="zh-TW" sz="2800" dirty="0"/>
          </a:p>
          <a:p>
            <a:pPr>
              <a:buFontTx/>
              <a:buNone/>
            </a:pPr>
            <a:r>
              <a:rPr lang="en-US" altLang="zh-TW" sz="2800" dirty="0"/>
              <a:t>We answer a question such as, </a:t>
            </a:r>
            <a:r>
              <a:rPr lang="en-US" altLang="zh-TW" sz="2800" dirty="0" smtClean="0"/>
              <a:t>“If </a:t>
            </a:r>
            <a:r>
              <a:rPr lang="en-US" altLang="zh-TW" sz="2800" dirty="0"/>
              <a:t>the </a:t>
            </a:r>
            <a:r>
              <a:rPr lang="en-US" altLang="zh-TW" sz="2800" dirty="0" smtClean="0"/>
              <a:t>(null) hypothesis </a:t>
            </a:r>
            <a:r>
              <a:rPr lang="en-US" altLang="zh-TW" sz="2800" dirty="0"/>
              <a:t>were true, would it be unlikely to get data such as we obtained</a:t>
            </a:r>
            <a:r>
              <a:rPr lang="en-US" altLang="zh-TW" sz="2800" dirty="0" smtClean="0"/>
              <a:t>?</a:t>
            </a:r>
            <a:r>
              <a:rPr lang="en-US" altLang="zh-TW" dirty="0" smtClean="0">
                <a:latin typeface="Arial"/>
              </a:rPr>
              <a:t>”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36721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TW" sz="4000" dirty="0"/>
              <a:t>Five Parts of a Significance Test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5410200"/>
          </a:xfrm>
        </p:spPr>
        <p:txBody>
          <a:bodyPr/>
          <a:lstStyle/>
          <a:p>
            <a:r>
              <a:rPr lang="en-US" altLang="zh-TW" sz="2800" b="1" dirty="0"/>
              <a:t>Assumptions</a:t>
            </a:r>
            <a:r>
              <a:rPr lang="en-US" altLang="zh-TW" sz="2800" dirty="0"/>
              <a:t> about type of data (quantitative, categorical), sampling method (random), population distribution (e.g., normal, binary), sample size (large enough?)</a:t>
            </a:r>
          </a:p>
          <a:p>
            <a:endParaRPr lang="en-US" altLang="zh-TW" sz="2800" b="1" dirty="0"/>
          </a:p>
          <a:p>
            <a:r>
              <a:rPr lang="en-US" altLang="zh-TW" sz="2800" b="1" dirty="0"/>
              <a:t>Hypotheses</a:t>
            </a:r>
            <a:r>
              <a:rPr lang="en-US" altLang="zh-TW" sz="2800" dirty="0"/>
              <a:t>: </a:t>
            </a:r>
          </a:p>
          <a:p>
            <a:pPr>
              <a:buFontTx/>
              <a:buNone/>
            </a:pPr>
            <a:r>
              <a:rPr lang="en-US" altLang="zh-TW" sz="2800" i="1" dirty="0"/>
              <a:t>Null hypothesis</a:t>
            </a:r>
            <a:r>
              <a:rPr lang="en-US" altLang="zh-TW" sz="2800" dirty="0"/>
              <a:t> (</a:t>
            </a:r>
            <a:r>
              <a:rPr lang="en-US" altLang="zh-TW" sz="2800" i="1" dirty="0"/>
              <a:t>H</a:t>
            </a:r>
            <a:r>
              <a:rPr lang="en-US" altLang="zh-TW" sz="2800" baseline="-25000" dirty="0"/>
              <a:t>0</a:t>
            </a:r>
            <a:r>
              <a:rPr lang="en-US" altLang="zh-TW" sz="2800" dirty="0"/>
              <a:t>): A statement that parameter(s) take specific value(s)    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(Usually: </a:t>
            </a:r>
            <a:r>
              <a:rPr lang="en-US" altLang="zh-TW" dirty="0" smtClean="0">
                <a:latin typeface="Arial"/>
              </a:rPr>
              <a:t>“</a:t>
            </a:r>
            <a:r>
              <a:rPr lang="en-US" altLang="zh-TW" sz="2800" dirty="0" smtClean="0"/>
              <a:t>no effect</a:t>
            </a:r>
            <a:r>
              <a:rPr lang="en-US" altLang="zh-TW" dirty="0" smtClean="0">
                <a:latin typeface="Arial"/>
              </a:rPr>
              <a:t>”</a:t>
            </a:r>
            <a:r>
              <a:rPr lang="en-US" altLang="zh-TW" sz="2800" dirty="0" smtClean="0"/>
              <a:t>)</a:t>
            </a:r>
            <a:endParaRPr lang="en-US" altLang="zh-TW" sz="2800" dirty="0"/>
          </a:p>
          <a:p>
            <a:pPr>
              <a:buFontTx/>
              <a:buNone/>
            </a:pPr>
            <a:r>
              <a:rPr lang="en-US" altLang="zh-TW" sz="2800" i="1" dirty="0"/>
              <a:t>Alternative hypothesis</a:t>
            </a:r>
            <a:r>
              <a:rPr lang="en-US" altLang="zh-TW" sz="2800" dirty="0"/>
              <a:t> (</a:t>
            </a:r>
            <a:r>
              <a:rPr lang="en-US" altLang="zh-TW" sz="2800" i="1" dirty="0"/>
              <a:t>H</a:t>
            </a:r>
            <a:r>
              <a:rPr lang="en-US" altLang="zh-TW" sz="2800" i="1" baseline="-25000" dirty="0"/>
              <a:t>a</a:t>
            </a:r>
            <a:r>
              <a:rPr lang="en-US" altLang="zh-TW" sz="2800" dirty="0"/>
              <a:t>): states that parameter value(s) falls in some alternative range of values </a:t>
            </a:r>
          </a:p>
          <a:p>
            <a:pPr>
              <a:buFontTx/>
              <a:buNone/>
            </a:pPr>
            <a:r>
              <a:rPr lang="en-US" altLang="zh-TW" sz="2800" dirty="0"/>
              <a:t>                                    (an </a:t>
            </a:r>
            <a:r>
              <a:rPr lang="en-US" altLang="zh-TW" dirty="0" smtClean="0">
                <a:latin typeface="Arial"/>
              </a:rPr>
              <a:t>“</a:t>
            </a:r>
            <a:r>
              <a:rPr lang="en-US" altLang="zh-TW" sz="2800" dirty="0" smtClean="0"/>
              <a:t>effect</a:t>
            </a:r>
            <a:r>
              <a:rPr lang="en-US" altLang="zh-TW" dirty="0" smtClean="0">
                <a:latin typeface="Arial"/>
              </a:rPr>
              <a:t>”</a:t>
            </a:r>
            <a:r>
              <a:rPr lang="en-US" altLang="zh-TW" sz="2800" dirty="0" smtClean="0"/>
              <a:t>)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5874784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609600" indent="-609600"/>
            <a:r>
              <a:rPr lang="en-US" altLang="zh-TW" sz="2800" b="1" dirty="0"/>
              <a:t>Test Statistic</a:t>
            </a:r>
            <a:r>
              <a:rPr lang="en-US" altLang="zh-TW" sz="2800" dirty="0"/>
              <a:t>: Compares data to what null hypo. </a:t>
            </a:r>
            <a:r>
              <a:rPr lang="en-US" altLang="zh-TW" sz="2800" i="1" dirty="0"/>
              <a:t>H</a:t>
            </a:r>
            <a:r>
              <a:rPr lang="en-US" altLang="zh-TW" sz="2800" baseline="-25000" dirty="0"/>
              <a:t>0</a:t>
            </a:r>
            <a:r>
              <a:rPr lang="en-US" altLang="zh-TW" sz="2800" dirty="0"/>
              <a:t> predicts, often by finding the </a:t>
            </a:r>
            <a:r>
              <a:rPr lang="en-US" altLang="zh-TW" sz="2800" i="1" dirty="0" smtClean="0"/>
              <a:t>standard </a:t>
            </a:r>
            <a:r>
              <a:rPr lang="en-US" altLang="zh-TW" sz="2800" i="1" dirty="0"/>
              <a:t>errors</a:t>
            </a:r>
            <a:r>
              <a:rPr lang="en-US" altLang="zh-TW" sz="2800" dirty="0"/>
              <a:t> between sample point estimate and </a:t>
            </a:r>
            <a:r>
              <a:rPr lang="en-US" altLang="zh-TW" sz="2800" i="1" dirty="0"/>
              <a:t>H</a:t>
            </a:r>
            <a:r>
              <a:rPr lang="en-US" altLang="zh-TW" sz="2800" baseline="-25000" dirty="0"/>
              <a:t>0  </a:t>
            </a:r>
            <a:r>
              <a:rPr lang="en-US" altLang="zh-TW" sz="2800" dirty="0"/>
              <a:t>value of parameter</a:t>
            </a:r>
          </a:p>
          <a:p>
            <a:pPr marL="609600" indent="-609600"/>
            <a:r>
              <a:rPr lang="en-US" altLang="zh-TW" sz="2800" b="1" i="1" dirty="0"/>
              <a:t>P</a:t>
            </a:r>
            <a:r>
              <a:rPr lang="en-US" altLang="zh-TW" sz="2800" b="1" dirty="0"/>
              <a:t>-value (</a:t>
            </a:r>
            <a:r>
              <a:rPr lang="en-US" altLang="zh-TW" sz="2800" b="1" i="1" dirty="0"/>
              <a:t>P</a:t>
            </a:r>
            <a:r>
              <a:rPr lang="en-US" altLang="zh-TW" sz="2800" b="1" dirty="0"/>
              <a:t>):</a:t>
            </a:r>
            <a:r>
              <a:rPr lang="en-US" altLang="zh-TW" sz="2800" dirty="0"/>
              <a:t> A probability measure of evidence about </a:t>
            </a:r>
            <a:r>
              <a:rPr lang="en-US" altLang="zh-TW" sz="2800" i="1" dirty="0"/>
              <a:t>H</a:t>
            </a:r>
            <a:r>
              <a:rPr lang="en-US" altLang="zh-TW" sz="2800" baseline="-25000" dirty="0"/>
              <a:t>0</a:t>
            </a:r>
            <a:r>
              <a:rPr lang="en-US" altLang="zh-TW" sz="2800" baseline="-25000"/>
              <a:t>. </a:t>
            </a:r>
            <a:r>
              <a:rPr lang="en-US" altLang="zh-TW" smtClean="0"/>
              <a:t>The </a:t>
            </a:r>
            <a:r>
              <a:rPr lang="en-US" altLang="zh-TW" dirty="0" smtClean="0"/>
              <a:t>smaller the 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-value, the stronger the evidence against </a:t>
            </a:r>
            <a:r>
              <a:rPr lang="en-US" altLang="zh-TW" i="1" dirty="0" smtClean="0"/>
              <a:t>H</a:t>
            </a:r>
            <a:r>
              <a:rPr lang="en-US" altLang="zh-TW" baseline="-25000" dirty="0" smtClean="0"/>
              <a:t>0.</a:t>
            </a:r>
          </a:p>
          <a:p>
            <a:pPr marL="609600" indent="-609600"/>
            <a:r>
              <a:rPr lang="en-US" altLang="zh-TW" sz="2800" b="1" dirty="0" smtClean="0"/>
              <a:t>Conclusion</a:t>
            </a:r>
            <a:r>
              <a:rPr lang="en-US" altLang="zh-TW" sz="2800" dirty="0"/>
              <a:t>: </a:t>
            </a:r>
          </a:p>
          <a:p>
            <a:pPr marL="990600" lvl="1" indent="-533400"/>
            <a:r>
              <a:rPr lang="en-US" altLang="zh-TW" dirty="0"/>
              <a:t>If no decision needed, report and interpret P-value</a:t>
            </a:r>
          </a:p>
          <a:p>
            <a:pPr marL="990600" lvl="1" indent="-533400"/>
            <a:r>
              <a:rPr lang="en-US" altLang="zh-TW" dirty="0"/>
              <a:t>If decision needed, select a cutoff point (such as 0.05 or 0.01) and reject </a:t>
            </a:r>
            <a:r>
              <a:rPr lang="en-US" altLang="zh-TW" i="1" dirty="0"/>
              <a:t>H</a:t>
            </a:r>
            <a:r>
              <a:rPr lang="en-US" altLang="zh-TW" baseline="-25000" dirty="0"/>
              <a:t>0</a:t>
            </a:r>
            <a:r>
              <a:rPr lang="en-US" altLang="zh-TW" dirty="0"/>
              <a:t> if P-value </a:t>
            </a:r>
            <a:r>
              <a:rPr lang="en-US" altLang="zh-TW" dirty="0">
                <a:cs typeface="Arial" charset="0"/>
              </a:rPr>
              <a:t>≤</a:t>
            </a:r>
            <a:r>
              <a:rPr lang="en-US" altLang="zh-TW" dirty="0">
                <a:cs typeface="Arial" charset="0"/>
                <a:sym typeface="Euclid Symbol" charset="0"/>
              </a:rPr>
              <a:t> that value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522104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lvl="1">
              <a:buFontTx/>
              <a:buNone/>
            </a:pPr>
            <a:endParaRPr lang="en-US" altLang="zh-TW" dirty="0">
              <a:cs typeface="Arial" charset="0"/>
              <a:sym typeface="Euclid Symbol" charset="0"/>
            </a:endParaRPr>
          </a:p>
          <a:p>
            <a:pPr lvl="1"/>
            <a:r>
              <a:rPr lang="en-US" altLang="zh-TW" dirty="0"/>
              <a:t>The most widely accepted cutoff point is 0.05, and the test is said to be </a:t>
            </a:r>
            <a:r>
              <a:rPr lang="en-US" altLang="zh-TW" dirty="0" smtClean="0">
                <a:latin typeface="Arial"/>
              </a:rPr>
              <a:t>“</a:t>
            </a:r>
            <a:r>
              <a:rPr lang="en-US" altLang="zh-TW" i="1" dirty="0" smtClean="0"/>
              <a:t>significant </a:t>
            </a:r>
            <a:r>
              <a:rPr lang="en-US" altLang="zh-TW" i="1" dirty="0"/>
              <a:t>at the .05 </a:t>
            </a:r>
            <a:r>
              <a:rPr lang="en-US" altLang="zh-TW" i="1" dirty="0" smtClean="0"/>
              <a:t>level</a:t>
            </a:r>
            <a:r>
              <a:rPr lang="en-US" altLang="zh-TW" i="1" dirty="0" smtClean="0">
                <a:latin typeface="Arial"/>
              </a:rPr>
              <a:t>”</a:t>
            </a:r>
            <a:r>
              <a:rPr lang="en-US" altLang="zh-TW" dirty="0" smtClean="0"/>
              <a:t> </a:t>
            </a:r>
            <a:r>
              <a:rPr lang="en-US" altLang="zh-TW" dirty="0"/>
              <a:t>if the P-value </a:t>
            </a:r>
            <a:r>
              <a:rPr lang="en-US" altLang="zh-TW" dirty="0">
                <a:cs typeface="Arial" charset="0"/>
              </a:rPr>
              <a:t>≤</a:t>
            </a:r>
            <a:r>
              <a:rPr lang="en-US" altLang="zh-TW" dirty="0"/>
              <a:t> 0.05.</a:t>
            </a:r>
          </a:p>
          <a:p>
            <a:pPr lvl="1">
              <a:buFontTx/>
              <a:buNone/>
            </a:pPr>
            <a:endParaRPr lang="en-US" altLang="zh-TW" dirty="0"/>
          </a:p>
          <a:p>
            <a:pPr lvl="1"/>
            <a:r>
              <a:rPr lang="en-US" altLang="zh-TW" dirty="0"/>
              <a:t>If the </a:t>
            </a:r>
            <a:r>
              <a:rPr lang="en-US" altLang="zh-TW" i="1" dirty="0"/>
              <a:t>P</a:t>
            </a:r>
            <a:r>
              <a:rPr lang="en-US" altLang="zh-TW" dirty="0"/>
              <a:t>-value is not sufficiently small, we </a:t>
            </a:r>
            <a:r>
              <a:rPr lang="en-US" altLang="zh-TW" i="1" dirty="0"/>
              <a:t>fail to reject H</a:t>
            </a:r>
            <a:r>
              <a:rPr lang="en-US" altLang="zh-TW" i="1" baseline="-25000" dirty="0"/>
              <a:t>0</a:t>
            </a:r>
            <a:r>
              <a:rPr lang="en-US" altLang="zh-TW" dirty="0"/>
              <a:t> </a:t>
            </a:r>
          </a:p>
          <a:p>
            <a:pPr lvl="1">
              <a:buFontTx/>
              <a:buNone/>
            </a:pPr>
            <a:r>
              <a:rPr lang="en-US" altLang="zh-TW" dirty="0"/>
              <a:t>(then, </a:t>
            </a:r>
            <a:r>
              <a:rPr lang="en-US" altLang="zh-TW" i="1" dirty="0"/>
              <a:t>H</a:t>
            </a:r>
            <a:r>
              <a:rPr lang="en-US" altLang="zh-TW" baseline="-25000" dirty="0"/>
              <a:t>0</a:t>
            </a:r>
            <a:r>
              <a:rPr lang="en-US" altLang="zh-TW" dirty="0"/>
              <a:t> is not necessarily true, but it is plausible)</a:t>
            </a:r>
          </a:p>
          <a:p>
            <a:pPr lvl="1">
              <a:buFontTx/>
              <a:buNone/>
            </a:pPr>
            <a:endParaRPr lang="en-US" altLang="zh-TW" dirty="0"/>
          </a:p>
          <a:p>
            <a:pPr lvl="1"/>
            <a:r>
              <a:rPr lang="en-US" altLang="zh-TW" dirty="0"/>
              <a:t>Process is analogous to American judicial system</a:t>
            </a:r>
          </a:p>
          <a:p>
            <a:pPr lvl="2"/>
            <a:r>
              <a:rPr lang="en-US" altLang="zh-TW" sz="2800" i="1" dirty="0"/>
              <a:t>H</a:t>
            </a:r>
            <a:r>
              <a:rPr lang="en-US" altLang="zh-TW" sz="2800" baseline="-25000" dirty="0"/>
              <a:t>0</a:t>
            </a:r>
            <a:r>
              <a:rPr lang="en-US" altLang="zh-TW" sz="2800" dirty="0"/>
              <a:t>: Defendant is </a:t>
            </a:r>
            <a:r>
              <a:rPr lang="en-US" altLang="zh-TW" sz="2800" i="1" dirty="0"/>
              <a:t>innocent</a:t>
            </a:r>
          </a:p>
          <a:p>
            <a:pPr lvl="2"/>
            <a:r>
              <a:rPr lang="en-US" altLang="zh-TW" sz="2800" i="1" dirty="0"/>
              <a:t>H</a:t>
            </a:r>
            <a:r>
              <a:rPr lang="en-US" altLang="zh-TW" sz="2800" i="1" baseline="-25000" dirty="0"/>
              <a:t>a</a:t>
            </a:r>
            <a:r>
              <a:rPr lang="en-US" altLang="zh-TW" sz="2800" dirty="0"/>
              <a:t>: Defendant is </a:t>
            </a:r>
            <a:r>
              <a:rPr lang="en-US" altLang="zh-TW" sz="2800" i="1" dirty="0"/>
              <a:t>guilty</a:t>
            </a:r>
          </a:p>
        </p:txBody>
      </p:sp>
    </p:spTree>
    <p:extLst>
      <p:ext uri="{BB962C8B-B14F-4D97-AF65-F5344CB8AC3E}">
        <p14:creationId xmlns:p14="http://schemas.microsoft.com/office/powerpoint/2010/main" val="1911364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077200" cy="762000"/>
          </a:xfrm>
        </p:spPr>
        <p:txBody>
          <a:bodyPr/>
          <a:lstStyle/>
          <a:p>
            <a:r>
              <a:rPr lang="en-US" altLang="zh-TW" sz="4000" dirty="0"/>
              <a:t>Significance Test for </a:t>
            </a:r>
            <a:r>
              <a:rPr lang="en-US" altLang="zh-TW" sz="4000" dirty="0" smtClean="0"/>
              <a:t>Mean (t-test)</a:t>
            </a:r>
            <a:endParaRPr lang="en-US" altLang="zh-TW" sz="4000" dirty="0"/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r>
              <a:rPr lang="en-US" altLang="zh-TW" sz="2800" i="1" dirty="0"/>
              <a:t>Assumptions</a:t>
            </a:r>
            <a:r>
              <a:rPr lang="en-US" altLang="zh-TW" sz="2800" dirty="0"/>
              <a:t>: Randomization,</a:t>
            </a:r>
            <a:r>
              <a:rPr lang="en-US" altLang="zh-TW" sz="2800" dirty="0">
                <a:sym typeface="Symbol" charset="0"/>
              </a:rPr>
              <a:t> quantitative variable, normal population distribution </a:t>
            </a:r>
            <a:endParaRPr lang="en-US" altLang="zh-TW" sz="2800" dirty="0" smtClean="0">
              <a:sym typeface="Symbol" charset="0"/>
            </a:endParaRPr>
          </a:p>
          <a:p>
            <a:r>
              <a:rPr lang="en-US" altLang="zh-TW" sz="2800" i="1" dirty="0" smtClean="0">
                <a:sym typeface="Symbol" charset="0"/>
              </a:rPr>
              <a:t>Null </a:t>
            </a:r>
            <a:r>
              <a:rPr lang="en-US" altLang="zh-TW" sz="2800" i="1" dirty="0">
                <a:sym typeface="Symbol" charset="0"/>
              </a:rPr>
              <a:t>Hypothesis</a:t>
            </a:r>
            <a:r>
              <a:rPr lang="en-US" altLang="zh-TW" sz="2800" dirty="0">
                <a:sym typeface="Symbol" charset="0"/>
              </a:rPr>
              <a:t>: </a:t>
            </a:r>
            <a:r>
              <a:rPr lang="en-US" altLang="zh-TW" sz="2800" i="1" dirty="0">
                <a:sym typeface="Symbol" charset="0"/>
              </a:rPr>
              <a:t>H</a:t>
            </a:r>
            <a:r>
              <a:rPr lang="en-US" altLang="zh-TW" sz="2800" baseline="-25000" dirty="0">
                <a:sym typeface="Symbol" charset="0"/>
              </a:rPr>
              <a:t>0</a:t>
            </a:r>
            <a:r>
              <a:rPr lang="en-US" altLang="zh-TW" sz="2800" dirty="0">
                <a:sym typeface="Symbol" charset="0"/>
              </a:rPr>
              <a:t>: </a:t>
            </a:r>
            <a:r>
              <a:rPr lang="en-US" altLang="zh-TW" sz="2800" i="1" dirty="0">
                <a:cs typeface="Arial" charset="0"/>
                <a:sym typeface="Symbol" charset="0"/>
              </a:rPr>
              <a:t>µ</a:t>
            </a:r>
            <a:r>
              <a:rPr lang="en-US" altLang="zh-TW" sz="2800" dirty="0">
                <a:sym typeface="Symbol" charset="0"/>
              </a:rPr>
              <a:t> = </a:t>
            </a:r>
            <a:r>
              <a:rPr lang="en-US" altLang="zh-TW" sz="2800" i="1" dirty="0">
                <a:cs typeface="Arial" charset="0"/>
                <a:sym typeface="Symbol" charset="0"/>
              </a:rPr>
              <a:t>µ</a:t>
            </a:r>
            <a:r>
              <a:rPr lang="en-US" altLang="zh-TW" sz="2800" baseline="-25000" dirty="0">
                <a:sym typeface="Symbol" charset="0"/>
              </a:rPr>
              <a:t>0 </a:t>
            </a:r>
            <a:r>
              <a:rPr lang="en-US" altLang="zh-TW" sz="2800" dirty="0">
                <a:sym typeface="Symbol" charset="0"/>
              </a:rPr>
              <a:t>where </a:t>
            </a:r>
            <a:r>
              <a:rPr lang="en-US" altLang="zh-TW" sz="2800" i="1" dirty="0">
                <a:cs typeface="Arial" charset="0"/>
                <a:sym typeface="Symbol" charset="0"/>
              </a:rPr>
              <a:t>µ</a:t>
            </a:r>
            <a:r>
              <a:rPr lang="en-US" altLang="zh-TW" sz="2800" baseline="-25000" dirty="0">
                <a:sym typeface="Symbol" charset="0"/>
              </a:rPr>
              <a:t>0 </a:t>
            </a:r>
            <a:r>
              <a:rPr lang="en-US" altLang="zh-TW" sz="2800" dirty="0">
                <a:sym typeface="Symbol" charset="0"/>
              </a:rPr>
              <a:t>is particular value for population mean </a:t>
            </a:r>
          </a:p>
          <a:p>
            <a:pPr>
              <a:buFontTx/>
              <a:buNone/>
            </a:pPr>
            <a:r>
              <a:rPr lang="en-US" altLang="zh-TW" sz="2800" dirty="0">
                <a:sym typeface="Symbol" charset="0"/>
              </a:rPr>
              <a:t>     (typically </a:t>
            </a:r>
            <a:r>
              <a:rPr lang="en-US" altLang="zh-TW" dirty="0" smtClean="0">
                <a:latin typeface="Arial"/>
                <a:sym typeface="Symbol" charset="0"/>
              </a:rPr>
              <a:t>“</a:t>
            </a:r>
            <a:r>
              <a:rPr lang="en-US" altLang="zh-TW" sz="2800" dirty="0" smtClean="0">
                <a:sym typeface="Symbol" charset="0"/>
              </a:rPr>
              <a:t>no effect</a:t>
            </a:r>
            <a:r>
              <a:rPr lang="en-US" altLang="zh-TW" dirty="0" smtClean="0">
                <a:latin typeface="Arial"/>
                <a:sym typeface="Symbol" charset="0"/>
              </a:rPr>
              <a:t>”</a:t>
            </a:r>
            <a:r>
              <a:rPr lang="en-US" altLang="zh-TW" sz="2800" dirty="0" smtClean="0">
                <a:sym typeface="Symbol" charset="0"/>
              </a:rPr>
              <a:t> </a:t>
            </a:r>
            <a:r>
              <a:rPr lang="en-US" altLang="zh-TW" sz="2800" dirty="0">
                <a:sym typeface="Symbol" charset="0"/>
              </a:rPr>
              <a:t>or </a:t>
            </a:r>
            <a:r>
              <a:rPr lang="en-US" altLang="zh-TW" dirty="0" smtClean="0">
                <a:latin typeface="Arial"/>
                <a:sym typeface="Symbol" charset="0"/>
              </a:rPr>
              <a:t>“</a:t>
            </a:r>
            <a:r>
              <a:rPr lang="en-US" altLang="zh-TW" sz="2800" dirty="0" smtClean="0">
                <a:sym typeface="Symbol" charset="0"/>
              </a:rPr>
              <a:t>no change</a:t>
            </a:r>
            <a:r>
              <a:rPr lang="en-US" altLang="zh-TW" dirty="0" smtClean="0">
                <a:latin typeface="Arial"/>
                <a:sym typeface="Symbol" charset="0"/>
              </a:rPr>
              <a:t>” </a:t>
            </a:r>
            <a:r>
              <a:rPr lang="en-US" altLang="zh-TW" sz="2800" dirty="0" smtClean="0">
                <a:sym typeface="Symbol" charset="0"/>
              </a:rPr>
              <a:t>from </a:t>
            </a:r>
            <a:r>
              <a:rPr lang="en-US" altLang="zh-TW" sz="2800" dirty="0">
                <a:sym typeface="Symbol" charset="0"/>
              </a:rPr>
              <a:t>a standard)</a:t>
            </a:r>
          </a:p>
          <a:p>
            <a:r>
              <a:rPr lang="en-US" altLang="zh-TW" sz="2800" i="1" dirty="0">
                <a:sym typeface="Symbol" charset="0"/>
              </a:rPr>
              <a:t>Alternative Hypothesis</a:t>
            </a:r>
            <a:r>
              <a:rPr lang="en-US" altLang="zh-TW" sz="2800" dirty="0">
                <a:sym typeface="Symbol" charset="0"/>
              </a:rPr>
              <a:t>: </a:t>
            </a:r>
            <a:r>
              <a:rPr lang="en-US" altLang="zh-TW" sz="2800" i="1" dirty="0">
                <a:sym typeface="Symbol" charset="0"/>
              </a:rPr>
              <a:t>H</a:t>
            </a:r>
            <a:r>
              <a:rPr lang="en-US" altLang="zh-TW" sz="2800" i="1" baseline="-25000" dirty="0">
                <a:sym typeface="Symbol" charset="0"/>
              </a:rPr>
              <a:t>a</a:t>
            </a:r>
            <a:r>
              <a:rPr lang="en-US" altLang="zh-TW" sz="2800" dirty="0">
                <a:sym typeface="Symbol" charset="0"/>
              </a:rPr>
              <a:t>: </a:t>
            </a:r>
            <a:r>
              <a:rPr lang="en-US" altLang="zh-TW" sz="2800" i="1" dirty="0">
                <a:cs typeface="Arial" charset="0"/>
                <a:sym typeface="Symbol" charset="0"/>
              </a:rPr>
              <a:t>µ</a:t>
            </a:r>
            <a:r>
              <a:rPr lang="en-US" altLang="zh-TW" sz="2800" dirty="0">
                <a:sym typeface="Symbol" charset="0"/>
              </a:rPr>
              <a:t>  </a:t>
            </a:r>
            <a:r>
              <a:rPr lang="en-US" altLang="zh-TW" sz="2800" i="1" dirty="0">
                <a:cs typeface="Arial" charset="0"/>
                <a:sym typeface="Symbol" charset="0"/>
              </a:rPr>
              <a:t>µ</a:t>
            </a:r>
            <a:r>
              <a:rPr lang="en-US" altLang="zh-TW" sz="2800" baseline="-25000" dirty="0">
                <a:sym typeface="Symbol" charset="0"/>
              </a:rPr>
              <a:t>0 </a:t>
            </a:r>
          </a:p>
          <a:p>
            <a:pPr>
              <a:buFontTx/>
              <a:buNone/>
            </a:pPr>
            <a:r>
              <a:rPr lang="en-US" altLang="zh-TW" sz="2800" dirty="0">
                <a:sym typeface="Symbol" charset="0"/>
              </a:rPr>
              <a:t>     </a:t>
            </a:r>
            <a:r>
              <a:rPr lang="en-US" altLang="zh-TW" sz="2800" i="1" dirty="0">
                <a:sym typeface="Symbol" charset="0"/>
              </a:rPr>
              <a:t>2-sided </a:t>
            </a:r>
            <a:r>
              <a:rPr lang="en-US" altLang="zh-TW" sz="2800" dirty="0">
                <a:sym typeface="Symbol" charset="0"/>
              </a:rPr>
              <a:t>alternative includes both  &gt;  and  &lt; </a:t>
            </a:r>
            <a:r>
              <a:rPr lang="en-US" altLang="zh-TW" sz="2800" i="1" dirty="0">
                <a:sym typeface="Symbol" charset="0"/>
              </a:rPr>
              <a:t>H</a:t>
            </a:r>
            <a:r>
              <a:rPr lang="en-US" altLang="zh-TW" sz="2800" baseline="-25000" dirty="0">
                <a:sym typeface="Symbol" charset="0"/>
              </a:rPr>
              <a:t>0</a:t>
            </a:r>
            <a:r>
              <a:rPr lang="en-US" altLang="zh-TW" sz="2800" dirty="0">
                <a:sym typeface="Symbol" charset="0"/>
              </a:rPr>
              <a:t> value</a:t>
            </a:r>
          </a:p>
          <a:p>
            <a:r>
              <a:rPr lang="en-US" altLang="zh-TW" sz="2800" i="1" dirty="0">
                <a:sym typeface="Symbol" charset="0"/>
              </a:rPr>
              <a:t>Test Statistic</a:t>
            </a:r>
            <a:r>
              <a:rPr lang="en-US" altLang="zh-TW" sz="2800" dirty="0">
                <a:sym typeface="Symbol" charset="0"/>
              </a:rPr>
              <a:t>: The number of standard errors that the sample mean falls from the </a:t>
            </a:r>
            <a:r>
              <a:rPr lang="en-US" altLang="zh-TW" sz="2800" i="1" dirty="0">
                <a:sym typeface="Symbol" charset="0"/>
              </a:rPr>
              <a:t>H</a:t>
            </a:r>
            <a:r>
              <a:rPr lang="en-US" altLang="zh-TW" sz="2800" baseline="-25000" dirty="0">
                <a:sym typeface="Symbol" charset="0"/>
              </a:rPr>
              <a:t>0</a:t>
            </a:r>
            <a:r>
              <a:rPr lang="en-US" altLang="zh-TW" sz="2800" dirty="0">
                <a:sym typeface="Symbol" charset="0"/>
              </a:rPr>
              <a:t> value</a:t>
            </a:r>
          </a:p>
        </p:txBody>
      </p:sp>
      <p:graphicFrame>
        <p:nvGraphicFramePr>
          <p:cNvPr id="216068" name="Object 4"/>
          <p:cNvGraphicFramePr>
            <a:graphicFrameLocks noChangeAspect="1"/>
          </p:cNvGraphicFramePr>
          <p:nvPr/>
        </p:nvGraphicFramePr>
        <p:xfrm>
          <a:off x="1738313" y="5530850"/>
          <a:ext cx="445452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8" name="方程式" r:id="rId3" imgW="1904760" imgH="393480" progId="Equation.3">
                  <p:embed/>
                </p:oleObj>
              </mc:Choice>
              <mc:Fallback>
                <p:oleObj name="方程式" r:id="rId3" imgW="1904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5530850"/>
                        <a:ext cx="4454525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7151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2" name="Group 2"/>
          <p:cNvGrpSpPr>
            <a:grpSpLocks/>
          </p:cNvGrpSpPr>
          <p:nvPr/>
        </p:nvGrpSpPr>
        <p:grpSpPr bwMode="auto">
          <a:xfrm flipH="1">
            <a:off x="228600" y="4800600"/>
            <a:ext cx="838200" cy="838200"/>
            <a:chOff x="2736" y="3024"/>
            <a:chExt cx="528" cy="528"/>
          </a:xfrm>
        </p:grpSpPr>
        <p:sp>
          <p:nvSpPr>
            <p:cNvPr id="7194" name="Freeform 3"/>
            <p:cNvSpPr>
              <a:spLocks/>
            </p:cNvSpPr>
            <p:nvPr/>
          </p:nvSpPr>
          <p:spPr bwMode="auto">
            <a:xfrm>
              <a:off x="3120" y="3456"/>
              <a:ext cx="144" cy="96"/>
            </a:xfrm>
            <a:custGeom>
              <a:avLst/>
              <a:gdLst>
                <a:gd name="T0" fmla="*/ 144 w 144"/>
                <a:gd name="T1" fmla="*/ 96 h 96"/>
                <a:gd name="T2" fmla="*/ 0 w 144"/>
                <a:gd name="T3" fmla="*/ 0 h 96"/>
                <a:gd name="T4" fmla="*/ 0 w 144"/>
                <a:gd name="T5" fmla="*/ 96 h 96"/>
                <a:gd name="T6" fmla="*/ 144 w 144"/>
                <a:gd name="T7" fmla="*/ 9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96"/>
                <a:gd name="T14" fmla="*/ 144 w 144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96">
                  <a:moveTo>
                    <a:pt x="144" y="96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44" y="96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7195" name="Group 4"/>
            <p:cNvGrpSpPr>
              <a:grpSpLocks/>
            </p:cNvGrpSpPr>
            <p:nvPr/>
          </p:nvGrpSpPr>
          <p:grpSpPr bwMode="auto">
            <a:xfrm>
              <a:off x="2736" y="3024"/>
              <a:ext cx="480" cy="528"/>
              <a:chOff x="2736" y="3024"/>
              <a:chExt cx="480" cy="528"/>
            </a:xfrm>
          </p:grpSpPr>
          <p:sp>
            <p:nvSpPr>
              <p:cNvPr id="7196" name="Freeform 5"/>
              <p:cNvSpPr>
                <a:spLocks/>
              </p:cNvSpPr>
              <p:nvPr/>
            </p:nvSpPr>
            <p:spPr bwMode="auto">
              <a:xfrm>
                <a:off x="3024" y="3408"/>
                <a:ext cx="96" cy="48"/>
              </a:xfrm>
              <a:custGeom>
                <a:avLst/>
                <a:gdLst>
                  <a:gd name="T0" fmla="*/ 0 w 96"/>
                  <a:gd name="T1" fmla="*/ 0 h 48"/>
                  <a:gd name="T2" fmla="*/ 96 w 96"/>
                  <a:gd name="T3" fmla="*/ 48 h 48"/>
                  <a:gd name="T4" fmla="*/ 48 w 96"/>
                  <a:gd name="T5" fmla="*/ 48 h 48"/>
                  <a:gd name="T6" fmla="*/ 0 w 96"/>
                  <a:gd name="T7" fmla="*/ 48 h 48"/>
                  <a:gd name="T8" fmla="*/ 0 w 9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48"/>
                  <a:gd name="T17" fmla="*/ 96 w 9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48">
                    <a:moveTo>
                      <a:pt x="0" y="0"/>
                    </a:moveTo>
                    <a:lnTo>
                      <a:pt x="96" y="48"/>
                    </a:lnTo>
                    <a:lnTo>
                      <a:pt x="48" y="48"/>
                    </a:lnTo>
                    <a:lnTo>
                      <a:pt x="0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97" name="Freeform 6"/>
              <p:cNvSpPr>
                <a:spLocks/>
              </p:cNvSpPr>
              <p:nvPr/>
            </p:nvSpPr>
            <p:spPr bwMode="auto">
              <a:xfrm>
                <a:off x="2976" y="3312"/>
                <a:ext cx="240" cy="240"/>
              </a:xfrm>
              <a:custGeom>
                <a:avLst/>
                <a:gdLst>
                  <a:gd name="T0" fmla="*/ 0 w 240"/>
                  <a:gd name="T1" fmla="*/ 0 h 240"/>
                  <a:gd name="T2" fmla="*/ 48 w 240"/>
                  <a:gd name="T3" fmla="*/ 48 h 240"/>
                  <a:gd name="T4" fmla="*/ 96 w 240"/>
                  <a:gd name="T5" fmla="*/ 144 h 240"/>
                  <a:gd name="T6" fmla="*/ 144 w 240"/>
                  <a:gd name="T7" fmla="*/ 144 h 240"/>
                  <a:gd name="T8" fmla="*/ 192 w 240"/>
                  <a:gd name="T9" fmla="*/ 192 h 240"/>
                  <a:gd name="T10" fmla="*/ 240 w 240"/>
                  <a:gd name="T11" fmla="*/ 240 h 240"/>
                  <a:gd name="T12" fmla="*/ 0 w 240"/>
                  <a:gd name="T13" fmla="*/ 240 h 240"/>
                  <a:gd name="T14" fmla="*/ 0 w 240"/>
                  <a:gd name="T15" fmla="*/ 0 h 2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40"/>
                  <a:gd name="T25" fmla="*/ 0 h 240"/>
                  <a:gd name="T26" fmla="*/ 240 w 240"/>
                  <a:gd name="T27" fmla="*/ 240 h 24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40" h="240">
                    <a:moveTo>
                      <a:pt x="0" y="0"/>
                    </a:moveTo>
                    <a:lnTo>
                      <a:pt x="48" y="48"/>
                    </a:lnTo>
                    <a:lnTo>
                      <a:pt x="96" y="144"/>
                    </a:lnTo>
                    <a:lnTo>
                      <a:pt x="144" y="144"/>
                    </a:lnTo>
                    <a:lnTo>
                      <a:pt x="192" y="192"/>
                    </a:lnTo>
                    <a:lnTo>
                      <a:pt x="240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98" name="Freeform 7"/>
              <p:cNvSpPr>
                <a:spLocks/>
              </p:cNvSpPr>
              <p:nvPr/>
            </p:nvSpPr>
            <p:spPr bwMode="auto">
              <a:xfrm>
                <a:off x="2928" y="3216"/>
                <a:ext cx="240" cy="336"/>
              </a:xfrm>
              <a:custGeom>
                <a:avLst/>
                <a:gdLst>
                  <a:gd name="T0" fmla="*/ 1789 w 192"/>
                  <a:gd name="T1" fmla="*/ 336 h 336"/>
                  <a:gd name="T2" fmla="*/ 1340 w 192"/>
                  <a:gd name="T3" fmla="*/ 288 h 336"/>
                  <a:gd name="T4" fmla="*/ 1340 w 192"/>
                  <a:gd name="T5" fmla="*/ 240 h 336"/>
                  <a:gd name="T6" fmla="*/ 1340 w 192"/>
                  <a:gd name="T7" fmla="*/ 288 h 336"/>
                  <a:gd name="T8" fmla="*/ 899 w 192"/>
                  <a:gd name="T9" fmla="*/ 240 h 336"/>
                  <a:gd name="T10" fmla="*/ 899 w 192"/>
                  <a:gd name="T11" fmla="*/ 192 h 336"/>
                  <a:gd name="T12" fmla="*/ 449 w 192"/>
                  <a:gd name="T13" fmla="*/ 144 h 336"/>
                  <a:gd name="T14" fmla="*/ 449 w 192"/>
                  <a:gd name="T15" fmla="*/ 96 h 336"/>
                  <a:gd name="T16" fmla="*/ 0 w 192"/>
                  <a:gd name="T17" fmla="*/ 48 h 336"/>
                  <a:gd name="T18" fmla="*/ 0 w 192"/>
                  <a:gd name="T19" fmla="*/ 0 h 336"/>
                  <a:gd name="T20" fmla="*/ 0 w 192"/>
                  <a:gd name="T21" fmla="*/ 336 h 336"/>
                  <a:gd name="T22" fmla="*/ 1789 w 192"/>
                  <a:gd name="T23" fmla="*/ 336 h 3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2"/>
                  <a:gd name="T37" fmla="*/ 0 h 336"/>
                  <a:gd name="T38" fmla="*/ 192 w 192"/>
                  <a:gd name="T39" fmla="*/ 336 h 3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2" h="336">
                    <a:moveTo>
                      <a:pt x="192" y="336"/>
                    </a:moveTo>
                    <a:lnTo>
                      <a:pt x="144" y="288"/>
                    </a:lnTo>
                    <a:lnTo>
                      <a:pt x="144" y="240"/>
                    </a:lnTo>
                    <a:lnTo>
                      <a:pt x="144" y="288"/>
                    </a:lnTo>
                    <a:lnTo>
                      <a:pt x="96" y="240"/>
                    </a:lnTo>
                    <a:lnTo>
                      <a:pt x="96" y="192"/>
                    </a:lnTo>
                    <a:lnTo>
                      <a:pt x="48" y="144"/>
                    </a:lnTo>
                    <a:lnTo>
                      <a:pt x="48" y="96"/>
                    </a:lnTo>
                    <a:lnTo>
                      <a:pt x="0" y="48"/>
                    </a:lnTo>
                    <a:lnTo>
                      <a:pt x="0" y="0"/>
                    </a:lnTo>
                    <a:lnTo>
                      <a:pt x="0" y="336"/>
                    </a:lnTo>
                    <a:lnTo>
                      <a:pt x="192" y="336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99" name="Freeform 8"/>
              <p:cNvSpPr>
                <a:spLocks/>
              </p:cNvSpPr>
              <p:nvPr/>
            </p:nvSpPr>
            <p:spPr bwMode="auto">
              <a:xfrm>
                <a:off x="2880" y="3216"/>
                <a:ext cx="48" cy="336"/>
              </a:xfrm>
              <a:custGeom>
                <a:avLst/>
                <a:gdLst>
                  <a:gd name="T0" fmla="*/ 48 w 48"/>
                  <a:gd name="T1" fmla="*/ 96 h 336"/>
                  <a:gd name="T2" fmla="*/ 0 w 48"/>
                  <a:gd name="T3" fmla="*/ 0 h 336"/>
                  <a:gd name="T4" fmla="*/ 0 w 48"/>
                  <a:gd name="T5" fmla="*/ 336 h 336"/>
                  <a:gd name="T6" fmla="*/ 48 w 48"/>
                  <a:gd name="T7" fmla="*/ 336 h 336"/>
                  <a:gd name="T8" fmla="*/ 48 w 48"/>
                  <a:gd name="T9" fmla="*/ 48 h 336"/>
                  <a:gd name="T10" fmla="*/ 0 w 48"/>
                  <a:gd name="T11" fmla="*/ 0 h 336"/>
                  <a:gd name="T12" fmla="*/ 0 w 48"/>
                  <a:gd name="T13" fmla="*/ 48 h 3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336"/>
                  <a:gd name="T23" fmla="*/ 48 w 48"/>
                  <a:gd name="T24" fmla="*/ 336 h 3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336">
                    <a:moveTo>
                      <a:pt x="48" y="96"/>
                    </a:moveTo>
                    <a:lnTo>
                      <a:pt x="0" y="0"/>
                    </a:lnTo>
                    <a:lnTo>
                      <a:pt x="0" y="336"/>
                    </a:lnTo>
                    <a:lnTo>
                      <a:pt x="48" y="336"/>
                    </a:lnTo>
                    <a:lnTo>
                      <a:pt x="48" y="48"/>
                    </a:lnTo>
                    <a:lnTo>
                      <a:pt x="0" y="0"/>
                    </a:lnTo>
                    <a:lnTo>
                      <a:pt x="0" y="48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00" name="Freeform 9"/>
              <p:cNvSpPr>
                <a:spLocks/>
              </p:cNvSpPr>
              <p:nvPr/>
            </p:nvSpPr>
            <p:spPr bwMode="auto">
              <a:xfrm>
                <a:off x="2880" y="3216"/>
                <a:ext cx="48" cy="96"/>
              </a:xfrm>
              <a:custGeom>
                <a:avLst/>
                <a:gdLst>
                  <a:gd name="T0" fmla="*/ 0 w 48"/>
                  <a:gd name="T1" fmla="*/ 0 h 96"/>
                  <a:gd name="T2" fmla="*/ 0 w 48"/>
                  <a:gd name="T3" fmla="*/ 48 h 96"/>
                  <a:gd name="T4" fmla="*/ 48 w 48"/>
                  <a:gd name="T5" fmla="*/ 96 h 96"/>
                  <a:gd name="T6" fmla="*/ 48 w 48"/>
                  <a:gd name="T7" fmla="*/ 48 h 96"/>
                  <a:gd name="T8" fmla="*/ 0 w 48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6"/>
                  <a:gd name="T17" fmla="*/ 48 w 48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6">
                    <a:moveTo>
                      <a:pt x="0" y="0"/>
                    </a:moveTo>
                    <a:lnTo>
                      <a:pt x="0" y="48"/>
                    </a:lnTo>
                    <a:lnTo>
                      <a:pt x="48" y="96"/>
                    </a:lnTo>
                    <a:lnTo>
                      <a:pt x="48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01" name="Freeform 10"/>
              <p:cNvSpPr>
                <a:spLocks/>
              </p:cNvSpPr>
              <p:nvPr/>
            </p:nvSpPr>
            <p:spPr bwMode="auto">
              <a:xfrm>
                <a:off x="2832" y="3168"/>
                <a:ext cx="48" cy="384"/>
              </a:xfrm>
              <a:custGeom>
                <a:avLst/>
                <a:gdLst>
                  <a:gd name="T0" fmla="*/ 48 w 48"/>
                  <a:gd name="T1" fmla="*/ 48 h 384"/>
                  <a:gd name="T2" fmla="*/ 0 w 48"/>
                  <a:gd name="T3" fmla="*/ 0 h 384"/>
                  <a:gd name="T4" fmla="*/ 0 w 48"/>
                  <a:gd name="T5" fmla="*/ 384 h 384"/>
                  <a:gd name="T6" fmla="*/ 48 w 48"/>
                  <a:gd name="T7" fmla="*/ 384 h 384"/>
                  <a:gd name="T8" fmla="*/ 48 w 48"/>
                  <a:gd name="T9" fmla="*/ 48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384"/>
                  <a:gd name="T17" fmla="*/ 48 w 48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384">
                    <a:moveTo>
                      <a:pt x="48" y="48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48" y="384"/>
                    </a:lnTo>
                    <a:lnTo>
                      <a:pt x="48" y="48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02" name="Freeform 11"/>
              <p:cNvSpPr>
                <a:spLocks/>
              </p:cNvSpPr>
              <p:nvPr/>
            </p:nvSpPr>
            <p:spPr bwMode="auto">
              <a:xfrm>
                <a:off x="2784" y="3072"/>
                <a:ext cx="48" cy="480"/>
              </a:xfrm>
              <a:custGeom>
                <a:avLst/>
                <a:gdLst>
                  <a:gd name="T0" fmla="*/ 48 w 48"/>
                  <a:gd name="T1" fmla="*/ 96 h 480"/>
                  <a:gd name="T2" fmla="*/ 0 w 48"/>
                  <a:gd name="T3" fmla="*/ 0 h 480"/>
                  <a:gd name="T4" fmla="*/ 0 w 48"/>
                  <a:gd name="T5" fmla="*/ 480 h 480"/>
                  <a:gd name="T6" fmla="*/ 48 w 48"/>
                  <a:gd name="T7" fmla="*/ 480 h 480"/>
                  <a:gd name="T8" fmla="*/ 48 w 48"/>
                  <a:gd name="T9" fmla="*/ 96 h 4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480"/>
                  <a:gd name="T17" fmla="*/ 48 w 48"/>
                  <a:gd name="T18" fmla="*/ 480 h 4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480">
                    <a:moveTo>
                      <a:pt x="48" y="96"/>
                    </a:moveTo>
                    <a:lnTo>
                      <a:pt x="0" y="0"/>
                    </a:lnTo>
                    <a:lnTo>
                      <a:pt x="0" y="480"/>
                    </a:lnTo>
                    <a:lnTo>
                      <a:pt x="48" y="480"/>
                    </a:lnTo>
                    <a:lnTo>
                      <a:pt x="48" y="96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03" name="Freeform 12"/>
              <p:cNvSpPr>
                <a:spLocks/>
              </p:cNvSpPr>
              <p:nvPr/>
            </p:nvSpPr>
            <p:spPr bwMode="auto">
              <a:xfrm>
                <a:off x="2736" y="3024"/>
                <a:ext cx="48" cy="528"/>
              </a:xfrm>
              <a:custGeom>
                <a:avLst/>
                <a:gdLst>
                  <a:gd name="T0" fmla="*/ 48 w 48"/>
                  <a:gd name="T1" fmla="*/ 96 h 528"/>
                  <a:gd name="T2" fmla="*/ 0 w 48"/>
                  <a:gd name="T3" fmla="*/ 0 h 528"/>
                  <a:gd name="T4" fmla="*/ 0 w 48"/>
                  <a:gd name="T5" fmla="*/ 528 h 528"/>
                  <a:gd name="T6" fmla="*/ 48 w 48"/>
                  <a:gd name="T7" fmla="*/ 528 h 528"/>
                  <a:gd name="T8" fmla="*/ 48 w 48"/>
                  <a:gd name="T9" fmla="*/ 96 h 5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528"/>
                  <a:gd name="T17" fmla="*/ 48 w 48"/>
                  <a:gd name="T18" fmla="*/ 528 h 5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528">
                    <a:moveTo>
                      <a:pt x="48" y="96"/>
                    </a:moveTo>
                    <a:lnTo>
                      <a:pt x="0" y="0"/>
                    </a:lnTo>
                    <a:lnTo>
                      <a:pt x="0" y="528"/>
                    </a:lnTo>
                    <a:lnTo>
                      <a:pt x="48" y="528"/>
                    </a:lnTo>
                    <a:lnTo>
                      <a:pt x="48" y="96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7173" name="Group 13"/>
          <p:cNvGrpSpPr>
            <a:grpSpLocks/>
          </p:cNvGrpSpPr>
          <p:nvPr/>
        </p:nvGrpSpPr>
        <p:grpSpPr bwMode="auto">
          <a:xfrm>
            <a:off x="3581400" y="4800600"/>
            <a:ext cx="838200" cy="838200"/>
            <a:chOff x="2736" y="3024"/>
            <a:chExt cx="528" cy="528"/>
          </a:xfrm>
        </p:grpSpPr>
        <p:sp>
          <p:nvSpPr>
            <p:cNvPr id="7184" name="Freeform 14"/>
            <p:cNvSpPr>
              <a:spLocks/>
            </p:cNvSpPr>
            <p:nvPr/>
          </p:nvSpPr>
          <p:spPr bwMode="auto">
            <a:xfrm>
              <a:off x="3120" y="3456"/>
              <a:ext cx="144" cy="96"/>
            </a:xfrm>
            <a:custGeom>
              <a:avLst/>
              <a:gdLst>
                <a:gd name="T0" fmla="*/ 144 w 144"/>
                <a:gd name="T1" fmla="*/ 96 h 96"/>
                <a:gd name="T2" fmla="*/ 0 w 144"/>
                <a:gd name="T3" fmla="*/ 0 h 96"/>
                <a:gd name="T4" fmla="*/ 0 w 144"/>
                <a:gd name="T5" fmla="*/ 96 h 96"/>
                <a:gd name="T6" fmla="*/ 144 w 144"/>
                <a:gd name="T7" fmla="*/ 9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96"/>
                <a:gd name="T14" fmla="*/ 144 w 144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96">
                  <a:moveTo>
                    <a:pt x="144" y="96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44" y="96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7185" name="Group 15"/>
            <p:cNvGrpSpPr>
              <a:grpSpLocks/>
            </p:cNvGrpSpPr>
            <p:nvPr/>
          </p:nvGrpSpPr>
          <p:grpSpPr bwMode="auto">
            <a:xfrm>
              <a:off x="2736" y="3024"/>
              <a:ext cx="480" cy="528"/>
              <a:chOff x="2736" y="3024"/>
              <a:chExt cx="480" cy="528"/>
            </a:xfrm>
          </p:grpSpPr>
          <p:sp>
            <p:nvSpPr>
              <p:cNvPr id="7186" name="Freeform 16"/>
              <p:cNvSpPr>
                <a:spLocks/>
              </p:cNvSpPr>
              <p:nvPr/>
            </p:nvSpPr>
            <p:spPr bwMode="auto">
              <a:xfrm>
                <a:off x="3024" y="3408"/>
                <a:ext cx="96" cy="48"/>
              </a:xfrm>
              <a:custGeom>
                <a:avLst/>
                <a:gdLst>
                  <a:gd name="T0" fmla="*/ 0 w 96"/>
                  <a:gd name="T1" fmla="*/ 0 h 48"/>
                  <a:gd name="T2" fmla="*/ 96 w 96"/>
                  <a:gd name="T3" fmla="*/ 48 h 48"/>
                  <a:gd name="T4" fmla="*/ 48 w 96"/>
                  <a:gd name="T5" fmla="*/ 48 h 48"/>
                  <a:gd name="T6" fmla="*/ 0 w 96"/>
                  <a:gd name="T7" fmla="*/ 48 h 48"/>
                  <a:gd name="T8" fmla="*/ 0 w 9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48"/>
                  <a:gd name="T17" fmla="*/ 96 w 9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48">
                    <a:moveTo>
                      <a:pt x="0" y="0"/>
                    </a:moveTo>
                    <a:lnTo>
                      <a:pt x="96" y="48"/>
                    </a:lnTo>
                    <a:lnTo>
                      <a:pt x="48" y="48"/>
                    </a:lnTo>
                    <a:lnTo>
                      <a:pt x="0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87" name="Freeform 17"/>
              <p:cNvSpPr>
                <a:spLocks/>
              </p:cNvSpPr>
              <p:nvPr/>
            </p:nvSpPr>
            <p:spPr bwMode="auto">
              <a:xfrm>
                <a:off x="2976" y="3312"/>
                <a:ext cx="240" cy="240"/>
              </a:xfrm>
              <a:custGeom>
                <a:avLst/>
                <a:gdLst>
                  <a:gd name="T0" fmla="*/ 0 w 240"/>
                  <a:gd name="T1" fmla="*/ 0 h 240"/>
                  <a:gd name="T2" fmla="*/ 48 w 240"/>
                  <a:gd name="T3" fmla="*/ 48 h 240"/>
                  <a:gd name="T4" fmla="*/ 96 w 240"/>
                  <a:gd name="T5" fmla="*/ 144 h 240"/>
                  <a:gd name="T6" fmla="*/ 144 w 240"/>
                  <a:gd name="T7" fmla="*/ 144 h 240"/>
                  <a:gd name="T8" fmla="*/ 192 w 240"/>
                  <a:gd name="T9" fmla="*/ 192 h 240"/>
                  <a:gd name="T10" fmla="*/ 240 w 240"/>
                  <a:gd name="T11" fmla="*/ 240 h 240"/>
                  <a:gd name="T12" fmla="*/ 0 w 240"/>
                  <a:gd name="T13" fmla="*/ 240 h 240"/>
                  <a:gd name="T14" fmla="*/ 0 w 240"/>
                  <a:gd name="T15" fmla="*/ 0 h 2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40"/>
                  <a:gd name="T25" fmla="*/ 0 h 240"/>
                  <a:gd name="T26" fmla="*/ 240 w 240"/>
                  <a:gd name="T27" fmla="*/ 240 h 24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40" h="240">
                    <a:moveTo>
                      <a:pt x="0" y="0"/>
                    </a:moveTo>
                    <a:lnTo>
                      <a:pt x="48" y="48"/>
                    </a:lnTo>
                    <a:lnTo>
                      <a:pt x="96" y="144"/>
                    </a:lnTo>
                    <a:lnTo>
                      <a:pt x="144" y="144"/>
                    </a:lnTo>
                    <a:lnTo>
                      <a:pt x="192" y="192"/>
                    </a:lnTo>
                    <a:lnTo>
                      <a:pt x="240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88" name="Freeform 18"/>
              <p:cNvSpPr>
                <a:spLocks/>
              </p:cNvSpPr>
              <p:nvPr/>
            </p:nvSpPr>
            <p:spPr bwMode="auto">
              <a:xfrm>
                <a:off x="2928" y="3216"/>
                <a:ext cx="240" cy="336"/>
              </a:xfrm>
              <a:custGeom>
                <a:avLst/>
                <a:gdLst>
                  <a:gd name="T0" fmla="*/ 1789 w 192"/>
                  <a:gd name="T1" fmla="*/ 336 h 336"/>
                  <a:gd name="T2" fmla="*/ 1340 w 192"/>
                  <a:gd name="T3" fmla="*/ 288 h 336"/>
                  <a:gd name="T4" fmla="*/ 1340 w 192"/>
                  <a:gd name="T5" fmla="*/ 240 h 336"/>
                  <a:gd name="T6" fmla="*/ 1340 w 192"/>
                  <a:gd name="T7" fmla="*/ 288 h 336"/>
                  <a:gd name="T8" fmla="*/ 899 w 192"/>
                  <a:gd name="T9" fmla="*/ 240 h 336"/>
                  <a:gd name="T10" fmla="*/ 899 w 192"/>
                  <a:gd name="T11" fmla="*/ 192 h 336"/>
                  <a:gd name="T12" fmla="*/ 449 w 192"/>
                  <a:gd name="T13" fmla="*/ 144 h 336"/>
                  <a:gd name="T14" fmla="*/ 449 w 192"/>
                  <a:gd name="T15" fmla="*/ 96 h 336"/>
                  <a:gd name="T16" fmla="*/ 0 w 192"/>
                  <a:gd name="T17" fmla="*/ 48 h 336"/>
                  <a:gd name="T18" fmla="*/ 0 w 192"/>
                  <a:gd name="T19" fmla="*/ 0 h 336"/>
                  <a:gd name="T20" fmla="*/ 0 w 192"/>
                  <a:gd name="T21" fmla="*/ 336 h 336"/>
                  <a:gd name="T22" fmla="*/ 1789 w 192"/>
                  <a:gd name="T23" fmla="*/ 336 h 3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2"/>
                  <a:gd name="T37" fmla="*/ 0 h 336"/>
                  <a:gd name="T38" fmla="*/ 192 w 192"/>
                  <a:gd name="T39" fmla="*/ 336 h 3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2" h="336">
                    <a:moveTo>
                      <a:pt x="192" y="336"/>
                    </a:moveTo>
                    <a:lnTo>
                      <a:pt x="144" y="288"/>
                    </a:lnTo>
                    <a:lnTo>
                      <a:pt x="144" y="240"/>
                    </a:lnTo>
                    <a:lnTo>
                      <a:pt x="144" y="288"/>
                    </a:lnTo>
                    <a:lnTo>
                      <a:pt x="96" y="240"/>
                    </a:lnTo>
                    <a:lnTo>
                      <a:pt x="96" y="192"/>
                    </a:lnTo>
                    <a:lnTo>
                      <a:pt x="48" y="144"/>
                    </a:lnTo>
                    <a:lnTo>
                      <a:pt x="48" y="96"/>
                    </a:lnTo>
                    <a:lnTo>
                      <a:pt x="0" y="48"/>
                    </a:lnTo>
                    <a:lnTo>
                      <a:pt x="0" y="0"/>
                    </a:lnTo>
                    <a:lnTo>
                      <a:pt x="0" y="336"/>
                    </a:lnTo>
                    <a:lnTo>
                      <a:pt x="192" y="336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89" name="Freeform 19"/>
              <p:cNvSpPr>
                <a:spLocks/>
              </p:cNvSpPr>
              <p:nvPr/>
            </p:nvSpPr>
            <p:spPr bwMode="auto">
              <a:xfrm>
                <a:off x="2880" y="3216"/>
                <a:ext cx="48" cy="336"/>
              </a:xfrm>
              <a:custGeom>
                <a:avLst/>
                <a:gdLst>
                  <a:gd name="T0" fmla="*/ 48 w 48"/>
                  <a:gd name="T1" fmla="*/ 96 h 336"/>
                  <a:gd name="T2" fmla="*/ 0 w 48"/>
                  <a:gd name="T3" fmla="*/ 0 h 336"/>
                  <a:gd name="T4" fmla="*/ 0 w 48"/>
                  <a:gd name="T5" fmla="*/ 336 h 336"/>
                  <a:gd name="T6" fmla="*/ 48 w 48"/>
                  <a:gd name="T7" fmla="*/ 336 h 336"/>
                  <a:gd name="T8" fmla="*/ 48 w 48"/>
                  <a:gd name="T9" fmla="*/ 48 h 336"/>
                  <a:gd name="T10" fmla="*/ 0 w 48"/>
                  <a:gd name="T11" fmla="*/ 0 h 336"/>
                  <a:gd name="T12" fmla="*/ 0 w 48"/>
                  <a:gd name="T13" fmla="*/ 48 h 3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336"/>
                  <a:gd name="T23" fmla="*/ 48 w 48"/>
                  <a:gd name="T24" fmla="*/ 336 h 3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336">
                    <a:moveTo>
                      <a:pt x="48" y="96"/>
                    </a:moveTo>
                    <a:lnTo>
                      <a:pt x="0" y="0"/>
                    </a:lnTo>
                    <a:lnTo>
                      <a:pt x="0" y="336"/>
                    </a:lnTo>
                    <a:lnTo>
                      <a:pt x="48" y="336"/>
                    </a:lnTo>
                    <a:lnTo>
                      <a:pt x="48" y="48"/>
                    </a:lnTo>
                    <a:lnTo>
                      <a:pt x="0" y="0"/>
                    </a:lnTo>
                    <a:lnTo>
                      <a:pt x="0" y="48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90" name="Freeform 20"/>
              <p:cNvSpPr>
                <a:spLocks/>
              </p:cNvSpPr>
              <p:nvPr/>
            </p:nvSpPr>
            <p:spPr bwMode="auto">
              <a:xfrm>
                <a:off x="2880" y="3216"/>
                <a:ext cx="48" cy="96"/>
              </a:xfrm>
              <a:custGeom>
                <a:avLst/>
                <a:gdLst>
                  <a:gd name="T0" fmla="*/ 0 w 48"/>
                  <a:gd name="T1" fmla="*/ 0 h 96"/>
                  <a:gd name="T2" fmla="*/ 0 w 48"/>
                  <a:gd name="T3" fmla="*/ 48 h 96"/>
                  <a:gd name="T4" fmla="*/ 48 w 48"/>
                  <a:gd name="T5" fmla="*/ 96 h 96"/>
                  <a:gd name="T6" fmla="*/ 48 w 48"/>
                  <a:gd name="T7" fmla="*/ 48 h 96"/>
                  <a:gd name="T8" fmla="*/ 0 w 48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6"/>
                  <a:gd name="T17" fmla="*/ 48 w 48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6">
                    <a:moveTo>
                      <a:pt x="0" y="0"/>
                    </a:moveTo>
                    <a:lnTo>
                      <a:pt x="0" y="48"/>
                    </a:lnTo>
                    <a:lnTo>
                      <a:pt x="48" y="96"/>
                    </a:lnTo>
                    <a:lnTo>
                      <a:pt x="48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91" name="Freeform 21"/>
              <p:cNvSpPr>
                <a:spLocks/>
              </p:cNvSpPr>
              <p:nvPr/>
            </p:nvSpPr>
            <p:spPr bwMode="auto">
              <a:xfrm>
                <a:off x="2832" y="3168"/>
                <a:ext cx="48" cy="384"/>
              </a:xfrm>
              <a:custGeom>
                <a:avLst/>
                <a:gdLst>
                  <a:gd name="T0" fmla="*/ 48 w 48"/>
                  <a:gd name="T1" fmla="*/ 48 h 384"/>
                  <a:gd name="T2" fmla="*/ 0 w 48"/>
                  <a:gd name="T3" fmla="*/ 0 h 384"/>
                  <a:gd name="T4" fmla="*/ 0 w 48"/>
                  <a:gd name="T5" fmla="*/ 384 h 384"/>
                  <a:gd name="T6" fmla="*/ 48 w 48"/>
                  <a:gd name="T7" fmla="*/ 384 h 384"/>
                  <a:gd name="T8" fmla="*/ 48 w 48"/>
                  <a:gd name="T9" fmla="*/ 48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384"/>
                  <a:gd name="T17" fmla="*/ 48 w 48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384">
                    <a:moveTo>
                      <a:pt x="48" y="48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48" y="384"/>
                    </a:lnTo>
                    <a:lnTo>
                      <a:pt x="48" y="48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92" name="Freeform 22"/>
              <p:cNvSpPr>
                <a:spLocks/>
              </p:cNvSpPr>
              <p:nvPr/>
            </p:nvSpPr>
            <p:spPr bwMode="auto">
              <a:xfrm>
                <a:off x="2784" y="3072"/>
                <a:ext cx="48" cy="480"/>
              </a:xfrm>
              <a:custGeom>
                <a:avLst/>
                <a:gdLst>
                  <a:gd name="T0" fmla="*/ 48 w 48"/>
                  <a:gd name="T1" fmla="*/ 96 h 480"/>
                  <a:gd name="T2" fmla="*/ 0 w 48"/>
                  <a:gd name="T3" fmla="*/ 0 h 480"/>
                  <a:gd name="T4" fmla="*/ 0 w 48"/>
                  <a:gd name="T5" fmla="*/ 480 h 480"/>
                  <a:gd name="T6" fmla="*/ 48 w 48"/>
                  <a:gd name="T7" fmla="*/ 480 h 480"/>
                  <a:gd name="T8" fmla="*/ 48 w 48"/>
                  <a:gd name="T9" fmla="*/ 96 h 4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480"/>
                  <a:gd name="T17" fmla="*/ 48 w 48"/>
                  <a:gd name="T18" fmla="*/ 480 h 4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480">
                    <a:moveTo>
                      <a:pt x="48" y="96"/>
                    </a:moveTo>
                    <a:lnTo>
                      <a:pt x="0" y="0"/>
                    </a:lnTo>
                    <a:lnTo>
                      <a:pt x="0" y="480"/>
                    </a:lnTo>
                    <a:lnTo>
                      <a:pt x="48" y="480"/>
                    </a:lnTo>
                    <a:lnTo>
                      <a:pt x="48" y="96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93" name="Freeform 23"/>
              <p:cNvSpPr>
                <a:spLocks/>
              </p:cNvSpPr>
              <p:nvPr/>
            </p:nvSpPr>
            <p:spPr bwMode="auto">
              <a:xfrm>
                <a:off x="2736" y="3024"/>
                <a:ext cx="48" cy="528"/>
              </a:xfrm>
              <a:custGeom>
                <a:avLst/>
                <a:gdLst>
                  <a:gd name="T0" fmla="*/ 48 w 48"/>
                  <a:gd name="T1" fmla="*/ 96 h 528"/>
                  <a:gd name="T2" fmla="*/ 0 w 48"/>
                  <a:gd name="T3" fmla="*/ 0 h 528"/>
                  <a:gd name="T4" fmla="*/ 0 w 48"/>
                  <a:gd name="T5" fmla="*/ 528 h 528"/>
                  <a:gd name="T6" fmla="*/ 48 w 48"/>
                  <a:gd name="T7" fmla="*/ 528 h 528"/>
                  <a:gd name="T8" fmla="*/ 48 w 48"/>
                  <a:gd name="T9" fmla="*/ 96 h 5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528"/>
                  <a:gd name="T17" fmla="*/ 48 w 48"/>
                  <a:gd name="T18" fmla="*/ 528 h 5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528">
                    <a:moveTo>
                      <a:pt x="48" y="96"/>
                    </a:moveTo>
                    <a:lnTo>
                      <a:pt x="0" y="0"/>
                    </a:lnTo>
                    <a:lnTo>
                      <a:pt x="0" y="528"/>
                    </a:lnTo>
                    <a:lnTo>
                      <a:pt x="48" y="528"/>
                    </a:lnTo>
                    <a:lnTo>
                      <a:pt x="48" y="96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699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7174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 smtClean="0">
                <a:latin typeface="Calibri"/>
                <a:cs typeface="Calibri"/>
              </a:rPr>
              <a:t>Samples and Populations</a:t>
            </a:r>
            <a:endParaRPr lang="en-GB" altLang="zh-TW" dirty="0">
              <a:latin typeface="Calibri"/>
              <a:cs typeface="Calibri"/>
            </a:endParaRPr>
          </a:p>
        </p:txBody>
      </p:sp>
      <p:sp>
        <p:nvSpPr>
          <p:cNvPr id="7175" name="Line 25"/>
          <p:cNvSpPr>
            <a:spLocks noChangeShapeType="1"/>
          </p:cNvSpPr>
          <p:nvPr/>
        </p:nvSpPr>
        <p:spPr bwMode="auto">
          <a:xfrm>
            <a:off x="152400" y="5715000"/>
            <a:ext cx="6477000" cy="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76" name="Rectangle 26"/>
          <p:cNvSpPr>
            <a:spLocks noChangeArrowheads="1"/>
          </p:cNvSpPr>
          <p:nvPr/>
        </p:nvSpPr>
        <p:spPr bwMode="auto">
          <a:xfrm>
            <a:off x="2414588" y="1685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77" name="Rectangle 27"/>
          <p:cNvSpPr>
            <a:spLocks noChangeArrowheads="1"/>
          </p:cNvSpPr>
          <p:nvPr/>
        </p:nvSpPr>
        <p:spPr bwMode="auto">
          <a:xfrm>
            <a:off x="2414588" y="1685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78" name="Freeform 28"/>
          <p:cNvSpPr>
            <a:spLocks/>
          </p:cNvSpPr>
          <p:nvPr/>
        </p:nvSpPr>
        <p:spPr bwMode="auto">
          <a:xfrm>
            <a:off x="228600" y="3352800"/>
            <a:ext cx="4191000" cy="2286000"/>
          </a:xfrm>
          <a:custGeom>
            <a:avLst/>
            <a:gdLst>
              <a:gd name="T0" fmla="*/ 2147483647 w 900"/>
              <a:gd name="T1" fmla="*/ 2147483647 h 446"/>
              <a:gd name="T2" fmla="*/ 2147483647 w 900"/>
              <a:gd name="T3" fmla="*/ 2147483647 h 446"/>
              <a:gd name="T4" fmla="*/ 2147483647 w 900"/>
              <a:gd name="T5" fmla="*/ 2147483647 h 446"/>
              <a:gd name="T6" fmla="*/ 2147483647 w 900"/>
              <a:gd name="T7" fmla="*/ 2147483647 h 446"/>
              <a:gd name="T8" fmla="*/ 2147483647 w 900"/>
              <a:gd name="T9" fmla="*/ 2147483647 h 446"/>
              <a:gd name="T10" fmla="*/ 2147483647 w 900"/>
              <a:gd name="T11" fmla="*/ 2147483647 h 446"/>
              <a:gd name="T12" fmla="*/ 2147483647 w 900"/>
              <a:gd name="T13" fmla="*/ 2147483647 h 446"/>
              <a:gd name="T14" fmla="*/ 2147483647 w 900"/>
              <a:gd name="T15" fmla="*/ 2147483647 h 446"/>
              <a:gd name="T16" fmla="*/ 2147483647 w 900"/>
              <a:gd name="T17" fmla="*/ 2147483647 h 446"/>
              <a:gd name="T18" fmla="*/ 2147483647 w 900"/>
              <a:gd name="T19" fmla="*/ 2147483647 h 446"/>
              <a:gd name="T20" fmla="*/ 2147483647 w 900"/>
              <a:gd name="T21" fmla="*/ 2147483647 h 446"/>
              <a:gd name="T22" fmla="*/ 2147483647 w 900"/>
              <a:gd name="T23" fmla="*/ 2147483647 h 446"/>
              <a:gd name="T24" fmla="*/ 2147483647 w 900"/>
              <a:gd name="T25" fmla="*/ 2147483647 h 446"/>
              <a:gd name="T26" fmla="*/ 2147483647 w 900"/>
              <a:gd name="T27" fmla="*/ 2147483647 h 446"/>
              <a:gd name="T28" fmla="*/ 2147483647 w 900"/>
              <a:gd name="T29" fmla="*/ 2147483647 h 446"/>
              <a:gd name="T30" fmla="*/ 2147483647 w 900"/>
              <a:gd name="T31" fmla="*/ 2147483647 h 446"/>
              <a:gd name="T32" fmla="*/ 2147483647 w 900"/>
              <a:gd name="T33" fmla="*/ 2147483647 h 446"/>
              <a:gd name="T34" fmla="*/ 2147483647 w 900"/>
              <a:gd name="T35" fmla="*/ 2147483647 h 446"/>
              <a:gd name="T36" fmla="*/ 2147483647 w 900"/>
              <a:gd name="T37" fmla="*/ 2147483647 h 446"/>
              <a:gd name="T38" fmla="*/ 2147483647 w 900"/>
              <a:gd name="T39" fmla="*/ 2147483647 h 446"/>
              <a:gd name="T40" fmla="*/ 2147483647 w 900"/>
              <a:gd name="T41" fmla="*/ 2147483647 h 446"/>
              <a:gd name="T42" fmla="*/ 2147483647 w 900"/>
              <a:gd name="T43" fmla="*/ 2147483647 h 446"/>
              <a:gd name="T44" fmla="*/ 2147483647 w 900"/>
              <a:gd name="T45" fmla="*/ 2147483647 h 446"/>
              <a:gd name="T46" fmla="*/ 2147483647 w 900"/>
              <a:gd name="T47" fmla="*/ 2147483647 h 446"/>
              <a:gd name="T48" fmla="*/ 2147483647 w 900"/>
              <a:gd name="T49" fmla="*/ 2147483647 h 446"/>
              <a:gd name="T50" fmla="*/ 2147483647 w 900"/>
              <a:gd name="T51" fmla="*/ 2147483647 h 446"/>
              <a:gd name="T52" fmla="*/ 2147483647 w 900"/>
              <a:gd name="T53" fmla="*/ 2147483647 h 446"/>
              <a:gd name="T54" fmla="*/ 2147483647 w 900"/>
              <a:gd name="T55" fmla="*/ 2147483647 h 446"/>
              <a:gd name="T56" fmla="*/ 2147483647 w 900"/>
              <a:gd name="T57" fmla="*/ 2147483647 h 446"/>
              <a:gd name="T58" fmla="*/ 2147483647 w 900"/>
              <a:gd name="T59" fmla="*/ 0 h 446"/>
              <a:gd name="T60" fmla="*/ 2147483647 w 900"/>
              <a:gd name="T61" fmla="*/ 0 h 446"/>
              <a:gd name="T62" fmla="*/ 2147483647 w 900"/>
              <a:gd name="T63" fmla="*/ 2147483647 h 446"/>
              <a:gd name="T64" fmla="*/ 2147483647 w 900"/>
              <a:gd name="T65" fmla="*/ 2147483647 h 446"/>
              <a:gd name="T66" fmla="*/ 2147483647 w 900"/>
              <a:gd name="T67" fmla="*/ 2147483647 h 446"/>
              <a:gd name="T68" fmla="*/ 2147483647 w 900"/>
              <a:gd name="T69" fmla="*/ 2147483647 h 446"/>
              <a:gd name="T70" fmla="*/ 2147483647 w 900"/>
              <a:gd name="T71" fmla="*/ 2147483647 h 446"/>
              <a:gd name="T72" fmla="*/ 2147483647 w 900"/>
              <a:gd name="T73" fmla="*/ 2147483647 h 446"/>
              <a:gd name="T74" fmla="*/ 2147483647 w 900"/>
              <a:gd name="T75" fmla="*/ 2147483647 h 446"/>
              <a:gd name="T76" fmla="*/ 2147483647 w 900"/>
              <a:gd name="T77" fmla="*/ 2147483647 h 446"/>
              <a:gd name="T78" fmla="*/ 2147483647 w 900"/>
              <a:gd name="T79" fmla="*/ 2147483647 h 446"/>
              <a:gd name="T80" fmla="*/ 2147483647 w 900"/>
              <a:gd name="T81" fmla="*/ 2147483647 h 446"/>
              <a:gd name="T82" fmla="*/ 2147483647 w 900"/>
              <a:gd name="T83" fmla="*/ 2147483647 h 446"/>
              <a:gd name="T84" fmla="*/ 2147483647 w 900"/>
              <a:gd name="T85" fmla="*/ 2147483647 h 446"/>
              <a:gd name="T86" fmla="*/ 2147483647 w 900"/>
              <a:gd name="T87" fmla="*/ 2147483647 h 446"/>
              <a:gd name="T88" fmla="*/ 2147483647 w 900"/>
              <a:gd name="T89" fmla="*/ 2147483647 h 446"/>
              <a:gd name="T90" fmla="*/ 2147483647 w 900"/>
              <a:gd name="T91" fmla="*/ 2147483647 h 446"/>
              <a:gd name="T92" fmla="*/ 2147483647 w 900"/>
              <a:gd name="T93" fmla="*/ 2147483647 h 446"/>
              <a:gd name="T94" fmla="*/ 2147483647 w 900"/>
              <a:gd name="T95" fmla="*/ 2147483647 h 446"/>
              <a:gd name="T96" fmla="*/ 2147483647 w 900"/>
              <a:gd name="T97" fmla="*/ 2147483647 h 446"/>
              <a:gd name="T98" fmla="*/ 2147483647 w 900"/>
              <a:gd name="T99" fmla="*/ 2147483647 h 446"/>
              <a:gd name="T100" fmla="*/ 2147483647 w 900"/>
              <a:gd name="T101" fmla="*/ 2147483647 h 446"/>
              <a:gd name="T102" fmla="*/ 2147483647 w 900"/>
              <a:gd name="T103" fmla="*/ 2147483647 h 446"/>
              <a:gd name="T104" fmla="*/ 2147483647 w 900"/>
              <a:gd name="T105" fmla="*/ 2147483647 h 446"/>
              <a:gd name="T106" fmla="*/ 2147483647 w 900"/>
              <a:gd name="T107" fmla="*/ 2147483647 h 446"/>
              <a:gd name="T108" fmla="*/ 2147483647 w 900"/>
              <a:gd name="T109" fmla="*/ 2147483647 h 446"/>
              <a:gd name="T110" fmla="*/ 2147483647 w 900"/>
              <a:gd name="T111" fmla="*/ 2147483647 h 446"/>
              <a:gd name="T112" fmla="*/ 2147483647 w 900"/>
              <a:gd name="T113" fmla="*/ 2147483647 h 446"/>
              <a:gd name="T114" fmla="*/ 2147483647 w 900"/>
              <a:gd name="T115" fmla="*/ 2147483647 h 446"/>
              <a:gd name="T116" fmla="*/ 2147483647 w 900"/>
              <a:gd name="T117" fmla="*/ 2147483647 h 446"/>
              <a:gd name="T118" fmla="*/ 2147483647 w 900"/>
              <a:gd name="T119" fmla="*/ 2147483647 h 44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900"/>
              <a:gd name="T181" fmla="*/ 0 h 446"/>
              <a:gd name="T182" fmla="*/ 900 w 900"/>
              <a:gd name="T183" fmla="*/ 446 h 44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900" h="446">
                <a:moveTo>
                  <a:pt x="0" y="446"/>
                </a:moveTo>
                <a:lnTo>
                  <a:pt x="5" y="444"/>
                </a:lnTo>
                <a:lnTo>
                  <a:pt x="10" y="442"/>
                </a:lnTo>
                <a:lnTo>
                  <a:pt x="15" y="439"/>
                </a:lnTo>
                <a:lnTo>
                  <a:pt x="20" y="437"/>
                </a:lnTo>
                <a:lnTo>
                  <a:pt x="25" y="434"/>
                </a:lnTo>
                <a:lnTo>
                  <a:pt x="30" y="431"/>
                </a:lnTo>
                <a:lnTo>
                  <a:pt x="35" y="428"/>
                </a:lnTo>
                <a:lnTo>
                  <a:pt x="40" y="425"/>
                </a:lnTo>
                <a:lnTo>
                  <a:pt x="45" y="422"/>
                </a:lnTo>
                <a:lnTo>
                  <a:pt x="50" y="419"/>
                </a:lnTo>
                <a:lnTo>
                  <a:pt x="55" y="415"/>
                </a:lnTo>
                <a:lnTo>
                  <a:pt x="60" y="412"/>
                </a:lnTo>
                <a:lnTo>
                  <a:pt x="65" y="408"/>
                </a:lnTo>
                <a:lnTo>
                  <a:pt x="70" y="404"/>
                </a:lnTo>
                <a:lnTo>
                  <a:pt x="75" y="400"/>
                </a:lnTo>
                <a:lnTo>
                  <a:pt x="80" y="396"/>
                </a:lnTo>
                <a:lnTo>
                  <a:pt x="85" y="392"/>
                </a:lnTo>
                <a:lnTo>
                  <a:pt x="90" y="388"/>
                </a:lnTo>
                <a:lnTo>
                  <a:pt x="95" y="384"/>
                </a:lnTo>
                <a:lnTo>
                  <a:pt x="100" y="379"/>
                </a:lnTo>
                <a:lnTo>
                  <a:pt x="105" y="374"/>
                </a:lnTo>
                <a:lnTo>
                  <a:pt x="110" y="369"/>
                </a:lnTo>
                <a:lnTo>
                  <a:pt x="115" y="365"/>
                </a:lnTo>
                <a:lnTo>
                  <a:pt x="120" y="359"/>
                </a:lnTo>
                <a:lnTo>
                  <a:pt x="125" y="354"/>
                </a:lnTo>
                <a:lnTo>
                  <a:pt x="130" y="349"/>
                </a:lnTo>
                <a:lnTo>
                  <a:pt x="135" y="343"/>
                </a:lnTo>
                <a:lnTo>
                  <a:pt x="140" y="338"/>
                </a:lnTo>
                <a:lnTo>
                  <a:pt x="145" y="332"/>
                </a:lnTo>
                <a:lnTo>
                  <a:pt x="150" y="326"/>
                </a:lnTo>
                <a:lnTo>
                  <a:pt x="155" y="320"/>
                </a:lnTo>
                <a:lnTo>
                  <a:pt x="160" y="314"/>
                </a:lnTo>
                <a:lnTo>
                  <a:pt x="165" y="308"/>
                </a:lnTo>
                <a:lnTo>
                  <a:pt x="170" y="302"/>
                </a:lnTo>
                <a:lnTo>
                  <a:pt x="175" y="295"/>
                </a:lnTo>
                <a:lnTo>
                  <a:pt x="180" y="289"/>
                </a:lnTo>
                <a:lnTo>
                  <a:pt x="185" y="282"/>
                </a:lnTo>
                <a:lnTo>
                  <a:pt x="190" y="275"/>
                </a:lnTo>
                <a:lnTo>
                  <a:pt x="195" y="269"/>
                </a:lnTo>
                <a:lnTo>
                  <a:pt x="200" y="262"/>
                </a:lnTo>
                <a:lnTo>
                  <a:pt x="205" y="255"/>
                </a:lnTo>
                <a:lnTo>
                  <a:pt x="210" y="248"/>
                </a:lnTo>
                <a:lnTo>
                  <a:pt x="215" y="241"/>
                </a:lnTo>
                <a:lnTo>
                  <a:pt x="220" y="234"/>
                </a:lnTo>
                <a:lnTo>
                  <a:pt x="225" y="226"/>
                </a:lnTo>
                <a:lnTo>
                  <a:pt x="230" y="219"/>
                </a:lnTo>
                <a:lnTo>
                  <a:pt x="235" y="212"/>
                </a:lnTo>
                <a:lnTo>
                  <a:pt x="240" y="205"/>
                </a:lnTo>
                <a:lnTo>
                  <a:pt x="245" y="197"/>
                </a:lnTo>
                <a:lnTo>
                  <a:pt x="250" y="190"/>
                </a:lnTo>
                <a:lnTo>
                  <a:pt x="255" y="183"/>
                </a:lnTo>
                <a:lnTo>
                  <a:pt x="260" y="176"/>
                </a:lnTo>
                <a:lnTo>
                  <a:pt x="265" y="168"/>
                </a:lnTo>
                <a:lnTo>
                  <a:pt x="270" y="161"/>
                </a:lnTo>
                <a:lnTo>
                  <a:pt x="275" y="154"/>
                </a:lnTo>
                <a:lnTo>
                  <a:pt x="280" y="147"/>
                </a:lnTo>
                <a:lnTo>
                  <a:pt x="285" y="140"/>
                </a:lnTo>
                <a:lnTo>
                  <a:pt x="290" y="133"/>
                </a:lnTo>
                <a:lnTo>
                  <a:pt x="295" y="126"/>
                </a:lnTo>
                <a:lnTo>
                  <a:pt x="300" y="119"/>
                </a:lnTo>
                <a:lnTo>
                  <a:pt x="305" y="112"/>
                </a:lnTo>
                <a:lnTo>
                  <a:pt x="310" y="105"/>
                </a:lnTo>
                <a:lnTo>
                  <a:pt x="315" y="99"/>
                </a:lnTo>
                <a:lnTo>
                  <a:pt x="320" y="92"/>
                </a:lnTo>
                <a:lnTo>
                  <a:pt x="325" y="86"/>
                </a:lnTo>
                <a:lnTo>
                  <a:pt x="330" y="80"/>
                </a:lnTo>
                <a:lnTo>
                  <a:pt x="335" y="74"/>
                </a:lnTo>
                <a:lnTo>
                  <a:pt x="340" y="68"/>
                </a:lnTo>
                <a:lnTo>
                  <a:pt x="345" y="63"/>
                </a:lnTo>
                <a:lnTo>
                  <a:pt x="350" y="57"/>
                </a:lnTo>
                <a:lnTo>
                  <a:pt x="355" y="52"/>
                </a:lnTo>
                <a:lnTo>
                  <a:pt x="360" y="47"/>
                </a:lnTo>
                <a:lnTo>
                  <a:pt x="365" y="42"/>
                </a:lnTo>
                <a:lnTo>
                  <a:pt x="370" y="38"/>
                </a:lnTo>
                <a:lnTo>
                  <a:pt x="375" y="33"/>
                </a:lnTo>
                <a:lnTo>
                  <a:pt x="380" y="29"/>
                </a:lnTo>
                <a:lnTo>
                  <a:pt x="385" y="25"/>
                </a:lnTo>
                <a:lnTo>
                  <a:pt x="390" y="22"/>
                </a:lnTo>
                <a:lnTo>
                  <a:pt x="395" y="18"/>
                </a:lnTo>
                <a:lnTo>
                  <a:pt x="400" y="15"/>
                </a:lnTo>
                <a:lnTo>
                  <a:pt x="405" y="12"/>
                </a:lnTo>
                <a:lnTo>
                  <a:pt x="410" y="10"/>
                </a:lnTo>
                <a:lnTo>
                  <a:pt x="415" y="8"/>
                </a:lnTo>
                <a:lnTo>
                  <a:pt x="420" y="6"/>
                </a:lnTo>
                <a:lnTo>
                  <a:pt x="425" y="4"/>
                </a:lnTo>
                <a:lnTo>
                  <a:pt x="430" y="2"/>
                </a:lnTo>
                <a:lnTo>
                  <a:pt x="435" y="1"/>
                </a:lnTo>
                <a:lnTo>
                  <a:pt x="440" y="0"/>
                </a:lnTo>
                <a:lnTo>
                  <a:pt x="445" y="0"/>
                </a:lnTo>
                <a:lnTo>
                  <a:pt x="450" y="0"/>
                </a:lnTo>
                <a:lnTo>
                  <a:pt x="455" y="0"/>
                </a:lnTo>
                <a:lnTo>
                  <a:pt x="460" y="0"/>
                </a:lnTo>
                <a:lnTo>
                  <a:pt x="465" y="1"/>
                </a:lnTo>
                <a:lnTo>
                  <a:pt x="470" y="2"/>
                </a:lnTo>
                <a:lnTo>
                  <a:pt x="475" y="3"/>
                </a:lnTo>
                <a:lnTo>
                  <a:pt x="480" y="4"/>
                </a:lnTo>
                <a:lnTo>
                  <a:pt x="485" y="6"/>
                </a:lnTo>
                <a:lnTo>
                  <a:pt x="490" y="8"/>
                </a:lnTo>
                <a:lnTo>
                  <a:pt x="495" y="11"/>
                </a:lnTo>
                <a:lnTo>
                  <a:pt x="500" y="13"/>
                </a:lnTo>
                <a:lnTo>
                  <a:pt x="505" y="16"/>
                </a:lnTo>
                <a:lnTo>
                  <a:pt x="510" y="19"/>
                </a:lnTo>
                <a:lnTo>
                  <a:pt x="515" y="23"/>
                </a:lnTo>
                <a:lnTo>
                  <a:pt x="520" y="27"/>
                </a:lnTo>
                <a:lnTo>
                  <a:pt x="525" y="31"/>
                </a:lnTo>
                <a:lnTo>
                  <a:pt x="530" y="35"/>
                </a:lnTo>
                <a:lnTo>
                  <a:pt x="535" y="39"/>
                </a:lnTo>
                <a:lnTo>
                  <a:pt x="540" y="44"/>
                </a:lnTo>
                <a:lnTo>
                  <a:pt x="545" y="49"/>
                </a:lnTo>
                <a:lnTo>
                  <a:pt x="550" y="54"/>
                </a:lnTo>
                <a:lnTo>
                  <a:pt x="555" y="59"/>
                </a:lnTo>
                <a:lnTo>
                  <a:pt x="560" y="65"/>
                </a:lnTo>
                <a:lnTo>
                  <a:pt x="565" y="70"/>
                </a:lnTo>
                <a:lnTo>
                  <a:pt x="570" y="76"/>
                </a:lnTo>
                <a:lnTo>
                  <a:pt x="575" y="82"/>
                </a:lnTo>
                <a:lnTo>
                  <a:pt x="580" y="88"/>
                </a:lnTo>
                <a:lnTo>
                  <a:pt x="585" y="94"/>
                </a:lnTo>
                <a:lnTo>
                  <a:pt x="590" y="101"/>
                </a:lnTo>
                <a:lnTo>
                  <a:pt x="595" y="107"/>
                </a:lnTo>
                <a:lnTo>
                  <a:pt x="600" y="114"/>
                </a:lnTo>
                <a:lnTo>
                  <a:pt x="605" y="121"/>
                </a:lnTo>
                <a:lnTo>
                  <a:pt x="610" y="128"/>
                </a:lnTo>
                <a:lnTo>
                  <a:pt x="615" y="135"/>
                </a:lnTo>
                <a:lnTo>
                  <a:pt x="620" y="142"/>
                </a:lnTo>
                <a:lnTo>
                  <a:pt x="625" y="149"/>
                </a:lnTo>
                <a:lnTo>
                  <a:pt x="630" y="156"/>
                </a:lnTo>
                <a:lnTo>
                  <a:pt x="635" y="163"/>
                </a:lnTo>
                <a:lnTo>
                  <a:pt x="640" y="171"/>
                </a:lnTo>
                <a:lnTo>
                  <a:pt x="645" y="178"/>
                </a:lnTo>
                <a:lnTo>
                  <a:pt x="650" y="185"/>
                </a:lnTo>
                <a:lnTo>
                  <a:pt x="655" y="192"/>
                </a:lnTo>
                <a:lnTo>
                  <a:pt x="660" y="200"/>
                </a:lnTo>
                <a:lnTo>
                  <a:pt x="665" y="207"/>
                </a:lnTo>
                <a:lnTo>
                  <a:pt x="670" y="214"/>
                </a:lnTo>
                <a:lnTo>
                  <a:pt x="675" y="221"/>
                </a:lnTo>
                <a:lnTo>
                  <a:pt x="680" y="229"/>
                </a:lnTo>
                <a:lnTo>
                  <a:pt x="685" y="236"/>
                </a:lnTo>
                <a:lnTo>
                  <a:pt x="690" y="243"/>
                </a:lnTo>
                <a:lnTo>
                  <a:pt x="695" y="250"/>
                </a:lnTo>
                <a:lnTo>
                  <a:pt x="700" y="257"/>
                </a:lnTo>
                <a:lnTo>
                  <a:pt x="705" y="264"/>
                </a:lnTo>
                <a:lnTo>
                  <a:pt x="710" y="271"/>
                </a:lnTo>
                <a:lnTo>
                  <a:pt x="715" y="278"/>
                </a:lnTo>
                <a:lnTo>
                  <a:pt x="720" y="284"/>
                </a:lnTo>
                <a:lnTo>
                  <a:pt x="725" y="291"/>
                </a:lnTo>
                <a:lnTo>
                  <a:pt x="730" y="297"/>
                </a:lnTo>
                <a:lnTo>
                  <a:pt x="735" y="304"/>
                </a:lnTo>
                <a:lnTo>
                  <a:pt x="740" y="310"/>
                </a:lnTo>
                <a:lnTo>
                  <a:pt x="745" y="316"/>
                </a:lnTo>
                <a:lnTo>
                  <a:pt x="750" y="322"/>
                </a:lnTo>
                <a:lnTo>
                  <a:pt x="755" y="328"/>
                </a:lnTo>
                <a:lnTo>
                  <a:pt x="760" y="334"/>
                </a:lnTo>
                <a:lnTo>
                  <a:pt x="765" y="340"/>
                </a:lnTo>
                <a:lnTo>
                  <a:pt x="770" y="345"/>
                </a:lnTo>
                <a:lnTo>
                  <a:pt x="775" y="351"/>
                </a:lnTo>
                <a:lnTo>
                  <a:pt x="780" y="356"/>
                </a:lnTo>
                <a:lnTo>
                  <a:pt x="785" y="361"/>
                </a:lnTo>
                <a:lnTo>
                  <a:pt x="790" y="366"/>
                </a:lnTo>
                <a:lnTo>
                  <a:pt x="795" y="371"/>
                </a:lnTo>
                <a:lnTo>
                  <a:pt x="800" y="376"/>
                </a:lnTo>
                <a:lnTo>
                  <a:pt x="805" y="380"/>
                </a:lnTo>
                <a:lnTo>
                  <a:pt x="810" y="385"/>
                </a:lnTo>
                <a:lnTo>
                  <a:pt x="815" y="389"/>
                </a:lnTo>
                <a:lnTo>
                  <a:pt x="820" y="394"/>
                </a:lnTo>
                <a:lnTo>
                  <a:pt x="825" y="398"/>
                </a:lnTo>
                <a:lnTo>
                  <a:pt x="830" y="402"/>
                </a:lnTo>
                <a:lnTo>
                  <a:pt x="835" y="406"/>
                </a:lnTo>
                <a:lnTo>
                  <a:pt x="840" y="409"/>
                </a:lnTo>
                <a:lnTo>
                  <a:pt x="845" y="413"/>
                </a:lnTo>
                <a:lnTo>
                  <a:pt x="850" y="416"/>
                </a:lnTo>
                <a:lnTo>
                  <a:pt x="855" y="420"/>
                </a:lnTo>
                <a:lnTo>
                  <a:pt x="860" y="423"/>
                </a:lnTo>
                <a:lnTo>
                  <a:pt x="865" y="426"/>
                </a:lnTo>
                <a:lnTo>
                  <a:pt x="870" y="429"/>
                </a:lnTo>
                <a:lnTo>
                  <a:pt x="875" y="432"/>
                </a:lnTo>
                <a:lnTo>
                  <a:pt x="880" y="435"/>
                </a:lnTo>
                <a:lnTo>
                  <a:pt x="885" y="437"/>
                </a:lnTo>
                <a:lnTo>
                  <a:pt x="890" y="440"/>
                </a:lnTo>
                <a:lnTo>
                  <a:pt x="895" y="443"/>
                </a:lnTo>
                <a:lnTo>
                  <a:pt x="900" y="445"/>
                </a:lnTo>
              </a:path>
            </a:pathLst>
          </a:custGeom>
          <a:noFill/>
          <a:ln w="57150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79" name="Line 29"/>
          <p:cNvSpPr>
            <a:spLocks noChangeShapeType="1"/>
          </p:cNvSpPr>
          <p:nvPr/>
        </p:nvSpPr>
        <p:spPr bwMode="auto">
          <a:xfrm flipV="1">
            <a:off x="2362200" y="2819400"/>
            <a:ext cx="0" cy="3048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170" name="Object 30"/>
          <p:cNvGraphicFramePr>
            <a:graphicFrameLocks noChangeAspect="1"/>
          </p:cNvGraphicFramePr>
          <p:nvPr/>
        </p:nvGraphicFramePr>
        <p:xfrm>
          <a:off x="34480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2"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0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412718"/>
              </p:ext>
            </p:extLst>
          </p:nvPr>
        </p:nvGraphicFramePr>
        <p:xfrm>
          <a:off x="5181600" y="4581525"/>
          <a:ext cx="341947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3" name="方程式" r:id="rId6" imgW="1460160" imgH="457200" progId="Equation.3">
                  <p:embed/>
                </p:oleObj>
              </mc:Choice>
              <mc:Fallback>
                <p:oleObj name="方程式" r:id="rId6" imgW="14601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581525"/>
                        <a:ext cx="341947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Text Box 32"/>
          <p:cNvSpPr txBox="1">
            <a:spLocks noChangeArrowheads="1"/>
          </p:cNvSpPr>
          <p:nvPr/>
        </p:nvSpPr>
        <p:spPr bwMode="auto">
          <a:xfrm>
            <a:off x="2286000" y="1558925"/>
            <a:ext cx="632460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7350" indent="-3873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9pPr>
          </a:lstStyle>
          <a:p>
            <a:pPr algn="r"/>
            <a:r>
              <a:rPr lang="en-GB" altLang="zh-TW" sz="2500" b="0" dirty="0">
                <a:latin typeface="Calibri"/>
                <a:cs typeface="Calibri"/>
              </a:rPr>
              <a:t>	Repeatedly measuring small samples from the same population will give a normal distribution of means</a:t>
            </a:r>
          </a:p>
        </p:txBody>
      </p:sp>
      <p:sp>
        <p:nvSpPr>
          <p:cNvPr id="7181" name="Text Box 33"/>
          <p:cNvSpPr txBox="1">
            <a:spLocks noChangeArrowheads="1"/>
          </p:cNvSpPr>
          <p:nvPr/>
        </p:nvSpPr>
        <p:spPr bwMode="auto">
          <a:xfrm>
            <a:off x="3581400" y="2854325"/>
            <a:ext cx="502920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9pPr>
          </a:lstStyle>
          <a:p>
            <a:pPr algn="r"/>
            <a:r>
              <a:rPr lang="en-GB" altLang="zh-TW" sz="2500" b="0" dirty="0">
                <a:latin typeface="Calibri"/>
                <a:cs typeface="Calibri"/>
              </a:rPr>
              <a:t>The spread of these small sample means about the population mean is given by the Standard Error, SE</a:t>
            </a:r>
          </a:p>
        </p:txBody>
      </p:sp>
    </p:spTree>
    <p:extLst>
      <p:ext uri="{BB962C8B-B14F-4D97-AF65-F5344CB8AC3E}">
        <p14:creationId xmlns:p14="http://schemas.microsoft.com/office/powerpoint/2010/main" val="324452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04800"/>
            <a:ext cx="8991600" cy="6248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sz="2800" dirty="0">
                <a:sym typeface="Symbol" charset="0"/>
              </a:rPr>
              <a:t>When </a:t>
            </a:r>
            <a:r>
              <a:rPr lang="en-US" altLang="zh-TW" sz="2800" i="1" dirty="0">
                <a:sym typeface="Symbol" charset="0"/>
              </a:rPr>
              <a:t>H</a:t>
            </a:r>
            <a:r>
              <a:rPr lang="en-US" altLang="zh-TW" sz="2800" baseline="-25000" dirty="0">
                <a:sym typeface="Symbol" charset="0"/>
              </a:rPr>
              <a:t>0</a:t>
            </a:r>
            <a:r>
              <a:rPr lang="en-US" altLang="zh-TW" sz="2800" dirty="0">
                <a:sym typeface="Symbol" charset="0"/>
              </a:rPr>
              <a:t> is true, the sampling </a:t>
            </a:r>
            <a:r>
              <a:rPr lang="en-US" altLang="zh-TW" sz="2800" dirty="0" err="1">
                <a:sym typeface="Symbol" charset="0"/>
              </a:rPr>
              <a:t>dist</a:t>
            </a:r>
            <a:r>
              <a:rPr lang="en-US" altLang="zh-TW" sz="2800" dirty="0">
                <a:sym typeface="Symbol" charset="0"/>
              </a:rPr>
              <a:t> of the </a:t>
            </a:r>
            <a:r>
              <a:rPr lang="en-US" altLang="zh-TW" sz="2800" i="1" dirty="0">
                <a:sym typeface="Symbol" charset="0"/>
              </a:rPr>
              <a:t>t </a:t>
            </a:r>
            <a:r>
              <a:rPr lang="en-US" altLang="zh-TW" sz="2800" dirty="0">
                <a:sym typeface="Symbol" charset="0"/>
              </a:rPr>
              <a:t>test statistic is the </a:t>
            </a:r>
            <a:r>
              <a:rPr lang="en-US" altLang="zh-TW" sz="2800" i="1" dirty="0">
                <a:sym typeface="Symbol" charset="0"/>
              </a:rPr>
              <a:t>t </a:t>
            </a:r>
            <a:r>
              <a:rPr lang="en-US" altLang="zh-TW" sz="2800" dirty="0">
                <a:sym typeface="Symbol" charset="0"/>
              </a:rPr>
              <a:t>distribution with </a:t>
            </a:r>
            <a:r>
              <a:rPr lang="en-US" altLang="zh-TW" sz="2800" i="1" dirty="0" err="1">
                <a:sym typeface="Symbol" charset="0"/>
              </a:rPr>
              <a:t>df</a:t>
            </a:r>
            <a:r>
              <a:rPr lang="en-US" altLang="zh-TW" sz="2800" i="1" dirty="0">
                <a:sym typeface="Symbol" charset="0"/>
              </a:rPr>
              <a:t> = n </a:t>
            </a:r>
            <a:r>
              <a:rPr lang="en-US" altLang="zh-TW" sz="2800" i="1" dirty="0" smtClean="0">
                <a:sym typeface="Symbol" charset="0"/>
              </a:rPr>
              <a:t>– </a:t>
            </a:r>
            <a:r>
              <a:rPr lang="en-US" altLang="zh-TW" sz="2800" i="1" dirty="0">
                <a:sym typeface="Symbol" charset="0"/>
              </a:rPr>
              <a:t>1</a:t>
            </a:r>
            <a:r>
              <a:rPr lang="en-US" altLang="zh-TW" sz="2800" i="1" dirty="0" smtClean="0">
                <a:sym typeface="Symbol" charset="0"/>
              </a:rPr>
              <a:t>.</a:t>
            </a:r>
            <a:endParaRPr lang="en-US" altLang="zh-TW" sz="2800" i="1" dirty="0">
              <a:sym typeface="Symbol" charset="0"/>
            </a:endParaRPr>
          </a:p>
          <a:p>
            <a:endParaRPr lang="en-US" altLang="zh-TW" sz="2800" i="1" dirty="0">
              <a:sym typeface="Symbol" charset="0"/>
            </a:endParaRPr>
          </a:p>
          <a:p>
            <a:r>
              <a:rPr lang="en-US" altLang="zh-TW" sz="2800" i="1" dirty="0">
                <a:sym typeface="Symbol" charset="0"/>
              </a:rPr>
              <a:t>P-value</a:t>
            </a:r>
            <a:r>
              <a:rPr lang="en-US" altLang="zh-TW" sz="2800" dirty="0">
                <a:sym typeface="Symbol" charset="0"/>
              </a:rPr>
              <a:t>: Under presumption that </a:t>
            </a:r>
            <a:r>
              <a:rPr lang="en-US" altLang="zh-TW" sz="2800" i="1" dirty="0">
                <a:sym typeface="Symbol" charset="0"/>
              </a:rPr>
              <a:t>H</a:t>
            </a:r>
            <a:r>
              <a:rPr lang="en-US" altLang="zh-TW" sz="2800" baseline="-25000" dirty="0">
                <a:sym typeface="Symbol" charset="0"/>
              </a:rPr>
              <a:t>0</a:t>
            </a:r>
            <a:r>
              <a:rPr lang="en-US" altLang="zh-TW" sz="2800" dirty="0">
                <a:sym typeface="Symbol" charset="0"/>
              </a:rPr>
              <a:t> true, probability the </a:t>
            </a:r>
            <a:r>
              <a:rPr lang="en-US" altLang="zh-TW" sz="2800" i="1" dirty="0">
                <a:sym typeface="Symbol" charset="0"/>
              </a:rPr>
              <a:t>t</a:t>
            </a:r>
            <a:r>
              <a:rPr lang="en-US" altLang="zh-TW" sz="2800" dirty="0">
                <a:sym typeface="Symbol" charset="0"/>
              </a:rPr>
              <a:t> test statistic equals observed value or even more extreme (i.e., larger in absolute value), providing stronger evidence against </a:t>
            </a:r>
            <a:r>
              <a:rPr lang="en-US" altLang="zh-TW" sz="2800" i="1" dirty="0">
                <a:sym typeface="Symbol" charset="0"/>
              </a:rPr>
              <a:t>H</a:t>
            </a:r>
            <a:r>
              <a:rPr lang="en-US" altLang="zh-TW" sz="2800" baseline="-25000" dirty="0">
                <a:sym typeface="Symbol" charset="0"/>
              </a:rPr>
              <a:t>0</a:t>
            </a:r>
            <a:r>
              <a:rPr lang="en-US" altLang="zh-TW" sz="2800" dirty="0">
                <a:sym typeface="Symbol" charset="0"/>
              </a:rPr>
              <a:t> </a:t>
            </a:r>
          </a:p>
          <a:p>
            <a:pPr lvl="1"/>
            <a:r>
              <a:rPr lang="en-US" altLang="zh-TW" dirty="0"/>
              <a:t> This is a </a:t>
            </a:r>
            <a:r>
              <a:rPr lang="en-US" altLang="zh-TW" i="1" dirty="0"/>
              <a:t>two-tail </a:t>
            </a:r>
            <a:r>
              <a:rPr lang="en-US" altLang="zh-TW" dirty="0"/>
              <a:t>probability, for the two-sided </a:t>
            </a:r>
            <a:r>
              <a:rPr lang="en-US" altLang="zh-TW" i="1" dirty="0">
                <a:sym typeface="Symbol" charset="0"/>
              </a:rPr>
              <a:t>H</a:t>
            </a:r>
            <a:r>
              <a:rPr lang="en-US" altLang="zh-TW" i="1" baseline="-25000" dirty="0">
                <a:sym typeface="Symbol" charset="0"/>
              </a:rPr>
              <a:t>a</a:t>
            </a:r>
          </a:p>
          <a:p>
            <a:pPr marL="457200" lvl="1" indent="0">
              <a:buNone/>
            </a:pPr>
            <a:endParaRPr lang="en-US" altLang="zh-TW" i="1" baseline="-25000" dirty="0">
              <a:sym typeface="Symbol" charset="0"/>
            </a:endParaRPr>
          </a:p>
          <a:p>
            <a:r>
              <a:rPr lang="en-US" altLang="zh-TW" sz="2800" i="1" dirty="0">
                <a:sym typeface="Symbol" charset="0"/>
              </a:rPr>
              <a:t>Conclusion</a:t>
            </a:r>
            <a:r>
              <a:rPr lang="en-US" altLang="zh-TW" sz="2800" dirty="0">
                <a:sym typeface="Symbol" charset="0"/>
              </a:rPr>
              <a:t>: Report and interpret </a:t>
            </a:r>
            <a:r>
              <a:rPr lang="en-US" altLang="zh-TW" sz="2800" i="1" dirty="0">
                <a:sym typeface="Symbol" charset="0"/>
              </a:rPr>
              <a:t>P</a:t>
            </a:r>
            <a:r>
              <a:rPr lang="en-US" altLang="zh-TW" sz="2800" dirty="0">
                <a:sym typeface="Symbol" charset="0"/>
              </a:rPr>
              <a:t>-value.  If needed, make decision about </a:t>
            </a:r>
            <a:r>
              <a:rPr lang="en-US" altLang="zh-TW" sz="2800" i="1" dirty="0">
                <a:sym typeface="Symbol" charset="0"/>
              </a:rPr>
              <a:t>H</a:t>
            </a:r>
            <a:r>
              <a:rPr lang="en-US" altLang="zh-TW" sz="2800" baseline="-25000" dirty="0">
                <a:sym typeface="Symbol" charset="0"/>
              </a:rPr>
              <a:t>0</a:t>
            </a:r>
            <a:r>
              <a:rPr lang="en-US" altLang="zh-TW" sz="2800" dirty="0">
                <a:sym typeface="Symbo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33727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991600" cy="1371600"/>
          </a:xfrm>
        </p:spPr>
        <p:txBody>
          <a:bodyPr/>
          <a:lstStyle/>
          <a:p>
            <a:r>
              <a:rPr lang="en-US" altLang="zh-TW" sz="3200" b="1" dirty="0"/>
              <a:t>Example</a:t>
            </a:r>
            <a:r>
              <a:rPr lang="en-US" altLang="zh-TW" sz="3200" dirty="0"/>
              <a:t>: Anorexia study (revisited)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991600" cy="5486400"/>
          </a:xfrm>
        </p:spPr>
        <p:txBody>
          <a:bodyPr/>
          <a:lstStyle/>
          <a:p>
            <a:r>
              <a:rPr lang="en-US" altLang="zh-TW" sz="2800" dirty="0"/>
              <a:t>Weight measured before and after period of </a:t>
            </a:r>
            <a:r>
              <a:rPr lang="en-US" altLang="zh-TW" sz="2800" dirty="0" smtClean="0"/>
              <a:t>treatment with </a:t>
            </a:r>
            <a:r>
              <a:rPr lang="en-US" altLang="zh-TW" dirty="0" smtClean="0">
                <a:latin typeface="Arial"/>
              </a:rPr>
              <a:t>“</a:t>
            </a:r>
            <a:r>
              <a:rPr lang="en-US" altLang="zh-TW" sz="2800" dirty="0" smtClean="0"/>
              <a:t>family therapy</a:t>
            </a:r>
            <a:r>
              <a:rPr lang="en-US" altLang="zh-TW" dirty="0" smtClean="0">
                <a:latin typeface="Arial"/>
              </a:rPr>
              <a:t>”</a:t>
            </a:r>
            <a:endParaRPr lang="en-US" altLang="zh-TW" sz="2800" dirty="0" smtClean="0"/>
          </a:p>
          <a:p>
            <a:pPr>
              <a:buFontTx/>
              <a:buNone/>
            </a:pPr>
            <a:endParaRPr lang="en-US" altLang="zh-TW" sz="2800" dirty="0" smtClean="0"/>
          </a:p>
          <a:p>
            <a:r>
              <a:rPr lang="en-US" altLang="zh-TW" sz="2800" i="1" dirty="0" smtClean="0"/>
              <a:t>y </a:t>
            </a:r>
            <a:r>
              <a:rPr lang="en-US" altLang="zh-TW" sz="2800" dirty="0"/>
              <a:t>= weight change (end – beginning)</a:t>
            </a:r>
          </a:p>
          <a:p>
            <a:pPr>
              <a:buFontTx/>
              <a:buNone/>
            </a:pPr>
            <a:endParaRPr lang="en-US" altLang="zh-TW" sz="2800" dirty="0"/>
          </a:p>
          <a:p>
            <a:pPr>
              <a:buFontTx/>
              <a:buNone/>
            </a:pPr>
            <a:r>
              <a:rPr lang="en-US" altLang="zh-TW" sz="2800" i="1" dirty="0"/>
              <a:t>y </a:t>
            </a:r>
            <a:r>
              <a:rPr lang="en-US" altLang="zh-TW" sz="2800" dirty="0"/>
              <a:t>= 11.4, 11.0, 5.5, 9.4, 13.6, -2.9, -0.1, 7.4, 21.5, -5.3, </a:t>
            </a:r>
          </a:p>
          <a:p>
            <a:pPr>
              <a:buFontTx/>
              <a:buNone/>
            </a:pPr>
            <a:r>
              <a:rPr lang="en-US" altLang="zh-TW" sz="2800" dirty="0"/>
              <a:t>      -3.8, 13.4, 13.1, 9.0, 3.9, 5.7, 10.7</a:t>
            </a:r>
          </a:p>
        </p:txBody>
      </p:sp>
    </p:spTree>
    <p:extLst>
      <p:ext uri="{BB962C8B-B14F-4D97-AF65-F5344CB8AC3E}">
        <p14:creationId xmlns:p14="http://schemas.microsoft.com/office/powerpoint/2010/main" val="23027459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r>
              <a:rPr lang="en-US" altLang="zh-TW" sz="4000"/>
              <a:t>Is there evidence that family therapy has an effect?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828800"/>
            <a:ext cx="8991600" cy="5029200"/>
          </a:xfrm>
        </p:spPr>
        <p:txBody>
          <a:bodyPr/>
          <a:lstStyle/>
          <a:p>
            <a:r>
              <a:rPr lang="en-US" altLang="zh-TW" sz="2400"/>
              <a:t>Let </a:t>
            </a:r>
            <a:r>
              <a:rPr lang="en-US" altLang="zh-TW" sz="2400">
                <a:cs typeface="Arial" charset="0"/>
              </a:rPr>
              <a:t>µ = population mean weight change</a:t>
            </a:r>
          </a:p>
          <a:p>
            <a:r>
              <a:rPr lang="en-US" altLang="zh-TW" sz="2400">
                <a:cs typeface="Arial" charset="0"/>
              </a:rPr>
              <a:t>Test </a:t>
            </a:r>
            <a:r>
              <a:rPr lang="en-US" altLang="zh-TW" sz="2400" i="1">
                <a:sym typeface="Symbol" charset="0"/>
              </a:rPr>
              <a:t>H</a:t>
            </a:r>
            <a:r>
              <a:rPr lang="en-US" altLang="zh-TW" sz="2400" baseline="-25000">
                <a:sym typeface="Symbol" charset="0"/>
              </a:rPr>
              <a:t>0</a:t>
            </a:r>
            <a:r>
              <a:rPr lang="en-US" altLang="zh-TW" sz="2400">
                <a:cs typeface="Arial" charset="0"/>
              </a:rPr>
              <a:t>: µ = 0 (no effect) against </a:t>
            </a:r>
            <a:r>
              <a:rPr lang="en-US" altLang="zh-TW" sz="2400" i="1">
                <a:sym typeface="Symbol" charset="0"/>
              </a:rPr>
              <a:t>H</a:t>
            </a:r>
            <a:r>
              <a:rPr lang="en-US" altLang="zh-TW" sz="2400" i="1" baseline="-25000">
                <a:sym typeface="Symbol" charset="0"/>
              </a:rPr>
              <a:t>a</a:t>
            </a:r>
            <a:r>
              <a:rPr lang="en-US" altLang="zh-TW" sz="2400">
                <a:cs typeface="Arial" charset="0"/>
              </a:rPr>
              <a:t>: µ </a:t>
            </a:r>
            <a:r>
              <a:rPr lang="en-US" altLang="zh-TW" sz="2400">
                <a:sym typeface="Symbol" charset="0"/>
              </a:rPr>
              <a:t></a:t>
            </a:r>
            <a:r>
              <a:rPr lang="en-US" altLang="zh-TW" sz="2400">
                <a:cs typeface="Arial" charset="0"/>
              </a:rPr>
              <a:t> 0.</a:t>
            </a:r>
          </a:p>
          <a:p>
            <a:r>
              <a:rPr lang="en-US" altLang="zh-TW" sz="2400">
                <a:cs typeface="Arial" charset="0"/>
              </a:rPr>
              <a:t>Data have </a:t>
            </a:r>
          </a:p>
          <a:p>
            <a:pPr>
              <a:buFontTx/>
              <a:buNone/>
            </a:pPr>
            <a:r>
              <a:rPr lang="en-US" altLang="zh-TW" sz="2000"/>
              <a:t>---------------------------------------------------------------------------------------</a:t>
            </a:r>
          </a:p>
          <a:p>
            <a:pPr>
              <a:buFontTx/>
              <a:buNone/>
            </a:pPr>
            <a:r>
              <a:rPr lang="en-US" altLang="zh-TW" sz="2000"/>
              <a:t> Variable                 N        Mean        Std.Dev.     Std. Error Mean</a:t>
            </a:r>
          </a:p>
          <a:p>
            <a:pPr>
              <a:buFontTx/>
              <a:buNone/>
            </a:pPr>
            <a:r>
              <a:rPr lang="en-US" altLang="zh-TW" sz="2000"/>
              <a:t>  weight_change    17        7.265         7.157              1.736</a:t>
            </a:r>
          </a:p>
          <a:p>
            <a:pPr>
              <a:buFontTx/>
              <a:buNone/>
            </a:pPr>
            <a:r>
              <a:rPr lang="en-US" altLang="zh-TW" sz="2000"/>
              <a:t>----------------------------------------------------------------------------------------</a:t>
            </a:r>
          </a:p>
          <a:p>
            <a:pPr>
              <a:buFontTx/>
              <a:buNone/>
            </a:pPr>
            <a:endParaRPr lang="en-US" altLang="zh-TW" sz="2400"/>
          </a:p>
          <a:p>
            <a:pPr>
              <a:buFontTx/>
              <a:buNone/>
            </a:pPr>
            <a:r>
              <a:rPr lang="en-US" altLang="zh-TW" sz="2400"/>
              <a:t>Note that </a:t>
            </a:r>
            <a:r>
              <a:rPr lang="en-US" altLang="zh-TW" sz="2400" i="1"/>
              <a:t>se </a:t>
            </a:r>
            <a:r>
              <a:rPr lang="en-US" altLang="zh-TW" sz="2400"/>
              <a:t>is same as in CI for population mean: </a:t>
            </a:r>
            <a:endParaRPr lang="en-US" altLang="zh-TW" sz="2400" i="1"/>
          </a:p>
          <a:p>
            <a:pPr>
              <a:buFontTx/>
              <a:buNone/>
            </a:pPr>
            <a:endParaRPr lang="en-US" altLang="zh-TW" sz="2800">
              <a:cs typeface="Arial" charset="0"/>
            </a:endParaRPr>
          </a:p>
          <a:p>
            <a:endParaRPr lang="zh-TW" altLang="en-US" sz="2800">
              <a:cs typeface="Arial" charset="0"/>
            </a:endParaRPr>
          </a:p>
        </p:txBody>
      </p:sp>
      <p:graphicFrame>
        <p:nvGraphicFramePr>
          <p:cNvPr id="23654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600200" y="5791200"/>
          <a:ext cx="49530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name="方程式" r:id="rId3" imgW="1993680" imgH="228600" progId="Equation.3">
                  <p:embed/>
                </p:oleObj>
              </mc:Choice>
              <mc:Fallback>
                <p:oleObj name="方程式" r:id="rId3" imgW="19936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791200"/>
                        <a:ext cx="49530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00758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7772400" cy="609600"/>
          </a:xfrm>
        </p:spPr>
        <p:txBody>
          <a:bodyPr/>
          <a:lstStyle/>
          <a:p>
            <a:r>
              <a:rPr lang="en-US" altLang="zh-TW" sz="2800" b="1"/>
              <a:t>Test Statistic</a:t>
            </a:r>
            <a:r>
              <a:rPr lang="en-US" altLang="zh-TW" sz="2800"/>
              <a:t> </a:t>
            </a:r>
            <a:r>
              <a:rPr lang="en-US" altLang="zh-TW" sz="2800" i="1"/>
              <a:t>(df = 16):</a:t>
            </a:r>
            <a:r>
              <a:rPr lang="en-US" altLang="zh-TW" sz="2800"/>
              <a:t> </a:t>
            </a:r>
          </a:p>
        </p:txBody>
      </p:sp>
      <p:graphicFrame>
        <p:nvGraphicFramePr>
          <p:cNvPr id="218116" name="Object 4"/>
          <p:cNvGraphicFramePr>
            <a:graphicFrameLocks noChangeAspect="1"/>
          </p:cNvGraphicFramePr>
          <p:nvPr/>
        </p:nvGraphicFramePr>
        <p:xfrm>
          <a:off x="4876800" y="0"/>
          <a:ext cx="38100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1" name="方程式" r:id="rId3" imgW="1790640" imgH="393480" progId="Equation.3">
                  <p:embed/>
                </p:oleObj>
              </mc:Choice>
              <mc:Fallback>
                <p:oleObj name="方程式" r:id="rId3" imgW="1790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0"/>
                        <a:ext cx="38100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0" y="1188243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altLang="zh-TW" sz="2800" dirty="0">
                <a:latin typeface="Times New Roman" charset="0"/>
              </a:rPr>
              <a:t> </a:t>
            </a:r>
            <a:r>
              <a:rPr lang="en-US" altLang="zh-TW" sz="2800" b="1" i="1" dirty="0">
                <a:latin typeface="Times New Roman" charset="0"/>
              </a:rPr>
              <a:t>P</a:t>
            </a:r>
            <a:r>
              <a:rPr lang="en-US" altLang="zh-TW" sz="2800" b="1" dirty="0">
                <a:latin typeface="Times New Roman" charset="0"/>
              </a:rPr>
              <a:t>-Value</a:t>
            </a:r>
            <a:r>
              <a:rPr lang="en-US" altLang="zh-TW" sz="2800" dirty="0">
                <a:latin typeface="Times New Roman" charset="0"/>
              </a:rPr>
              <a:t>:    </a:t>
            </a:r>
            <a:r>
              <a:rPr lang="en-US" altLang="zh-TW" sz="2800" i="1" dirty="0">
                <a:latin typeface="Times New Roman" charset="0"/>
              </a:rPr>
              <a:t>P </a:t>
            </a:r>
            <a:r>
              <a:rPr lang="en-US" altLang="zh-TW" sz="2800" dirty="0">
                <a:latin typeface="Times New Roman" charset="0"/>
              </a:rPr>
              <a:t>= 2</a:t>
            </a:r>
            <a:r>
              <a:rPr lang="en-US" altLang="zh-TW" sz="2800" i="1" dirty="0">
                <a:latin typeface="Times New Roman" charset="0"/>
              </a:rPr>
              <a:t>P</a:t>
            </a:r>
            <a:r>
              <a:rPr lang="en-US" altLang="zh-TW" sz="2800" dirty="0">
                <a:latin typeface="Times New Roman" charset="0"/>
              </a:rPr>
              <a:t>(</a:t>
            </a:r>
            <a:r>
              <a:rPr lang="en-US" altLang="zh-TW" sz="2800" i="1" dirty="0">
                <a:latin typeface="Times New Roman" charset="0"/>
              </a:rPr>
              <a:t>t </a:t>
            </a:r>
            <a:r>
              <a:rPr lang="en-US" altLang="zh-TW" sz="2800" dirty="0">
                <a:latin typeface="Times New Roman" charset="0"/>
                <a:sym typeface="Symbol" charset="0"/>
              </a:rPr>
              <a:t>&gt; 4.18)</a:t>
            </a:r>
            <a:r>
              <a:rPr lang="en-US" altLang="zh-TW" sz="2800" dirty="0">
                <a:latin typeface="Times New Roman" charset="0"/>
              </a:rPr>
              <a:t> = 0.0007  (from software)  </a:t>
            </a:r>
          </a:p>
        </p:txBody>
      </p:sp>
      <p:sp>
        <p:nvSpPr>
          <p:cNvPr id="218118" name="Text Box 6"/>
          <p:cNvSpPr txBox="1">
            <a:spLocks noChangeArrowheads="1"/>
          </p:cNvSpPr>
          <p:nvPr/>
        </p:nvSpPr>
        <p:spPr bwMode="auto">
          <a:xfrm>
            <a:off x="0" y="1955800"/>
            <a:ext cx="9144000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TW" sz="2800" i="1" dirty="0">
                <a:latin typeface="Times New Roman" charset="0"/>
              </a:rPr>
              <a:t>Interpretation</a:t>
            </a:r>
            <a:r>
              <a:rPr lang="en-US" altLang="zh-TW" sz="2800" dirty="0">
                <a:latin typeface="Times New Roman" charset="0"/>
              </a:rPr>
              <a:t>: If </a:t>
            </a:r>
            <a:r>
              <a:rPr lang="en-US" altLang="zh-TW" i="1" dirty="0">
                <a:sym typeface="Symbol" charset="0"/>
              </a:rPr>
              <a:t>H</a:t>
            </a:r>
            <a:r>
              <a:rPr lang="en-US" altLang="zh-TW" i="1" baseline="-25000" dirty="0">
                <a:sym typeface="Symbol" charset="0"/>
              </a:rPr>
              <a:t>0</a:t>
            </a:r>
            <a:r>
              <a:rPr lang="en-US" altLang="zh-TW" sz="2800" dirty="0"/>
              <a:t> </a:t>
            </a:r>
            <a:r>
              <a:rPr lang="en-US" altLang="zh-TW" sz="2800" dirty="0">
                <a:latin typeface="Times New Roman" charset="0"/>
              </a:rPr>
              <a:t>were true, prob. would = 0.0007 of getting sample mean at least 4.18 standard errors from null value of 0.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altLang="zh-TW" sz="2800" b="1" dirty="0">
                <a:latin typeface="Times New Roman" charset="0"/>
              </a:rPr>
              <a:t>Conclusion</a:t>
            </a:r>
            <a:r>
              <a:rPr lang="en-US" altLang="zh-TW" sz="2800" dirty="0">
                <a:latin typeface="Times New Roman" charset="0"/>
              </a:rPr>
              <a:t>: Very strong evidence that the population mean differs from 0. </a:t>
            </a:r>
            <a:endParaRPr lang="en-US" altLang="zh-TW" sz="2800" dirty="0" smtClean="0">
              <a:latin typeface="Times New Roman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TW" sz="2800" i="1" dirty="0" smtClean="0">
                <a:latin typeface="Times New Roman" charset="0"/>
              </a:rPr>
              <a:t>Note</a:t>
            </a:r>
            <a:r>
              <a:rPr lang="en-US" altLang="zh-TW" sz="2800" dirty="0">
                <a:latin typeface="Times New Roman" charset="0"/>
              </a:rPr>
              <a:t>: </a:t>
            </a:r>
            <a:r>
              <a:rPr lang="en-US" altLang="zh-TW" sz="2800" i="1" dirty="0">
                <a:latin typeface="Times New Roman" charset="0"/>
              </a:rPr>
              <a:t>t </a:t>
            </a:r>
            <a:r>
              <a:rPr lang="en-US" altLang="zh-TW" sz="2800" dirty="0">
                <a:latin typeface="Times New Roman" charset="0"/>
              </a:rPr>
              <a:t>table </a:t>
            </a:r>
            <a:r>
              <a:rPr lang="en-US" altLang="zh-TW" sz="2800" dirty="0" smtClean="0">
                <a:latin typeface="Times New Roman" charset="0"/>
              </a:rPr>
              <a:t>tells </a:t>
            </a:r>
            <a:r>
              <a:rPr lang="en-US" altLang="zh-TW" sz="2800" dirty="0">
                <a:latin typeface="Times New Roman" charset="0"/>
              </a:rPr>
              <a:t>us </a:t>
            </a:r>
            <a:r>
              <a:rPr lang="en-US" altLang="zh-TW" sz="2800" i="1" dirty="0">
                <a:latin typeface="Times New Roman" charset="0"/>
              </a:rPr>
              <a:t>P</a:t>
            </a:r>
            <a:r>
              <a:rPr lang="en-US" altLang="zh-TW" sz="2800" dirty="0">
                <a:latin typeface="Times New Roman" charset="0"/>
              </a:rPr>
              <a:t>(</a:t>
            </a:r>
            <a:r>
              <a:rPr lang="en-US" altLang="zh-TW" sz="2800" i="1" dirty="0">
                <a:latin typeface="Times New Roman" charset="0"/>
              </a:rPr>
              <a:t>t &gt; </a:t>
            </a:r>
            <a:r>
              <a:rPr lang="en-US" altLang="zh-TW" sz="2800" dirty="0">
                <a:latin typeface="Times New Roman" charset="0"/>
              </a:rPr>
              <a:t>3.686) = 0.001, so test statistic </a:t>
            </a:r>
            <a:r>
              <a:rPr lang="en-US" altLang="zh-TW" sz="2800" i="1" dirty="0">
                <a:latin typeface="Times New Roman" charset="0"/>
              </a:rPr>
              <a:t>t </a:t>
            </a:r>
            <a:r>
              <a:rPr lang="en-US" altLang="zh-TW" sz="2800" dirty="0">
                <a:latin typeface="Times New Roman" charset="0"/>
              </a:rPr>
              <a:t>= 3.686 (or -3.686) would have P-value = 0.002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TW" sz="2800" dirty="0">
                <a:latin typeface="Times New Roman" charset="0"/>
              </a:rPr>
              <a:t>   (So, based on this table, we know that </a:t>
            </a:r>
            <a:r>
              <a:rPr lang="en-US" altLang="zh-TW" sz="2800" i="1" dirty="0">
                <a:latin typeface="Times New Roman" charset="0"/>
              </a:rPr>
              <a:t>P</a:t>
            </a:r>
            <a:r>
              <a:rPr lang="en-US" altLang="zh-TW" sz="2800" dirty="0">
                <a:latin typeface="Times New Roman" charset="0"/>
              </a:rPr>
              <a:t>-value &lt; 0.002.)</a:t>
            </a:r>
            <a:endParaRPr lang="en-US" altLang="zh-TW" sz="2800" dirty="0">
              <a:latin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0032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914400"/>
          </a:xfrm>
        </p:spPr>
        <p:txBody>
          <a:bodyPr/>
          <a:lstStyle/>
          <a:p>
            <a:r>
              <a:rPr lang="en-US" altLang="zh-TW"/>
              <a:t>Decisions in Tests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10600" cy="1676400"/>
          </a:xfrm>
        </p:spPr>
        <p:txBody>
          <a:bodyPr/>
          <a:lstStyle/>
          <a:p>
            <a:pPr>
              <a:buFontTx/>
              <a:buChar char="·"/>
            </a:pPr>
            <a:r>
              <a:rPr lang="en-US" altLang="zh-TW" sz="2800" i="1" dirty="0">
                <a:latin typeface="Symbol" charset="0"/>
              </a:rPr>
              <a:t>a</a:t>
            </a:r>
            <a:r>
              <a:rPr lang="en-US" altLang="zh-TW" sz="2800" dirty="0"/>
              <a:t>-level (significance level): Pre-specified </a:t>
            </a:r>
            <a:r>
              <a:rPr lang="en-US" altLang="zh-TW" dirty="0" smtClean="0">
                <a:latin typeface="Arial"/>
              </a:rPr>
              <a:t>“</a:t>
            </a:r>
            <a:r>
              <a:rPr lang="en-US" altLang="zh-TW" sz="2800" dirty="0" smtClean="0"/>
              <a:t>hurdle</a:t>
            </a:r>
            <a:r>
              <a:rPr lang="en-US" altLang="zh-TW" dirty="0" smtClean="0">
                <a:latin typeface="Arial"/>
              </a:rPr>
              <a:t>”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for which one rejects </a:t>
            </a:r>
            <a:r>
              <a:rPr lang="en-US" altLang="zh-TW" sz="2800" i="1" dirty="0"/>
              <a:t>H</a:t>
            </a:r>
            <a:r>
              <a:rPr lang="en-US" altLang="zh-TW" sz="2800" baseline="-25000" dirty="0"/>
              <a:t>0</a:t>
            </a:r>
            <a:r>
              <a:rPr lang="en-US" altLang="zh-TW" sz="2800" dirty="0"/>
              <a:t> if the </a:t>
            </a:r>
            <a:r>
              <a:rPr lang="en-US" altLang="zh-TW" sz="2800" i="1" dirty="0"/>
              <a:t>P</a:t>
            </a:r>
            <a:r>
              <a:rPr lang="en-US" altLang="zh-TW" sz="2800" dirty="0"/>
              <a:t>-value falls </a:t>
            </a:r>
            <a:r>
              <a:rPr lang="en-US" altLang="zh-TW" sz="2800" b="1" dirty="0"/>
              <a:t>below</a:t>
            </a:r>
            <a:r>
              <a:rPr lang="en-US" altLang="zh-TW" sz="2800" dirty="0"/>
              <a:t> it (Typically 0.05 or 0.01)</a:t>
            </a:r>
            <a:endParaRPr lang="en-US" altLang="zh-TW" sz="2800" i="1" dirty="0">
              <a:latin typeface="Symbol" charset="0"/>
            </a:endParaRPr>
          </a:p>
        </p:txBody>
      </p:sp>
      <p:graphicFrame>
        <p:nvGraphicFramePr>
          <p:cNvPr id="224260" name="Object 4"/>
          <p:cNvGraphicFramePr>
            <a:graphicFrameLocks noChangeAspect="1"/>
          </p:cNvGraphicFramePr>
          <p:nvPr/>
        </p:nvGraphicFramePr>
        <p:xfrm>
          <a:off x="1219200" y="3429000"/>
          <a:ext cx="6615113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" name="文件" r:id="rId3" imgW="2868840" imgH="641160" progId="Word.Document.8">
                  <p:embed/>
                </p:oleObj>
              </mc:Choice>
              <mc:Fallback>
                <p:oleObj name="文件" r:id="rId3" imgW="2868840" imgH="641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429000"/>
                        <a:ext cx="6615113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1" name="Text Box 5"/>
          <p:cNvSpPr txBox="1">
            <a:spLocks noChangeArrowheads="1"/>
          </p:cNvSpPr>
          <p:nvPr/>
        </p:nvSpPr>
        <p:spPr bwMode="auto">
          <a:xfrm>
            <a:off x="0" y="4800600"/>
            <a:ext cx="8991600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altLang="zh-TW" sz="3200" dirty="0">
                <a:latin typeface="Times New Roman" charset="0"/>
              </a:rPr>
              <a:t> </a:t>
            </a:r>
            <a:r>
              <a:rPr lang="en-US" altLang="zh-TW" sz="2800" dirty="0">
                <a:latin typeface="Times New Roman" charset="0"/>
              </a:rPr>
              <a:t>Rejection Region: Values of the test statistic for which we reject the null hypothesis</a:t>
            </a:r>
          </a:p>
          <a:p>
            <a:pPr lvl="1" eaLnBrk="0" hangingPunct="0">
              <a:spcBef>
                <a:spcPct val="50000"/>
              </a:spcBef>
              <a:buFont typeface="Wingdings" charset="0"/>
              <a:buChar char="Ø"/>
            </a:pPr>
            <a:r>
              <a:rPr lang="en-US" altLang="zh-TW" sz="2800" dirty="0">
                <a:latin typeface="Times New Roman" charset="0"/>
              </a:rPr>
              <a:t> For 2-sided tests with </a:t>
            </a:r>
            <a:r>
              <a:rPr lang="en-US" altLang="zh-TW" sz="2800" i="1" dirty="0">
                <a:latin typeface="Symbol" charset="0"/>
              </a:rPr>
              <a:t>a</a:t>
            </a:r>
            <a:r>
              <a:rPr lang="en-US" altLang="zh-TW" sz="2800" dirty="0">
                <a:latin typeface="Times New Roman" charset="0"/>
              </a:rPr>
              <a:t> = 0.05, we reject </a:t>
            </a:r>
            <a:r>
              <a:rPr lang="en-US" altLang="zh-TW" sz="2800" i="1" dirty="0">
                <a:latin typeface="Times New Roman" charset="0"/>
              </a:rPr>
              <a:t>H</a:t>
            </a:r>
            <a:r>
              <a:rPr lang="en-US" altLang="zh-TW" sz="2800" baseline="-25000" dirty="0">
                <a:latin typeface="Times New Roman" charset="0"/>
              </a:rPr>
              <a:t>0 </a:t>
            </a:r>
            <a:r>
              <a:rPr lang="en-US" altLang="zh-TW" sz="2800" dirty="0">
                <a:latin typeface="Times New Roman" charset="0"/>
              </a:rPr>
              <a:t>if |</a:t>
            </a:r>
            <a:r>
              <a:rPr lang="en-US" altLang="zh-TW" sz="2800" i="1" dirty="0">
                <a:latin typeface="Times New Roman" charset="0"/>
              </a:rPr>
              <a:t>z|</a:t>
            </a:r>
            <a:r>
              <a:rPr lang="en-US" altLang="zh-TW" sz="2800" dirty="0">
                <a:latin typeface="Symbol" charset="0"/>
                <a:sym typeface="Symbol" charset="0"/>
              </a:rPr>
              <a:t> </a:t>
            </a:r>
            <a:r>
              <a:rPr lang="en-US" altLang="zh-TW" sz="2800" dirty="0">
                <a:latin typeface="Times New Roman" charset="0"/>
                <a:sym typeface="Symbol" charset="0"/>
              </a:rPr>
              <a:t>1.96</a:t>
            </a:r>
            <a:endParaRPr lang="en-US" altLang="zh-TW" sz="32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0697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153400" cy="838200"/>
          </a:xfrm>
        </p:spPr>
        <p:txBody>
          <a:bodyPr/>
          <a:lstStyle/>
          <a:p>
            <a:r>
              <a:rPr lang="en-US" altLang="zh-TW"/>
              <a:t>Error Types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534400" cy="1295400"/>
          </a:xfrm>
        </p:spPr>
        <p:txBody>
          <a:bodyPr/>
          <a:lstStyle/>
          <a:p>
            <a:r>
              <a:rPr lang="en-US" altLang="zh-TW" sz="2800" i="1"/>
              <a:t>Type I Error</a:t>
            </a:r>
            <a:r>
              <a:rPr lang="en-US" altLang="zh-TW" sz="2800"/>
              <a:t>: Reject </a:t>
            </a:r>
            <a:r>
              <a:rPr lang="en-US" altLang="zh-TW" sz="2800" i="1"/>
              <a:t>H</a:t>
            </a:r>
            <a:r>
              <a:rPr lang="en-US" altLang="zh-TW" sz="2800" baseline="-25000"/>
              <a:t>0</a:t>
            </a:r>
            <a:r>
              <a:rPr lang="en-US" altLang="zh-TW" sz="2800"/>
              <a:t> when it is true</a:t>
            </a:r>
          </a:p>
          <a:p>
            <a:r>
              <a:rPr lang="en-US" altLang="zh-TW" sz="2800" i="1"/>
              <a:t>Type II Error</a:t>
            </a:r>
            <a:r>
              <a:rPr lang="en-US" altLang="zh-TW" sz="2800"/>
              <a:t>: Do not reject </a:t>
            </a:r>
            <a:r>
              <a:rPr lang="en-US" altLang="zh-TW" sz="2800" i="1"/>
              <a:t>H</a:t>
            </a:r>
            <a:r>
              <a:rPr lang="en-US" altLang="zh-TW" sz="2800" baseline="-25000"/>
              <a:t>0</a:t>
            </a:r>
            <a:r>
              <a:rPr lang="en-US" altLang="zh-TW" sz="2800"/>
              <a:t> when it is false</a:t>
            </a:r>
          </a:p>
        </p:txBody>
      </p:sp>
      <p:graphicFrame>
        <p:nvGraphicFramePr>
          <p:cNvPr id="225284" name="Object 4"/>
          <p:cNvGraphicFramePr>
            <a:graphicFrameLocks noChangeAspect="1"/>
          </p:cNvGraphicFramePr>
          <p:nvPr/>
        </p:nvGraphicFramePr>
        <p:xfrm>
          <a:off x="685800" y="2595563"/>
          <a:ext cx="7785100" cy="406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7" name="文件" r:id="rId3" imgW="7887370" imgH="4119406" progId="Word.Document.8">
                  <p:embed/>
                </p:oleObj>
              </mc:Choice>
              <mc:Fallback>
                <p:oleObj name="文件" r:id="rId3" imgW="7887370" imgH="411940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95563"/>
                        <a:ext cx="7785100" cy="406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5" name="Line 5"/>
          <p:cNvSpPr>
            <a:spLocks noChangeShapeType="1"/>
          </p:cNvSpPr>
          <p:nvPr/>
        </p:nvSpPr>
        <p:spPr bwMode="auto">
          <a:xfrm>
            <a:off x="2895600" y="35052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286" name="Line 6"/>
          <p:cNvSpPr>
            <a:spLocks noChangeShapeType="1"/>
          </p:cNvSpPr>
          <p:nvPr/>
        </p:nvSpPr>
        <p:spPr bwMode="auto">
          <a:xfrm>
            <a:off x="2895600" y="3505200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287" name="Line 7"/>
          <p:cNvSpPr>
            <a:spLocks noChangeShapeType="1"/>
          </p:cNvSpPr>
          <p:nvPr/>
        </p:nvSpPr>
        <p:spPr bwMode="auto">
          <a:xfrm flipH="1" flipV="1">
            <a:off x="838200" y="3200400"/>
            <a:ext cx="2057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6115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zh-TW"/>
              <a:t>P(Type I error)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Suppose </a:t>
            </a:r>
            <a:r>
              <a:rPr lang="en-US" altLang="zh-TW" sz="2800" i="1" dirty="0">
                <a:latin typeface="Symbol" charset="0"/>
              </a:rPr>
              <a:t>a</a:t>
            </a:r>
            <a:r>
              <a:rPr lang="en-US" altLang="zh-TW" sz="2800" dirty="0"/>
              <a:t>-level = 0.05.  Then, P(Type I error) = P(reject null, given it is true) = </a:t>
            </a:r>
            <a:r>
              <a:rPr lang="en-US" altLang="zh-TW" sz="2800" i="1" dirty="0"/>
              <a:t>P</a:t>
            </a:r>
            <a:r>
              <a:rPr lang="en-US" altLang="zh-TW" sz="2800" dirty="0"/>
              <a:t>(|</a:t>
            </a:r>
            <a:r>
              <a:rPr lang="en-US" altLang="zh-TW" sz="2800" i="1" dirty="0"/>
              <a:t>z</a:t>
            </a:r>
            <a:r>
              <a:rPr lang="en-US" altLang="zh-TW" sz="2800" dirty="0"/>
              <a:t>| &gt; 1.96) =  0.05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i.e., </a:t>
            </a:r>
            <a:r>
              <a:rPr lang="en-US" altLang="zh-TW" sz="2800" i="1" dirty="0"/>
              <a:t>the </a:t>
            </a:r>
            <a:r>
              <a:rPr lang="en-US" altLang="zh-TW" i="1" dirty="0" smtClean="0">
                <a:latin typeface="Symbol" charset="0"/>
              </a:rPr>
              <a:t>a</a:t>
            </a:r>
            <a:r>
              <a:rPr lang="en-US" altLang="zh-TW" sz="2800" i="1" dirty="0" smtClean="0">
                <a:sym typeface="Euclid Symbol" charset="0"/>
              </a:rPr>
              <a:t>-</a:t>
            </a:r>
            <a:r>
              <a:rPr lang="en-US" altLang="zh-TW" sz="2800" i="1" dirty="0">
                <a:sym typeface="Euclid Symbol" charset="0"/>
              </a:rPr>
              <a:t>level is the P(Type I error).</a:t>
            </a:r>
          </a:p>
          <a:p>
            <a:pPr>
              <a:lnSpc>
                <a:spcPct val="90000"/>
              </a:lnSpc>
            </a:pPr>
            <a:r>
              <a:rPr lang="en-US" altLang="zh-TW" sz="2800" dirty="0">
                <a:sym typeface="Euclid Symbol" charset="0"/>
              </a:rPr>
              <a:t>Since we </a:t>
            </a:r>
            <a:r>
              <a:rPr lang="en-US" altLang="zh-TW" dirty="0" smtClean="0">
                <a:latin typeface="Arial"/>
                <a:sym typeface="Euclid Symbol" charset="0"/>
              </a:rPr>
              <a:t>“</a:t>
            </a:r>
            <a:r>
              <a:rPr lang="en-US" altLang="zh-TW" sz="2800" dirty="0" smtClean="0">
                <a:sym typeface="Euclid Symbol" charset="0"/>
              </a:rPr>
              <a:t>give </a:t>
            </a:r>
            <a:r>
              <a:rPr lang="en-US" altLang="zh-TW" sz="2800" dirty="0">
                <a:sym typeface="Euclid Symbol" charset="0"/>
              </a:rPr>
              <a:t>benefit of doubt to </a:t>
            </a:r>
            <a:r>
              <a:rPr lang="en-US" altLang="zh-TW" sz="2800" dirty="0" smtClean="0">
                <a:sym typeface="Euclid Symbol" charset="0"/>
              </a:rPr>
              <a:t>null</a:t>
            </a:r>
            <a:r>
              <a:rPr lang="en-US" altLang="zh-TW" dirty="0" smtClean="0">
                <a:latin typeface="Arial"/>
                <a:sym typeface="Euclid Symbol" charset="0"/>
              </a:rPr>
              <a:t>”</a:t>
            </a:r>
            <a:r>
              <a:rPr lang="en-US" altLang="zh-TW" sz="2800" dirty="0" smtClean="0">
                <a:sym typeface="Euclid Symbol" charset="0"/>
              </a:rPr>
              <a:t> </a:t>
            </a:r>
            <a:r>
              <a:rPr lang="en-US" altLang="zh-TW" sz="2800" dirty="0">
                <a:sym typeface="Euclid Symbol" charset="0"/>
              </a:rPr>
              <a:t>in doing test, </a:t>
            </a:r>
            <a:r>
              <a:rPr lang="en-US" altLang="zh-TW" sz="2800" dirty="0" smtClean="0">
                <a:sym typeface="Euclid Symbol" charset="0"/>
              </a:rPr>
              <a:t>it</a:t>
            </a:r>
            <a:r>
              <a:rPr lang="en-US" altLang="zh-TW" dirty="0" smtClean="0">
                <a:latin typeface="Arial"/>
                <a:sym typeface="Euclid Symbol" charset="0"/>
              </a:rPr>
              <a:t>’</a:t>
            </a:r>
            <a:r>
              <a:rPr lang="en-US" altLang="zh-TW" sz="2800" dirty="0" smtClean="0">
                <a:sym typeface="Euclid Symbol" charset="0"/>
              </a:rPr>
              <a:t>s </a:t>
            </a:r>
            <a:r>
              <a:rPr lang="en-US" altLang="zh-TW" sz="2800" dirty="0">
                <a:sym typeface="Euclid Symbol" charset="0"/>
              </a:rPr>
              <a:t>traditional to take </a:t>
            </a:r>
            <a:r>
              <a:rPr lang="en-US" altLang="zh-TW" i="1" dirty="0">
                <a:latin typeface="Symbol" charset="0"/>
              </a:rPr>
              <a:t>a</a:t>
            </a:r>
            <a:r>
              <a:rPr lang="en-US" altLang="zh-TW" sz="2800" dirty="0" smtClean="0">
                <a:sym typeface="Euclid Symbol" charset="0"/>
              </a:rPr>
              <a:t> </a:t>
            </a:r>
            <a:r>
              <a:rPr lang="en-US" altLang="zh-TW" sz="2800" dirty="0">
                <a:sym typeface="Euclid Symbol" charset="0"/>
              </a:rPr>
              <a:t>small, usually 0.05 but 0.01 to be very cautious not to reject null when it may be true.</a:t>
            </a:r>
          </a:p>
          <a:p>
            <a:pPr>
              <a:lnSpc>
                <a:spcPct val="90000"/>
              </a:lnSpc>
            </a:pPr>
            <a:r>
              <a:rPr lang="en-US" altLang="zh-TW" dirty="0" smtClean="0">
                <a:sym typeface="Euclid Symbol" charset="0"/>
              </a:rPr>
              <a:t>D</a:t>
            </a:r>
            <a:r>
              <a:rPr lang="en-US" altLang="zh-TW" sz="2800" dirty="0" smtClean="0">
                <a:sym typeface="Euclid Symbol" charset="0"/>
              </a:rPr>
              <a:t>on</a:t>
            </a:r>
            <a:r>
              <a:rPr lang="en-US" altLang="zh-TW" dirty="0" smtClean="0">
                <a:latin typeface="Arial"/>
                <a:sym typeface="Euclid Symbol" charset="0"/>
              </a:rPr>
              <a:t>’</a:t>
            </a:r>
            <a:r>
              <a:rPr lang="en-US" altLang="zh-TW" sz="2800" dirty="0" smtClean="0">
                <a:sym typeface="Euclid Symbol" charset="0"/>
              </a:rPr>
              <a:t>t </a:t>
            </a:r>
            <a:r>
              <a:rPr lang="en-US" altLang="zh-TW" sz="2800" dirty="0">
                <a:sym typeface="Euclid Symbol" charset="0"/>
              </a:rPr>
              <a:t>make </a:t>
            </a:r>
            <a:r>
              <a:rPr lang="en-US" altLang="zh-TW" i="1" dirty="0">
                <a:latin typeface="Symbol" charset="0"/>
              </a:rPr>
              <a:t>a</a:t>
            </a:r>
            <a:r>
              <a:rPr lang="en-US" altLang="zh-TW" sz="2800" dirty="0" smtClean="0">
                <a:sym typeface="Euclid Symbol" charset="0"/>
              </a:rPr>
              <a:t> </a:t>
            </a:r>
            <a:r>
              <a:rPr lang="en-US" altLang="zh-TW" sz="2800" i="1" dirty="0">
                <a:sym typeface="Euclid Symbol" charset="0"/>
              </a:rPr>
              <a:t>too</a:t>
            </a:r>
            <a:r>
              <a:rPr lang="en-US" altLang="zh-TW" sz="2800" dirty="0">
                <a:sym typeface="Euclid Symbol" charset="0"/>
              </a:rPr>
              <a:t> small, since as </a:t>
            </a:r>
            <a:r>
              <a:rPr lang="en-US" altLang="zh-TW" i="1" dirty="0">
                <a:latin typeface="Symbol" charset="0"/>
              </a:rPr>
              <a:t>a</a:t>
            </a:r>
            <a:r>
              <a:rPr lang="en-US" altLang="zh-TW" sz="2800" dirty="0" smtClean="0">
                <a:sym typeface="Euclid Symbol" charset="0"/>
              </a:rPr>
              <a:t> </a:t>
            </a:r>
            <a:r>
              <a:rPr lang="en-US" altLang="zh-TW" sz="2800" dirty="0">
                <a:sym typeface="Euclid Symbol" charset="0"/>
              </a:rPr>
              <a:t>goes down, </a:t>
            </a:r>
            <a:r>
              <a:rPr lang="en-US" altLang="zh-TW" sz="2800" dirty="0" smtClean="0">
                <a:sym typeface="Euclid Symbol" charset="0"/>
              </a:rPr>
              <a:t>P</a:t>
            </a:r>
            <a:r>
              <a:rPr lang="en-US" altLang="zh-TW" sz="2800" dirty="0">
                <a:sym typeface="Euclid Symbol" charset="0"/>
              </a:rPr>
              <a:t>(Type II error) goes up</a:t>
            </a:r>
          </a:p>
          <a:p>
            <a:pPr>
              <a:lnSpc>
                <a:spcPct val="90000"/>
              </a:lnSpc>
            </a:pPr>
            <a:r>
              <a:rPr lang="en-US" altLang="zh-TW" sz="2800" dirty="0" smtClean="0">
                <a:sym typeface="Euclid Symbol" charset="0"/>
              </a:rPr>
              <a:t>Better </a:t>
            </a:r>
            <a:r>
              <a:rPr lang="en-US" altLang="zh-TW" sz="2800" dirty="0">
                <a:sym typeface="Euclid Symbol" charset="0"/>
              </a:rPr>
              <a:t>to report </a:t>
            </a:r>
            <a:r>
              <a:rPr lang="en-US" altLang="zh-TW" sz="2800" i="1" dirty="0">
                <a:sym typeface="Euclid Symbol" charset="0"/>
              </a:rPr>
              <a:t>P-</a:t>
            </a:r>
            <a:r>
              <a:rPr lang="en-US" altLang="zh-TW" sz="2800" dirty="0">
                <a:sym typeface="Euclid Symbol" charset="0"/>
              </a:rPr>
              <a:t>value than merely whether reject H</a:t>
            </a:r>
            <a:r>
              <a:rPr lang="en-US" altLang="zh-TW" sz="2800" baseline="-25000" dirty="0">
                <a:sym typeface="Euclid Symbol" charset="0"/>
              </a:rPr>
              <a:t>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800" dirty="0">
                <a:sym typeface="Euclid Symbol" charset="0"/>
              </a:rPr>
              <a:t>     </a:t>
            </a:r>
            <a:r>
              <a:rPr lang="en-US" altLang="zh-TW" sz="2400" dirty="0">
                <a:sym typeface="Euclid Symbol" charset="0"/>
              </a:rPr>
              <a:t>(Are </a:t>
            </a:r>
            <a:r>
              <a:rPr lang="en-US" altLang="zh-TW" sz="2400" i="1" dirty="0">
                <a:sym typeface="Euclid Symbol" charset="0"/>
              </a:rPr>
              <a:t>P = </a:t>
            </a:r>
            <a:r>
              <a:rPr lang="en-US" altLang="zh-TW" sz="2400" dirty="0">
                <a:sym typeface="Euclid Symbol" charset="0"/>
              </a:rPr>
              <a:t>0.049 and 0.051 really substantively different?)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>
                <a:sym typeface="Euclid Symbol" charset="0"/>
              </a:rPr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8590444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Calibri"/>
                <a:cs typeface="Calibri"/>
              </a:rPr>
              <a:t>Comparing</a:t>
            </a:r>
            <a:r>
              <a:rPr lang="zh-TW" altLang="en-US" dirty="0" smtClean="0">
                <a:latin typeface="Calibri"/>
                <a:cs typeface="Calibri"/>
              </a:rPr>
              <a:t> </a:t>
            </a:r>
            <a:r>
              <a:rPr lang="en-US" altLang="zh-TW" dirty="0" smtClean="0">
                <a:latin typeface="Calibri"/>
                <a:cs typeface="Calibri"/>
              </a:rPr>
              <a:t>two</a:t>
            </a:r>
            <a:r>
              <a:rPr lang="zh-TW" altLang="en-US" dirty="0" smtClean="0">
                <a:latin typeface="Calibri"/>
                <a:cs typeface="Calibri"/>
              </a:rPr>
              <a:t> </a:t>
            </a:r>
            <a:r>
              <a:rPr lang="en-US" altLang="zh-TW" dirty="0" smtClean="0">
                <a:latin typeface="Calibri"/>
                <a:cs typeface="Calibri"/>
              </a:rPr>
              <a:t>Samples</a:t>
            </a:r>
            <a:endParaRPr lang="en-GB" altLang="zh-TW" dirty="0">
              <a:latin typeface="Calibri"/>
              <a:cs typeface="Calibri"/>
            </a:endParaRPr>
          </a:p>
        </p:txBody>
      </p:sp>
      <p:sp>
        <p:nvSpPr>
          <p:cNvPr id="44035" name="Line 3"/>
          <p:cNvSpPr>
            <a:spLocks noChangeShapeType="1"/>
          </p:cNvSpPr>
          <p:nvPr/>
        </p:nvSpPr>
        <p:spPr bwMode="auto">
          <a:xfrm>
            <a:off x="762000" y="6019800"/>
            <a:ext cx="6934200" cy="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036" name="Freeform 4"/>
          <p:cNvSpPr>
            <a:spLocks/>
          </p:cNvSpPr>
          <p:nvPr/>
        </p:nvSpPr>
        <p:spPr bwMode="auto">
          <a:xfrm>
            <a:off x="838200" y="3657600"/>
            <a:ext cx="4191000" cy="2286000"/>
          </a:xfrm>
          <a:custGeom>
            <a:avLst/>
            <a:gdLst>
              <a:gd name="T0" fmla="*/ 2147483647 w 900"/>
              <a:gd name="T1" fmla="*/ 2147483647 h 446"/>
              <a:gd name="T2" fmla="*/ 2147483647 w 900"/>
              <a:gd name="T3" fmla="*/ 2147483647 h 446"/>
              <a:gd name="T4" fmla="*/ 2147483647 w 900"/>
              <a:gd name="T5" fmla="*/ 2147483647 h 446"/>
              <a:gd name="T6" fmla="*/ 2147483647 w 900"/>
              <a:gd name="T7" fmla="*/ 2147483647 h 446"/>
              <a:gd name="T8" fmla="*/ 2147483647 w 900"/>
              <a:gd name="T9" fmla="*/ 2147483647 h 446"/>
              <a:gd name="T10" fmla="*/ 2147483647 w 900"/>
              <a:gd name="T11" fmla="*/ 2147483647 h 446"/>
              <a:gd name="T12" fmla="*/ 2147483647 w 900"/>
              <a:gd name="T13" fmla="*/ 2147483647 h 446"/>
              <a:gd name="T14" fmla="*/ 2147483647 w 900"/>
              <a:gd name="T15" fmla="*/ 2147483647 h 446"/>
              <a:gd name="T16" fmla="*/ 2147483647 w 900"/>
              <a:gd name="T17" fmla="*/ 2147483647 h 446"/>
              <a:gd name="T18" fmla="*/ 2147483647 w 900"/>
              <a:gd name="T19" fmla="*/ 2147483647 h 446"/>
              <a:gd name="T20" fmla="*/ 2147483647 w 900"/>
              <a:gd name="T21" fmla="*/ 2147483647 h 446"/>
              <a:gd name="T22" fmla="*/ 2147483647 w 900"/>
              <a:gd name="T23" fmla="*/ 2147483647 h 446"/>
              <a:gd name="T24" fmla="*/ 2147483647 w 900"/>
              <a:gd name="T25" fmla="*/ 2147483647 h 446"/>
              <a:gd name="T26" fmla="*/ 2147483647 w 900"/>
              <a:gd name="T27" fmla="*/ 2147483647 h 446"/>
              <a:gd name="T28" fmla="*/ 2147483647 w 900"/>
              <a:gd name="T29" fmla="*/ 2147483647 h 446"/>
              <a:gd name="T30" fmla="*/ 2147483647 w 900"/>
              <a:gd name="T31" fmla="*/ 2147483647 h 446"/>
              <a:gd name="T32" fmla="*/ 2147483647 w 900"/>
              <a:gd name="T33" fmla="*/ 2147483647 h 446"/>
              <a:gd name="T34" fmla="*/ 2147483647 w 900"/>
              <a:gd name="T35" fmla="*/ 2147483647 h 446"/>
              <a:gd name="T36" fmla="*/ 2147483647 w 900"/>
              <a:gd name="T37" fmla="*/ 2147483647 h 446"/>
              <a:gd name="T38" fmla="*/ 2147483647 w 900"/>
              <a:gd name="T39" fmla="*/ 2147483647 h 446"/>
              <a:gd name="T40" fmla="*/ 2147483647 w 900"/>
              <a:gd name="T41" fmla="*/ 2147483647 h 446"/>
              <a:gd name="T42" fmla="*/ 2147483647 w 900"/>
              <a:gd name="T43" fmla="*/ 2147483647 h 446"/>
              <a:gd name="T44" fmla="*/ 2147483647 w 900"/>
              <a:gd name="T45" fmla="*/ 2147483647 h 446"/>
              <a:gd name="T46" fmla="*/ 2147483647 w 900"/>
              <a:gd name="T47" fmla="*/ 2147483647 h 446"/>
              <a:gd name="T48" fmla="*/ 2147483647 w 900"/>
              <a:gd name="T49" fmla="*/ 2147483647 h 446"/>
              <a:gd name="T50" fmla="*/ 2147483647 w 900"/>
              <a:gd name="T51" fmla="*/ 2147483647 h 446"/>
              <a:gd name="T52" fmla="*/ 2147483647 w 900"/>
              <a:gd name="T53" fmla="*/ 2147483647 h 446"/>
              <a:gd name="T54" fmla="*/ 2147483647 w 900"/>
              <a:gd name="T55" fmla="*/ 2147483647 h 446"/>
              <a:gd name="T56" fmla="*/ 2147483647 w 900"/>
              <a:gd name="T57" fmla="*/ 2147483647 h 446"/>
              <a:gd name="T58" fmla="*/ 2147483647 w 900"/>
              <a:gd name="T59" fmla="*/ 0 h 446"/>
              <a:gd name="T60" fmla="*/ 2147483647 w 900"/>
              <a:gd name="T61" fmla="*/ 0 h 446"/>
              <a:gd name="T62" fmla="*/ 2147483647 w 900"/>
              <a:gd name="T63" fmla="*/ 2147483647 h 446"/>
              <a:gd name="T64" fmla="*/ 2147483647 w 900"/>
              <a:gd name="T65" fmla="*/ 2147483647 h 446"/>
              <a:gd name="T66" fmla="*/ 2147483647 w 900"/>
              <a:gd name="T67" fmla="*/ 2147483647 h 446"/>
              <a:gd name="T68" fmla="*/ 2147483647 w 900"/>
              <a:gd name="T69" fmla="*/ 2147483647 h 446"/>
              <a:gd name="T70" fmla="*/ 2147483647 w 900"/>
              <a:gd name="T71" fmla="*/ 2147483647 h 446"/>
              <a:gd name="T72" fmla="*/ 2147483647 w 900"/>
              <a:gd name="T73" fmla="*/ 2147483647 h 446"/>
              <a:gd name="T74" fmla="*/ 2147483647 w 900"/>
              <a:gd name="T75" fmla="*/ 2147483647 h 446"/>
              <a:gd name="T76" fmla="*/ 2147483647 w 900"/>
              <a:gd name="T77" fmla="*/ 2147483647 h 446"/>
              <a:gd name="T78" fmla="*/ 2147483647 w 900"/>
              <a:gd name="T79" fmla="*/ 2147483647 h 446"/>
              <a:gd name="T80" fmla="*/ 2147483647 w 900"/>
              <a:gd name="T81" fmla="*/ 2147483647 h 446"/>
              <a:gd name="T82" fmla="*/ 2147483647 w 900"/>
              <a:gd name="T83" fmla="*/ 2147483647 h 446"/>
              <a:gd name="T84" fmla="*/ 2147483647 w 900"/>
              <a:gd name="T85" fmla="*/ 2147483647 h 446"/>
              <a:gd name="T86" fmla="*/ 2147483647 w 900"/>
              <a:gd name="T87" fmla="*/ 2147483647 h 446"/>
              <a:gd name="T88" fmla="*/ 2147483647 w 900"/>
              <a:gd name="T89" fmla="*/ 2147483647 h 446"/>
              <a:gd name="T90" fmla="*/ 2147483647 w 900"/>
              <a:gd name="T91" fmla="*/ 2147483647 h 446"/>
              <a:gd name="T92" fmla="*/ 2147483647 w 900"/>
              <a:gd name="T93" fmla="*/ 2147483647 h 446"/>
              <a:gd name="T94" fmla="*/ 2147483647 w 900"/>
              <a:gd name="T95" fmla="*/ 2147483647 h 446"/>
              <a:gd name="T96" fmla="*/ 2147483647 w 900"/>
              <a:gd name="T97" fmla="*/ 2147483647 h 446"/>
              <a:gd name="T98" fmla="*/ 2147483647 w 900"/>
              <a:gd name="T99" fmla="*/ 2147483647 h 446"/>
              <a:gd name="T100" fmla="*/ 2147483647 w 900"/>
              <a:gd name="T101" fmla="*/ 2147483647 h 446"/>
              <a:gd name="T102" fmla="*/ 2147483647 w 900"/>
              <a:gd name="T103" fmla="*/ 2147483647 h 446"/>
              <a:gd name="T104" fmla="*/ 2147483647 w 900"/>
              <a:gd name="T105" fmla="*/ 2147483647 h 446"/>
              <a:gd name="T106" fmla="*/ 2147483647 w 900"/>
              <a:gd name="T107" fmla="*/ 2147483647 h 446"/>
              <a:gd name="T108" fmla="*/ 2147483647 w 900"/>
              <a:gd name="T109" fmla="*/ 2147483647 h 446"/>
              <a:gd name="T110" fmla="*/ 2147483647 w 900"/>
              <a:gd name="T111" fmla="*/ 2147483647 h 446"/>
              <a:gd name="T112" fmla="*/ 2147483647 w 900"/>
              <a:gd name="T113" fmla="*/ 2147483647 h 446"/>
              <a:gd name="T114" fmla="*/ 2147483647 w 900"/>
              <a:gd name="T115" fmla="*/ 2147483647 h 446"/>
              <a:gd name="T116" fmla="*/ 2147483647 w 900"/>
              <a:gd name="T117" fmla="*/ 2147483647 h 446"/>
              <a:gd name="T118" fmla="*/ 2147483647 w 900"/>
              <a:gd name="T119" fmla="*/ 2147483647 h 44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900"/>
              <a:gd name="T181" fmla="*/ 0 h 446"/>
              <a:gd name="T182" fmla="*/ 900 w 900"/>
              <a:gd name="T183" fmla="*/ 446 h 44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900" h="446">
                <a:moveTo>
                  <a:pt x="0" y="446"/>
                </a:moveTo>
                <a:lnTo>
                  <a:pt x="5" y="444"/>
                </a:lnTo>
                <a:lnTo>
                  <a:pt x="10" y="442"/>
                </a:lnTo>
                <a:lnTo>
                  <a:pt x="15" y="439"/>
                </a:lnTo>
                <a:lnTo>
                  <a:pt x="20" y="437"/>
                </a:lnTo>
                <a:lnTo>
                  <a:pt x="25" y="434"/>
                </a:lnTo>
                <a:lnTo>
                  <a:pt x="30" y="431"/>
                </a:lnTo>
                <a:lnTo>
                  <a:pt x="35" y="428"/>
                </a:lnTo>
                <a:lnTo>
                  <a:pt x="40" y="425"/>
                </a:lnTo>
                <a:lnTo>
                  <a:pt x="45" y="422"/>
                </a:lnTo>
                <a:lnTo>
                  <a:pt x="50" y="419"/>
                </a:lnTo>
                <a:lnTo>
                  <a:pt x="55" y="415"/>
                </a:lnTo>
                <a:lnTo>
                  <a:pt x="60" y="412"/>
                </a:lnTo>
                <a:lnTo>
                  <a:pt x="65" y="408"/>
                </a:lnTo>
                <a:lnTo>
                  <a:pt x="70" y="404"/>
                </a:lnTo>
                <a:lnTo>
                  <a:pt x="75" y="400"/>
                </a:lnTo>
                <a:lnTo>
                  <a:pt x="80" y="396"/>
                </a:lnTo>
                <a:lnTo>
                  <a:pt x="85" y="392"/>
                </a:lnTo>
                <a:lnTo>
                  <a:pt x="90" y="388"/>
                </a:lnTo>
                <a:lnTo>
                  <a:pt x="95" y="384"/>
                </a:lnTo>
                <a:lnTo>
                  <a:pt x="100" y="379"/>
                </a:lnTo>
                <a:lnTo>
                  <a:pt x="105" y="374"/>
                </a:lnTo>
                <a:lnTo>
                  <a:pt x="110" y="369"/>
                </a:lnTo>
                <a:lnTo>
                  <a:pt x="115" y="365"/>
                </a:lnTo>
                <a:lnTo>
                  <a:pt x="120" y="359"/>
                </a:lnTo>
                <a:lnTo>
                  <a:pt x="125" y="354"/>
                </a:lnTo>
                <a:lnTo>
                  <a:pt x="130" y="349"/>
                </a:lnTo>
                <a:lnTo>
                  <a:pt x="135" y="343"/>
                </a:lnTo>
                <a:lnTo>
                  <a:pt x="140" y="338"/>
                </a:lnTo>
                <a:lnTo>
                  <a:pt x="145" y="332"/>
                </a:lnTo>
                <a:lnTo>
                  <a:pt x="150" y="326"/>
                </a:lnTo>
                <a:lnTo>
                  <a:pt x="155" y="320"/>
                </a:lnTo>
                <a:lnTo>
                  <a:pt x="160" y="314"/>
                </a:lnTo>
                <a:lnTo>
                  <a:pt x="165" y="308"/>
                </a:lnTo>
                <a:lnTo>
                  <a:pt x="170" y="302"/>
                </a:lnTo>
                <a:lnTo>
                  <a:pt x="175" y="295"/>
                </a:lnTo>
                <a:lnTo>
                  <a:pt x="180" y="289"/>
                </a:lnTo>
                <a:lnTo>
                  <a:pt x="185" y="282"/>
                </a:lnTo>
                <a:lnTo>
                  <a:pt x="190" y="275"/>
                </a:lnTo>
                <a:lnTo>
                  <a:pt x="195" y="269"/>
                </a:lnTo>
                <a:lnTo>
                  <a:pt x="200" y="262"/>
                </a:lnTo>
                <a:lnTo>
                  <a:pt x="205" y="255"/>
                </a:lnTo>
                <a:lnTo>
                  <a:pt x="210" y="248"/>
                </a:lnTo>
                <a:lnTo>
                  <a:pt x="215" y="241"/>
                </a:lnTo>
                <a:lnTo>
                  <a:pt x="220" y="234"/>
                </a:lnTo>
                <a:lnTo>
                  <a:pt x="225" y="226"/>
                </a:lnTo>
                <a:lnTo>
                  <a:pt x="230" y="219"/>
                </a:lnTo>
                <a:lnTo>
                  <a:pt x="235" y="212"/>
                </a:lnTo>
                <a:lnTo>
                  <a:pt x="240" y="205"/>
                </a:lnTo>
                <a:lnTo>
                  <a:pt x="245" y="197"/>
                </a:lnTo>
                <a:lnTo>
                  <a:pt x="250" y="190"/>
                </a:lnTo>
                <a:lnTo>
                  <a:pt x="255" y="183"/>
                </a:lnTo>
                <a:lnTo>
                  <a:pt x="260" y="176"/>
                </a:lnTo>
                <a:lnTo>
                  <a:pt x="265" y="168"/>
                </a:lnTo>
                <a:lnTo>
                  <a:pt x="270" y="161"/>
                </a:lnTo>
                <a:lnTo>
                  <a:pt x="275" y="154"/>
                </a:lnTo>
                <a:lnTo>
                  <a:pt x="280" y="147"/>
                </a:lnTo>
                <a:lnTo>
                  <a:pt x="285" y="140"/>
                </a:lnTo>
                <a:lnTo>
                  <a:pt x="290" y="133"/>
                </a:lnTo>
                <a:lnTo>
                  <a:pt x="295" y="126"/>
                </a:lnTo>
                <a:lnTo>
                  <a:pt x="300" y="119"/>
                </a:lnTo>
                <a:lnTo>
                  <a:pt x="305" y="112"/>
                </a:lnTo>
                <a:lnTo>
                  <a:pt x="310" y="105"/>
                </a:lnTo>
                <a:lnTo>
                  <a:pt x="315" y="99"/>
                </a:lnTo>
                <a:lnTo>
                  <a:pt x="320" y="92"/>
                </a:lnTo>
                <a:lnTo>
                  <a:pt x="325" y="86"/>
                </a:lnTo>
                <a:lnTo>
                  <a:pt x="330" y="80"/>
                </a:lnTo>
                <a:lnTo>
                  <a:pt x="335" y="74"/>
                </a:lnTo>
                <a:lnTo>
                  <a:pt x="340" y="68"/>
                </a:lnTo>
                <a:lnTo>
                  <a:pt x="345" y="63"/>
                </a:lnTo>
                <a:lnTo>
                  <a:pt x="350" y="57"/>
                </a:lnTo>
                <a:lnTo>
                  <a:pt x="355" y="52"/>
                </a:lnTo>
                <a:lnTo>
                  <a:pt x="360" y="47"/>
                </a:lnTo>
                <a:lnTo>
                  <a:pt x="365" y="42"/>
                </a:lnTo>
                <a:lnTo>
                  <a:pt x="370" y="38"/>
                </a:lnTo>
                <a:lnTo>
                  <a:pt x="375" y="33"/>
                </a:lnTo>
                <a:lnTo>
                  <a:pt x="380" y="29"/>
                </a:lnTo>
                <a:lnTo>
                  <a:pt x="385" y="25"/>
                </a:lnTo>
                <a:lnTo>
                  <a:pt x="390" y="22"/>
                </a:lnTo>
                <a:lnTo>
                  <a:pt x="395" y="18"/>
                </a:lnTo>
                <a:lnTo>
                  <a:pt x="400" y="15"/>
                </a:lnTo>
                <a:lnTo>
                  <a:pt x="405" y="12"/>
                </a:lnTo>
                <a:lnTo>
                  <a:pt x="410" y="10"/>
                </a:lnTo>
                <a:lnTo>
                  <a:pt x="415" y="8"/>
                </a:lnTo>
                <a:lnTo>
                  <a:pt x="420" y="6"/>
                </a:lnTo>
                <a:lnTo>
                  <a:pt x="425" y="4"/>
                </a:lnTo>
                <a:lnTo>
                  <a:pt x="430" y="2"/>
                </a:lnTo>
                <a:lnTo>
                  <a:pt x="435" y="1"/>
                </a:lnTo>
                <a:lnTo>
                  <a:pt x="440" y="0"/>
                </a:lnTo>
                <a:lnTo>
                  <a:pt x="445" y="0"/>
                </a:lnTo>
                <a:lnTo>
                  <a:pt x="450" y="0"/>
                </a:lnTo>
                <a:lnTo>
                  <a:pt x="455" y="0"/>
                </a:lnTo>
                <a:lnTo>
                  <a:pt x="460" y="0"/>
                </a:lnTo>
                <a:lnTo>
                  <a:pt x="465" y="1"/>
                </a:lnTo>
                <a:lnTo>
                  <a:pt x="470" y="2"/>
                </a:lnTo>
                <a:lnTo>
                  <a:pt x="475" y="3"/>
                </a:lnTo>
                <a:lnTo>
                  <a:pt x="480" y="4"/>
                </a:lnTo>
                <a:lnTo>
                  <a:pt x="485" y="6"/>
                </a:lnTo>
                <a:lnTo>
                  <a:pt x="490" y="8"/>
                </a:lnTo>
                <a:lnTo>
                  <a:pt x="495" y="11"/>
                </a:lnTo>
                <a:lnTo>
                  <a:pt x="500" y="13"/>
                </a:lnTo>
                <a:lnTo>
                  <a:pt x="505" y="16"/>
                </a:lnTo>
                <a:lnTo>
                  <a:pt x="510" y="19"/>
                </a:lnTo>
                <a:lnTo>
                  <a:pt x="515" y="23"/>
                </a:lnTo>
                <a:lnTo>
                  <a:pt x="520" y="27"/>
                </a:lnTo>
                <a:lnTo>
                  <a:pt x="525" y="31"/>
                </a:lnTo>
                <a:lnTo>
                  <a:pt x="530" y="35"/>
                </a:lnTo>
                <a:lnTo>
                  <a:pt x="535" y="39"/>
                </a:lnTo>
                <a:lnTo>
                  <a:pt x="540" y="44"/>
                </a:lnTo>
                <a:lnTo>
                  <a:pt x="545" y="49"/>
                </a:lnTo>
                <a:lnTo>
                  <a:pt x="550" y="54"/>
                </a:lnTo>
                <a:lnTo>
                  <a:pt x="555" y="59"/>
                </a:lnTo>
                <a:lnTo>
                  <a:pt x="560" y="65"/>
                </a:lnTo>
                <a:lnTo>
                  <a:pt x="565" y="70"/>
                </a:lnTo>
                <a:lnTo>
                  <a:pt x="570" y="76"/>
                </a:lnTo>
                <a:lnTo>
                  <a:pt x="575" y="82"/>
                </a:lnTo>
                <a:lnTo>
                  <a:pt x="580" y="88"/>
                </a:lnTo>
                <a:lnTo>
                  <a:pt x="585" y="94"/>
                </a:lnTo>
                <a:lnTo>
                  <a:pt x="590" y="101"/>
                </a:lnTo>
                <a:lnTo>
                  <a:pt x="595" y="107"/>
                </a:lnTo>
                <a:lnTo>
                  <a:pt x="600" y="114"/>
                </a:lnTo>
                <a:lnTo>
                  <a:pt x="605" y="121"/>
                </a:lnTo>
                <a:lnTo>
                  <a:pt x="610" y="128"/>
                </a:lnTo>
                <a:lnTo>
                  <a:pt x="615" y="135"/>
                </a:lnTo>
                <a:lnTo>
                  <a:pt x="620" y="142"/>
                </a:lnTo>
                <a:lnTo>
                  <a:pt x="625" y="149"/>
                </a:lnTo>
                <a:lnTo>
                  <a:pt x="630" y="156"/>
                </a:lnTo>
                <a:lnTo>
                  <a:pt x="635" y="163"/>
                </a:lnTo>
                <a:lnTo>
                  <a:pt x="640" y="171"/>
                </a:lnTo>
                <a:lnTo>
                  <a:pt x="645" y="178"/>
                </a:lnTo>
                <a:lnTo>
                  <a:pt x="650" y="185"/>
                </a:lnTo>
                <a:lnTo>
                  <a:pt x="655" y="192"/>
                </a:lnTo>
                <a:lnTo>
                  <a:pt x="660" y="200"/>
                </a:lnTo>
                <a:lnTo>
                  <a:pt x="665" y="207"/>
                </a:lnTo>
                <a:lnTo>
                  <a:pt x="670" y="214"/>
                </a:lnTo>
                <a:lnTo>
                  <a:pt x="675" y="221"/>
                </a:lnTo>
                <a:lnTo>
                  <a:pt x="680" y="229"/>
                </a:lnTo>
                <a:lnTo>
                  <a:pt x="685" y="236"/>
                </a:lnTo>
                <a:lnTo>
                  <a:pt x="690" y="243"/>
                </a:lnTo>
                <a:lnTo>
                  <a:pt x="695" y="250"/>
                </a:lnTo>
                <a:lnTo>
                  <a:pt x="700" y="257"/>
                </a:lnTo>
                <a:lnTo>
                  <a:pt x="705" y="264"/>
                </a:lnTo>
                <a:lnTo>
                  <a:pt x="710" y="271"/>
                </a:lnTo>
                <a:lnTo>
                  <a:pt x="715" y="278"/>
                </a:lnTo>
                <a:lnTo>
                  <a:pt x="720" y="284"/>
                </a:lnTo>
                <a:lnTo>
                  <a:pt x="725" y="291"/>
                </a:lnTo>
                <a:lnTo>
                  <a:pt x="730" y="297"/>
                </a:lnTo>
                <a:lnTo>
                  <a:pt x="735" y="304"/>
                </a:lnTo>
                <a:lnTo>
                  <a:pt x="740" y="310"/>
                </a:lnTo>
                <a:lnTo>
                  <a:pt x="745" y="316"/>
                </a:lnTo>
                <a:lnTo>
                  <a:pt x="750" y="322"/>
                </a:lnTo>
                <a:lnTo>
                  <a:pt x="755" y="328"/>
                </a:lnTo>
                <a:lnTo>
                  <a:pt x="760" y="334"/>
                </a:lnTo>
                <a:lnTo>
                  <a:pt x="765" y="340"/>
                </a:lnTo>
                <a:lnTo>
                  <a:pt x="770" y="345"/>
                </a:lnTo>
                <a:lnTo>
                  <a:pt x="775" y="351"/>
                </a:lnTo>
                <a:lnTo>
                  <a:pt x="780" y="356"/>
                </a:lnTo>
                <a:lnTo>
                  <a:pt x="785" y="361"/>
                </a:lnTo>
                <a:lnTo>
                  <a:pt x="790" y="366"/>
                </a:lnTo>
                <a:lnTo>
                  <a:pt x="795" y="371"/>
                </a:lnTo>
                <a:lnTo>
                  <a:pt x="800" y="376"/>
                </a:lnTo>
                <a:lnTo>
                  <a:pt x="805" y="380"/>
                </a:lnTo>
                <a:lnTo>
                  <a:pt x="810" y="385"/>
                </a:lnTo>
                <a:lnTo>
                  <a:pt x="815" y="389"/>
                </a:lnTo>
                <a:lnTo>
                  <a:pt x="820" y="394"/>
                </a:lnTo>
                <a:lnTo>
                  <a:pt x="825" y="398"/>
                </a:lnTo>
                <a:lnTo>
                  <a:pt x="830" y="402"/>
                </a:lnTo>
                <a:lnTo>
                  <a:pt x="835" y="406"/>
                </a:lnTo>
                <a:lnTo>
                  <a:pt x="840" y="409"/>
                </a:lnTo>
                <a:lnTo>
                  <a:pt x="845" y="413"/>
                </a:lnTo>
                <a:lnTo>
                  <a:pt x="850" y="416"/>
                </a:lnTo>
                <a:lnTo>
                  <a:pt x="855" y="420"/>
                </a:lnTo>
                <a:lnTo>
                  <a:pt x="860" y="423"/>
                </a:lnTo>
                <a:lnTo>
                  <a:pt x="865" y="426"/>
                </a:lnTo>
                <a:lnTo>
                  <a:pt x="870" y="429"/>
                </a:lnTo>
                <a:lnTo>
                  <a:pt x="875" y="432"/>
                </a:lnTo>
                <a:lnTo>
                  <a:pt x="880" y="435"/>
                </a:lnTo>
                <a:lnTo>
                  <a:pt x="885" y="437"/>
                </a:lnTo>
                <a:lnTo>
                  <a:pt x="890" y="440"/>
                </a:lnTo>
                <a:lnTo>
                  <a:pt x="895" y="443"/>
                </a:lnTo>
                <a:lnTo>
                  <a:pt x="900" y="445"/>
                </a:lnTo>
              </a:path>
            </a:pathLst>
          </a:custGeom>
          <a:noFill/>
          <a:ln w="5715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 flipV="1">
            <a:off x="2971800" y="3657600"/>
            <a:ext cx="0" cy="2362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038" name="Freeform 6"/>
          <p:cNvSpPr>
            <a:spLocks/>
          </p:cNvSpPr>
          <p:nvPr/>
        </p:nvSpPr>
        <p:spPr bwMode="auto">
          <a:xfrm>
            <a:off x="3276600" y="3657600"/>
            <a:ext cx="4191000" cy="2286000"/>
          </a:xfrm>
          <a:custGeom>
            <a:avLst/>
            <a:gdLst>
              <a:gd name="T0" fmla="*/ 2147483647 w 900"/>
              <a:gd name="T1" fmla="*/ 2147483647 h 446"/>
              <a:gd name="T2" fmla="*/ 2147483647 w 900"/>
              <a:gd name="T3" fmla="*/ 2147483647 h 446"/>
              <a:gd name="T4" fmla="*/ 2147483647 w 900"/>
              <a:gd name="T5" fmla="*/ 2147483647 h 446"/>
              <a:gd name="T6" fmla="*/ 2147483647 w 900"/>
              <a:gd name="T7" fmla="*/ 2147483647 h 446"/>
              <a:gd name="T8" fmla="*/ 2147483647 w 900"/>
              <a:gd name="T9" fmla="*/ 2147483647 h 446"/>
              <a:gd name="T10" fmla="*/ 2147483647 w 900"/>
              <a:gd name="T11" fmla="*/ 2147483647 h 446"/>
              <a:gd name="T12" fmla="*/ 2147483647 w 900"/>
              <a:gd name="T13" fmla="*/ 2147483647 h 446"/>
              <a:gd name="T14" fmla="*/ 2147483647 w 900"/>
              <a:gd name="T15" fmla="*/ 2147483647 h 446"/>
              <a:gd name="T16" fmla="*/ 2147483647 w 900"/>
              <a:gd name="T17" fmla="*/ 2147483647 h 446"/>
              <a:gd name="T18" fmla="*/ 2147483647 w 900"/>
              <a:gd name="T19" fmla="*/ 2147483647 h 446"/>
              <a:gd name="T20" fmla="*/ 2147483647 w 900"/>
              <a:gd name="T21" fmla="*/ 2147483647 h 446"/>
              <a:gd name="T22" fmla="*/ 2147483647 w 900"/>
              <a:gd name="T23" fmla="*/ 2147483647 h 446"/>
              <a:gd name="T24" fmla="*/ 2147483647 w 900"/>
              <a:gd name="T25" fmla="*/ 2147483647 h 446"/>
              <a:gd name="T26" fmla="*/ 2147483647 w 900"/>
              <a:gd name="T27" fmla="*/ 2147483647 h 446"/>
              <a:gd name="T28" fmla="*/ 2147483647 w 900"/>
              <a:gd name="T29" fmla="*/ 2147483647 h 446"/>
              <a:gd name="T30" fmla="*/ 2147483647 w 900"/>
              <a:gd name="T31" fmla="*/ 2147483647 h 446"/>
              <a:gd name="T32" fmla="*/ 2147483647 w 900"/>
              <a:gd name="T33" fmla="*/ 2147483647 h 446"/>
              <a:gd name="T34" fmla="*/ 2147483647 w 900"/>
              <a:gd name="T35" fmla="*/ 2147483647 h 446"/>
              <a:gd name="T36" fmla="*/ 2147483647 w 900"/>
              <a:gd name="T37" fmla="*/ 2147483647 h 446"/>
              <a:gd name="T38" fmla="*/ 2147483647 w 900"/>
              <a:gd name="T39" fmla="*/ 2147483647 h 446"/>
              <a:gd name="T40" fmla="*/ 2147483647 w 900"/>
              <a:gd name="T41" fmla="*/ 2147483647 h 446"/>
              <a:gd name="T42" fmla="*/ 2147483647 w 900"/>
              <a:gd name="T43" fmla="*/ 2147483647 h 446"/>
              <a:gd name="T44" fmla="*/ 2147483647 w 900"/>
              <a:gd name="T45" fmla="*/ 2147483647 h 446"/>
              <a:gd name="T46" fmla="*/ 2147483647 w 900"/>
              <a:gd name="T47" fmla="*/ 2147483647 h 446"/>
              <a:gd name="T48" fmla="*/ 2147483647 w 900"/>
              <a:gd name="T49" fmla="*/ 2147483647 h 446"/>
              <a:gd name="T50" fmla="*/ 2147483647 w 900"/>
              <a:gd name="T51" fmla="*/ 2147483647 h 446"/>
              <a:gd name="T52" fmla="*/ 2147483647 w 900"/>
              <a:gd name="T53" fmla="*/ 2147483647 h 446"/>
              <a:gd name="T54" fmla="*/ 2147483647 w 900"/>
              <a:gd name="T55" fmla="*/ 2147483647 h 446"/>
              <a:gd name="T56" fmla="*/ 2147483647 w 900"/>
              <a:gd name="T57" fmla="*/ 2147483647 h 446"/>
              <a:gd name="T58" fmla="*/ 2147483647 w 900"/>
              <a:gd name="T59" fmla="*/ 0 h 446"/>
              <a:gd name="T60" fmla="*/ 2147483647 w 900"/>
              <a:gd name="T61" fmla="*/ 0 h 446"/>
              <a:gd name="T62" fmla="*/ 2147483647 w 900"/>
              <a:gd name="T63" fmla="*/ 2147483647 h 446"/>
              <a:gd name="T64" fmla="*/ 2147483647 w 900"/>
              <a:gd name="T65" fmla="*/ 2147483647 h 446"/>
              <a:gd name="T66" fmla="*/ 2147483647 w 900"/>
              <a:gd name="T67" fmla="*/ 2147483647 h 446"/>
              <a:gd name="T68" fmla="*/ 2147483647 w 900"/>
              <a:gd name="T69" fmla="*/ 2147483647 h 446"/>
              <a:gd name="T70" fmla="*/ 2147483647 w 900"/>
              <a:gd name="T71" fmla="*/ 2147483647 h 446"/>
              <a:gd name="T72" fmla="*/ 2147483647 w 900"/>
              <a:gd name="T73" fmla="*/ 2147483647 h 446"/>
              <a:gd name="T74" fmla="*/ 2147483647 w 900"/>
              <a:gd name="T75" fmla="*/ 2147483647 h 446"/>
              <a:gd name="T76" fmla="*/ 2147483647 w 900"/>
              <a:gd name="T77" fmla="*/ 2147483647 h 446"/>
              <a:gd name="T78" fmla="*/ 2147483647 w 900"/>
              <a:gd name="T79" fmla="*/ 2147483647 h 446"/>
              <a:gd name="T80" fmla="*/ 2147483647 w 900"/>
              <a:gd name="T81" fmla="*/ 2147483647 h 446"/>
              <a:gd name="T82" fmla="*/ 2147483647 w 900"/>
              <a:gd name="T83" fmla="*/ 2147483647 h 446"/>
              <a:gd name="T84" fmla="*/ 2147483647 w 900"/>
              <a:gd name="T85" fmla="*/ 2147483647 h 446"/>
              <a:gd name="T86" fmla="*/ 2147483647 w 900"/>
              <a:gd name="T87" fmla="*/ 2147483647 h 446"/>
              <a:gd name="T88" fmla="*/ 2147483647 w 900"/>
              <a:gd name="T89" fmla="*/ 2147483647 h 446"/>
              <a:gd name="T90" fmla="*/ 2147483647 w 900"/>
              <a:gd name="T91" fmla="*/ 2147483647 h 446"/>
              <a:gd name="T92" fmla="*/ 2147483647 w 900"/>
              <a:gd name="T93" fmla="*/ 2147483647 h 446"/>
              <a:gd name="T94" fmla="*/ 2147483647 w 900"/>
              <a:gd name="T95" fmla="*/ 2147483647 h 446"/>
              <a:gd name="T96" fmla="*/ 2147483647 w 900"/>
              <a:gd name="T97" fmla="*/ 2147483647 h 446"/>
              <a:gd name="T98" fmla="*/ 2147483647 w 900"/>
              <a:gd name="T99" fmla="*/ 2147483647 h 446"/>
              <a:gd name="T100" fmla="*/ 2147483647 w 900"/>
              <a:gd name="T101" fmla="*/ 2147483647 h 446"/>
              <a:gd name="T102" fmla="*/ 2147483647 w 900"/>
              <a:gd name="T103" fmla="*/ 2147483647 h 446"/>
              <a:gd name="T104" fmla="*/ 2147483647 w 900"/>
              <a:gd name="T105" fmla="*/ 2147483647 h 446"/>
              <a:gd name="T106" fmla="*/ 2147483647 w 900"/>
              <a:gd name="T107" fmla="*/ 2147483647 h 446"/>
              <a:gd name="T108" fmla="*/ 2147483647 w 900"/>
              <a:gd name="T109" fmla="*/ 2147483647 h 446"/>
              <a:gd name="T110" fmla="*/ 2147483647 w 900"/>
              <a:gd name="T111" fmla="*/ 2147483647 h 446"/>
              <a:gd name="T112" fmla="*/ 2147483647 w 900"/>
              <a:gd name="T113" fmla="*/ 2147483647 h 446"/>
              <a:gd name="T114" fmla="*/ 2147483647 w 900"/>
              <a:gd name="T115" fmla="*/ 2147483647 h 446"/>
              <a:gd name="T116" fmla="*/ 2147483647 w 900"/>
              <a:gd name="T117" fmla="*/ 2147483647 h 446"/>
              <a:gd name="T118" fmla="*/ 2147483647 w 900"/>
              <a:gd name="T119" fmla="*/ 2147483647 h 44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900"/>
              <a:gd name="T181" fmla="*/ 0 h 446"/>
              <a:gd name="T182" fmla="*/ 900 w 900"/>
              <a:gd name="T183" fmla="*/ 446 h 44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900" h="446">
                <a:moveTo>
                  <a:pt x="0" y="446"/>
                </a:moveTo>
                <a:lnTo>
                  <a:pt x="5" y="444"/>
                </a:lnTo>
                <a:lnTo>
                  <a:pt x="10" y="442"/>
                </a:lnTo>
                <a:lnTo>
                  <a:pt x="15" y="439"/>
                </a:lnTo>
                <a:lnTo>
                  <a:pt x="20" y="437"/>
                </a:lnTo>
                <a:lnTo>
                  <a:pt x="25" y="434"/>
                </a:lnTo>
                <a:lnTo>
                  <a:pt x="30" y="431"/>
                </a:lnTo>
                <a:lnTo>
                  <a:pt x="35" y="428"/>
                </a:lnTo>
                <a:lnTo>
                  <a:pt x="40" y="425"/>
                </a:lnTo>
                <a:lnTo>
                  <a:pt x="45" y="422"/>
                </a:lnTo>
                <a:lnTo>
                  <a:pt x="50" y="419"/>
                </a:lnTo>
                <a:lnTo>
                  <a:pt x="55" y="415"/>
                </a:lnTo>
                <a:lnTo>
                  <a:pt x="60" y="412"/>
                </a:lnTo>
                <a:lnTo>
                  <a:pt x="65" y="408"/>
                </a:lnTo>
                <a:lnTo>
                  <a:pt x="70" y="404"/>
                </a:lnTo>
                <a:lnTo>
                  <a:pt x="75" y="400"/>
                </a:lnTo>
                <a:lnTo>
                  <a:pt x="80" y="396"/>
                </a:lnTo>
                <a:lnTo>
                  <a:pt x="85" y="392"/>
                </a:lnTo>
                <a:lnTo>
                  <a:pt x="90" y="388"/>
                </a:lnTo>
                <a:lnTo>
                  <a:pt x="95" y="384"/>
                </a:lnTo>
                <a:lnTo>
                  <a:pt x="100" y="379"/>
                </a:lnTo>
                <a:lnTo>
                  <a:pt x="105" y="374"/>
                </a:lnTo>
                <a:lnTo>
                  <a:pt x="110" y="369"/>
                </a:lnTo>
                <a:lnTo>
                  <a:pt x="115" y="365"/>
                </a:lnTo>
                <a:lnTo>
                  <a:pt x="120" y="359"/>
                </a:lnTo>
                <a:lnTo>
                  <a:pt x="125" y="354"/>
                </a:lnTo>
                <a:lnTo>
                  <a:pt x="130" y="349"/>
                </a:lnTo>
                <a:lnTo>
                  <a:pt x="135" y="343"/>
                </a:lnTo>
                <a:lnTo>
                  <a:pt x="140" y="338"/>
                </a:lnTo>
                <a:lnTo>
                  <a:pt x="145" y="332"/>
                </a:lnTo>
                <a:lnTo>
                  <a:pt x="150" y="326"/>
                </a:lnTo>
                <a:lnTo>
                  <a:pt x="155" y="320"/>
                </a:lnTo>
                <a:lnTo>
                  <a:pt x="160" y="314"/>
                </a:lnTo>
                <a:lnTo>
                  <a:pt x="165" y="308"/>
                </a:lnTo>
                <a:lnTo>
                  <a:pt x="170" y="302"/>
                </a:lnTo>
                <a:lnTo>
                  <a:pt x="175" y="295"/>
                </a:lnTo>
                <a:lnTo>
                  <a:pt x="180" y="289"/>
                </a:lnTo>
                <a:lnTo>
                  <a:pt x="185" y="282"/>
                </a:lnTo>
                <a:lnTo>
                  <a:pt x="190" y="275"/>
                </a:lnTo>
                <a:lnTo>
                  <a:pt x="195" y="269"/>
                </a:lnTo>
                <a:lnTo>
                  <a:pt x="200" y="262"/>
                </a:lnTo>
                <a:lnTo>
                  <a:pt x="205" y="255"/>
                </a:lnTo>
                <a:lnTo>
                  <a:pt x="210" y="248"/>
                </a:lnTo>
                <a:lnTo>
                  <a:pt x="215" y="241"/>
                </a:lnTo>
                <a:lnTo>
                  <a:pt x="220" y="234"/>
                </a:lnTo>
                <a:lnTo>
                  <a:pt x="225" y="226"/>
                </a:lnTo>
                <a:lnTo>
                  <a:pt x="230" y="219"/>
                </a:lnTo>
                <a:lnTo>
                  <a:pt x="235" y="212"/>
                </a:lnTo>
                <a:lnTo>
                  <a:pt x="240" y="205"/>
                </a:lnTo>
                <a:lnTo>
                  <a:pt x="245" y="197"/>
                </a:lnTo>
                <a:lnTo>
                  <a:pt x="250" y="190"/>
                </a:lnTo>
                <a:lnTo>
                  <a:pt x="255" y="183"/>
                </a:lnTo>
                <a:lnTo>
                  <a:pt x="260" y="176"/>
                </a:lnTo>
                <a:lnTo>
                  <a:pt x="265" y="168"/>
                </a:lnTo>
                <a:lnTo>
                  <a:pt x="270" y="161"/>
                </a:lnTo>
                <a:lnTo>
                  <a:pt x="275" y="154"/>
                </a:lnTo>
                <a:lnTo>
                  <a:pt x="280" y="147"/>
                </a:lnTo>
                <a:lnTo>
                  <a:pt x="285" y="140"/>
                </a:lnTo>
                <a:lnTo>
                  <a:pt x="290" y="133"/>
                </a:lnTo>
                <a:lnTo>
                  <a:pt x="295" y="126"/>
                </a:lnTo>
                <a:lnTo>
                  <a:pt x="300" y="119"/>
                </a:lnTo>
                <a:lnTo>
                  <a:pt x="305" y="112"/>
                </a:lnTo>
                <a:lnTo>
                  <a:pt x="310" y="105"/>
                </a:lnTo>
                <a:lnTo>
                  <a:pt x="315" y="99"/>
                </a:lnTo>
                <a:lnTo>
                  <a:pt x="320" y="92"/>
                </a:lnTo>
                <a:lnTo>
                  <a:pt x="325" y="86"/>
                </a:lnTo>
                <a:lnTo>
                  <a:pt x="330" y="80"/>
                </a:lnTo>
                <a:lnTo>
                  <a:pt x="335" y="74"/>
                </a:lnTo>
                <a:lnTo>
                  <a:pt x="340" y="68"/>
                </a:lnTo>
                <a:lnTo>
                  <a:pt x="345" y="63"/>
                </a:lnTo>
                <a:lnTo>
                  <a:pt x="350" y="57"/>
                </a:lnTo>
                <a:lnTo>
                  <a:pt x="355" y="52"/>
                </a:lnTo>
                <a:lnTo>
                  <a:pt x="360" y="47"/>
                </a:lnTo>
                <a:lnTo>
                  <a:pt x="365" y="42"/>
                </a:lnTo>
                <a:lnTo>
                  <a:pt x="370" y="38"/>
                </a:lnTo>
                <a:lnTo>
                  <a:pt x="375" y="33"/>
                </a:lnTo>
                <a:lnTo>
                  <a:pt x="380" y="29"/>
                </a:lnTo>
                <a:lnTo>
                  <a:pt x="385" y="25"/>
                </a:lnTo>
                <a:lnTo>
                  <a:pt x="390" y="22"/>
                </a:lnTo>
                <a:lnTo>
                  <a:pt x="395" y="18"/>
                </a:lnTo>
                <a:lnTo>
                  <a:pt x="400" y="15"/>
                </a:lnTo>
                <a:lnTo>
                  <a:pt x="405" y="12"/>
                </a:lnTo>
                <a:lnTo>
                  <a:pt x="410" y="10"/>
                </a:lnTo>
                <a:lnTo>
                  <a:pt x="415" y="8"/>
                </a:lnTo>
                <a:lnTo>
                  <a:pt x="420" y="6"/>
                </a:lnTo>
                <a:lnTo>
                  <a:pt x="425" y="4"/>
                </a:lnTo>
                <a:lnTo>
                  <a:pt x="430" y="2"/>
                </a:lnTo>
                <a:lnTo>
                  <a:pt x="435" y="1"/>
                </a:lnTo>
                <a:lnTo>
                  <a:pt x="440" y="0"/>
                </a:lnTo>
                <a:lnTo>
                  <a:pt x="445" y="0"/>
                </a:lnTo>
                <a:lnTo>
                  <a:pt x="450" y="0"/>
                </a:lnTo>
                <a:lnTo>
                  <a:pt x="455" y="0"/>
                </a:lnTo>
                <a:lnTo>
                  <a:pt x="460" y="0"/>
                </a:lnTo>
                <a:lnTo>
                  <a:pt x="465" y="1"/>
                </a:lnTo>
                <a:lnTo>
                  <a:pt x="470" y="2"/>
                </a:lnTo>
                <a:lnTo>
                  <a:pt x="475" y="3"/>
                </a:lnTo>
                <a:lnTo>
                  <a:pt x="480" y="4"/>
                </a:lnTo>
                <a:lnTo>
                  <a:pt x="485" y="6"/>
                </a:lnTo>
                <a:lnTo>
                  <a:pt x="490" y="8"/>
                </a:lnTo>
                <a:lnTo>
                  <a:pt x="495" y="11"/>
                </a:lnTo>
                <a:lnTo>
                  <a:pt x="500" y="13"/>
                </a:lnTo>
                <a:lnTo>
                  <a:pt x="505" y="16"/>
                </a:lnTo>
                <a:lnTo>
                  <a:pt x="510" y="19"/>
                </a:lnTo>
                <a:lnTo>
                  <a:pt x="515" y="23"/>
                </a:lnTo>
                <a:lnTo>
                  <a:pt x="520" y="27"/>
                </a:lnTo>
                <a:lnTo>
                  <a:pt x="525" y="31"/>
                </a:lnTo>
                <a:lnTo>
                  <a:pt x="530" y="35"/>
                </a:lnTo>
                <a:lnTo>
                  <a:pt x="535" y="39"/>
                </a:lnTo>
                <a:lnTo>
                  <a:pt x="540" y="44"/>
                </a:lnTo>
                <a:lnTo>
                  <a:pt x="545" y="49"/>
                </a:lnTo>
                <a:lnTo>
                  <a:pt x="550" y="54"/>
                </a:lnTo>
                <a:lnTo>
                  <a:pt x="555" y="59"/>
                </a:lnTo>
                <a:lnTo>
                  <a:pt x="560" y="65"/>
                </a:lnTo>
                <a:lnTo>
                  <a:pt x="565" y="70"/>
                </a:lnTo>
                <a:lnTo>
                  <a:pt x="570" y="76"/>
                </a:lnTo>
                <a:lnTo>
                  <a:pt x="575" y="82"/>
                </a:lnTo>
                <a:lnTo>
                  <a:pt x="580" y="88"/>
                </a:lnTo>
                <a:lnTo>
                  <a:pt x="585" y="94"/>
                </a:lnTo>
                <a:lnTo>
                  <a:pt x="590" y="101"/>
                </a:lnTo>
                <a:lnTo>
                  <a:pt x="595" y="107"/>
                </a:lnTo>
                <a:lnTo>
                  <a:pt x="600" y="114"/>
                </a:lnTo>
                <a:lnTo>
                  <a:pt x="605" y="121"/>
                </a:lnTo>
                <a:lnTo>
                  <a:pt x="610" y="128"/>
                </a:lnTo>
                <a:lnTo>
                  <a:pt x="615" y="135"/>
                </a:lnTo>
                <a:lnTo>
                  <a:pt x="620" y="142"/>
                </a:lnTo>
                <a:lnTo>
                  <a:pt x="625" y="149"/>
                </a:lnTo>
                <a:lnTo>
                  <a:pt x="630" y="156"/>
                </a:lnTo>
                <a:lnTo>
                  <a:pt x="635" y="163"/>
                </a:lnTo>
                <a:lnTo>
                  <a:pt x="640" y="171"/>
                </a:lnTo>
                <a:lnTo>
                  <a:pt x="645" y="178"/>
                </a:lnTo>
                <a:lnTo>
                  <a:pt x="650" y="185"/>
                </a:lnTo>
                <a:lnTo>
                  <a:pt x="655" y="192"/>
                </a:lnTo>
                <a:lnTo>
                  <a:pt x="660" y="200"/>
                </a:lnTo>
                <a:lnTo>
                  <a:pt x="665" y="207"/>
                </a:lnTo>
                <a:lnTo>
                  <a:pt x="670" y="214"/>
                </a:lnTo>
                <a:lnTo>
                  <a:pt x="675" y="221"/>
                </a:lnTo>
                <a:lnTo>
                  <a:pt x="680" y="229"/>
                </a:lnTo>
                <a:lnTo>
                  <a:pt x="685" y="236"/>
                </a:lnTo>
                <a:lnTo>
                  <a:pt x="690" y="243"/>
                </a:lnTo>
                <a:lnTo>
                  <a:pt x="695" y="250"/>
                </a:lnTo>
                <a:lnTo>
                  <a:pt x="700" y="257"/>
                </a:lnTo>
                <a:lnTo>
                  <a:pt x="705" y="264"/>
                </a:lnTo>
                <a:lnTo>
                  <a:pt x="710" y="271"/>
                </a:lnTo>
                <a:lnTo>
                  <a:pt x="715" y="278"/>
                </a:lnTo>
                <a:lnTo>
                  <a:pt x="720" y="284"/>
                </a:lnTo>
                <a:lnTo>
                  <a:pt x="725" y="291"/>
                </a:lnTo>
                <a:lnTo>
                  <a:pt x="730" y="297"/>
                </a:lnTo>
                <a:lnTo>
                  <a:pt x="735" y="304"/>
                </a:lnTo>
                <a:lnTo>
                  <a:pt x="740" y="310"/>
                </a:lnTo>
                <a:lnTo>
                  <a:pt x="745" y="316"/>
                </a:lnTo>
                <a:lnTo>
                  <a:pt x="750" y="322"/>
                </a:lnTo>
                <a:lnTo>
                  <a:pt x="755" y="328"/>
                </a:lnTo>
                <a:lnTo>
                  <a:pt x="760" y="334"/>
                </a:lnTo>
                <a:lnTo>
                  <a:pt x="765" y="340"/>
                </a:lnTo>
                <a:lnTo>
                  <a:pt x="770" y="345"/>
                </a:lnTo>
                <a:lnTo>
                  <a:pt x="775" y="351"/>
                </a:lnTo>
                <a:lnTo>
                  <a:pt x="780" y="356"/>
                </a:lnTo>
                <a:lnTo>
                  <a:pt x="785" y="361"/>
                </a:lnTo>
                <a:lnTo>
                  <a:pt x="790" y="366"/>
                </a:lnTo>
                <a:lnTo>
                  <a:pt x="795" y="371"/>
                </a:lnTo>
                <a:lnTo>
                  <a:pt x="800" y="376"/>
                </a:lnTo>
                <a:lnTo>
                  <a:pt x="805" y="380"/>
                </a:lnTo>
                <a:lnTo>
                  <a:pt x="810" y="385"/>
                </a:lnTo>
                <a:lnTo>
                  <a:pt x="815" y="389"/>
                </a:lnTo>
                <a:lnTo>
                  <a:pt x="820" y="394"/>
                </a:lnTo>
                <a:lnTo>
                  <a:pt x="825" y="398"/>
                </a:lnTo>
                <a:lnTo>
                  <a:pt x="830" y="402"/>
                </a:lnTo>
                <a:lnTo>
                  <a:pt x="835" y="406"/>
                </a:lnTo>
                <a:lnTo>
                  <a:pt x="840" y="409"/>
                </a:lnTo>
                <a:lnTo>
                  <a:pt x="845" y="413"/>
                </a:lnTo>
                <a:lnTo>
                  <a:pt x="850" y="416"/>
                </a:lnTo>
                <a:lnTo>
                  <a:pt x="855" y="420"/>
                </a:lnTo>
                <a:lnTo>
                  <a:pt x="860" y="423"/>
                </a:lnTo>
                <a:lnTo>
                  <a:pt x="865" y="426"/>
                </a:lnTo>
                <a:lnTo>
                  <a:pt x="870" y="429"/>
                </a:lnTo>
                <a:lnTo>
                  <a:pt x="875" y="432"/>
                </a:lnTo>
                <a:lnTo>
                  <a:pt x="880" y="435"/>
                </a:lnTo>
                <a:lnTo>
                  <a:pt x="885" y="437"/>
                </a:lnTo>
                <a:lnTo>
                  <a:pt x="890" y="440"/>
                </a:lnTo>
                <a:lnTo>
                  <a:pt x="895" y="443"/>
                </a:lnTo>
                <a:lnTo>
                  <a:pt x="900" y="445"/>
                </a:lnTo>
              </a:path>
            </a:pathLst>
          </a:custGeom>
          <a:noFill/>
          <a:ln w="57150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flipV="1">
            <a:off x="5410200" y="3657600"/>
            <a:ext cx="0" cy="2362200"/>
          </a:xfrm>
          <a:prstGeom prst="line">
            <a:avLst/>
          </a:prstGeom>
          <a:noFill/>
          <a:ln w="57150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152400" y="1511300"/>
            <a:ext cx="8915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9pPr>
          </a:lstStyle>
          <a:p>
            <a:r>
              <a:rPr lang="en-GB" altLang="zh-TW" sz="2400" dirty="0">
                <a:latin typeface="Calibri"/>
                <a:cs typeface="Calibri"/>
              </a:rPr>
              <a:t>We start by assuming that our sample came from the original population</a:t>
            </a:r>
          </a:p>
          <a:p>
            <a:r>
              <a:rPr lang="en-GB" altLang="zh-TW" sz="2400" dirty="0">
                <a:latin typeface="Calibri"/>
                <a:cs typeface="Calibri"/>
              </a:rPr>
              <a:t>Our </a:t>
            </a:r>
            <a:r>
              <a:rPr lang="en-GB" altLang="zh-TW" sz="2400" i="1" dirty="0">
                <a:latin typeface="Calibri"/>
                <a:cs typeface="Calibri"/>
              </a:rPr>
              <a:t>null hypothesis</a:t>
            </a:r>
            <a:r>
              <a:rPr lang="en-GB" altLang="zh-TW" sz="2400" dirty="0">
                <a:latin typeface="Calibri"/>
                <a:cs typeface="Calibri"/>
              </a:rPr>
              <a:t> (to be tested) is that IQ=107.5 is not significantly different from IQ=</a:t>
            </a:r>
            <a:r>
              <a:rPr lang="en-GB" altLang="zh-TW" sz="2400" dirty="0" smtClean="0">
                <a:latin typeface="Calibri"/>
                <a:cs typeface="Calibri"/>
              </a:rPr>
              <a:t>100</a:t>
            </a:r>
            <a:r>
              <a:rPr lang="zh-TW" altLang="zh-TW" sz="2400" dirty="0">
                <a:latin typeface="Calibri"/>
                <a:cs typeface="Calibri"/>
              </a:rPr>
              <a:t> </a:t>
            </a:r>
            <a:r>
              <a:rPr lang="en-US" altLang="zh-TW" sz="2400" dirty="0" smtClean="0">
                <a:latin typeface="Calibri"/>
                <a:cs typeface="Calibri"/>
              </a:rPr>
              <a:t>-&gt;you</a:t>
            </a:r>
            <a:r>
              <a:rPr lang="zh-TW" altLang="en-US" sz="2400" dirty="0" smtClean="0">
                <a:latin typeface="Calibri"/>
                <a:cs typeface="Calibri"/>
              </a:rPr>
              <a:t> </a:t>
            </a:r>
            <a:r>
              <a:rPr lang="en-US" altLang="zh-TW" sz="2400" dirty="0" smtClean="0">
                <a:latin typeface="Calibri"/>
                <a:cs typeface="Calibri"/>
              </a:rPr>
              <a:t>can</a:t>
            </a:r>
            <a:r>
              <a:rPr lang="zh-TW" altLang="en-US" sz="2400" dirty="0" smtClean="0">
                <a:latin typeface="Calibri"/>
                <a:cs typeface="Calibri"/>
              </a:rPr>
              <a:t> </a:t>
            </a:r>
            <a:r>
              <a:rPr lang="en-US" altLang="zh-TW" sz="2400" dirty="0" smtClean="0">
                <a:latin typeface="Calibri"/>
                <a:cs typeface="Calibri"/>
              </a:rPr>
              <a:t>use</a:t>
            </a:r>
            <a:r>
              <a:rPr lang="zh-TW" altLang="en-US" sz="2400" dirty="0" smtClean="0">
                <a:latin typeface="Calibri"/>
                <a:cs typeface="Calibri"/>
              </a:rPr>
              <a:t> </a:t>
            </a:r>
            <a:r>
              <a:rPr lang="en-US" altLang="zh-TW" sz="2400" dirty="0" smtClean="0">
                <a:latin typeface="Calibri"/>
                <a:cs typeface="Calibri"/>
              </a:rPr>
              <a:t>t-test</a:t>
            </a:r>
            <a:r>
              <a:rPr lang="zh-TW" altLang="en-US" sz="2400" dirty="0" smtClean="0">
                <a:latin typeface="Calibri"/>
                <a:cs typeface="Calibri"/>
              </a:rPr>
              <a:t> </a:t>
            </a:r>
            <a:r>
              <a:rPr lang="en-US" altLang="zh-TW" sz="2400" dirty="0" smtClean="0">
                <a:latin typeface="Calibri"/>
                <a:cs typeface="Calibri"/>
              </a:rPr>
              <a:t>as</a:t>
            </a:r>
            <a:r>
              <a:rPr lang="zh-TW" altLang="en-US" sz="2400" dirty="0" smtClean="0">
                <a:latin typeface="Calibri"/>
                <a:cs typeface="Calibri"/>
              </a:rPr>
              <a:t> </a:t>
            </a:r>
            <a:r>
              <a:rPr lang="en-US" altLang="zh-TW" sz="2400" dirty="0" smtClean="0">
                <a:latin typeface="Calibri"/>
                <a:cs typeface="Calibri"/>
              </a:rPr>
              <a:t>well</a:t>
            </a:r>
            <a:endParaRPr lang="en-GB" altLang="zh-TW" sz="2400" dirty="0">
              <a:latin typeface="Calibri"/>
              <a:cs typeface="Calibri"/>
            </a:endParaRPr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2654300" y="6019800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9pPr>
          </a:lstStyle>
          <a:p>
            <a:r>
              <a:rPr lang="en-GB" altLang="zh-TW" sz="1800"/>
              <a:t>100</a:t>
            </a: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auto">
          <a:xfrm>
            <a:off x="4114800" y="6019800"/>
            <a:ext cx="8397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9pPr>
          </a:lstStyle>
          <a:p>
            <a:r>
              <a:rPr lang="en-GB" altLang="zh-TW" sz="1800"/>
              <a:t>107.5</a:t>
            </a:r>
          </a:p>
        </p:txBody>
      </p:sp>
      <p:sp>
        <p:nvSpPr>
          <p:cNvPr id="44043" name="Text Box 11"/>
          <p:cNvSpPr txBox="1">
            <a:spLocks noChangeArrowheads="1"/>
          </p:cNvSpPr>
          <p:nvPr/>
        </p:nvSpPr>
        <p:spPr bwMode="auto">
          <a:xfrm>
            <a:off x="5105400" y="6019800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9pPr>
          </a:lstStyle>
          <a:p>
            <a:r>
              <a:rPr lang="en-GB" altLang="zh-TW" sz="1800"/>
              <a:t>110</a:t>
            </a:r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 flipV="1">
            <a:off x="4495800" y="3429000"/>
            <a:ext cx="0" cy="2590800"/>
          </a:xfrm>
          <a:prstGeom prst="line">
            <a:avLst/>
          </a:prstGeom>
          <a:noFill/>
          <a:ln w="57150">
            <a:solidFill>
              <a:srgbClr val="00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463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926FEA16-38C2-1843-BA8D-36562DB1843D}" type="slidenum">
              <a:rPr lang="en-CA" altLang="zh-TW" sz="2600">
                <a:latin typeface="Arial" charset="0"/>
              </a:rPr>
              <a:pPr eaLnBrk="1" hangingPunct="1"/>
              <a:t>20</a:t>
            </a:fld>
            <a:endParaRPr lang="en-CA" altLang="zh-TW" sz="2600">
              <a:latin typeface="Arial" charset="0"/>
            </a:endParaRPr>
          </a:p>
        </p:txBody>
      </p:sp>
      <p:sp>
        <p:nvSpPr>
          <p:cNvPr id="58370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>
                <a:latin typeface="Arial" charset="0"/>
              </a:rPr>
              <a:t>Analysis of Variance (Anova)</a:t>
            </a:r>
          </a:p>
        </p:txBody>
      </p:sp>
      <p:sp>
        <p:nvSpPr>
          <p:cNvPr id="58371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Arial" charset="0"/>
              </a:rPr>
              <a:t>A Workhorse  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Arial" charset="0"/>
              </a:rPr>
              <a:t>allows moderately complex experimental designs and statistics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Arial" charset="0"/>
              </a:rPr>
              <a:t>Terminology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Arial" charset="0"/>
              </a:rPr>
              <a:t>Factor</a:t>
            </a:r>
          </a:p>
          <a:p>
            <a:pPr lvl="2" eaLnBrk="1" hangingPunct="1">
              <a:lnSpc>
                <a:spcPct val="90000"/>
              </a:lnSpc>
            </a:pPr>
            <a:r>
              <a:rPr lang="en-US">
                <a:latin typeface="Arial" charset="0"/>
              </a:rPr>
              <a:t>independent variable </a:t>
            </a:r>
          </a:p>
          <a:p>
            <a:pPr lvl="2" eaLnBrk="1" hangingPunct="1">
              <a:lnSpc>
                <a:spcPct val="90000"/>
              </a:lnSpc>
            </a:pPr>
            <a:r>
              <a:rPr lang="en-US">
                <a:latin typeface="Arial" charset="0"/>
              </a:rPr>
              <a:t>ie Keyboard, Toothpaste, Age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endParaRPr lang="en-US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Arial" charset="0"/>
              </a:rPr>
              <a:t>Factor level</a:t>
            </a:r>
          </a:p>
          <a:p>
            <a:pPr lvl="2" eaLnBrk="1" hangingPunct="1">
              <a:lnSpc>
                <a:spcPct val="90000"/>
              </a:lnSpc>
            </a:pPr>
            <a:r>
              <a:rPr lang="en-US">
                <a:latin typeface="Arial" charset="0"/>
              </a:rPr>
              <a:t>specific value of independent variable</a:t>
            </a:r>
          </a:p>
          <a:p>
            <a:pPr lvl="2" eaLnBrk="1" hangingPunct="1">
              <a:lnSpc>
                <a:spcPct val="90000"/>
              </a:lnSpc>
            </a:pPr>
            <a:r>
              <a:rPr lang="en-US">
                <a:latin typeface="Arial" charset="0"/>
              </a:rPr>
              <a:t>ie Qwerty, Crest, 5-10 years old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>
                <a:latin typeface="Arial" charset="0"/>
              </a:rPr>
              <a:t>	</a:t>
            </a:r>
          </a:p>
        </p:txBody>
      </p:sp>
      <p:grpSp>
        <p:nvGrpSpPr>
          <p:cNvPr id="58372" name="Group 1040"/>
          <p:cNvGrpSpPr>
            <a:grpSpLocks/>
          </p:cNvGrpSpPr>
          <p:nvPr/>
        </p:nvGrpSpPr>
        <p:grpSpPr bwMode="auto">
          <a:xfrm>
            <a:off x="4051300" y="2819400"/>
            <a:ext cx="4864100" cy="1625600"/>
            <a:chOff x="1890" y="1466"/>
            <a:chExt cx="3064" cy="1024"/>
          </a:xfrm>
        </p:grpSpPr>
        <p:sp>
          <p:nvSpPr>
            <p:cNvPr id="58373" name="Rectangle 1028"/>
            <p:cNvSpPr>
              <a:spLocks noChangeArrowheads="1"/>
            </p:cNvSpPr>
            <p:nvPr/>
          </p:nvSpPr>
          <p:spPr bwMode="auto">
            <a:xfrm>
              <a:off x="3620" y="1466"/>
              <a:ext cx="5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Keyboard</a:t>
              </a:r>
            </a:p>
          </p:txBody>
        </p:sp>
        <p:sp>
          <p:nvSpPr>
            <p:cNvPr id="58374" name="Rectangle 1029"/>
            <p:cNvSpPr>
              <a:spLocks noChangeArrowheads="1"/>
            </p:cNvSpPr>
            <p:nvPr/>
          </p:nvSpPr>
          <p:spPr bwMode="auto">
            <a:xfrm>
              <a:off x="2984" y="1712"/>
              <a:ext cx="47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Qwerty</a:t>
              </a:r>
            </a:p>
          </p:txBody>
        </p:sp>
        <p:sp>
          <p:nvSpPr>
            <p:cNvPr id="58375" name="Rectangle 1030"/>
            <p:cNvSpPr>
              <a:spLocks noChangeArrowheads="1"/>
            </p:cNvSpPr>
            <p:nvPr/>
          </p:nvSpPr>
          <p:spPr bwMode="auto">
            <a:xfrm>
              <a:off x="3626" y="1718"/>
              <a:ext cx="47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Dvorak</a:t>
              </a:r>
            </a:p>
          </p:txBody>
        </p:sp>
        <p:sp>
          <p:nvSpPr>
            <p:cNvPr id="58376" name="Rectangle 1031"/>
            <p:cNvSpPr>
              <a:spLocks noChangeArrowheads="1"/>
            </p:cNvSpPr>
            <p:nvPr/>
          </p:nvSpPr>
          <p:spPr bwMode="auto">
            <a:xfrm>
              <a:off x="4286" y="1730"/>
              <a:ext cx="6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Alphabetic</a:t>
              </a:r>
            </a:p>
          </p:txBody>
        </p:sp>
        <p:grpSp>
          <p:nvGrpSpPr>
            <p:cNvPr id="58377" name="Group 1032"/>
            <p:cNvGrpSpPr>
              <a:grpSpLocks/>
            </p:cNvGrpSpPr>
            <p:nvPr/>
          </p:nvGrpSpPr>
          <p:grpSpPr bwMode="auto">
            <a:xfrm>
              <a:off x="2900" y="1680"/>
              <a:ext cx="2054" cy="600"/>
              <a:chOff x="2900" y="1680"/>
              <a:chExt cx="2054" cy="600"/>
            </a:xfrm>
          </p:grpSpPr>
          <p:sp>
            <p:nvSpPr>
              <p:cNvPr id="58382" name="Rectangle 1033"/>
              <p:cNvSpPr>
                <a:spLocks noChangeArrowheads="1"/>
              </p:cNvSpPr>
              <p:nvPr/>
            </p:nvSpPr>
            <p:spPr bwMode="auto">
              <a:xfrm>
                <a:off x="2900" y="1688"/>
                <a:ext cx="2054" cy="57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3" name="Line 1034"/>
              <p:cNvSpPr>
                <a:spLocks noChangeShapeType="1"/>
              </p:cNvSpPr>
              <p:nvPr/>
            </p:nvSpPr>
            <p:spPr bwMode="auto">
              <a:xfrm>
                <a:off x="3468" y="1680"/>
                <a:ext cx="0" cy="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8384" name="Line 1035"/>
              <p:cNvSpPr>
                <a:spLocks noChangeShapeType="1"/>
              </p:cNvSpPr>
              <p:nvPr/>
            </p:nvSpPr>
            <p:spPr bwMode="auto">
              <a:xfrm>
                <a:off x="4230" y="1692"/>
                <a:ext cx="0" cy="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58378" name="Line 1036"/>
            <p:cNvSpPr>
              <a:spLocks noChangeShapeType="1"/>
            </p:cNvSpPr>
            <p:nvPr/>
          </p:nvSpPr>
          <p:spPr bwMode="auto">
            <a:xfrm flipV="1">
              <a:off x="1890" y="1560"/>
              <a:ext cx="1650" cy="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8379" name="Line 1037"/>
            <p:cNvSpPr>
              <a:spLocks noChangeShapeType="1"/>
            </p:cNvSpPr>
            <p:nvPr/>
          </p:nvSpPr>
          <p:spPr bwMode="auto">
            <a:xfrm flipV="1">
              <a:off x="2676" y="1872"/>
              <a:ext cx="39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8380" name="Line 1038"/>
            <p:cNvSpPr>
              <a:spLocks noChangeShapeType="1"/>
            </p:cNvSpPr>
            <p:nvPr/>
          </p:nvSpPr>
          <p:spPr bwMode="auto">
            <a:xfrm flipV="1">
              <a:off x="2742" y="1890"/>
              <a:ext cx="948" cy="5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8381" name="Line 1039"/>
            <p:cNvSpPr>
              <a:spLocks noChangeShapeType="1"/>
            </p:cNvSpPr>
            <p:nvPr/>
          </p:nvSpPr>
          <p:spPr bwMode="auto">
            <a:xfrm flipV="1">
              <a:off x="2736" y="1884"/>
              <a:ext cx="1668" cy="6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38492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>
                <a:latin typeface="Arial" charset="0"/>
              </a:rPr>
              <a:t>Anova terminology</a:t>
            </a:r>
          </a:p>
        </p:txBody>
      </p:sp>
      <p:sp>
        <p:nvSpPr>
          <p:cNvPr id="6041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marL="285750" lvl="1" indent="-171450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Between subjects</a:t>
            </a:r>
          </a:p>
          <a:p>
            <a:pPr marL="571500" lvl="2" indent="-171450" eaLnBrk="1" hangingPunct="1">
              <a:lnSpc>
                <a:spcPct val="90000"/>
              </a:lnSpc>
            </a:pPr>
            <a:r>
              <a:rPr lang="en-US" sz="1800">
                <a:latin typeface="Arial" charset="0"/>
              </a:rPr>
              <a:t>a subject is assigned to only one factor level of treatment</a:t>
            </a:r>
          </a:p>
          <a:p>
            <a:pPr marL="571500" lvl="2" indent="-171450" eaLnBrk="1" hangingPunct="1">
              <a:lnSpc>
                <a:spcPct val="90000"/>
              </a:lnSpc>
            </a:pPr>
            <a:r>
              <a:rPr lang="en-US" sz="1800">
                <a:latin typeface="Arial" charset="0"/>
              </a:rPr>
              <a:t>problem: greater variability, requires more subjects</a:t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endParaRPr lang="en-US" sz="1800">
              <a:latin typeface="Arial" charset="0"/>
            </a:endParaRPr>
          </a:p>
          <a:p>
            <a:pPr marL="285750" lvl="1" indent="-171450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Within subjects</a:t>
            </a:r>
          </a:p>
          <a:p>
            <a:pPr marL="571500" lvl="2" indent="-171450" eaLnBrk="1" hangingPunct="1">
              <a:lnSpc>
                <a:spcPct val="90000"/>
              </a:lnSpc>
            </a:pPr>
            <a:r>
              <a:rPr lang="en-US" sz="1800">
                <a:latin typeface="Arial" charset="0"/>
              </a:rPr>
              <a:t>subjects assigned to all factor levels of a treatment</a:t>
            </a:r>
          </a:p>
          <a:p>
            <a:pPr marL="571500" lvl="2" indent="-171450" eaLnBrk="1" hangingPunct="1">
              <a:lnSpc>
                <a:spcPct val="90000"/>
              </a:lnSpc>
            </a:pPr>
            <a:r>
              <a:rPr lang="en-US" sz="1800">
                <a:latin typeface="Arial" charset="0"/>
              </a:rPr>
              <a:t>requires fewer subjects</a:t>
            </a:r>
          </a:p>
          <a:p>
            <a:pPr marL="571500" lvl="2" indent="-171450" eaLnBrk="1" hangingPunct="1">
              <a:lnSpc>
                <a:spcPct val="90000"/>
              </a:lnSpc>
            </a:pPr>
            <a:r>
              <a:rPr lang="en-US" sz="1800">
                <a:latin typeface="Arial" charset="0"/>
              </a:rPr>
              <a:t>less variability as subject measures are paired</a:t>
            </a:r>
          </a:p>
          <a:p>
            <a:pPr marL="571500" lvl="2" indent="-171450" eaLnBrk="1" hangingPunct="1">
              <a:lnSpc>
                <a:spcPct val="90000"/>
              </a:lnSpc>
            </a:pPr>
            <a:r>
              <a:rPr lang="en-US" sz="1800">
                <a:latin typeface="Arial" charset="0"/>
              </a:rPr>
              <a:t>problem: order effects (eg learning)</a:t>
            </a:r>
          </a:p>
          <a:p>
            <a:pPr marL="571500" lvl="2" indent="-171450" eaLnBrk="1" hangingPunct="1">
              <a:lnSpc>
                <a:spcPct val="90000"/>
              </a:lnSpc>
            </a:pPr>
            <a:r>
              <a:rPr lang="en-US" sz="1800">
                <a:latin typeface="Arial" charset="0"/>
              </a:rPr>
              <a:t>partially solved by counter-balanced</a:t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>ordering</a:t>
            </a:r>
          </a:p>
        </p:txBody>
      </p:sp>
      <p:grpSp>
        <p:nvGrpSpPr>
          <p:cNvPr id="60420" name="Group 1028"/>
          <p:cNvGrpSpPr>
            <a:grpSpLocks/>
          </p:cNvGrpSpPr>
          <p:nvPr/>
        </p:nvGrpSpPr>
        <p:grpSpPr bwMode="auto">
          <a:xfrm>
            <a:off x="5562600" y="2041525"/>
            <a:ext cx="3384550" cy="4511675"/>
            <a:chOff x="3104" y="1082"/>
            <a:chExt cx="2132" cy="2842"/>
          </a:xfrm>
        </p:grpSpPr>
        <p:grpSp>
          <p:nvGrpSpPr>
            <p:cNvPr id="60421" name="Group 1029"/>
            <p:cNvGrpSpPr>
              <a:grpSpLocks/>
            </p:cNvGrpSpPr>
            <p:nvPr/>
          </p:nvGrpSpPr>
          <p:grpSpPr bwMode="auto">
            <a:xfrm>
              <a:off x="3182" y="3324"/>
              <a:ext cx="2054" cy="600"/>
              <a:chOff x="3182" y="3324"/>
              <a:chExt cx="2054" cy="600"/>
            </a:xfrm>
          </p:grpSpPr>
          <p:sp>
            <p:nvSpPr>
              <p:cNvPr id="60434" name="Rectangle 1030"/>
              <p:cNvSpPr>
                <a:spLocks noChangeArrowheads="1"/>
              </p:cNvSpPr>
              <p:nvPr/>
            </p:nvSpPr>
            <p:spPr bwMode="auto">
              <a:xfrm>
                <a:off x="3182" y="3332"/>
                <a:ext cx="2054" cy="57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35" name="Line 1031"/>
              <p:cNvSpPr>
                <a:spLocks noChangeShapeType="1"/>
              </p:cNvSpPr>
              <p:nvPr/>
            </p:nvSpPr>
            <p:spPr bwMode="auto">
              <a:xfrm>
                <a:off x="3750" y="3324"/>
                <a:ext cx="0" cy="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0436" name="Line 1032"/>
              <p:cNvSpPr>
                <a:spLocks noChangeShapeType="1"/>
              </p:cNvSpPr>
              <p:nvPr/>
            </p:nvSpPr>
            <p:spPr bwMode="auto">
              <a:xfrm>
                <a:off x="4512" y="3336"/>
                <a:ext cx="0" cy="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60422" name="Rectangle 1033"/>
            <p:cNvSpPr>
              <a:spLocks noChangeArrowheads="1"/>
            </p:cNvSpPr>
            <p:nvPr/>
          </p:nvSpPr>
          <p:spPr bwMode="auto">
            <a:xfrm>
              <a:off x="3104" y="1448"/>
              <a:ext cx="2054" cy="57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3" name="Rectangle 1034"/>
            <p:cNvSpPr>
              <a:spLocks noChangeArrowheads="1"/>
            </p:cNvSpPr>
            <p:nvPr/>
          </p:nvSpPr>
          <p:spPr bwMode="auto">
            <a:xfrm>
              <a:off x="3146" y="1292"/>
              <a:ext cx="470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Qwerty</a:t>
              </a:r>
            </a:p>
            <a:p>
              <a:pPr eaLnBrk="0" hangingPunct="0"/>
              <a:r>
                <a:rPr lang="en-US" sz="1400" i="1">
                  <a:latin typeface="Arial" charset="0"/>
                </a:rPr>
                <a:t/>
              </a:r>
              <a:br>
                <a:rPr lang="en-US" sz="1400" i="1">
                  <a:latin typeface="Arial" charset="0"/>
                </a:rPr>
              </a:br>
              <a:r>
                <a:rPr lang="en-US" sz="1400" i="1">
                  <a:latin typeface="Arial" charset="0"/>
                </a:rPr>
                <a:t>S1-20</a:t>
              </a:r>
            </a:p>
          </p:txBody>
        </p:sp>
        <p:sp>
          <p:nvSpPr>
            <p:cNvPr id="60424" name="Rectangle 1035"/>
            <p:cNvSpPr>
              <a:spLocks noChangeArrowheads="1"/>
            </p:cNvSpPr>
            <p:nvPr/>
          </p:nvSpPr>
          <p:spPr bwMode="auto">
            <a:xfrm>
              <a:off x="3830" y="1280"/>
              <a:ext cx="476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Dvorak</a:t>
              </a:r>
            </a:p>
            <a:p>
              <a:pPr eaLnBrk="0" hangingPunct="0"/>
              <a:r>
                <a:rPr lang="en-US" sz="1400" i="1">
                  <a:latin typeface="Arial" charset="0"/>
                </a:rPr>
                <a:t/>
              </a:r>
              <a:br>
                <a:rPr lang="en-US" sz="1400" i="1">
                  <a:latin typeface="Arial" charset="0"/>
                </a:rPr>
              </a:br>
              <a:r>
                <a:rPr lang="en-US" sz="1400" i="1">
                  <a:latin typeface="Arial" charset="0"/>
                </a:rPr>
                <a:t>S21-40</a:t>
              </a:r>
            </a:p>
          </p:txBody>
        </p:sp>
        <p:sp>
          <p:nvSpPr>
            <p:cNvPr id="60425" name="Rectangle 1036"/>
            <p:cNvSpPr>
              <a:spLocks noChangeArrowheads="1"/>
            </p:cNvSpPr>
            <p:nvPr/>
          </p:nvSpPr>
          <p:spPr bwMode="auto">
            <a:xfrm>
              <a:off x="4520" y="1274"/>
              <a:ext cx="638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Alphabetic</a:t>
              </a:r>
            </a:p>
            <a:p>
              <a:pPr eaLnBrk="0" hangingPunct="0"/>
              <a:r>
                <a:rPr lang="en-US" sz="1400" i="1">
                  <a:latin typeface="Arial" charset="0"/>
                </a:rPr>
                <a:t/>
              </a:r>
              <a:br>
                <a:rPr lang="en-US" sz="1400" i="1">
                  <a:latin typeface="Arial" charset="0"/>
                </a:rPr>
              </a:br>
              <a:r>
                <a:rPr lang="en-US" sz="1400" i="1">
                  <a:latin typeface="Arial" charset="0"/>
                </a:rPr>
                <a:t>S41-60</a:t>
              </a:r>
            </a:p>
          </p:txBody>
        </p:sp>
        <p:sp>
          <p:nvSpPr>
            <p:cNvPr id="60426" name="Line 1037"/>
            <p:cNvSpPr>
              <a:spLocks noChangeShapeType="1"/>
            </p:cNvSpPr>
            <p:nvPr/>
          </p:nvSpPr>
          <p:spPr bwMode="auto">
            <a:xfrm>
              <a:off x="3666" y="1422"/>
              <a:ext cx="0" cy="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0427" name="Line 1038"/>
            <p:cNvSpPr>
              <a:spLocks noChangeShapeType="1"/>
            </p:cNvSpPr>
            <p:nvPr/>
          </p:nvSpPr>
          <p:spPr bwMode="auto">
            <a:xfrm>
              <a:off x="4428" y="1434"/>
              <a:ext cx="0" cy="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0428" name="Rectangle 1039"/>
            <p:cNvSpPr>
              <a:spLocks noChangeArrowheads="1"/>
            </p:cNvSpPr>
            <p:nvPr/>
          </p:nvSpPr>
          <p:spPr bwMode="auto">
            <a:xfrm>
              <a:off x="3884" y="1082"/>
              <a:ext cx="5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Keyboard</a:t>
              </a:r>
            </a:p>
          </p:txBody>
        </p:sp>
        <p:grpSp>
          <p:nvGrpSpPr>
            <p:cNvPr id="60429" name="Group 1040"/>
            <p:cNvGrpSpPr>
              <a:grpSpLocks/>
            </p:cNvGrpSpPr>
            <p:nvPr/>
          </p:nvGrpSpPr>
          <p:grpSpPr bwMode="auto">
            <a:xfrm>
              <a:off x="3212" y="3140"/>
              <a:ext cx="2012" cy="478"/>
              <a:chOff x="3212" y="3140"/>
              <a:chExt cx="2012" cy="478"/>
            </a:xfrm>
          </p:grpSpPr>
          <p:sp>
            <p:nvSpPr>
              <p:cNvPr id="60431" name="Rectangle 1041"/>
              <p:cNvSpPr>
                <a:spLocks noChangeArrowheads="1"/>
              </p:cNvSpPr>
              <p:nvPr/>
            </p:nvSpPr>
            <p:spPr bwMode="auto">
              <a:xfrm>
                <a:off x="3212" y="3158"/>
                <a:ext cx="470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Qwerty</a:t>
                </a:r>
              </a:p>
              <a:p>
                <a:pPr eaLnBrk="0" hangingPunct="0"/>
                <a:r>
                  <a:rPr lang="en-US" sz="1400" i="1">
                    <a:latin typeface="Arial" charset="0"/>
                  </a:rPr>
                  <a:t/>
                </a:r>
                <a:br>
                  <a:rPr lang="en-US" sz="1400" i="1">
                    <a:latin typeface="Arial" charset="0"/>
                  </a:rPr>
                </a:br>
                <a:r>
                  <a:rPr lang="en-US" sz="1400" i="1">
                    <a:latin typeface="Arial" charset="0"/>
                  </a:rPr>
                  <a:t>S1-20</a:t>
                </a:r>
              </a:p>
            </p:txBody>
          </p:sp>
          <p:sp>
            <p:nvSpPr>
              <p:cNvPr id="60432" name="Rectangle 1042"/>
              <p:cNvSpPr>
                <a:spLocks noChangeArrowheads="1"/>
              </p:cNvSpPr>
              <p:nvPr/>
            </p:nvSpPr>
            <p:spPr bwMode="auto">
              <a:xfrm>
                <a:off x="3896" y="3146"/>
                <a:ext cx="470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Dvorak</a:t>
                </a:r>
              </a:p>
              <a:p>
                <a:pPr eaLnBrk="0" hangingPunct="0"/>
                <a:r>
                  <a:rPr lang="en-US" sz="1400" i="1">
                    <a:latin typeface="Arial" charset="0"/>
                  </a:rPr>
                  <a:t/>
                </a:r>
                <a:br>
                  <a:rPr lang="en-US" sz="1400" i="1">
                    <a:latin typeface="Arial" charset="0"/>
                  </a:rPr>
                </a:br>
                <a:r>
                  <a:rPr lang="en-US" sz="1400" i="1">
                    <a:latin typeface="Arial" charset="0"/>
                  </a:rPr>
                  <a:t>S1-20</a:t>
                </a:r>
              </a:p>
            </p:txBody>
          </p:sp>
          <p:sp>
            <p:nvSpPr>
              <p:cNvPr id="60433" name="Rectangle 1043"/>
              <p:cNvSpPr>
                <a:spLocks noChangeArrowheads="1"/>
              </p:cNvSpPr>
              <p:nvPr/>
            </p:nvSpPr>
            <p:spPr bwMode="auto">
              <a:xfrm>
                <a:off x="4586" y="3140"/>
                <a:ext cx="638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Alphabetic</a:t>
                </a:r>
              </a:p>
              <a:p>
                <a:pPr eaLnBrk="0" hangingPunct="0"/>
                <a:r>
                  <a:rPr lang="en-US" sz="1400" i="1">
                    <a:latin typeface="Arial" charset="0"/>
                  </a:rPr>
                  <a:t/>
                </a:r>
                <a:br>
                  <a:rPr lang="en-US" sz="1400" i="1">
                    <a:latin typeface="Arial" charset="0"/>
                  </a:rPr>
                </a:br>
                <a:r>
                  <a:rPr lang="en-US" sz="1400" i="1">
                    <a:latin typeface="Arial" charset="0"/>
                  </a:rPr>
                  <a:t>S1-20</a:t>
                </a:r>
              </a:p>
            </p:txBody>
          </p:sp>
        </p:grpSp>
        <p:sp>
          <p:nvSpPr>
            <p:cNvPr id="60430" name="Rectangle 1044"/>
            <p:cNvSpPr>
              <a:spLocks noChangeArrowheads="1"/>
            </p:cNvSpPr>
            <p:nvPr/>
          </p:nvSpPr>
          <p:spPr bwMode="auto">
            <a:xfrm>
              <a:off x="3878" y="2900"/>
              <a:ext cx="5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Keyboard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13146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F statistic</a:t>
            </a:r>
            <a:endParaRPr lang="en-CA" altLang="zh-TW">
              <a:latin typeface="Arial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19200"/>
            <a:ext cx="80010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Arial" charset="0"/>
              </a:rPr>
              <a:t>Within group variability </a:t>
            </a:r>
            <a:r>
              <a:rPr lang="en-US" sz="2400">
                <a:solidFill>
                  <a:srgbClr val="E40000"/>
                </a:solidFill>
                <a:latin typeface="Arial" charset="0"/>
              </a:rPr>
              <a:t>(WG)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individual differences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measurement error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Arial" charset="0"/>
              </a:rPr>
              <a:t>Between group variability </a:t>
            </a:r>
            <a:r>
              <a:rPr lang="en-US" sz="2400">
                <a:solidFill>
                  <a:srgbClr val="E40000"/>
                </a:solidFill>
                <a:latin typeface="Arial" charset="0"/>
              </a:rPr>
              <a:t>(BG)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treatment effects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individual differences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measurement error</a:t>
            </a:r>
          </a:p>
          <a:p>
            <a:pPr lvl="1" eaLnBrk="1" hangingPunct="1">
              <a:lnSpc>
                <a:spcPct val="90000"/>
              </a:lnSpc>
            </a:pPr>
            <a:endParaRPr lang="en-US" sz="200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Arial" charset="0"/>
              </a:rPr>
              <a:t>These two variabilities are independent of one another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Arial" charset="0"/>
              </a:rPr>
              <a:t>They combine to give total variability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Arial" charset="0"/>
              </a:rPr>
              <a:t>We are mostly interested in between group variability because we are trying to understand the effect of the treatment</a:t>
            </a:r>
            <a:endParaRPr lang="en-CA" altLang="zh-TW" sz="2400">
              <a:latin typeface="Arial" charset="0"/>
            </a:endParaRPr>
          </a:p>
        </p:txBody>
      </p:sp>
      <p:grpSp>
        <p:nvGrpSpPr>
          <p:cNvPr id="62468" name="Group 34"/>
          <p:cNvGrpSpPr>
            <a:grpSpLocks/>
          </p:cNvGrpSpPr>
          <p:nvPr/>
        </p:nvGrpSpPr>
        <p:grpSpPr bwMode="auto">
          <a:xfrm>
            <a:off x="5334000" y="990600"/>
            <a:ext cx="3260725" cy="1524000"/>
            <a:chOff x="3360" y="624"/>
            <a:chExt cx="2054" cy="960"/>
          </a:xfrm>
        </p:grpSpPr>
        <p:grpSp>
          <p:nvGrpSpPr>
            <p:cNvPr id="62485" name="Group 27"/>
            <p:cNvGrpSpPr>
              <a:grpSpLocks/>
            </p:cNvGrpSpPr>
            <p:nvPr/>
          </p:nvGrpSpPr>
          <p:grpSpPr bwMode="auto">
            <a:xfrm>
              <a:off x="3360" y="624"/>
              <a:ext cx="2054" cy="944"/>
              <a:chOff x="3264" y="960"/>
              <a:chExt cx="2054" cy="944"/>
            </a:xfrm>
          </p:grpSpPr>
          <p:sp>
            <p:nvSpPr>
              <p:cNvPr id="62489" name="Rectangle 9"/>
              <p:cNvSpPr>
                <a:spLocks noChangeArrowheads="1"/>
              </p:cNvSpPr>
              <p:nvPr/>
            </p:nvSpPr>
            <p:spPr bwMode="auto">
              <a:xfrm>
                <a:off x="3264" y="1326"/>
                <a:ext cx="2054" cy="57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0" name="Rectangle 10"/>
              <p:cNvSpPr>
                <a:spLocks noChangeArrowheads="1"/>
              </p:cNvSpPr>
              <p:nvPr/>
            </p:nvSpPr>
            <p:spPr bwMode="auto">
              <a:xfrm>
                <a:off x="3306" y="1170"/>
                <a:ext cx="470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Qwerty</a:t>
                </a:r>
              </a:p>
              <a:p>
                <a:pPr eaLnBrk="0" hangingPunct="0"/>
                <a:r>
                  <a:rPr lang="en-US" sz="1400" i="1">
                    <a:latin typeface="Arial" charset="0"/>
                  </a:rPr>
                  <a:t/>
                </a:r>
                <a:br>
                  <a:rPr lang="en-US" sz="1400" i="1">
                    <a:latin typeface="Arial" charset="0"/>
                  </a:rPr>
                </a:br>
                <a:endParaRPr lang="en-US" sz="1400" i="1">
                  <a:latin typeface="Arial" charset="0"/>
                </a:endParaRPr>
              </a:p>
            </p:txBody>
          </p:sp>
          <p:sp>
            <p:nvSpPr>
              <p:cNvPr id="62491" name="Rectangle 11"/>
              <p:cNvSpPr>
                <a:spLocks noChangeArrowheads="1"/>
              </p:cNvSpPr>
              <p:nvPr/>
            </p:nvSpPr>
            <p:spPr bwMode="auto">
              <a:xfrm>
                <a:off x="3990" y="1158"/>
                <a:ext cx="470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Dvorak</a:t>
                </a:r>
              </a:p>
              <a:p>
                <a:pPr eaLnBrk="0" hangingPunct="0"/>
                <a:r>
                  <a:rPr lang="en-US" sz="1400" i="1">
                    <a:latin typeface="Arial" charset="0"/>
                  </a:rPr>
                  <a:t/>
                </a:r>
                <a:br>
                  <a:rPr lang="en-US" sz="1400" i="1">
                    <a:latin typeface="Arial" charset="0"/>
                  </a:rPr>
                </a:br>
                <a:endParaRPr lang="en-US" sz="1400" i="1">
                  <a:latin typeface="Arial" charset="0"/>
                </a:endParaRPr>
              </a:p>
            </p:txBody>
          </p:sp>
          <p:sp>
            <p:nvSpPr>
              <p:cNvPr id="62492" name="Rectangle 12"/>
              <p:cNvSpPr>
                <a:spLocks noChangeArrowheads="1"/>
              </p:cNvSpPr>
              <p:nvPr/>
            </p:nvSpPr>
            <p:spPr bwMode="auto">
              <a:xfrm>
                <a:off x="4680" y="1152"/>
                <a:ext cx="638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Alphabetic</a:t>
                </a:r>
              </a:p>
              <a:p>
                <a:pPr eaLnBrk="0" hangingPunct="0"/>
                <a:r>
                  <a:rPr lang="en-US" sz="1400" i="1">
                    <a:latin typeface="Arial" charset="0"/>
                  </a:rPr>
                  <a:t/>
                </a:r>
                <a:br>
                  <a:rPr lang="en-US" sz="1400" i="1">
                    <a:latin typeface="Arial" charset="0"/>
                  </a:rPr>
                </a:br>
                <a:endParaRPr lang="en-US" sz="1400" i="1">
                  <a:latin typeface="Arial" charset="0"/>
                </a:endParaRPr>
              </a:p>
            </p:txBody>
          </p:sp>
          <p:sp>
            <p:nvSpPr>
              <p:cNvPr id="62493" name="Line 13"/>
              <p:cNvSpPr>
                <a:spLocks noChangeShapeType="1"/>
              </p:cNvSpPr>
              <p:nvPr/>
            </p:nvSpPr>
            <p:spPr bwMode="auto">
              <a:xfrm>
                <a:off x="3826" y="1300"/>
                <a:ext cx="0" cy="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2494" name="Line 14"/>
              <p:cNvSpPr>
                <a:spLocks noChangeShapeType="1"/>
              </p:cNvSpPr>
              <p:nvPr/>
            </p:nvSpPr>
            <p:spPr bwMode="auto">
              <a:xfrm>
                <a:off x="4588" y="1312"/>
                <a:ext cx="0" cy="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2495" name="Rectangle 15"/>
              <p:cNvSpPr>
                <a:spLocks noChangeArrowheads="1"/>
              </p:cNvSpPr>
              <p:nvPr/>
            </p:nvSpPr>
            <p:spPr bwMode="auto">
              <a:xfrm>
                <a:off x="4044" y="960"/>
                <a:ext cx="5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Keyboard</a:t>
                </a:r>
              </a:p>
            </p:txBody>
          </p:sp>
          <p:sp>
            <p:nvSpPr>
              <p:cNvPr id="62496" name="Line 21"/>
              <p:cNvSpPr>
                <a:spLocks noChangeShapeType="1"/>
              </p:cNvSpPr>
              <p:nvPr/>
            </p:nvSpPr>
            <p:spPr bwMode="auto">
              <a:xfrm>
                <a:off x="3408" y="144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  <p:sp>
            <p:nvSpPr>
              <p:cNvPr id="62497" name="Line 22"/>
              <p:cNvSpPr>
                <a:spLocks noChangeShapeType="1"/>
              </p:cNvSpPr>
              <p:nvPr/>
            </p:nvSpPr>
            <p:spPr bwMode="auto">
              <a:xfrm>
                <a:off x="3984" y="144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  <p:sp>
            <p:nvSpPr>
              <p:cNvPr id="62498" name="Line 23"/>
              <p:cNvSpPr>
                <a:spLocks noChangeShapeType="1"/>
              </p:cNvSpPr>
              <p:nvPr/>
            </p:nvSpPr>
            <p:spPr bwMode="auto">
              <a:xfrm>
                <a:off x="4704" y="144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</p:grpSp>
        <p:sp>
          <p:nvSpPr>
            <p:cNvPr id="62486" name="Text Box 28"/>
            <p:cNvSpPr txBox="1">
              <a:spLocks noChangeArrowheads="1"/>
            </p:cNvSpPr>
            <p:nvPr/>
          </p:nvSpPr>
          <p:spPr bwMode="auto">
            <a:xfrm>
              <a:off x="3552" y="1008"/>
              <a:ext cx="33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5, 9, 7, 6, …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3, 7</a:t>
              </a:r>
              <a:endParaRPr lang="en-CA" altLang="zh-TW" sz="1200"/>
            </a:p>
          </p:txBody>
        </p:sp>
        <p:sp>
          <p:nvSpPr>
            <p:cNvPr id="62487" name="Text Box 29"/>
            <p:cNvSpPr txBox="1">
              <a:spLocks noChangeArrowheads="1"/>
            </p:cNvSpPr>
            <p:nvPr/>
          </p:nvSpPr>
          <p:spPr bwMode="auto">
            <a:xfrm>
              <a:off x="4176" y="1008"/>
              <a:ext cx="33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3, 9, 11, 2, …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3, 10</a:t>
              </a:r>
              <a:endParaRPr lang="en-CA" altLang="zh-TW" sz="1200"/>
            </a:p>
          </p:txBody>
        </p:sp>
        <p:sp>
          <p:nvSpPr>
            <p:cNvPr id="62488" name="Text Box 30"/>
            <p:cNvSpPr txBox="1">
              <a:spLocks noChangeArrowheads="1"/>
            </p:cNvSpPr>
            <p:nvPr/>
          </p:nvSpPr>
          <p:spPr bwMode="auto">
            <a:xfrm>
              <a:off x="4992" y="1008"/>
              <a:ext cx="33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3, 5, 5, 4, …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2, 5</a:t>
              </a:r>
              <a:endParaRPr lang="en-CA" altLang="zh-TW" sz="1200"/>
            </a:p>
          </p:txBody>
        </p:sp>
      </p:grpSp>
      <p:grpSp>
        <p:nvGrpSpPr>
          <p:cNvPr id="62469" name="Group 35"/>
          <p:cNvGrpSpPr>
            <a:grpSpLocks/>
          </p:cNvGrpSpPr>
          <p:nvPr/>
        </p:nvGrpSpPr>
        <p:grpSpPr bwMode="auto">
          <a:xfrm>
            <a:off x="5349875" y="2667000"/>
            <a:ext cx="3260725" cy="1625600"/>
            <a:chOff x="3370" y="1776"/>
            <a:chExt cx="2054" cy="1024"/>
          </a:xfrm>
        </p:grpSpPr>
        <p:grpSp>
          <p:nvGrpSpPr>
            <p:cNvPr id="62470" name="Group 26"/>
            <p:cNvGrpSpPr>
              <a:grpSpLocks/>
            </p:cNvGrpSpPr>
            <p:nvPr/>
          </p:nvGrpSpPr>
          <p:grpSpPr bwMode="auto">
            <a:xfrm>
              <a:off x="3370" y="1776"/>
              <a:ext cx="2054" cy="1024"/>
              <a:chOff x="3342" y="2778"/>
              <a:chExt cx="2054" cy="1024"/>
            </a:xfrm>
          </p:grpSpPr>
          <p:grpSp>
            <p:nvGrpSpPr>
              <p:cNvPr id="62474" name="Group 5"/>
              <p:cNvGrpSpPr>
                <a:grpSpLocks/>
              </p:cNvGrpSpPr>
              <p:nvPr/>
            </p:nvGrpSpPr>
            <p:grpSpPr bwMode="auto">
              <a:xfrm>
                <a:off x="3342" y="3202"/>
                <a:ext cx="2054" cy="600"/>
                <a:chOff x="3182" y="3324"/>
                <a:chExt cx="2054" cy="600"/>
              </a:xfrm>
            </p:grpSpPr>
            <p:sp>
              <p:nvSpPr>
                <p:cNvPr id="62482" name="Rectangle 6"/>
                <p:cNvSpPr>
                  <a:spLocks noChangeArrowheads="1"/>
                </p:cNvSpPr>
                <p:nvPr/>
              </p:nvSpPr>
              <p:spPr bwMode="auto">
                <a:xfrm>
                  <a:off x="3182" y="3332"/>
                  <a:ext cx="2054" cy="578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3" name="Line 7"/>
                <p:cNvSpPr>
                  <a:spLocks noChangeShapeType="1"/>
                </p:cNvSpPr>
                <p:nvPr/>
              </p:nvSpPr>
              <p:spPr bwMode="auto">
                <a:xfrm>
                  <a:off x="3750" y="3324"/>
                  <a:ext cx="0" cy="5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484" name="Line 8"/>
                <p:cNvSpPr>
                  <a:spLocks noChangeShapeType="1"/>
                </p:cNvSpPr>
                <p:nvPr/>
              </p:nvSpPr>
              <p:spPr bwMode="auto">
                <a:xfrm>
                  <a:off x="4512" y="3336"/>
                  <a:ext cx="0" cy="5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62475" name="Group 16"/>
              <p:cNvGrpSpPr>
                <a:grpSpLocks/>
              </p:cNvGrpSpPr>
              <p:nvPr/>
            </p:nvGrpSpPr>
            <p:grpSpPr bwMode="auto">
              <a:xfrm>
                <a:off x="3372" y="3018"/>
                <a:ext cx="2012" cy="478"/>
                <a:chOff x="3212" y="3140"/>
                <a:chExt cx="2012" cy="478"/>
              </a:xfrm>
            </p:grpSpPr>
            <p:sp>
              <p:nvSpPr>
                <p:cNvPr id="62479" name="Rectangle 17"/>
                <p:cNvSpPr>
                  <a:spLocks noChangeArrowheads="1"/>
                </p:cNvSpPr>
                <p:nvPr/>
              </p:nvSpPr>
              <p:spPr bwMode="auto">
                <a:xfrm>
                  <a:off x="3212" y="3158"/>
                  <a:ext cx="470" cy="4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/>
                <a:p>
                  <a:pPr eaLnBrk="0" hangingPunct="0"/>
                  <a:r>
                    <a:rPr lang="en-US" sz="1400">
                      <a:latin typeface="Arial" charset="0"/>
                    </a:rPr>
                    <a:t>Qwerty</a:t>
                  </a:r>
                </a:p>
                <a:p>
                  <a:pPr eaLnBrk="0" hangingPunct="0"/>
                  <a:r>
                    <a:rPr lang="en-US" sz="1400" i="1">
                      <a:latin typeface="Arial" charset="0"/>
                    </a:rPr>
                    <a:t/>
                  </a:r>
                  <a:br>
                    <a:rPr lang="en-US" sz="1400" i="1">
                      <a:latin typeface="Arial" charset="0"/>
                    </a:rPr>
                  </a:br>
                  <a:endParaRPr lang="en-US" sz="1400" i="1">
                    <a:latin typeface="Arial" charset="0"/>
                  </a:endParaRPr>
                </a:p>
              </p:txBody>
            </p:sp>
            <p:sp>
              <p:nvSpPr>
                <p:cNvPr id="62480" name="Rectangle 18"/>
                <p:cNvSpPr>
                  <a:spLocks noChangeArrowheads="1"/>
                </p:cNvSpPr>
                <p:nvPr/>
              </p:nvSpPr>
              <p:spPr bwMode="auto">
                <a:xfrm>
                  <a:off x="3896" y="3146"/>
                  <a:ext cx="470" cy="4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/>
                <a:p>
                  <a:pPr eaLnBrk="0" hangingPunct="0"/>
                  <a:r>
                    <a:rPr lang="en-US" sz="1400">
                      <a:latin typeface="Arial" charset="0"/>
                    </a:rPr>
                    <a:t>Dvorak</a:t>
                  </a:r>
                </a:p>
                <a:p>
                  <a:pPr eaLnBrk="0" hangingPunct="0"/>
                  <a:r>
                    <a:rPr lang="en-US" sz="1400" i="1">
                      <a:latin typeface="Arial" charset="0"/>
                    </a:rPr>
                    <a:t/>
                  </a:r>
                  <a:br>
                    <a:rPr lang="en-US" sz="1400" i="1">
                      <a:latin typeface="Arial" charset="0"/>
                    </a:rPr>
                  </a:br>
                  <a:endParaRPr lang="en-US" sz="1400" i="1">
                    <a:latin typeface="Arial" charset="0"/>
                  </a:endParaRPr>
                </a:p>
              </p:txBody>
            </p:sp>
            <p:sp>
              <p:nvSpPr>
                <p:cNvPr id="62481" name="Rectangle 19"/>
                <p:cNvSpPr>
                  <a:spLocks noChangeArrowheads="1"/>
                </p:cNvSpPr>
                <p:nvPr/>
              </p:nvSpPr>
              <p:spPr bwMode="auto">
                <a:xfrm>
                  <a:off x="4586" y="3140"/>
                  <a:ext cx="638" cy="4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/>
                <a:p>
                  <a:pPr eaLnBrk="0" hangingPunct="0"/>
                  <a:r>
                    <a:rPr lang="en-US" sz="1400">
                      <a:latin typeface="Arial" charset="0"/>
                    </a:rPr>
                    <a:t>Alphabetic</a:t>
                  </a:r>
                </a:p>
                <a:p>
                  <a:pPr eaLnBrk="0" hangingPunct="0"/>
                  <a:r>
                    <a:rPr lang="en-US" sz="1400" i="1">
                      <a:latin typeface="Arial" charset="0"/>
                    </a:rPr>
                    <a:t/>
                  </a:r>
                  <a:br>
                    <a:rPr lang="en-US" sz="1400" i="1">
                      <a:latin typeface="Arial" charset="0"/>
                    </a:rPr>
                  </a:br>
                  <a:endParaRPr lang="en-US" sz="1400" i="1">
                    <a:latin typeface="Arial" charset="0"/>
                  </a:endParaRPr>
                </a:p>
              </p:txBody>
            </p:sp>
          </p:grpSp>
          <p:sp>
            <p:nvSpPr>
              <p:cNvPr id="62476" name="Rectangle 20"/>
              <p:cNvSpPr>
                <a:spLocks noChangeArrowheads="1"/>
              </p:cNvSpPr>
              <p:nvPr/>
            </p:nvSpPr>
            <p:spPr bwMode="auto">
              <a:xfrm>
                <a:off x="4038" y="2778"/>
                <a:ext cx="5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Keyboard</a:t>
                </a:r>
              </a:p>
            </p:txBody>
          </p:sp>
          <p:sp>
            <p:nvSpPr>
              <p:cNvPr id="62477" name="Line 24"/>
              <p:cNvSpPr>
                <a:spLocks noChangeShapeType="1"/>
              </p:cNvSpPr>
              <p:nvPr/>
            </p:nvSpPr>
            <p:spPr bwMode="auto">
              <a:xfrm>
                <a:off x="3744" y="3504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  <p:sp>
            <p:nvSpPr>
              <p:cNvPr id="62478" name="Line 25"/>
              <p:cNvSpPr>
                <a:spLocks noChangeShapeType="1"/>
              </p:cNvSpPr>
              <p:nvPr/>
            </p:nvSpPr>
            <p:spPr bwMode="auto">
              <a:xfrm>
                <a:off x="4512" y="3504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</p:grpSp>
        <p:sp>
          <p:nvSpPr>
            <p:cNvPr id="62471" name="Text Box 31"/>
            <p:cNvSpPr txBox="1">
              <a:spLocks noChangeArrowheads="1"/>
            </p:cNvSpPr>
            <p:nvPr/>
          </p:nvSpPr>
          <p:spPr bwMode="auto">
            <a:xfrm>
              <a:off x="4992" y="2208"/>
              <a:ext cx="33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3, 5, 5, 4, …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2, 5</a:t>
              </a:r>
              <a:endParaRPr lang="en-CA" altLang="zh-TW" sz="1200"/>
            </a:p>
          </p:txBody>
        </p:sp>
        <p:sp>
          <p:nvSpPr>
            <p:cNvPr id="62472" name="Text Box 32"/>
            <p:cNvSpPr txBox="1">
              <a:spLocks noChangeArrowheads="1"/>
            </p:cNvSpPr>
            <p:nvPr/>
          </p:nvSpPr>
          <p:spPr bwMode="auto">
            <a:xfrm>
              <a:off x="4128" y="2208"/>
              <a:ext cx="33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3, 9, 11, 2, …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3, 10</a:t>
              </a:r>
              <a:endParaRPr lang="en-CA" altLang="zh-TW" sz="1200"/>
            </a:p>
          </p:txBody>
        </p:sp>
        <p:sp>
          <p:nvSpPr>
            <p:cNvPr id="62473" name="Text Box 33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5, 9, 7, 6, …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3, 7</a:t>
              </a:r>
              <a:endParaRPr lang="en-CA" altLang="zh-TW" sz="1200"/>
            </a:p>
          </p:txBody>
        </p:sp>
      </p:grpSp>
    </p:spTree>
    <p:extLst>
      <p:ext uri="{BB962C8B-B14F-4D97-AF65-F5344CB8AC3E}">
        <p14:creationId xmlns:p14="http://schemas.microsoft.com/office/powerpoint/2010/main" val="40761895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F Statistic</a:t>
            </a:r>
            <a:endParaRPr lang="en-CA" altLang="zh-TW">
              <a:latin typeface="Arial" charset="0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</a:rPr>
              <a:t>F  =  </a:t>
            </a:r>
            <a:r>
              <a:rPr lang="en-US" sz="2400" dirty="0">
                <a:solidFill>
                  <a:srgbClr val="E40000"/>
                </a:solidFill>
                <a:latin typeface="Arial" charset="0"/>
              </a:rPr>
              <a:t>BG</a:t>
            </a:r>
            <a:r>
              <a:rPr lang="en-US" dirty="0">
                <a:latin typeface="Arial" charset="0"/>
              </a:rPr>
              <a:t>    =     treatment + id + </a:t>
            </a:r>
            <a:r>
              <a:rPr lang="en-US" dirty="0" err="1">
                <a:latin typeface="Arial" charset="0"/>
              </a:rPr>
              <a:t>m.error</a:t>
            </a:r>
            <a:r>
              <a:rPr lang="en-US" dirty="0">
                <a:latin typeface="Arial" charset="0"/>
              </a:rPr>
              <a:t>    =  1.0</a:t>
            </a: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</a:rPr>
              <a:t>	     </a:t>
            </a:r>
            <a:r>
              <a:rPr lang="en-US" sz="2400" dirty="0">
                <a:solidFill>
                  <a:srgbClr val="E40000"/>
                </a:solidFill>
                <a:latin typeface="Arial" charset="0"/>
              </a:rPr>
              <a:t>WG</a:t>
            </a:r>
            <a:r>
              <a:rPr lang="en-US" dirty="0">
                <a:latin typeface="Arial" charset="0"/>
              </a:rPr>
              <a:t>                  id + </a:t>
            </a:r>
            <a:r>
              <a:rPr lang="en-US" dirty="0" err="1">
                <a:latin typeface="Arial" charset="0"/>
              </a:rPr>
              <a:t>m.error</a:t>
            </a:r>
            <a:endParaRPr lang="en-US" dirty="0">
              <a:latin typeface="Arial" charset="0"/>
            </a:endParaRPr>
          </a:p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</a:rPr>
              <a:t>If there are treatment effects then the numerator becomes inflated</a:t>
            </a:r>
          </a:p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</a:rPr>
              <a:t>Within-subjects design: the </a:t>
            </a:r>
            <a:r>
              <a:rPr lang="en-US" dirty="0" smtClean="0">
                <a:latin typeface="Arial" charset="0"/>
              </a:rPr>
              <a:t>id (individual differences) </a:t>
            </a:r>
            <a:r>
              <a:rPr lang="en-US" dirty="0">
                <a:latin typeface="Arial" charset="0"/>
              </a:rPr>
              <a:t>component in numerator and denominator factored out, therefore a more powerful design</a:t>
            </a:r>
            <a:endParaRPr lang="en-CA" altLang="zh-TW" dirty="0">
              <a:latin typeface="Arial" charset="0"/>
            </a:endParaRPr>
          </a:p>
        </p:txBody>
      </p:sp>
      <p:sp>
        <p:nvSpPr>
          <p:cNvPr id="64516" name="Line 4"/>
          <p:cNvSpPr>
            <a:spLocks noChangeShapeType="1"/>
          </p:cNvSpPr>
          <p:nvPr/>
        </p:nvSpPr>
        <p:spPr bwMode="auto">
          <a:xfrm>
            <a:off x="2870200" y="1892300"/>
            <a:ext cx="381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4517" name="Line 5"/>
          <p:cNvSpPr>
            <a:spLocks noChangeShapeType="1"/>
          </p:cNvSpPr>
          <p:nvPr/>
        </p:nvSpPr>
        <p:spPr bwMode="auto">
          <a:xfrm>
            <a:off x="1257300" y="19050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1858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F statistic</a:t>
            </a:r>
            <a:endParaRPr lang="en-CA" altLang="zh-TW">
              <a:latin typeface="Arial" charset="0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19200"/>
            <a:ext cx="7924800" cy="5181600"/>
          </a:xfrm>
        </p:spPr>
        <p:txBody>
          <a:bodyPr/>
          <a:lstStyle/>
          <a:p>
            <a:pPr eaLnBrk="1" hangingPunct="1"/>
            <a:r>
              <a:rPr lang="en-US" sz="2400">
                <a:latin typeface="Arial" charset="0"/>
              </a:rPr>
              <a:t>Similar to the t-test, we look up the F value in a table, for a given </a:t>
            </a:r>
            <a:r>
              <a:rPr lang="en-US" sz="2400">
                <a:latin typeface="Arial" charset="0"/>
                <a:sym typeface="Symbol" charset="0"/>
              </a:rPr>
              <a:t></a:t>
            </a:r>
            <a:r>
              <a:rPr lang="en-US" sz="2400">
                <a:latin typeface="Arial" charset="0"/>
              </a:rPr>
              <a:t> and degrees of freedom to determine significance</a:t>
            </a:r>
          </a:p>
          <a:p>
            <a:pPr eaLnBrk="1" hangingPunct="1"/>
            <a:endParaRPr lang="en-US" sz="2400">
              <a:latin typeface="Arial" charset="0"/>
            </a:endParaRPr>
          </a:p>
          <a:p>
            <a:pPr eaLnBrk="1" hangingPunct="1"/>
            <a:r>
              <a:rPr lang="en-US" sz="2400">
                <a:latin typeface="Arial" charset="0"/>
              </a:rPr>
              <a:t>Thus, F statistic sensitive to sample size.</a:t>
            </a:r>
          </a:p>
          <a:p>
            <a:pPr lvl="1" eaLnBrk="1" hangingPunct="1"/>
            <a:r>
              <a:rPr lang="en-US" sz="2000">
                <a:latin typeface="Arial" charset="0"/>
              </a:rPr>
              <a:t>Big N           Big Power           Easier to find significance</a:t>
            </a:r>
          </a:p>
          <a:p>
            <a:pPr lvl="1" eaLnBrk="1" hangingPunct="1"/>
            <a:r>
              <a:rPr lang="en-US" sz="2000">
                <a:latin typeface="Arial" charset="0"/>
              </a:rPr>
              <a:t>Small N       Small Power        Difficult to find significance</a:t>
            </a:r>
          </a:p>
          <a:p>
            <a:pPr eaLnBrk="1" hangingPunct="1"/>
            <a:endParaRPr lang="en-US" sz="2400">
              <a:latin typeface="Arial" charset="0"/>
            </a:endParaRPr>
          </a:p>
          <a:p>
            <a:pPr eaLnBrk="1" hangingPunct="1"/>
            <a:r>
              <a:rPr lang="en-US" sz="2400">
                <a:latin typeface="Arial" charset="0"/>
              </a:rPr>
              <a:t>What we (should) want to know is the effect size</a:t>
            </a:r>
          </a:p>
          <a:p>
            <a:pPr lvl="1" eaLnBrk="1" hangingPunct="1"/>
            <a:r>
              <a:rPr lang="en-US" sz="2000">
                <a:latin typeface="Arial" charset="0"/>
              </a:rPr>
              <a:t>Does the treatment make a big difference (i.e., large effect)?</a:t>
            </a:r>
          </a:p>
          <a:p>
            <a:pPr lvl="1" eaLnBrk="1" hangingPunct="1"/>
            <a:r>
              <a:rPr lang="en-US" sz="2000">
                <a:latin typeface="Arial" charset="0"/>
              </a:rPr>
              <a:t>Or does it only make a small difference (i.e., small effect)?</a:t>
            </a:r>
          </a:p>
          <a:p>
            <a:pPr lvl="1" eaLnBrk="1" hangingPunct="1"/>
            <a:r>
              <a:rPr lang="en-US" sz="2000">
                <a:latin typeface="Arial" charset="0"/>
              </a:rPr>
              <a:t>Depending on what we are doing, small effects may be important findings</a:t>
            </a:r>
            <a:endParaRPr lang="en-CA" altLang="zh-TW" sz="2000">
              <a:latin typeface="Arial" charset="0"/>
            </a:endParaRPr>
          </a:p>
        </p:txBody>
      </p:sp>
      <p:sp>
        <p:nvSpPr>
          <p:cNvPr id="66564" name="Line 4"/>
          <p:cNvSpPr>
            <a:spLocks noChangeShapeType="1"/>
          </p:cNvSpPr>
          <p:nvPr/>
        </p:nvSpPr>
        <p:spPr bwMode="auto">
          <a:xfrm>
            <a:off x="2514600" y="3429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6565" name="Line 5"/>
          <p:cNvSpPr>
            <a:spLocks noChangeShapeType="1"/>
          </p:cNvSpPr>
          <p:nvPr/>
        </p:nvSpPr>
        <p:spPr bwMode="auto">
          <a:xfrm>
            <a:off x="4495800" y="3429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6566" name="Line 6"/>
          <p:cNvSpPr>
            <a:spLocks noChangeShapeType="1"/>
          </p:cNvSpPr>
          <p:nvPr/>
        </p:nvSpPr>
        <p:spPr bwMode="auto">
          <a:xfrm>
            <a:off x="2667000" y="3810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>
            <a:off x="4648200" y="3810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1631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09600"/>
            <a:ext cx="8001000" cy="8382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</a:rPr>
              <a:t>Statistical significance vs 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Practical significance</a:t>
            </a:r>
            <a:br>
              <a:rPr lang="en-US">
                <a:latin typeface="Arial" charset="0"/>
              </a:rPr>
            </a:br>
            <a:endParaRPr lang="en-US">
              <a:latin typeface="Arial" charset="0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8001000" cy="4724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Arial" charset="0"/>
              </a:rPr>
              <a:t>when </a:t>
            </a:r>
            <a:r>
              <a:rPr lang="en-US" sz="2400" i="1">
                <a:latin typeface="Arial" charset="0"/>
              </a:rPr>
              <a:t>N</a:t>
            </a:r>
            <a:r>
              <a:rPr lang="en-US" sz="2400">
                <a:latin typeface="Arial" charset="0"/>
              </a:rPr>
              <a:t> is large, even a trivial difference (small effect) may be large enough to produce a statistically significant result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eg menu choice: </a:t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>mean selection time of menu A  is  3      seconds; </a:t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>                                     menu B  is  3.05 seconds</a:t>
            </a:r>
            <a:br>
              <a:rPr lang="en-US" sz="2000">
                <a:latin typeface="Arial" charset="0"/>
              </a:rPr>
            </a:br>
            <a:endParaRPr lang="en-US" sz="200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Arial" charset="0"/>
              </a:rPr>
              <a:t>Statistical significance does not imply that the difference is important!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a matter of interpretation, i.e., subjective opinion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Arial" charset="0"/>
              </a:rPr>
              <a:t>should always report means to help others make their opinion</a:t>
            </a:r>
          </a:p>
          <a:p>
            <a:pPr lvl="1" eaLnBrk="1" hangingPunct="1">
              <a:lnSpc>
                <a:spcPct val="90000"/>
              </a:lnSpc>
            </a:pPr>
            <a:endParaRPr lang="en-US" sz="200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Arial" charset="0"/>
              </a:rPr>
              <a:t>There are measures for effect size, regrettably they are not widely used in HCI research</a:t>
            </a:r>
          </a:p>
        </p:txBody>
      </p:sp>
    </p:spTree>
    <p:extLst>
      <p:ext uri="{BB962C8B-B14F-4D97-AF65-F5344CB8AC3E}">
        <p14:creationId xmlns:p14="http://schemas.microsoft.com/office/powerpoint/2010/main" val="28136029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>
                <a:latin typeface="Arial" charset="0"/>
              </a:rPr>
              <a:t>Single Factor Analysis of Variance</a:t>
            </a:r>
          </a:p>
        </p:txBody>
      </p:sp>
      <p:sp>
        <p:nvSpPr>
          <p:cNvPr id="7065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>
                <a:latin typeface="Arial" charset="0"/>
              </a:rPr>
              <a:t>Compare means between two or more factor levels within a single factor</a:t>
            </a:r>
          </a:p>
          <a:p>
            <a:pPr eaLnBrk="1" hangingPunct="1"/>
            <a:r>
              <a:rPr lang="en-US">
                <a:latin typeface="Arial" charset="0"/>
              </a:rPr>
              <a:t>example:</a:t>
            </a:r>
          </a:p>
          <a:p>
            <a:pPr lvl="1" eaLnBrk="1" hangingPunct="1"/>
            <a:r>
              <a:rPr lang="en-US">
                <a:latin typeface="Arial" charset="0"/>
              </a:rPr>
              <a:t>dependent variable: typing speed</a:t>
            </a:r>
          </a:p>
          <a:p>
            <a:pPr lvl="1" eaLnBrk="1" hangingPunct="1"/>
            <a:r>
              <a:rPr lang="en-US">
                <a:latin typeface="Arial" charset="0"/>
              </a:rPr>
              <a:t>independent variable (factor): keyboard</a:t>
            </a:r>
          </a:p>
          <a:p>
            <a:pPr lvl="1" eaLnBrk="1" hangingPunct="1"/>
            <a:r>
              <a:rPr lang="en-US">
                <a:latin typeface="Arial" charset="0"/>
              </a:rPr>
              <a:t>between subject design</a:t>
            </a:r>
            <a:br>
              <a:rPr lang="en-US">
                <a:latin typeface="Arial" charset="0"/>
              </a:rPr>
            </a:br>
            <a:endParaRPr lang="en-US">
              <a:latin typeface="Arial" charset="0"/>
            </a:endParaRPr>
          </a:p>
        </p:txBody>
      </p:sp>
      <p:grpSp>
        <p:nvGrpSpPr>
          <p:cNvPr id="70660" name="Group 1037"/>
          <p:cNvGrpSpPr>
            <a:grpSpLocks/>
          </p:cNvGrpSpPr>
          <p:nvPr/>
        </p:nvGrpSpPr>
        <p:grpSpPr bwMode="auto">
          <a:xfrm>
            <a:off x="2276475" y="4186238"/>
            <a:ext cx="3971925" cy="1681162"/>
            <a:chOff x="1289" y="2136"/>
            <a:chExt cx="2502" cy="1059"/>
          </a:xfrm>
        </p:grpSpPr>
        <p:sp>
          <p:nvSpPr>
            <p:cNvPr id="70661" name="Rectangle 1028"/>
            <p:cNvSpPr>
              <a:spLocks noChangeArrowheads="1"/>
            </p:cNvSpPr>
            <p:nvPr/>
          </p:nvSpPr>
          <p:spPr bwMode="auto">
            <a:xfrm>
              <a:off x="1289" y="2403"/>
              <a:ext cx="825" cy="7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62" name="Rectangle 1029"/>
            <p:cNvSpPr>
              <a:spLocks noChangeArrowheads="1"/>
            </p:cNvSpPr>
            <p:nvPr/>
          </p:nvSpPr>
          <p:spPr bwMode="auto">
            <a:xfrm>
              <a:off x="2120" y="2403"/>
              <a:ext cx="826" cy="7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63" name="Rectangle 1030"/>
            <p:cNvSpPr>
              <a:spLocks noChangeArrowheads="1"/>
            </p:cNvSpPr>
            <p:nvPr/>
          </p:nvSpPr>
          <p:spPr bwMode="auto">
            <a:xfrm>
              <a:off x="2952" y="2403"/>
              <a:ext cx="825" cy="7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64" name="Rectangle 1031"/>
            <p:cNvSpPr>
              <a:spLocks noChangeArrowheads="1"/>
            </p:cNvSpPr>
            <p:nvPr/>
          </p:nvSpPr>
          <p:spPr bwMode="auto">
            <a:xfrm>
              <a:off x="1291" y="2152"/>
              <a:ext cx="5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000000"/>
                  </a:solidFill>
                  <a:latin typeface="Arial" charset="0"/>
                </a:rPr>
                <a:t>Qwerty</a:t>
              </a:r>
            </a:p>
          </p:txBody>
        </p:sp>
        <p:sp>
          <p:nvSpPr>
            <p:cNvPr id="70665" name="Rectangle 1032"/>
            <p:cNvSpPr>
              <a:spLocks noChangeArrowheads="1"/>
            </p:cNvSpPr>
            <p:nvPr/>
          </p:nvSpPr>
          <p:spPr bwMode="auto">
            <a:xfrm>
              <a:off x="2154" y="2136"/>
              <a:ext cx="7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000000"/>
                  </a:solidFill>
                  <a:latin typeface="Arial" charset="0"/>
                </a:rPr>
                <a:t>Alphabetic</a:t>
              </a:r>
            </a:p>
          </p:txBody>
        </p:sp>
        <p:sp>
          <p:nvSpPr>
            <p:cNvPr id="70666" name="Rectangle 1033"/>
            <p:cNvSpPr>
              <a:spLocks noChangeArrowheads="1"/>
            </p:cNvSpPr>
            <p:nvPr/>
          </p:nvSpPr>
          <p:spPr bwMode="auto">
            <a:xfrm>
              <a:off x="3090" y="2144"/>
              <a:ext cx="5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000000"/>
                  </a:solidFill>
                  <a:latin typeface="Arial" charset="0"/>
                </a:rPr>
                <a:t>Dvorak</a:t>
              </a:r>
            </a:p>
          </p:txBody>
        </p:sp>
        <p:sp>
          <p:nvSpPr>
            <p:cNvPr id="70667" name="Rectangle 1034"/>
            <p:cNvSpPr>
              <a:spLocks noChangeArrowheads="1"/>
            </p:cNvSpPr>
            <p:nvPr/>
          </p:nvSpPr>
          <p:spPr bwMode="auto">
            <a:xfrm>
              <a:off x="1335" y="2456"/>
              <a:ext cx="793" cy="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S1:    25 secs</a:t>
              </a:r>
            </a:p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S2:    29</a:t>
              </a:r>
            </a:p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…</a:t>
              </a:r>
            </a:p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S20: 33</a:t>
              </a:r>
            </a:p>
          </p:txBody>
        </p:sp>
        <p:sp>
          <p:nvSpPr>
            <p:cNvPr id="70668" name="Rectangle 1035"/>
            <p:cNvSpPr>
              <a:spLocks noChangeArrowheads="1"/>
            </p:cNvSpPr>
            <p:nvPr/>
          </p:nvSpPr>
          <p:spPr bwMode="auto">
            <a:xfrm>
              <a:off x="2157" y="2456"/>
              <a:ext cx="824" cy="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S21:   40 secs</a:t>
              </a:r>
            </a:p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S22:   55</a:t>
              </a:r>
            </a:p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…</a:t>
              </a:r>
            </a:p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S40:   33</a:t>
              </a:r>
            </a:p>
          </p:txBody>
        </p:sp>
        <p:sp>
          <p:nvSpPr>
            <p:cNvPr id="70669" name="Rectangle 1036"/>
            <p:cNvSpPr>
              <a:spLocks noChangeArrowheads="1"/>
            </p:cNvSpPr>
            <p:nvPr/>
          </p:nvSpPr>
          <p:spPr bwMode="auto">
            <a:xfrm>
              <a:off x="2967" y="2480"/>
              <a:ext cx="824" cy="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S51:   17 secs</a:t>
              </a:r>
            </a:p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S52:   45</a:t>
              </a:r>
            </a:p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…</a:t>
              </a:r>
            </a:p>
            <a:p>
              <a:pPr eaLnBrk="0" hangingPunct="0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S60:   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748950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AE6D330E-BC68-9647-9372-A664C948F4B6}" type="slidenum">
              <a:rPr lang="en-CA" altLang="zh-TW" sz="2600">
                <a:latin typeface="Arial" charset="0"/>
              </a:rPr>
              <a:pPr eaLnBrk="1" hangingPunct="1"/>
              <a:t>27</a:t>
            </a:fld>
            <a:endParaRPr lang="en-CA" altLang="zh-TW" sz="2600">
              <a:latin typeface="Arial" charset="0"/>
            </a:endParaRPr>
          </a:p>
        </p:txBody>
      </p:sp>
      <p:sp>
        <p:nvSpPr>
          <p:cNvPr id="72706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>
                <a:latin typeface="Arial" charset="0"/>
              </a:rPr>
              <a:t>Anova terminology</a:t>
            </a:r>
          </a:p>
        </p:txBody>
      </p:sp>
      <p:sp>
        <p:nvSpPr>
          <p:cNvPr id="727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-139700" y="962025"/>
            <a:ext cx="8001000" cy="5181600"/>
          </a:xfrm>
          <a:noFill/>
        </p:spPr>
        <p:txBody>
          <a:bodyPr lIns="92075" tIns="46038" rIns="92075" bIns="46038"/>
          <a:lstStyle/>
          <a:p>
            <a:pPr lvl="1" eaLnBrk="1" hangingPunct="1"/>
            <a:r>
              <a:rPr lang="en-US" dirty="0">
                <a:latin typeface="Arial" charset="0"/>
              </a:rPr>
              <a:t>Factorial design</a:t>
            </a:r>
          </a:p>
          <a:p>
            <a:pPr lvl="2" eaLnBrk="1" hangingPunct="1"/>
            <a:r>
              <a:rPr lang="en-US" dirty="0">
                <a:latin typeface="Arial" charset="0"/>
              </a:rPr>
              <a:t>cross combination of levels of one factor with levels of another</a:t>
            </a:r>
          </a:p>
          <a:p>
            <a:pPr lvl="2" eaLnBrk="1" hangingPunct="1"/>
            <a:r>
              <a:rPr lang="en-US" dirty="0" err="1">
                <a:latin typeface="Arial" charset="0"/>
              </a:rPr>
              <a:t>eg</a:t>
            </a:r>
            <a:r>
              <a:rPr lang="en-US" dirty="0">
                <a:latin typeface="Arial" charset="0"/>
              </a:rPr>
              <a:t> keyboard type (3) x expertise (2)</a:t>
            </a:r>
            <a:br>
              <a:rPr lang="en-US" dirty="0">
                <a:latin typeface="Arial" charset="0"/>
              </a:rPr>
            </a:br>
            <a:endParaRPr lang="en-US" dirty="0">
              <a:latin typeface="Arial" charset="0"/>
            </a:endParaRPr>
          </a:p>
          <a:p>
            <a:pPr lvl="1" eaLnBrk="1" hangingPunct="1"/>
            <a:r>
              <a:rPr lang="en-US" dirty="0">
                <a:latin typeface="Arial" charset="0"/>
              </a:rPr>
              <a:t>Cell</a:t>
            </a:r>
          </a:p>
          <a:p>
            <a:pPr lvl="2" eaLnBrk="1" hangingPunct="1"/>
            <a:r>
              <a:rPr lang="en-US" dirty="0">
                <a:latin typeface="Arial" charset="0"/>
              </a:rPr>
              <a:t>unique treatment combination</a:t>
            </a:r>
          </a:p>
          <a:p>
            <a:pPr lvl="2" eaLnBrk="1" hangingPunct="1"/>
            <a:r>
              <a:rPr lang="en-US" dirty="0" err="1">
                <a:latin typeface="Arial" charset="0"/>
              </a:rPr>
              <a:t>eg</a:t>
            </a:r>
            <a:r>
              <a:rPr lang="en-US" dirty="0">
                <a:latin typeface="Arial" charset="0"/>
              </a:rPr>
              <a:t> qwerty x non-typist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endParaRPr lang="en-US" dirty="0">
              <a:latin typeface="Arial" charset="0"/>
            </a:endParaRPr>
          </a:p>
        </p:txBody>
      </p:sp>
      <p:grpSp>
        <p:nvGrpSpPr>
          <p:cNvPr id="72708" name="Group 1047"/>
          <p:cNvGrpSpPr>
            <a:grpSpLocks/>
          </p:cNvGrpSpPr>
          <p:nvPr/>
        </p:nvGrpSpPr>
        <p:grpSpPr bwMode="auto">
          <a:xfrm>
            <a:off x="4111625" y="3352800"/>
            <a:ext cx="4705350" cy="2520950"/>
            <a:chOff x="2074" y="1700"/>
            <a:chExt cx="2964" cy="1588"/>
          </a:xfrm>
        </p:grpSpPr>
        <p:sp>
          <p:nvSpPr>
            <p:cNvPr id="72709" name="Rectangle 1029"/>
            <p:cNvSpPr>
              <a:spLocks noChangeArrowheads="1"/>
            </p:cNvSpPr>
            <p:nvPr/>
          </p:nvSpPr>
          <p:spPr bwMode="auto">
            <a:xfrm>
              <a:off x="3728" y="1922"/>
              <a:ext cx="4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Dvorak</a:t>
              </a:r>
            </a:p>
          </p:txBody>
        </p:sp>
        <p:grpSp>
          <p:nvGrpSpPr>
            <p:cNvPr id="72710" name="Group 1046"/>
            <p:cNvGrpSpPr>
              <a:grpSpLocks/>
            </p:cNvGrpSpPr>
            <p:nvPr/>
          </p:nvGrpSpPr>
          <p:grpSpPr bwMode="auto">
            <a:xfrm>
              <a:off x="2984" y="2100"/>
              <a:ext cx="2054" cy="1188"/>
              <a:chOff x="2984" y="2100"/>
              <a:chExt cx="2054" cy="1188"/>
            </a:xfrm>
          </p:grpSpPr>
          <p:grpSp>
            <p:nvGrpSpPr>
              <p:cNvPr id="72720" name="Group 1031"/>
              <p:cNvGrpSpPr>
                <a:grpSpLocks/>
              </p:cNvGrpSpPr>
              <p:nvPr/>
            </p:nvGrpSpPr>
            <p:grpSpPr bwMode="auto">
              <a:xfrm>
                <a:off x="2984" y="2100"/>
                <a:ext cx="2054" cy="600"/>
                <a:chOff x="2984" y="2100"/>
                <a:chExt cx="2054" cy="600"/>
              </a:xfrm>
            </p:grpSpPr>
            <p:sp>
              <p:nvSpPr>
                <p:cNvPr id="72725" name="Rectangle 1032"/>
                <p:cNvSpPr>
                  <a:spLocks noChangeArrowheads="1"/>
                </p:cNvSpPr>
                <p:nvPr/>
              </p:nvSpPr>
              <p:spPr bwMode="auto">
                <a:xfrm>
                  <a:off x="2984" y="2108"/>
                  <a:ext cx="2054" cy="578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726" name="Line 1033"/>
                <p:cNvSpPr>
                  <a:spLocks noChangeShapeType="1"/>
                </p:cNvSpPr>
                <p:nvPr/>
              </p:nvSpPr>
              <p:spPr bwMode="auto">
                <a:xfrm>
                  <a:off x="3552" y="2100"/>
                  <a:ext cx="0" cy="5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72727" name="Line 1034"/>
                <p:cNvSpPr>
                  <a:spLocks noChangeShapeType="1"/>
                </p:cNvSpPr>
                <p:nvPr/>
              </p:nvSpPr>
              <p:spPr bwMode="auto">
                <a:xfrm>
                  <a:off x="4314" y="2112"/>
                  <a:ext cx="0" cy="5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72721" name="Group 1036"/>
              <p:cNvGrpSpPr>
                <a:grpSpLocks/>
              </p:cNvGrpSpPr>
              <p:nvPr/>
            </p:nvGrpSpPr>
            <p:grpSpPr bwMode="auto">
              <a:xfrm>
                <a:off x="2984" y="2688"/>
                <a:ext cx="2054" cy="600"/>
                <a:chOff x="2984" y="2688"/>
                <a:chExt cx="2054" cy="600"/>
              </a:xfrm>
            </p:grpSpPr>
            <p:sp>
              <p:nvSpPr>
                <p:cNvPr id="72722" name="Rectangle 1037"/>
                <p:cNvSpPr>
                  <a:spLocks noChangeArrowheads="1"/>
                </p:cNvSpPr>
                <p:nvPr/>
              </p:nvSpPr>
              <p:spPr bwMode="auto">
                <a:xfrm>
                  <a:off x="2984" y="2696"/>
                  <a:ext cx="2054" cy="578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723" name="Line 1038"/>
                <p:cNvSpPr>
                  <a:spLocks noChangeShapeType="1"/>
                </p:cNvSpPr>
                <p:nvPr/>
              </p:nvSpPr>
              <p:spPr bwMode="auto">
                <a:xfrm>
                  <a:off x="3552" y="2688"/>
                  <a:ext cx="0" cy="5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72724" name="Line 1039"/>
                <p:cNvSpPr>
                  <a:spLocks noChangeShapeType="1"/>
                </p:cNvSpPr>
                <p:nvPr/>
              </p:nvSpPr>
              <p:spPr bwMode="auto">
                <a:xfrm>
                  <a:off x="4314" y="2700"/>
                  <a:ext cx="0" cy="5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72711" name="Group 1045"/>
            <p:cNvGrpSpPr>
              <a:grpSpLocks/>
            </p:cNvGrpSpPr>
            <p:nvPr/>
          </p:nvGrpSpPr>
          <p:grpSpPr bwMode="auto">
            <a:xfrm>
              <a:off x="2074" y="1700"/>
              <a:ext cx="2911" cy="1386"/>
              <a:chOff x="2074" y="1700"/>
              <a:chExt cx="2911" cy="1386"/>
            </a:xfrm>
          </p:grpSpPr>
          <p:sp>
            <p:nvSpPr>
              <p:cNvPr id="72713" name="Rectangle 1028"/>
              <p:cNvSpPr>
                <a:spLocks noChangeArrowheads="1"/>
              </p:cNvSpPr>
              <p:nvPr/>
            </p:nvSpPr>
            <p:spPr bwMode="auto">
              <a:xfrm>
                <a:off x="3038" y="1910"/>
                <a:ext cx="47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Qwerty</a:t>
                </a:r>
              </a:p>
            </p:txBody>
          </p:sp>
          <p:sp>
            <p:nvSpPr>
              <p:cNvPr id="72714" name="Rectangle 1030"/>
              <p:cNvSpPr>
                <a:spLocks noChangeArrowheads="1"/>
              </p:cNvSpPr>
              <p:nvPr/>
            </p:nvSpPr>
            <p:spPr bwMode="auto">
              <a:xfrm>
                <a:off x="4346" y="1890"/>
                <a:ext cx="63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/>
                <a:r>
                  <a:rPr lang="en-US" sz="1400">
                    <a:latin typeface="Arial" charset="0"/>
                  </a:rPr>
                  <a:t>Alphabetic</a:t>
                </a:r>
              </a:p>
            </p:txBody>
          </p:sp>
          <p:sp>
            <p:nvSpPr>
              <p:cNvPr id="72715" name="Rectangle 1035"/>
              <p:cNvSpPr>
                <a:spLocks noChangeArrowheads="1"/>
              </p:cNvSpPr>
              <p:nvPr/>
            </p:nvSpPr>
            <p:spPr bwMode="auto">
              <a:xfrm>
                <a:off x="3698" y="1700"/>
                <a:ext cx="77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marL="228600" lvl="2" eaLnBrk="0" hangingPunct="0"/>
                <a:r>
                  <a:rPr lang="en-US" sz="1400" b="1">
                    <a:latin typeface="Arial" charset="0"/>
                  </a:rPr>
                  <a:t>Keyboard</a:t>
                </a:r>
              </a:p>
            </p:txBody>
          </p:sp>
          <p:grpSp>
            <p:nvGrpSpPr>
              <p:cNvPr id="72716" name="Group 1040"/>
              <p:cNvGrpSpPr>
                <a:grpSpLocks/>
              </p:cNvGrpSpPr>
              <p:nvPr/>
            </p:nvGrpSpPr>
            <p:grpSpPr bwMode="auto">
              <a:xfrm>
                <a:off x="2074" y="2264"/>
                <a:ext cx="880" cy="822"/>
                <a:chOff x="2074" y="2264"/>
                <a:chExt cx="880" cy="822"/>
              </a:xfrm>
            </p:grpSpPr>
            <p:sp>
              <p:nvSpPr>
                <p:cNvPr id="72717" name="Rectangle 1041"/>
                <p:cNvSpPr>
                  <a:spLocks noChangeArrowheads="1"/>
                </p:cNvSpPr>
                <p:nvPr/>
              </p:nvSpPr>
              <p:spPr bwMode="auto">
                <a:xfrm>
                  <a:off x="2074" y="2516"/>
                  <a:ext cx="60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/>
                <a:p>
                  <a:pPr eaLnBrk="0" hangingPunct="0"/>
                  <a:r>
                    <a:rPr lang="en-US" sz="1400" b="1" dirty="0">
                      <a:latin typeface="Arial" charset="0"/>
                    </a:rPr>
                    <a:t>expertise</a:t>
                  </a:r>
                </a:p>
              </p:txBody>
            </p:sp>
            <p:sp>
              <p:nvSpPr>
                <p:cNvPr id="72718" name="Rectangle 1042"/>
                <p:cNvSpPr>
                  <a:spLocks noChangeArrowheads="1"/>
                </p:cNvSpPr>
                <p:nvPr/>
              </p:nvSpPr>
              <p:spPr bwMode="auto">
                <a:xfrm>
                  <a:off x="2354" y="2264"/>
                  <a:ext cx="60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/>
                <a:p>
                  <a:pPr eaLnBrk="0" hangingPunct="0"/>
                  <a:r>
                    <a:rPr lang="en-US" sz="1400">
                      <a:latin typeface="Arial" charset="0"/>
                    </a:rPr>
                    <a:t>non-typist</a:t>
                  </a:r>
                </a:p>
              </p:txBody>
            </p:sp>
            <p:sp>
              <p:nvSpPr>
                <p:cNvPr id="72719" name="Rectangle 1043"/>
                <p:cNvSpPr>
                  <a:spLocks noChangeArrowheads="1"/>
                </p:cNvSpPr>
                <p:nvPr/>
              </p:nvSpPr>
              <p:spPr bwMode="auto">
                <a:xfrm>
                  <a:off x="2348" y="2894"/>
                  <a:ext cx="37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/>
                <a:p>
                  <a:pPr eaLnBrk="0" hangingPunct="0"/>
                  <a:r>
                    <a:rPr lang="en-US" sz="1400">
                      <a:latin typeface="Arial" charset="0"/>
                    </a:rPr>
                    <a:t>typist</a:t>
                  </a:r>
                </a:p>
              </p:txBody>
            </p:sp>
          </p:grpSp>
        </p:grpSp>
        <p:sp>
          <p:nvSpPr>
            <p:cNvPr id="72712" name="Line 1044"/>
            <p:cNvSpPr>
              <a:spLocks noChangeShapeType="1"/>
            </p:cNvSpPr>
            <p:nvPr/>
          </p:nvSpPr>
          <p:spPr bwMode="auto">
            <a:xfrm>
              <a:off x="2436" y="2082"/>
              <a:ext cx="936" cy="2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05453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306DCE24-2FC5-DD49-8C0F-BC0FCF403B92}" type="slidenum">
              <a:rPr lang="en-CA" altLang="zh-TW" sz="2600">
                <a:latin typeface="Arial" charset="0"/>
              </a:rPr>
              <a:pPr eaLnBrk="1" hangingPunct="1"/>
              <a:t>28</a:t>
            </a:fld>
            <a:endParaRPr lang="en-CA" altLang="zh-TW" sz="2600">
              <a:latin typeface="Arial" charset="0"/>
            </a:endParaRPr>
          </a:p>
        </p:txBody>
      </p:sp>
      <p:sp>
        <p:nvSpPr>
          <p:cNvPr id="74754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>
                <a:latin typeface="Arial" charset="0"/>
              </a:rPr>
              <a:t>Anova terminology</a:t>
            </a:r>
          </a:p>
        </p:txBody>
      </p:sp>
      <p:sp>
        <p:nvSpPr>
          <p:cNvPr id="74755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>
                <a:latin typeface="Arial" charset="0"/>
              </a:rPr>
              <a:t>Mixed factor</a:t>
            </a:r>
          </a:p>
          <a:p>
            <a:pPr lvl="1" eaLnBrk="1" hangingPunct="1"/>
            <a:r>
              <a:rPr lang="en-US">
                <a:latin typeface="Arial" charset="0"/>
              </a:rPr>
              <a:t>contains both between and within subject combinations </a:t>
            </a:r>
          </a:p>
        </p:txBody>
      </p:sp>
      <p:sp>
        <p:nvSpPr>
          <p:cNvPr id="74756" name="Rectangle 1028"/>
          <p:cNvSpPr>
            <a:spLocks noChangeArrowheads="1"/>
          </p:cNvSpPr>
          <p:nvPr/>
        </p:nvSpPr>
        <p:spPr bwMode="auto">
          <a:xfrm>
            <a:off x="4822825" y="3032125"/>
            <a:ext cx="747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400">
                <a:latin typeface="Arial" charset="0"/>
              </a:rPr>
              <a:t>Qwerty</a:t>
            </a:r>
          </a:p>
        </p:txBody>
      </p:sp>
      <p:sp>
        <p:nvSpPr>
          <p:cNvPr id="74757" name="Rectangle 1029"/>
          <p:cNvSpPr>
            <a:spLocks noChangeArrowheads="1"/>
          </p:cNvSpPr>
          <p:nvPr/>
        </p:nvSpPr>
        <p:spPr bwMode="auto">
          <a:xfrm>
            <a:off x="5918200" y="3051175"/>
            <a:ext cx="747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400">
                <a:latin typeface="Arial" charset="0"/>
              </a:rPr>
              <a:t>Dvorak</a:t>
            </a:r>
          </a:p>
        </p:txBody>
      </p:sp>
      <p:sp>
        <p:nvSpPr>
          <p:cNvPr id="74758" name="Rectangle 1030"/>
          <p:cNvSpPr>
            <a:spLocks noChangeArrowheads="1"/>
          </p:cNvSpPr>
          <p:nvPr/>
        </p:nvSpPr>
        <p:spPr bwMode="auto">
          <a:xfrm>
            <a:off x="6899275" y="3038475"/>
            <a:ext cx="10144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1400">
                <a:latin typeface="Arial" charset="0"/>
              </a:rPr>
              <a:t>Alphabetic</a:t>
            </a:r>
          </a:p>
        </p:txBody>
      </p:sp>
      <p:grpSp>
        <p:nvGrpSpPr>
          <p:cNvPr id="74759" name="Group 1031"/>
          <p:cNvGrpSpPr>
            <a:grpSpLocks/>
          </p:cNvGrpSpPr>
          <p:nvPr/>
        </p:nvGrpSpPr>
        <p:grpSpPr bwMode="auto">
          <a:xfrm>
            <a:off x="4737100" y="3333750"/>
            <a:ext cx="3260725" cy="952500"/>
            <a:chOff x="2984" y="2100"/>
            <a:chExt cx="2054" cy="600"/>
          </a:xfrm>
        </p:grpSpPr>
        <p:sp>
          <p:nvSpPr>
            <p:cNvPr id="74775" name="Rectangle 1032"/>
            <p:cNvSpPr>
              <a:spLocks noChangeArrowheads="1"/>
            </p:cNvSpPr>
            <p:nvPr/>
          </p:nvSpPr>
          <p:spPr bwMode="auto">
            <a:xfrm>
              <a:off x="2984" y="2108"/>
              <a:ext cx="2054" cy="57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776" name="Line 1033"/>
            <p:cNvSpPr>
              <a:spLocks noChangeShapeType="1"/>
            </p:cNvSpPr>
            <p:nvPr/>
          </p:nvSpPr>
          <p:spPr bwMode="auto">
            <a:xfrm>
              <a:off x="3552" y="2100"/>
              <a:ext cx="0" cy="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4777" name="Line 1034"/>
            <p:cNvSpPr>
              <a:spLocks noChangeShapeType="1"/>
            </p:cNvSpPr>
            <p:nvPr/>
          </p:nvSpPr>
          <p:spPr bwMode="auto">
            <a:xfrm>
              <a:off x="4314" y="2112"/>
              <a:ext cx="0" cy="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74760" name="Rectangle 1035"/>
          <p:cNvSpPr>
            <a:spLocks noChangeArrowheads="1"/>
          </p:cNvSpPr>
          <p:nvPr/>
        </p:nvSpPr>
        <p:spPr bwMode="auto">
          <a:xfrm>
            <a:off x="5870575" y="2698750"/>
            <a:ext cx="1233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marL="228600" lvl="2" eaLnBrk="0" hangingPunct="0"/>
            <a:r>
              <a:rPr lang="en-US" sz="1400" b="1">
                <a:latin typeface="Arial" charset="0"/>
              </a:rPr>
              <a:t>Keyboard</a:t>
            </a:r>
          </a:p>
        </p:txBody>
      </p:sp>
      <p:grpSp>
        <p:nvGrpSpPr>
          <p:cNvPr id="74761" name="Group 1036"/>
          <p:cNvGrpSpPr>
            <a:grpSpLocks/>
          </p:cNvGrpSpPr>
          <p:nvPr/>
        </p:nvGrpSpPr>
        <p:grpSpPr bwMode="auto">
          <a:xfrm>
            <a:off x="4737100" y="4267200"/>
            <a:ext cx="3260725" cy="952500"/>
            <a:chOff x="2984" y="2688"/>
            <a:chExt cx="2054" cy="600"/>
          </a:xfrm>
        </p:grpSpPr>
        <p:sp>
          <p:nvSpPr>
            <p:cNvPr id="74772" name="Rectangle 1037"/>
            <p:cNvSpPr>
              <a:spLocks noChangeArrowheads="1"/>
            </p:cNvSpPr>
            <p:nvPr/>
          </p:nvSpPr>
          <p:spPr bwMode="auto">
            <a:xfrm>
              <a:off x="2984" y="2696"/>
              <a:ext cx="2054" cy="57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773" name="Line 1038"/>
            <p:cNvSpPr>
              <a:spLocks noChangeShapeType="1"/>
            </p:cNvSpPr>
            <p:nvPr/>
          </p:nvSpPr>
          <p:spPr bwMode="auto">
            <a:xfrm>
              <a:off x="3552" y="2688"/>
              <a:ext cx="0" cy="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4774" name="Line 1039"/>
            <p:cNvSpPr>
              <a:spLocks noChangeShapeType="1"/>
            </p:cNvSpPr>
            <p:nvPr/>
          </p:nvSpPr>
          <p:spPr bwMode="auto">
            <a:xfrm>
              <a:off x="4314" y="2700"/>
              <a:ext cx="0" cy="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74762" name="Rectangle 1040"/>
          <p:cNvSpPr>
            <a:spLocks noChangeArrowheads="1"/>
          </p:cNvSpPr>
          <p:nvPr/>
        </p:nvSpPr>
        <p:spPr bwMode="auto">
          <a:xfrm>
            <a:off x="4832350" y="3594100"/>
            <a:ext cx="6588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400" i="1">
                <a:latin typeface="Arial" charset="0"/>
              </a:rPr>
              <a:t>S1-20</a:t>
            </a:r>
          </a:p>
        </p:txBody>
      </p:sp>
      <p:sp>
        <p:nvSpPr>
          <p:cNvPr id="74763" name="Rectangle 1041"/>
          <p:cNvSpPr>
            <a:spLocks noChangeArrowheads="1"/>
          </p:cNvSpPr>
          <p:nvPr/>
        </p:nvSpPr>
        <p:spPr bwMode="auto">
          <a:xfrm>
            <a:off x="5880100" y="3575050"/>
            <a:ext cx="825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1400" i="1">
                <a:latin typeface="Arial" charset="0"/>
              </a:rPr>
              <a:t>S1-20</a:t>
            </a:r>
          </a:p>
        </p:txBody>
      </p:sp>
      <p:sp>
        <p:nvSpPr>
          <p:cNvPr id="74764" name="Rectangle 1042"/>
          <p:cNvSpPr>
            <a:spLocks noChangeArrowheads="1"/>
          </p:cNvSpPr>
          <p:nvPr/>
        </p:nvSpPr>
        <p:spPr bwMode="auto">
          <a:xfrm>
            <a:off x="6975475" y="3603625"/>
            <a:ext cx="796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1400" i="1">
                <a:latin typeface="Arial" charset="0"/>
              </a:rPr>
              <a:t>S1-20</a:t>
            </a:r>
          </a:p>
        </p:txBody>
      </p:sp>
      <p:sp>
        <p:nvSpPr>
          <p:cNvPr id="74765" name="Rectangle 1043"/>
          <p:cNvSpPr>
            <a:spLocks noChangeArrowheads="1"/>
          </p:cNvSpPr>
          <p:nvPr/>
        </p:nvSpPr>
        <p:spPr bwMode="auto">
          <a:xfrm>
            <a:off x="4860925" y="4603750"/>
            <a:ext cx="854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1400" i="1">
                <a:latin typeface="Arial" charset="0"/>
              </a:rPr>
              <a:t>S21-40</a:t>
            </a:r>
          </a:p>
        </p:txBody>
      </p:sp>
      <p:sp>
        <p:nvSpPr>
          <p:cNvPr id="74766" name="Rectangle 1044"/>
          <p:cNvSpPr>
            <a:spLocks noChangeArrowheads="1"/>
          </p:cNvSpPr>
          <p:nvPr/>
        </p:nvSpPr>
        <p:spPr bwMode="auto">
          <a:xfrm>
            <a:off x="5908675" y="4584700"/>
            <a:ext cx="7572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400" i="1">
                <a:latin typeface="Arial" charset="0"/>
              </a:rPr>
              <a:t>S21-40</a:t>
            </a:r>
          </a:p>
        </p:txBody>
      </p:sp>
      <p:sp>
        <p:nvSpPr>
          <p:cNvPr id="74767" name="Rectangle 1045"/>
          <p:cNvSpPr>
            <a:spLocks noChangeArrowheads="1"/>
          </p:cNvSpPr>
          <p:nvPr/>
        </p:nvSpPr>
        <p:spPr bwMode="auto">
          <a:xfrm>
            <a:off x="7004050" y="4613275"/>
            <a:ext cx="844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1400" i="1">
                <a:latin typeface="Arial" charset="0"/>
              </a:rPr>
              <a:t>S21-40</a:t>
            </a:r>
          </a:p>
        </p:txBody>
      </p:sp>
      <p:grpSp>
        <p:nvGrpSpPr>
          <p:cNvPr id="74768" name="Group 1046"/>
          <p:cNvGrpSpPr>
            <a:grpSpLocks/>
          </p:cNvGrpSpPr>
          <p:nvPr/>
        </p:nvGrpSpPr>
        <p:grpSpPr bwMode="auto">
          <a:xfrm>
            <a:off x="2898775" y="3594100"/>
            <a:ext cx="1793875" cy="1304925"/>
            <a:chOff x="1826" y="2264"/>
            <a:chExt cx="1130" cy="822"/>
          </a:xfrm>
        </p:grpSpPr>
        <p:sp>
          <p:nvSpPr>
            <p:cNvPr id="74769" name="Rectangle 1047"/>
            <p:cNvSpPr>
              <a:spLocks noChangeArrowheads="1"/>
            </p:cNvSpPr>
            <p:nvPr/>
          </p:nvSpPr>
          <p:spPr bwMode="auto">
            <a:xfrm>
              <a:off x="1826" y="2516"/>
              <a:ext cx="60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>
                  <a:latin typeface="Arial" charset="0"/>
                </a:rPr>
                <a:t>expertise</a:t>
              </a:r>
            </a:p>
          </p:txBody>
        </p:sp>
        <p:sp>
          <p:nvSpPr>
            <p:cNvPr id="74770" name="Rectangle 1048"/>
            <p:cNvSpPr>
              <a:spLocks noChangeArrowheads="1"/>
            </p:cNvSpPr>
            <p:nvPr/>
          </p:nvSpPr>
          <p:spPr bwMode="auto">
            <a:xfrm>
              <a:off x="2354" y="2264"/>
              <a:ext cx="60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non-typist</a:t>
              </a:r>
            </a:p>
          </p:txBody>
        </p:sp>
        <p:sp>
          <p:nvSpPr>
            <p:cNvPr id="74771" name="Rectangle 1049"/>
            <p:cNvSpPr>
              <a:spLocks noChangeArrowheads="1"/>
            </p:cNvSpPr>
            <p:nvPr/>
          </p:nvSpPr>
          <p:spPr bwMode="auto">
            <a:xfrm>
              <a:off x="2348" y="2894"/>
              <a:ext cx="3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typist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74313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2062DA22-9011-F447-8507-75978FC5C6A8}" type="slidenum">
              <a:rPr lang="en-CA" altLang="zh-TW" sz="2600">
                <a:latin typeface="Arial" charset="0"/>
              </a:rPr>
              <a:pPr eaLnBrk="1" hangingPunct="1"/>
              <a:t>29</a:t>
            </a:fld>
            <a:endParaRPr lang="en-CA" altLang="zh-TW" sz="2600">
              <a:latin typeface="Arial" charset="0"/>
            </a:endParaRPr>
          </a:p>
        </p:txBody>
      </p:sp>
      <p:sp>
        <p:nvSpPr>
          <p:cNvPr id="76802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>
                <a:latin typeface="Arial" charset="0"/>
              </a:rPr>
              <a:t>Anova</a:t>
            </a:r>
          </a:p>
        </p:txBody>
      </p:sp>
      <p:sp>
        <p:nvSpPr>
          <p:cNvPr id="7680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2400" dirty="0">
                <a:latin typeface="Arial" charset="0"/>
              </a:rPr>
              <a:t>Compares the relationships between many factors</a:t>
            </a:r>
          </a:p>
          <a:p>
            <a:pPr eaLnBrk="1" hangingPunct="1"/>
            <a:r>
              <a:rPr lang="en-US" sz="2400" dirty="0">
                <a:latin typeface="Arial" charset="0"/>
              </a:rPr>
              <a:t>Provides more informed results</a:t>
            </a:r>
          </a:p>
          <a:p>
            <a:pPr lvl="1" eaLnBrk="1" hangingPunct="1"/>
            <a:r>
              <a:rPr lang="en-US" sz="2000" dirty="0">
                <a:latin typeface="Arial" charset="0"/>
              </a:rPr>
              <a:t>considers the interactions between factors</a:t>
            </a:r>
          </a:p>
          <a:p>
            <a:pPr lvl="1" eaLnBrk="1" hangingPunct="1"/>
            <a:r>
              <a:rPr lang="en-US" sz="2000" dirty="0" err="1">
                <a:latin typeface="Arial" charset="0"/>
              </a:rPr>
              <a:t>eg</a:t>
            </a:r>
            <a:r>
              <a:rPr lang="en-US" sz="2000" dirty="0">
                <a:latin typeface="Arial" charset="0"/>
              </a:rPr>
              <a:t> </a:t>
            </a:r>
          </a:p>
          <a:p>
            <a:pPr lvl="2" eaLnBrk="1" hangingPunct="1"/>
            <a:r>
              <a:rPr lang="en-US" sz="1800" dirty="0">
                <a:latin typeface="Arial" charset="0"/>
              </a:rPr>
              <a:t>typists type faster on Qwerty, than on alphabetic and Dvorak</a:t>
            </a:r>
          </a:p>
          <a:p>
            <a:pPr lvl="2" eaLnBrk="1" hangingPunct="1"/>
            <a:r>
              <a:rPr lang="en-US" sz="1800" dirty="0">
                <a:latin typeface="Arial" charset="0"/>
              </a:rPr>
              <a:t>there is no difference in typing speeds for non-typists across all keyboards</a:t>
            </a:r>
          </a:p>
        </p:txBody>
      </p:sp>
      <p:sp>
        <p:nvSpPr>
          <p:cNvPr id="76804" name="Rectangle 1028"/>
          <p:cNvSpPr>
            <a:spLocks noChangeArrowheads="1"/>
          </p:cNvSpPr>
          <p:nvPr/>
        </p:nvSpPr>
        <p:spPr bwMode="auto">
          <a:xfrm>
            <a:off x="5222875" y="4281488"/>
            <a:ext cx="1103313" cy="9620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805" name="Rectangle 1029"/>
          <p:cNvSpPr>
            <a:spLocks noChangeArrowheads="1"/>
          </p:cNvSpPr>
          <p:nvPr/>
        </p:nvSpPr>
        <p:spPr bwMode="auto">
          <a:xfrm>
            <a:off x="6346825" y="4281488"/>
            <a:ext cx="1104900" cy="9620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806" name="Rectangle 1030"/>
          <p:cNvSpPr>
            <a:spLocks noChangeArrowheads="1"/>
          </p:cNvSpPr>
          <p:nvPr/>
        </p:nvSpPr>
        <p:spPr bwMode="auto">
          <a:xfrm>
            <a:off x="7462838" y="4281488"/>
            <a:ext cx="1103312" cy="9620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807" name="Rectangle 1031"/>
          <p:cNvSpPr>
            <a:spLocks noChangeArrowheads="1"/>
          </p:cNvSpPr>
          <p:nvPr/>
        </p:nvSpPr>
        <p:spPr bwMode="auto">
          <a:xfrm>
            <a:off x="5233988" y="3990975"/>
            <a:ext cx="827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Arial" charset="0"/>
              </a:rPr>
              <a:t>Qwerty</a:t>
            </a:r>
          </a:p>
        </p:txBody>
      </p:sp>
      <p:sp>
        <p:nvSpPr>
          <p:cNvPr id="76808" name="Rectangle 1032"/>
          <p:cNvSpPr>
            <a:spLocks noChangeArrowheads="1"/>
          </p:cNvSpPr>
          <p:nvPr/>
        </p:nvSpPr>
        <p:spPr bwMode="auto">
          <a:xfrm>
            <a:off x="6391275" y="3971925"/>
            <a:ext cx="1133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Arial" charset="0"/>
              </a:rPr>
              <a:t>Alphabetic</a:t>
            </a:r>
          </a:p>
        </p:txBody>
      </p:sp>
      <p:sp>
        <p:nvSpPr>
          <p:cNvPr id="76809" name="Rectangle 1033"/>
          <p:cNvSpPr>
            <a:spLocks noChangeArrowheads="1"/>
          </p:cNvSpPr>
          <p:nvPr/>
        </p:nvSpPr>
        <p:spPr bwMode="auto">
          <a:xfrm>
            <a:off x="7645400" y="3981450"/>
            <a:ext cx="8270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Arial" charset="0"/>
              </a:rPr>
              <a:t>Dvorak</a:t>
            </a:r>
          </a:p>
        </p:txBody>
      </p:sp>
      <p:sp>
        <p:nvSpPr>
          <p:cNvPr id="76810" name="Rectangle 1034"/>
          <p:cNvSpPr>
            <a:spLocks noChangeArrowheads="1"/>
          </p:cNvSpPr>
          <p:nvPr/>
        </p:nvSpPr>
        <p:spPr bwMode="auto">
          <a:xfrm>
            <a:off x="5308600" y="4575175"/>
            <a:ext cx="862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Arial" charset="0"/>
              </a:rPr>
              <a:t>S1-S10</a:t>
            </a:r>
          </a:p>
        </p:txBody>
      </p:sp>
      <p:sp>
        <p:nvSpPr>
          <p:cNvPr id="76811" name="Rectangle 1035"/>
          <p:cNvSpPr>
            <a:spLocks noChangeArrowheads="1"/>
          </p:cNvSpPr>
          <p:nvPr/>
        </p:nvSpPr>
        <p:spPr bwMode="auto">
          <a:xfrm>
            <a:off x="6510338" y="4564063"/>
            <a:ext cx="974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Arial" charset="0"/>
              </a:rPr>
              <a:t>S11-S20</a:t>
            </a:r>
          </a:p>
        </p:txBody>
      </p:sp>
      <p:sp>
        <p:nvSpPr>
          <p:cNvPr id="76812" name="Rectangle 1036"/>
          <p:cNvSpPr>
            <a:spLocks noChangeArrowheads="1"/>
          </p:cNvSpPr>
          <p:nvPr/>
        </p:nvSpPr>
        <p:spPr bwMode="auto">
          <a:xfrm>
            <a:off x="7708900" y="4554538"/>
            <a:ext cx="974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Arial" charset="0"/>
              </a:rPr>
              <a:t>S21-S30</a:t>
            </a:r>
          </a:p>
        </p:txBody>
      </p:sp>
      <p:sp>
        <p:nvSpPr>
          <p:cNvPr id="76813" name="Rectangle 1037"/>
          <p:cNvSpPr>
            <a:spLocks noChangeArrowheads="1"/>
          </p:cNvSpPr>
          <p:nvPr/>
        </p:nvSpPr>
        <p:spPr bwMode="auto">
          <a:xfrm>
            <a:off x="5222875" y="5254625"/>
            <a:ext cx="1103313" cy="9620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814" name="Rectangle 1038"/>
          <p:cNvSpPr>
            <a:spLocks noChangeArrowheads="1"/>
          </p:cNvSpPr>
          <p:nvPr/>
        </p:nvSpPr>
        <p:spPr bwMode="auto">
          <a:xfrm>
            <a:off x="6346825" y="5254625"/>
            <a:ext cx="1104900" cy="9620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815" name="Rectangle 1039"/>
          <p:cNvSpPr>
            <a:spLocks noChangeArrowheads="1"/>
          </p:cNvSpPr>
          <p:nvPr/>
        </p:nvSpPr>
        <p:spPr bwMode="auto">
          <a:xfrm>
            <a:off x="7462838" y="5254625"/>
            <a:ext cx="1103312" cy="9620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816" name="Rectangle 1040"/>
          <p:cNvSpPr>
            <a:spLocks noChangeArrowheads="1"/>
          </p:cNvSpPr>
          <p:nvPr/>
        </p:nvSpPr>
        <p:spPr bwMode="auto">
          <a:xfrm>
            <a:off x="5308600" y="5548313"/>
            <a:ext cx="974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Arial" charset="0"/>
              </a:rPr>
              <a:t>S31-S40</a:t>
            </a:r>
          </a:p>
        </p:txBody>
      </p:sp>
      <p:sp>
        <p:nvSpPr>
          <p:cNvPr id="76817" name="Rectangle 1041"/>
          <p:cNvSpPr>
            <a:spLocks noChangeArrowheads="1"/>
          </p:cNvSpPr>
          <p:nvPr/>
        </p:nvSpPr>
        <p:spPr bwMode="auto">
          <a:xfrm>
            <a:off x="6510338" y="5538788"/>
            <a:ext cx="974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Arial" charset="0"/>
              </a:rPr>
              <a:t>S41-S50</a:t>
            </a:r>
          </a:p>
        </p:txBody>
      </p:sp>
      <p:sp>
        <p:nvSpPr>
          <p:cNvPr id="76818" name="Rectangle 1042"/>
          <p:cNvSpPr>
            <a:spLocks noChangeArrowheads="1"/>
          </p:cNvSpPr>
          <p:nvPr/>
        </p:nvSpPr>
        <p:spPr bwMode="auto">
          <a:xfrm>
            <a:off x="7708900" y="5529263"/>
            <a:ext cx="974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Arial" charset="0"/>
              </a:rPr>
              <a:t>S51-S60</a:t>
            </a:r>
          </a:p>
        </p:txBody>
      </p:sp>
      <p:sp>
        <p:nvSpPr>
          <p:cNvPr id="76819" name="Rectangle 1043"/>
          <p:cNvSpPr>
            <a:spLocks noChangeArrowheads="1"/>
          </p:cNvSpPr>
          <p:nvPr/>
        </p:nvSpPr>
        <p:spPr bwMode="auto">
          <a:xfrm>
            <a:off x="4162425" y="4711700"/>
            <a:ext cx="1555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0" name="Rectangle 1044"/>
          <p:cNvSpPr>
            <a:spLocks noChangeArrowheads="1"/>
          </p:cNvSpPr>
          <p:nvPr/>
        </p:nvSpPr>
        <p:spPr bwMode="auto">
          <a:xfrm>
            <a:off x="4203700" y="4632325"/>
            <a:ext cx="955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400">
                <a:latin typeface="Arial" charset="0"/>
              </a:rPr>
              <a:t>non-typist</a:t>
            </a:r>
          </a:p>
        </p:txBody>
      </p:sp>
      <p:sp>
        <p:nvSpPr>
          <p:cNvPr id="76821" name="Rectangle 1045"/>
          <p:cNvSpPr>
            <a:spLocks noChangeArrowheads="1"/>
          </p:cNvSpPr>
          <p:nvPr/>
        </p:nvSpPr>
        <p:spPr bwMode="auto">
          <a:xfrm>
            <a:off x="4194175" y="5632450"/>
            <a:ext cx="59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400">
                <a:latin typeface="Arial" charset="0"/>
              </a:rPr>
              <a:t>typist</a:t>
            </a:r>
          </a:p>
        </p:txBody>
      </p:sp>
    </p:spTree>
    <p:extLst>
      <p:ext uri="{BB962C8B-B14F-4D97-AF65-F5344CB8AC3E}">
        <p14:creationId xmlns:p14="http://schemas.microsoft.com/office/powerpoint/2010/main" val="122650304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/>
          <a:srcRect t="19134"/>
          <a:stretch/>
        </p:blipFill>
        <p:spPr>
          <a:xfrm>
            <a:off x="6835775" y="-1"/>
            <a:ext cx="2273300" cy="1838325"/>
          </a:xfrm>
          <a:prstGeom prst="rect">
            <a:avLst/>
          </a:prstGeom>
        </p:spPr>
      </p:pic>
      <p:sp>
        <p:nvSpPr>
          <p:cNvPr id="788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BCADE42A-165C-6844-B515-BC9B1D080BFA}" type="slidenum">
              <a:rPr lang="en-CA" altLang="zh-TW" sz="2600">
                <a:latin typeface="Arial" charset="0"/>
              </a:rPr>
              <a:pPr eaLnBrk="1" hangingPunct="1"/>
              <a:t>30</a:t>
            </a:fld>
            <a:endParaRPr lang="en-CA" altLang="zh-TW" sz="2600">
              <a:latin typeface="Arial" charset="0"/>
            </a:endParaRPr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>
                <a:latin typeface="Arial" charset="0"/>
              </a:rPr>
              <a:t>Anova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charset="0"/>
              </a:rPr>
              <a:t>In reality, we can rarely look at one variable at a time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charset="0"/>
              </a:rPr>
              <a:t>Example: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t-test: </a:t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>    Subjects who use crest have fewer                                                                                                                                                                  	  cavities</a:t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/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/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/>
            </a:r>
            <a:br>
              <a:rPr lang="en-US" sz="2000" dirty="0">
                <a:latin typeface="Arial" charset="0"/>
              </a:rPr>
            </a:br>
            <a:endParaRPr lang="en-US" sz="2000" dirty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>
                <a:latin typeface="Arial" charset="0"/>
              </a:rPr>
              <a:t>anova</a:t>
            </a:r>
            <a:r>
              <a:rPr lang="en-US" sz="2000" dirty="0">
                <a:latin typeface="Arial" charset="0"/>
              </a:rPr>
              <a:t>: toothpaste x age</a:t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/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>    Subjects who are 12 or less have</a:t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>    fewer cavities with crest.</a:t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/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>    Subjects who are older than 12 have</a:t>
            </a:r>
            <a:br>
              <a:rPr lang="en-US" sz="2000" dirty="0">
                <a:latin typeface="Arial" charset="0"/>
              </a:rPr>
            </a:br>
            <a:r>
              <a:rPr lang="en-US" sz="2000" dirty="0">
                <a:latin typeface="Arial" charset="0"/>
              </a:rPr>
              <a:t>    fewer cavities with no-teeth.</a:t>
            </a:r>
          </a:p>
        </p:txBody>
      </p:sp>
      <p:grpSp>
        <p:nvGrpSpPr>
          <p:cNvPr id="78852" name="Group 35"/>
          <p:cNvGrpSpPr>
            <a:grpSpLocks/>
          </p:cNvGrpSpPr>
          <p:nvPr/>
        </p:nvGrpSpPr>
        <p:grpSpPr bwMode="auto">
          <a:xfrm>
            <a:off x="5680075" y="1939925"/>
            <a:ext cx="2767013" cy="1946275"/>
            <a:chOff x="3578" y="1056"/>
            <a:chExt cx="1743" cy="1226"/>
          </a:xfrm>
        </p:grpSpPr>
        <p:grpSp>
          <p:nvGrpSpPr>
            <p:cNvPr id="78876" name="Group 4"/>
            <p:cNvGrpSpPr>
              <a:grpSpLocks/>
            </p:cNvGrpSpPr>
            <p:nvPr/>
          </p:nvGrpSpPr>
          <p:grpSpPr bwMode="auto">
            <a:xfrm>
              <a:off x="4146" y="1104"/>
              <a:ext cx="1086" cy="930"/>
              <a:chOff x="4146" y="1104"/>
              <a:chExt cx="1086" cy="930"/>
            </a:xfrm>
          </p:grpSpPr>
          <p:sp>
            <p:nvSpPr>
              <p:cNvPr id="78882" name="Line 5"/>
              <p:cNvSpPr>
                <a:spLocks noChangeShapeType="1"/>
              </p:cNvSpPr>
              <p:nvPr/>
            </p:nvSpPr>
            <p:spPr bwMode="auto">
              <a:xfrm>
                <a:off x="4146" y="1104"/>
                <a:ext cx="0" cy="9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8883" name="Line 6"/>
              <p:cNvSpPr>
                <a:spLocks noChangeShapeType="1"/>
              </p:cNvSpPr>
              <p:nvPr/>
            </p:nvSpPr>
            <p:spPr bwMode="auto">
              <a:xfrm flipH="1">
                <a:off x="4152" y="2034"/>
                <a:ext cx="1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78877" name="Rectangle 7"/>
            <p:cNvSpPr>
              <a:spLocks noChangeArrowheads="1"/>
            </p:cNvSpPr>
            <p:nvPr/>
          </p:nvSpPr>
          <p:spPr bwMode="auto">
            <a:xfrm>
              <a:off x="3578" y="1526"/>
              <a:ext cx="4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cavities</a:t>
              </a:r>
            </a:p>
          </p:txBody>
        </p:sp>
        <p:sp>
          <p:nvSpPr>
            <p:cNvPr id="78878" name="Rectangle 8"/>
            <p:cNvSpPr>
              <a:spLocks noChangeArrowheads="1"/>
            </p:cNvSpPr>
            <p:nvPr/>
          </p:nvSpPr>
          <p:spPr bwMode="auto">
            <a:xfrm>
              <a:off x="3956" y="189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0</a:t>
              </a:r>
            </a:p>
          </p:txBody>
        </p:sp>
        <p:sp>
          <p:nvSpPr>
            <p:cNvPr id="78879" name="Rectangle 9"/>
            <p:cNvSpPr>
              <a:spLocks noChangeArrowheads="1"/>
            </p:cNvSpPr>
            <p:nvPr/>
          </p:nvSpPr>
          <p:spPr bwMode="auto">
            <a:xfrm>
              <a:off x="3936" y="105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5</a:t>
              </a:r>
            </a:p>
          </p:txBody>
        </p:sp>
        <p:sp>
          <p:nvSpPr>
            <p:cNvPr id="78880" name="Rectangle 10"/>
            <p:cNvSpPr>
              <a:spLocks noChangeArrowheads="1"/>
            </p:cNvSpPr>
            <p:nvPr/>
          </p:nvSpPr>
          <p:spPr bwMode="auto">
            <a:xfrm>
              <a:off x="4184" y="2072"/>
              <a:ext cx="35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crest</a:t>
              </a:r>
            </a:p>
          </p:txBody>
        </p:sp>
        <p:sp>
          <p:nvSpPr>
            <p:cNvPr id="78881" name="Rectangle 11"/>
            <p:cNvSpPr>
              <a:spLocks noChangeArrowheads="1"/>
            </p:cNvSpPr>
            <p:nvPr/>
          </p:nvSpPr>
          <p:spPr bwMode="auto">
            <a:xfrm>
              <a:off x="4796" y="2090"/>
              <a:ext cx="52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dirty="0" smtClean="0">
                  <a:latin typeface="Arial" charset="0"/>
                </a:rPr>
                <a:t>no-teeth</a:t>
              </a:r>
              <a:endParaRPr lang="en-US" sz="1400" dirty="0">
                <a:latin typeface="Arial" charset="0"/>
              </a:endParaRPr>
            </a:p>
          </p:txBody>
        </p:sp>
      </p:grpSp>
      <p:sp>
        <p:nvSpPr>
          <p:cNvPr id="78853" name="Oval 12"/>
          <p:cNvSpPr>
            <a:spLocks noChangeArrowheads="1"/>
          </p:cNvSpPr>
          <p:nvPr/>
        </p:nvSpPr>
        <p:spPr bwMode="auto">
          <a:xfrm flipH="1">
            <a:off x="6924675" y="2914650"/>
            <a:ext cx="9525" cy="19050"/>
          </a:xfrm>
          <a:prstGeom prst="ellips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4" name="Oval 13"/>
          <p:cNvSpPr>
            <a:spLocks noChangeArrowheads="1"/>
          </p:cNvSpPr>
          <p:nvPr/>
        </p:nvSpPr>
        <p:spPr bwMode="auto">
          <a:xfrm flipH="1">
            <a:off x="7962900" y="2105025"/>
            <a:ext cx="9525" cy="19050"/>
          </a:xfrm>
          <a:prstGeom prst="ellips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8855" name="Group 14"/>
          <p:cNvGrpSpPr>
            <a:grpSpLocks/>
          </p:cNvGrpSpPr>
          <p:nvPr/>
        </p:nvGrpSpPr>
        <p:grpSpPr bwMode="auto">
          <a:xfrm>
            <a:off x="5661025" y="4170363"/>
            <a:ext cx="2770188" cy="1985962"/>
            <a:chOff x="3566" y="2627"/>
            <a:chExt cx="1745" cy="1251"/>
          </a:xfrm>
        </p:grpSpPr>
        <p:grpSp>
          <p:nvGrpSpPr>
            <p:cNvPr id="78856" name="Group 15"/>
            <p:cNvGrpSpPr>
              <a:grpSpLocks/>
            </p:cNvGrpSpPr>
            <p:nvPr/>
          </p:nvGrpSpPr>
          <p:grpSpPr bwMode="auto">
            <a:xfrm>
              <a:off x="4134" y="2700"/>
              <a:ext cx="1086" cy="930"/>
              <a:chOff x="4134" y="2700"/>
              <a:chExt cx="1086" cy="930"/>
            </a:xfrm>
          </p:grpSpPr>
          <p:sp>
            <p:nvSpPr>
              <p:cNvPr id="78874" name="Line 16"/>
              <p:cNvSpPr>
                <a:spLocks noChangeShapeType="1"/>
              </p:cNvSpPr>
              <p:nvPr/>
            </p:nvSpPr>
            <p:spPr bwMode="auto">
              <a:xfrm>
                <a:off x="4134" y="2700"/>
                <a:ext cx="0" cy="9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8875" name="Line 17"/>
              <p:cNvSpPr>
                <a:spLocks noChangeShapeType="1"/>
              </p:cNvSpPr>
              <p:nvPr/>
            </p:nvSpPr>
            <p:spPr bwMode="auto">
              <a:xfrm flipH="1">
                <a:off x="4140" y="3630"/>
                <a:ext cx="1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78857" name="Rectangle 18"/>
            <p:cNvSpPr>
              <a:spLocks noChangeArrowheads="1"/>
            </p:cNvSpPr>
            <p:nvPr/>
          </p:nvSpPr>
          <p:spPr bwMode="auto">
            <a:xfrm>
              <a:off x="3566" y="3122"/>
              <a:ext cx="4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cavities</a:t>
              </a:r>
            </a:p>
          </p:txBody>
        </p:sp>
        <p:sp>
          <p:nvSpPr>
            <p:cNvPr id="78858" name="Rectangle 19"/>
            <p:cNvSpPr>
              <a:spLocks noChangeArrowheads="1"/>
            </p:cNvSpPr>
            <p:nvPr/>
          </p:nvSpPr>
          <p:spPr bwMode="auto">
            <a:xfrm>
              <a:off x="3944" y="3494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0</a:t>
              </a:r>
            </a:p>
          </p:txBody>
        </p:sp>
        <p:sp>
          <p:nvSpPr>
            <p:cNvPr id="78859" name="Rectangle 20"/>
            <p:cNvSpPr>
              <a:spLocks noChangeArrowheads="1"/>
            </p:cNvSpPr>
            <p:nvPr/>
          </p:nvSpPr>
          <p:spPr bwMode="auto">
            <a:xfrm>
              <a:off x="3938" y="267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5</a:t>
              </a:r>
            </a:p>
          </p:txBody>
        </p:sp>
        <p:sp>
          <p:nvSpPr>
            <p:cNvPr id="78860" name="Rectangle 21"/>
            <p:cNvSpPr>
              <a:spLocks noChangeArrowheads="1"/>
            </p:cNvSpPr>
            <p:nvPr/>
          </p:nvSpPr>
          <p:spPr bwMode="auto">
            <a:xfrm>
              <a:off x="4172" y="3668"/>
              <a:ext cx="35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crest</a:t>
              </a:r>
            </a:p>
          </p:txBody>
        </p:sp>
        <p:sp>
          <p:nvSpPr>
            <p:cNvPr id="78861" name="Rectangle 22"/>
            <p:cNvSpPr>
              <a:spLocks noChangeArrowheads="1"/>
            </p:cNvSpPr>
            <p:nvPr/>
          </p:nvSpPr>
          <p:spPr bwMode="auto">
            <a:xfrm>
              <a:off x="4784" y="3686"/>
              <a:ext cx="5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no-teeth</a:t>
              </a:r>
            </a:p>
          </p:txBody>
        </p:sp>
        <p:sp>
          <p:nvSpPr>
            <p:cNvPr id="78862" name="Oval 23"/>
            <p:cNvSpPr>
              <a:spLocks noChangeArrowheads="1"/>
            </p:cNvSpPr>
            <p:nvPr/>
          </p:nvSpPr>
          <p:spPr bwMode="auto">
            <a:xfrm flipH="1">
              <a:off x="4350" y="3432"/>
              <a:ext cx="6" cy="12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63" name="Oval 24"/>
            <p:cNvSpPr>
              <a:spLocks noChangeArrowheads="1"/>
            </p:cNvSpPr>
            <p:nvPr/>
          </p:nvSpPr>
          <p:spPr bwMode="auto">
            <a:xfrm flipH="1">
              <a:off x="5004" y="2922"/>
              <a:ext cx="6" cy="12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64" name="Rectangle 25"/>
            <p:cNvSpPr>
              <a:spLocks noChangeArrowheads="1"/>
            </p:cNvSpPr>
            <p:nvPr/>
          </p:nvSpPr>
          <p:spPr bwMode="auto">
            <a:xfrm>
              <a:off x="4520" y="3245"/>
              <a:ext cx="44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200" i="1">
                  <a:latin typeface="Arial" charset="0"/>
                </a:rPr>
                <a:t>age 0-6</a:t>
              </a:r>
            </a:p>
          </p:txBody>
        </p:sp>
        <p:sp>
          <p:nvSpPr>
            <p:cNvPr id="78865" name="Line 26"/>
            <p:cNvSpPr>
              <a:spLocks noChangeShapeType="1"/>
            </p:cNvSpPr>
            <p:nvPr/>
          </p:nvSpPr>
          <p:spPr bwMode="auto">
            <a:xfrm flipV="1">
              <a:off x="4344" y="2922"/>
              <a:ext cx="660" cy="5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8866" name="Oval 27"/>
            <p:cNvSpPr>
              <a:spLocks noChangeArrowheads="1"/>
            </p:cNvSpPr>
            <p:nvPr/>
          </p:nvSpPr>
          <p:spPr bwMode="auto">
            <a:xfrm flipH="1">
              <a:off x="4344" y="3276"/>
              <a:ext cx="6" cy="12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67" name="Oval 28"/>
            <p:cNvSpPr>
              <a:spLocks noChangeArrowheads="1"/>
            </p:cNvSpPr>
            <p:nvPr/>
          </p:nvSpPr>
          <p:spPr bwMode="auto">
            <a:xfrm flipH="1">
              <a:off x="5004" y="2862"/>
              <a:ext cx="6" cy="12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68" name="Rectangle 29"/>
            <p:cNvSpPr>
              <a:spLocks noChangeArrowheads="1"/>
            </p:cNvSpPr>
            <p:nvPr/>
          </p:nvSpPr>
          <p:spPr bwMode="auto">
            <a:xfrm>
              <a:off x="4256" y="2957"/>
              <a:ext cx="4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200" i="1">
                  <a:latin typeface="Arial" charset="0"/>
                </a:rPr>
                <a:t>age 7-12</a:t>
              </a:r>
            </a:p>
          </p:txBody>
        </p:sp>
        <p:sp>
          <p:nvSpPr>
            <p:cNvPr id="78869" name="Line 30"/>
            <p:cNvSpPr>
              <a:spLocks noChangeShapeType="1"/>
            </p:cNvSpPr>
            <p:nvPr/>
          </p:nvSpPr>
          <p:spPr bwMode="auto">
            <a:xfrm flipV="1">
              <a:off x="4338" y="2868"/>
              <a:ext cx="660" cy="4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8870" name="Line 31"/>
            <p:cNvSpPr>
              <a:spLocks noChangeShapeType="1"/>
            </p:cNvSpPr>
            <p:nvPr/>
          </p:nvSpPr>
          <p:spPr bwMode="auto">
            <a:xfrm>
              <a:off x="4362" y="2676"/>
              <a:ext cx="648" cy="3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8871" name="Rectangle 32"/>
            <p:cNvSpPr>
              <a:spLocks noChangeArrowheads="1"/>
            </p:cNvSpPr>
            <p:nvPr/>
          </p:nvSpPr>
          <p:spPr bwMode="auto">
            <a:xfrm>
              <a:off x="4478" y="2627"/>
              <a:ext cx="4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200" i="1">
                  <a:latin typeface="Arial" charset="0"/>
                </a:rPr>
                <a:t>age &gt;12</a:t>
              </a:r>
            </a:p>
          </p:txBody>
        </p:sp>
        <p:sp>
          <p:nvSpPr>
            <p:cNvPr id="78872" name="Oval 33"/>
            <p:cNvSpPr>
              <a:spLocks noChangeArrowheads="1"/>
            </p:cNvSpPr>
            <p:nvPr/>
          </p:nvSpPr>
          <p:spPr bwMode="auto">
            <a:xfrm flipH="1">
              <a:off x="5010" y="3036"/>
              <a:ext cx="6" cy="12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73" name="Oval 34"/>
            <p:cNvSpPr>
              <a:spLocks noChangeArrowheads="1"/>
            </p:cNvSpPr>
            <p:nvPr/>
          </p:nvSpPr>
          <p:spPr bwMode="auto">
            <a:xfrm flipH="1">
              <a:off x="4374" y="2682"/>
              <a:ext cx="6" cy="12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5159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More ANOVA examples</a:t>
            </a:r>
            <a:endParaRPr lang="en-US" altLang="zh-TW" dirty="0"/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It is interesting that the test is called an analysis of </a:t>
            </a:r>
            <a:r>
              <a:rPr lang="en-US" altLang="zh-TW" b="1" i="1">
                <a:solidFill>
                  <a:schemeClr val="folHlink"/>
                </a:solidFill>
              </a:rPr>
              <a:t>variance</a:t>
            </a:r>
            <a:r>
              <a:rPr lang="en-US" altLang="zh-TW"/>
              <a:t>, yet it is used to determine if there is a significant difference between the </a:t>
            </a:r>
            <a:r>
              <a:rPr lang="en-US" altLang="zh-TW" b="1" i="1">
                <a:solidFill>
                  <a:schemeClr val="folHlink"/>
                </a:solidFill>
              </a:rPr>
              <a:t>means</a:t>
            </a:r>
            <a:r>
              <a:rPr lang="en-US" altLang="zh-TW"/>
              <a:t>.</a:t>
            </a:r>
          </a:p>
          <a:p>
            <a:r>
              <a:rPr lang="en-US" altLang="zh-TW"/>
              <a:t>How is this?</a:t>
            </a:r>
          </a:p>
        </p:txBody>
      </p:sp>
    </p:spTree>
    <p:extLst>
      <p:ext uri="{BB962C8B-B14F-4D97-AF65-F5344CB8AC3E}">
        <p14:creationId xmlns:p14="http://schemas.microsoft.com/office/powerpoint/2010/main" val="6901139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758" name="Object 30"/>
          <p:cNvGraphicFramePr>
            <a:graphicFrameLocks noChangeAspect="1"/>
          </p:cNvGraphicFramePr>
          <p:nvPr/>
        </p:nvGraphicFramePr>
        <p:xfrm>
          <a:off x="4724400" y="1211263"/>
          <a:ext cx="3616325" cy="417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4" name="Chart" r:id="rId4" imgW="3063606" imgH="3535924" progId="Excel.Chart.8">
                  <p:embed/>
                </p:oleObj>
              </mc:Choice>
              <mc:Fallback>
                <p:oleObj name="Chart" r:id="rId4" imgW="3063606" imgH="3535924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211263"/>
                        <a:ext cx="3616325" cy="417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57" name="Object 29"/>
          <p:cNvGraphicFramePr>
            <a:graphicFrameLocks noChangeAspect="1"/>
          </p:cNvGraphicFramePr>
          <p:nvPr/>
        </p:nvGraphicFramePr>
        <p:xfrm>
          <a:off x="358775" y="1211263"/>
          <a:ext cx="3616325" cy="417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5" name="圖表" r:id="rId6" imgW="3063606" imgH="3535924" progId="Excel.Chart.8">
                  <p:embed/>
                </p:oleObj>
              </mc:Choice>
              <mc:Fallback>
                <p:oleObj name="圖表" r:id="rId6" imgW="3063606" imgH="3535924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1211263"/>
                        <a:ext cx="3616325" cy="417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609600"/>
            <a:ext cx="7561262" cy="725488"/>
          </a:xfrm>
        </p:spPr>
        <p:txBody>
          <a:bodyPr/>
          <a:lstStyle/>
          <a:p>
            <a:r>
              <a:rPr lang="en-US" altLang="zh-TW" dirty="0"/>
              <a:t>Example #1			Example #2</a:t>
            </a:r>
          </a:p>
        </p:txBody>
      </p:sp>
      <p:sp>
        <p:nvSpPr>
          <p:cNvPr id="329750" name="Text Box 22"/>
          <p:cNvSpPr txBox="1">
            <a:spLocks noChangeArrowheads="1"/>
          </p:cNvSpPr>
          <p:nvPr/>
        </p:nvSpPr>
        <p:spPr bwMode="auto">
          <a:xfrm>
            <a:off x="871538" y="3892550"/>
            <a:ext cx="3152775" cy="395288"/>
          </a:xfrm>
          <a:prstGeom prst="rect">
            <a:avLst/>
          </a:prstGeom>
          <a:solidFill>
            <a:srgbClr val="FFE5E5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altLang="zh-TW" sz="1800"/>
              <a:t>Difference is </a:t>
            </a:r>
            <a:r>
              <a:rPr lang="en-US" altLang="zh-TW" sz="1800" b="1" i="1">
                <a:solidFill>
                  <a:schemeClr val="folHlink"/>
                </a:solidFill>
              </a:rPr>
              <a:t>significant</a:t>
            </a:r>
          </a:p>
        </p:txBody>
      </p:sp>
      <p:sp>
        <p:nvSpPr>
          <p:cNvPr id="329752" name="Text Box 24"/>
          <p:cNvSpPr txBox="1">
            <a:spLocks noChangeArrowheads="1"/>
          </p:cNvSpPr>
          <p:nvPr/>
        </p:nvSpPr>
        <p:spPr bwMode="auto">
          <a:xfrm>
            <a:off x="5281613" y="3892550"/>
            <a:ext cx="3167062" cy="395288"/>
          </a:xfrm>
          <a:prstGeom prst="rect">
            <a:avLst/>
          </a:prstGeom>
          <a:solidFill>
            <a:srgbClr val="FFE5E5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altLang="zh-TW" sz="1800"/>
              <a:t>Difference is </a:t>
            </a:r>
            <a:r>
              <a:rPr lang="en-US" altLang="zh-TW" sz="1800" b="1" i="1">
                <a:solidFill>
                  <a:schemeClr val="folHlink"/>
                </a:solidFill>
              </a:rPr>
              <a:t>not significant</a:t>
            </a:r>
          </a:p>
        </p:txBody>
      </p:sp>
      <p:sp>
        <p:nvSpPr>
          <p:cNvPr id="329759" name="Text Box 31"/>
          <p:cNvSpPr txBox="1">
            <a:spLocks noChangeArrowheads="1"/>
          </p:cNvSpPr>
          <p:nvPr/>
        </p:nvSpPr>
        <p:spPr bwMode="auto">
          <a:xfrm>
            <a:off x="685800" y="5259388"/>
            <a:ext cx="3657600" cy="1219200"/>
          </a:xfrm>
          <a:prstGeom prst="rect">
            <a:avLst/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TW" dirty="0" smtClean="0">
                <a:latin typeface="Arial"/>
              </a:rPr>
              <a:t>“</a:t>
            </a:r>
            <a:r>
              <a:rPr lang="en-US" altLang="zh-TW" sz="1800" dirty="0" smtClean="0"/>
              <a:t>Significant</a:t>
            </a:r>
            <a:r>
              <a:rPr lang="en-US" altLang="zh-TW" dirty="0" smtClean="0">
                <a:latin typeface="Arial"/>
              </a:rPr>
              <a:t>” </a:t>
            </a:r>
            <a:r>
              <a:rPr lang="en-US" altLang="zh-TW" sz="1800" dirty="0" smtClean="0"/>
              <a:t>implies </a:t>
            </a:r>
            <a:r>
              <a:rPr lang="en-US" altLang="zh-TW" sz="1800" dirty="0"/>
              <a:t>that in all likelihood the difference observed is due to the test conditions (Method A vs. Method B).</a:t>
            </a:r>
          </a:p>
        </p:txBody>
      </p:sp>
      <p:sp>
        <p:nvSpPr>
          <p:cNvPr id="329761" name="Text Box 33"/>
          <p:cNvSpPr txBox="1">
            <a:spLocks noChangeArrowheads="1"/>
          </p:cNvSpPr>
          <p:nvPr/>
        </p:nvSpPr>
        <p:spPr bwMode="auto">
          <a:xfrm>
            <a:off x="5029200" y="5259388"/>
            <a:ext cx="3657600" cy="944562"/>
          </a:xfrm>
          <a:prstGeom prst="rect">
            <a:avLst/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TW" dirty="0" smtClean="0">
                <a:latin typeface="Arial"/>
              </a:rPr>
              <a:t>“</a:t>
            </a:r>
            <a:r>
              <a:rPr lang="en-US" altLang="zh-TW" sz="1800" dirty="0" smtClean="0"/>
              <a:t>Not significant</a:t>
            </a:r>
            <a:r>
              <a:rPr lang="en-US" altLang="zh-TW" dirty="0" smtClean="0">
                <a:latin typeface="Arial"/>
              </a:rPr>
              <a:t>”</a:t>
            </a:r>
            <a:r>
              <a:rPr lang="en-US" altLang="zh-TW" sz="1800" dirty="0" smtClean="0"/>
              <a:t> </a:t>
            </a:r>
            <a:r>
              <a:rPr lang="en-US" altLang="zh-TW" sz="1800" dirty="0"/>
              <a:t>implies that the difference observed is likely due to chance.</a:t>
            </a:r>
          </a:p>
        </p:txBody>
      </p:sp>
    </p:spTree>
    <p:extLst>
      <p:ext uri="{BB962C8B-B14F-4D97-AF65-F5344CB8AC3E}">
        <p14:creationId xmlns:p14="http://schemas.microsoft.com/office/powerpoint/2010/main" val="34836339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29758" grpId="0"/>
      <p:bldP spid="329750" grpId="0" animBg="1" autoUpdateAnimBg="0"/>
      <p:bldP spid="329752" grpId="0" animBg="1" autoUpdateAnimBg="0"/>
      <p:bldP spid="329759" grpId="0" animBg="1" autoUpdateAnimBg="0"/>
      <p:bldP spid="329761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1792" name="Object 16"/>
          <p:cNvGraphicFramePr>
            <a:graphicFrameLocks noChangeAspect="1"/>
          </p:cNvGraphicFramePr>
          <p:nvPr/>
        </p:nvGraphicFramePr>
        <p:xfrm>
          <a:off x="4953000" y="1752600"/>
          <a:ext cx="3189288" cy="414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" name="工作表" r:id="rId4" imgW="1943405" imgH="2522525" progId="Excel.Sheet.8">
                  <p:embed/>
                </p:oleObj>
              </mc:Choice>
              <mc:Fallback>
                <p:oleObj name="工作表" r:id="rId4" imgW="1943405" imgH="2522525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752600"/>
                        <a:ext cx="3189288" cy="414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8" name="Line 12"/>
          <p:cNvSpPr>
            <a:spLocks noChangeShapeType="1"/>
          </p:cNvSpPr>
          <p:nvPr/>
        </p:nvSpPr>
        <p:spPr bwMode="auto">
          <a:xfrm flipH="1" flipV="1">
            <a:off x="4533900" y="5748338"/>
            <a:ext cx="1066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oval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331785" name="Line 9"/>
          <p:cNvSpPr>
            <a:spLocks noChangeShapeType="1"/>
          </p:cNvSpPr>
          <p:nvPr/>
        </p:nvSpPr>
        <p:spPr bwMode="auto">
          <a:xfrm flipH="1" flipV="1">
            <a:off x="1438275" y="5762625"/>
            <a:ext cx="6191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 #1 - Details</a:t>
            </a:r>
          </a:p>
        </p:txBody>
      </p:sp>
      <p:pic>
        <p:nvPicPr>
          <p:cNvPr id="33178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438275"/>
            <a:ext cx="3476625" cy="417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31783" name="Line 7"/>
          <p:cNvSpPr>
            <a:spLocks noChangeShapeType="1"/>
          </p:cNvSpPr>
          <p:nvPr/>
        </p:nvSpPr>
        <p:spPr bwMode="auto">
          <a:xfrm flipH="1" flipV="1">
            <a:off x="1447800" y="3505200"/>
            <a:ext cx="3810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oval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331784" name="Text Box 8"/>
          <p:cNvSpPr txBox="1">
            <a:spLocks noChangeArrowheads="1"/>
          </p:cNvSpPr>
          <p:nvPr/>
        </p:nvSpPr>
        <p:spPr bwMode="auto">
          <a:xfrm>
            <a:off x="1828800" y="5562600"/>
            <a:ext cx="2743200" cy="669925"/>
          </a:xfrm>
          <a:prstGeom prst="rect">
            <a:avLst/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altLang="zh-TW" sz="1800"/>
              <a:t>Error bars show</a:t>
            </a:r>
          </a:p>
          <a:p>
            <a:pPr algn="ctr"/>
            <a:r>
              <a:rPr lang="en-US" altLang="zh-TW" sz="1800">
                <a:cs typeface="Arial" charset="0"/>
              </a:rPr>
              <a:t>±</a:t>
            </a:r>
            <a:r>
              <a:rPr lang="en-US" altLang="zh-TW" sz="1800"/>
              <a:t>1 standard deviation</a:t>
            </a:r>
          </a:p>
        </p:txBody>
      </p:sp>
      <p:sp>
        <p:nvSpPr>
          <p:cNvPr id="331787" name="Line 11"/>
          <p:cNvSpPr>
            <a:spLocks noChangeShapeType="1"/>
          </p:cNvSpPr>
          <p:nvPr/>
        </p:nvSpPr>
        <p:spPr bwMode="auto">
          <a:xfrm flipH="1">
            <a:off x="1447800" y="3505200"/>
            <a:ext cx="0" cy="2286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331789" name="Text Box 13"/>
          <p:cNvSpPr txBox="1">
            <a:spLocks noChangeArrowheads="1"/>
          </p:cNvSpPr>
          <p:nvPr/>
        </p:nvSpPr>
        <p:spPr bwMode="auto">
          <a:xfrm>
            <a:off x="1828800" y="6324600"/>
            <a:ext cx="5410200" cy="395288"/>
          </a:xfrm>
          <a:prstGeom prst="rect">
            <a:avLst/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altLang="zh-TW" sz="1800"/>
              <a:t>Note: </a:t>
            </a:r>
            <a:r>
              <a:rPr lang="en-US" altLang="zh-TW" sz="1800" i="1"/>
              <a:t>SD</a:t>
            </a:r>
            <a:r>
              <a:rPr lang="en-US" altLang="zh-TW" sz="1800"/>
              <a:t> is the square root of the variance</a:t>
            </a:r>
          </a:p>
        </p:txBody>
      </p:sp>
    </p:spTree>
    <p:extLst>
      <p:ext uri="{BB962C8B-B14F-4D97-AF65-F5344CB8AC3E}">
        <p14:creationId xmlns:p14="http://schemas.microsoft.com/office/powerpoint/2010/main" val="8403161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 #1 - Anova</a:t>
            </a:r>
          </a:p>
        </p:txBody>
      </p:sp>
      <p:pic>
        <p:nvPicPr>
          <p:cNvPr id="3409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8638"/>
            <a:ext cx="914400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341001" name="Group 9"/>
          <p:cNvGrpSpPr>
            <a:grpSpLocks/>
          </p:cNvGrpSpPr>
          <p:nvPr/>
        </p:nvGrpSpPr>
        <p:grpSpPr bwMode="auto">
          <a:xfrm>
            <a:off x="4648200" y="2984500"/>
            <a:ext cx="3810000" cy="1376363"/>
            <a:chOff x="2928" y="1907"/>
            <a:chExt cx="2400" cy="867"/>
          </a:xfrm>
        </p:grpSpPr>
        <p:sp>
          <p:nvSpPr>
            <p:cNvPr id="340998" name="Line 6"/>
            <p:cNvSpPr>
              <a:spLocks noChangeShapeType="1"/>
            </p:cNvSpPr>
            <p:nvPr/>
          </p:nvSpPr>
          <p:spPr bwMode="auto">
            <a:xfrm rot="-5400000" flipH="1" flipV="1">
              <a:off x="3792" y="2243"/>
              <a:ext cx="6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zh-TW" altLang="en-US"/>
            </a:p>
          </p:txBody>
        </p:sp>
        <p:sp>
          <p:nvSpPr>
            <p:cNvPr id="340996" name="Text Box 4"/>
            <p:cNvSpPr txBox="1">
              <a:spLocks noChangeArrowheads="1"/>
            </p:cNvSpPr>
            <p:nvPr/>
          </p:nvSpPr>
          <p:spPr bwMode="auto">
            <a:xfrm>
              <a:off x="2928" y="2352"/>
              <a:ext cx="2400" cy="422"/>
            </a:xfrm>
            <a:prstGeom prst="rect">
              <a:avLst/>
            </a:prstGeom>
            <a:solidFill>
              <a:srgbClr val="FFE5E5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TW" sz="1800"/>
                <a:t>Probability that the difference in the means is due to chance</a:t>
              </a:r>
            </a:p>
          </p:txBody>
        </p:sp>
      </p:grpSp>
      <p:sp>
        <p:nvSpPr>
          <p:cNvPr id="340999" name="Text Box 7"/>
          <p:cNvSpPr txBox="1">
            <a:spLocks noChangeArrowheads="1"/>
          </p:cNvSpPr>
          <p:nvPr/>
        </p:nvSpPr>
        <p:spPr bwMode="auto">
          <a:xfrm>
            <a:off x="2819400" y="4803775"/>
            <a:ext cx="3581400" cy="1216025"/>
          </a:xfrm>
          <a:prstGeom prst="rect">
            <a:avLst/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altLang="zh-TW" sz="2400"/>
              <a:t>Reported as…</a:t>
            </a:r>
          </a:p>
          <a:p>
            <a:pPr algn="ctr"/>
            <a:endParaRPr lang="en-US" altLang="zh-TW" sz="2400"/>
          </a:p>
          <a:p>
            <a:pPr algn="ctr"/>
            <a:r>
              <a:rPr lang="en-US" altLang="zh-TW" sz="2400" i="1"/>
              <a:t>F</a:t>
            </a:r>
            <a:r>
              <a:rPr lang="en-US" altLang="zh-TW" sz="2400" baseline="-25000"/>
              <a:t>1,9</a:t>
            </a:r>
            <a:r>
              <a:rPr lang="en-US" altLang="zh-TW" sz="2400"/>
              <a:t> = 8.443, </a:t>
            </a:r>
            <a:r>
              <a:rPr lang="en-US" altLang="zh-TW" sz="2400" i="1"/>
              <a:t>p</a:t>
            </a:r>
            <a:r>
              <a:rPr lang="en-US" altLang="zh-TW" sz="2400"/>
              <a:t> &lt; .05</a:t>
            </a:r>
          </a:p>
        </p:txBody>
      </p:sp>
      <p:grpSp>
        <p:nvGrpSpPr>
          <p:cNvPr id="341008" name="Group 16"/>
          <p:cNvGrpSpPr>
            <a:grpSpLocks/>
          </p:cNvGrpSpPr>
          <p:nvPr/>
        </p:nvGrpSpPr>
        <p:grpSpPr bwMode="auto">
          <a:xfrm>
            <a:off x="6108700" y="4514850"/>
            <a:ext cx="2806700" cy="2043113"/>
            <a:chOff x="3848" y="2844"/>
            <a:chExt cx="1768" cy="1287"/>
          </a:xfrm>
        </p:grpSpPr>
        <p:sp>
          <p:nvSpPr>
            <p:cNvPr id="341006" name="Line 14"/>
            <p:cNvSpPr>
              <a:spLocks noChangeShapeType="1"/>
            </p:cNvSpPr>
            <p:nvPr/>
          </p:nvSpPr>
          <p:spPr bwMode="auto">
            <a:xfrm flipV="1">
              <a:off x="3848" y="3264"/>
              <a:ext cx="520" cy="358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zh-TW" altLang="en-US"/>
            </a:p>
          </p:txBody>
        </p:sp>
        <p:sp>
          <p:nvSpPr>
            <p:cNvPr id="341007" name="Text Box 15"/>
            <p:cNvSpPr txBox="1">
              <a:spLocks noChangeArrowheads="1"/>
            </p:cNvSpPr>
            <p:nvPr/>
          </p:nvSpPr>
          <p:spPr bwMode="auto">
            <a:xfrm>
              <a:off x="4272" y="2844"/>
              <a:ext cx="1344" cy="1287"/>
            </a:xfrm>
            <a:prstGeom prst="rect">
              <a:avLst/>
            </a:prstGeom>
            <a:solidFill>
              <a:srgbClr val="FFE5E5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marL="193675" indent="-193675">
                <a:tabLst>
                  <a:tab pos="193675" algn="l"/>
                </a:tabLs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>
                <a:tabLst>
                  <a:tab pos="193675" algn="l"/>
                </a:tabLs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>
                <a:tabLst>
                  <a:tab pos="193675" algn="l"/>
                </a:tabLs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>
                <a:tabLst>
                  <a:tab pos="193675" algn="l"/>
                </a:tabLs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>
                <a:tabLst>
                  <a:tab pos="193675" algn="l"/>
                </a:tabLs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193675" algn="l"/>
                </a:tabLs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193675" algn="l"/>
                </a:tabLs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193675" algn="l"/>
                </a:tabLs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193675" algn="l"/>
                </a:tabLs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 sz="1800"/>
                <a:t>Thresholds for </a:t>
              </a:r>
              <a:r>
                <a:rPr lang="zh-TW" altLang="en-US" sz="1800">
                  <a:latin typeface="Arial"/>
                </a:rPr>
                <a:t>“</a:t>
              </a:r>
              <a:r>
                <a:rPr lang="en-US" altLang="zh-TW" sz="1800"/>
                <a:t>p</a:t>
              </a:r>
              <a:r>
                <a:rPr lang="zh-TW" altLang="en-US" sz="1800">
                  <a:latin typeface="Arial"/>
                </a:rPr>
                <a:t>”</a:t>
              </a:r>
              <a:endParaRPr lang="en-US" altLang="zh-TW" sz="1800"/>
            </a:p>
            <a:p>
              <a:pPr>
                <a:buFontTx/>
                <a:buChar char="•"/>
              </a:pPr>
              <a:r>
                <a:rPr lang="en-US" altLang="zh-TW" sz="1800"/>
                <a:t>.05</a:t>
              </a:r>
            </a:p>
            <a:p>
              <a:pPr>
                <a:buFontTx/>
                <a:buChar char="•"/>
              </a:pPr>
              <a:r>
                <a:rPr lang="en-US" altLang="zh-TW" sz="1800"/>
                <a:t>.01</a:t>
              </a:r>
            </a:p>
            <a:p>
              <a:pPr>
                <a:buFontTx/>
                <a:buChar char="•"/>
              </a:pPr>
              <a:r>
                <a:rPr lang="en-US" altLang="zh-TW" sz="1800"/>
                <a:t>.005</a:t>
              </a:r>
            </a:p>
            <a:p>
              <a:pPr>
                <a:buFontTx/>
                <a:buChar char="•"/>
              </a:pPr>
              <a:r>
                <a:rPr lang="en-US" altLang="zh-TW" sz="1800"/>
                <a:t>.001</a:t>
              </a:r>
            </a:p>
            <a:p>
              <a:pPr>
                <a:buFontTx/>
                <a:buChar char="•"/>
              </a:pPr>
              <a:r>
                <a:rPr lang="en-US" altLang="zh-TW" sz="1800"/>
                <a:t>.0005</a:t>
              </a:r>
            </a:p>
            <a:p>
              <a:pPr>
                <a:buFontTx/>
                <a:buChar char="•"/>
              </a:pPr>
              <a:r>
                <a:rPr lang="en-US" altLang="zh-TW" sz="1800"/>
                <a:t>.0001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5942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9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How to Report an </a:t>
            </a:r>
            <a:r>
              <a:rPr lang="en-US" altLang="zh-TW" i="1"/>
              <a:t>F</a:t>
            </a:r>
            <a:r>
              <a:rPr lang="en-US" altLang="zh-TW"/>
              <a:t>-statistic</a:t>
            </a:r>
            <a:endParaRPr lang="en-CA"/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2590800"/>
            <a:ext cx="7561262" cy="3646488"/>
          </a:xfrm>
        </p:spPr>
        <p:txBody>
          <a:bodyPr/>
          <a:lstStyle/>
          <a:p>
            <a:r>
              <a:rPr lang="en-US" altLang="zh-TW" sz="2000" dirty="0"/>
              <a:t>Notice in the parentheses</a:t>
            </a:r>
          </a:p>
          <a:p>
            <a:pPr lvl="1"/>
            <a:r>
              <a:rPr lang="en-US" altLang="zh-TW" sz="1800" dirty="0"/>
              <a:t>Uppercase for </a:t>
            </a:r>
            <a:r>
              <a:rPr lang="en-US" altLang="zh-TW" sz="1800" i="1" dirty="0"/>
              <a:t>F</a:t>
            </a:r>
          </a:p>
          <a:p>
            <a:pPr lvl="1"/>
            <a:r>
              <a:rPr lang="en-US" altLang="zh-TW" sz="1800" dirty="0"/>
              <a:t>Lowercase for </a:t>
            </a:r>
            <a:r>
              <a:rPr lang="en-US" altLang="zh-TW" sz="1800" i="1" dirty="0"/>
              <a:t>p</a:t>
            </a:r>
          </a:p>
          <a:p>
            <a:pPr lvl="1"/>
            <a:r>
              <a:rPr lang="en-US" altLang="zh-TW" sz="1800" dirty="0"/>
              <a:t>Italics for </a:t>
            </a:r>
            <a:r>
              <a:rPr lang="en-US" altLang="zh-TW" sz="1800" i="1" dirty="0"/>
              <a:t>F</a:t>
            </a:r>
            <a:r>
              <a:rPr lang="en-US" altLang="zh-TW" sz="1800" dirty="0"/>
              <a:t> and </a:t>
            </a:r>
            <a:r>
              <a:rPr lang="en-US" altLang="zh-TW" sz="1800" i="1" dirty="0"/>
              <a:t>p</a:t>
            </a:r>
          </a:p>
          <a:p>
            <a:pPr lvl="1"/>
            <a:r>
              <a:rPr lang="en-US" altLang="zh-TW" sz="1800" dirty="0" smtClean="0"/>
              <a:t>Space </a:t>
            </a:r>
            <a:r>
              <a:rPr lang="en-US" altLang="zh-TW" sz="1800" dirty="0"/>
              <a:t>after comma</a:t>
            </a:r>
          </a:p>
          <a:p>
            <a:pPr lvl="1"/>
            <a:r>
              <a:rPr lang="en-US" altLang="zh-TW" sz="1800" dirty="0"/>
              <a:t>Space both sides of less than sign</a:t>
            </a:r>
          </a:p>
          <a:p>
            <a:pPr lvl="1"/>
            <a:r>
              <a:rPr lang="en-US" altLang="zh-TW" sz="1800" dirty="0"/>
              <a:t>Degrees of freedom are subscript, plain, smaller </a:t>
            </a:r>
            <a:r>
              <a:rPr lang="en-US" altLang="zh-TW" sz="1800" dirty="0" smtClean="0"/>
              <a:t>font</a:t>
            </a:r>
            <a:br>
              <a:rPr lang="en-US" altLang="zh-TW" sz="1800" dirty="0" smtClean="0"/>
            </a:br>
            <a:r>
              <a:rPr lang="en-US" altLang="zh-TW" sz="1800" dirty="0" smtClean="0"/>
              <a:t>or</a:t>
            </a:r>
          </a:p>
          <a:p>
            <a:pPr lvl="1"/>
            <a:r>
              <a:rPr lang="en-US" altLang="zh-TW" sz="1800" dirty="0" smtClean="0"/>
              <a:t>Degrees </a:t>
            </a:r>
            <a:r>
              <a:rPr lang="en-US" altLang="zh-TW" sz="1800" dirty="0"/>
              <a:t>of freedom are </a:t>
            </a:r>
            <a:r>
              <a:rPr lang="en-US" altLang="zh-TW" sz="1800" dirty="0" smtClean="0"/>
              <a:t>plain, shown in [] (as another convention often found in the U.S.)</a:t>
            </a:r>
            <a:endParaRPr lang="en-US" altLang="zh-TW" sz="1800" dirty="0"/>
          </a:p>
          <a:p>
            <a:pPr lvl="1"/>
            <a:r>
              <a:rPr lang="en-US" altLang="zh-TW" sz="1800" dirty="0" smtClean="0"/>
              <a:t>No </a:t>
            </a:r>
            <a:r>
              <a:rPr lang="en-US" altLang="zh-TW" sz="1800" dirty="0"/>
              <a:t>zero before the decimal point in the </a:t>
            </a:r>
            <a:r>
              <a:rPr lang="en-US" altLang="zh-TW" sz="1800" i="1" dirty="0"/>
              <a:t>p</a:t>
            </a:r>
            <a:r>
              <a:rPr lang="en-US" altLang="zh-TW" sz="1800" dirty="0"/>
              <a:t> statistic (except in Europe)</a:t>
            </a:r>
            <a:endParaRPr lang="en-CA" sz="1800" dirty="0"/>
          </a:p>
        </p:txBody>
      </p:sp>
      <p:sp>
        <p:nvSpPr>
          <p:cNvPr id="382980" name="Text Box 4"/>
          <p:cNvSpPr txBox="1">
            <a:spLocks noChangeArrowheads="1"/>
          </p:cNvSpPr>
          <p:nvPr/>
        </p:nvSpPr>
        <p:spPr bwMode="auto">
          <a:xfrm>
            <a:off x="990600" y="1600200"/>
            <a:ext cx="7086600" cy="730250"/>
          </a:xfrm>
          <a:prstGeom prst="rect">
            <a:avLst/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dirty="0"/>
              <a:t>There was a significant main effect of input method on entry </a:t>
            </a:r>
            <a:br>
              <a:rPr lang="en-US" altLang="zh-TW" sz="2000" dirty="0"/>
            </a:br>
            <a:r>
              <a:rPr lang="en-US" altLang="zh-TW" sz="2000" dirty="0"/>
              <a:t>speed </a:t>
            </a:r>
            <a:r>
              <a:rPr lang="en-US" altLang="zh-TW" sz="2000" dirty="0" smtClean="0"/>
              <a:t>(</a:t>
            </a:r>
            <a:r>
              <a:rPr lang="en-US" altLang="zh-TW" sz="2000" i="1" dirty="0" smtClean="0"/>
              <a:t>F</a:t>
            </a:r>
            <a:r>
              <a:rPr lang="en-US" altLang="zh-TW" sz="2000" dirty="0" smtClean="0"/>
              <a:t>[1,9]= 8.44</a:t>
            </a:r>
            <a:r>
              <a:rPr lang="en-US" altLang="zh-TW" sz="2000" dirty="0"/>
              <a:t>, </a:t>
            </a:r>
            <a:r>
              <a:rPr lang="en-US" altLang="zh-TW" sz="2000" i="1" dirty="0"/>
              <a:t>p</a:t>
            </a:r>
            <a:r>
              <a:rPr lang="en-US" altLang="zh-TW" sz="2000" dirty="0"/>
              <a:t> &lt; .05).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5414919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840" name="Object 16"/>
          <p:cNvGraphicFramePr>
            <a:graphicFrameLocks noChangeAspect="1"/>
          </p:cNvGraphicFramePr>
          <p:nvPr/>
        </p:nvGraphicFramePr>
        <p:xfrm>
          <a:off x="5029200" y="1752600"/>
          <a:ext cx="3189288" cy="414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" name="工作表" r:id="rId4" imgW="1943405" imgH="2522525" progId="Excel.Sheet.8">
                  <p:embed/>
                </p:oleObj>
              </mc:Choice>
              <mc:Fallback>
                <p:oleObj name="工作表" r:id="rId4" imgW="1943405" imgH="2522525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752600"/>
                        <a:ext cx="3189288" cy="414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 #2 - Details</a:t>
            </a:r>
          </a:p>
        </p:txBody>
      </p:sp>
      <p:pic>
        <p:nvPicPr>
          <p:cNvPr id="3338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38275"/>
            <a:ext cx="3476625" cy="417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33833" name="Line 9"/>
          <p:cNvSpPr>
            <a:spLocks noChangeShapeType="1"/>
          </p:cNvSpPr>
          <p:nvPr/>
        </p:nvSpPr>
        <p:spPr bwMode="auto">
          <a:xfrm flipH="1" flipV="1">
            <a:off x="4633913" y="5748338"/>
            <a:ext cx="1066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oval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333834" name="Line 10"/>
          <p:cNvSpPr>
            <a:spLocks noChangeShapeType="1"/>
          </p:cNvSpPr>
          <p:nvPr/>
        </p:nvSpPr>
        <p:spPr bwMode="auto">
          <a:xfrm flipH="1" flipV="1">
            <a:off x="1538288" y="5762625"/>
            <a:ext cx="6191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333835" name="Line 11"/>
          <p:cNvSpPr>
            <a:spLocks noChangeShapeType="1"/>
          </p:cNvSpPr>
          <p:nvPr/>
        </p:nvSpPr>
        <p:spPr bwMode="auto">
          <a:xfrm flipH="1" flipV="1">
            <a:off x="1547813" y="3505200"/>
            <a:ext cx="3810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oval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333836" name="Text Box 12"/>
          <p:cNvSpPr txBox="1">
            <a:spLocks noChangeArrowheads="1"/>
          </p:cNvSpPr>
          <p:nvPr/>
        </p:nvSpPr>
        <p:spPr bwMode="auto">
          <a:xfrm>
            <a:off x="1928813" y="5562600"/>
            <a:ext cx="2743200" cy="669925"/>
          </a:xfrm>
          <a:prstGeom prst="rect">
            <a:avLst/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altLang="zh-TW" sz="1800"/>
              <a:t>Error bars show</a:t>
            </a:r>
          </a:p>
          <a:p>
            <a:pPr algn="ctr"/>
            <a:r>
              <a:rPr lang="en-US" altLang="zh-TW" sz="1800">
                <a:cs typeface="Arial" charset="0"/>
              </a:rPr>
              <a:t>±</a:t>
            </a:r>
            <a:r>
              <a:rPr lang="en-US" altLang="zh-TW" sz="1800"/>
              <a:t>1 standard deviation</a:t>
            </a:r>
          </a:p>
        </p:txBody>
      </p:sp>
      <p:sp>
        <p:nvSpPr>
          <p:cNvPr id="333837" name="Line 13"/>
          <p:cNvSpPr>
            <a:spLocks noChangeShapeType="1"/>
          </p:cNvSpPr>
          <p:nvPr/>
        </p:nvSpPr>
        <p:spPr bwMode="auto">
          <a:xfrm flipH="1">
            <a:off x="1547813" y="3505200"/>
            <a:ext cx="0" cy="2286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7180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 #2 – Anova</a:t>
            </a:r>
          </a:p>
        </p:txBody>
      </p:sp>
      <p:sp>
        <p:nvSpPr>
          <p:cNvPr id="342023" name="Text Box 7"/>
          <p:cNvSpPr txBox="1">
            <a:spLocks noChangeArrowheads="1"/>
          </p:cNvSpPr>
          <p:nvPr/>
        </p:nvSpPr>
        <p:spPr bwMode="auto">
          <a:xfrm>
            <a:off x="2819400" y="4803775"/>
            <a:ext cx="3581400" cy="1216025"/>
          </a:xfrm>
          <a:prstGeom prst="rect">
            <a:avLst/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altLang="zh-TW" sz="2400"/>
              <a:t>Reported as…</a:t>
            </a:r>
          </a:p>
          <a:p>
            <a:pPr algn="ctr"/>
            <a:endParaRPr lang="en-US" altLang="zh-TW" sz="2400"/>
          </a:p>
          <a:p>
            <a:pPr algn="ctr"/>
            <a:r>
              <a:rPr lang="en-US" altLang="zh-TW" sz="2400" i="1"/>
              <a:t>F</a:t>
            </a:r>
            <a:r>
              <a:rPr lang="en-US" altLang="zh-TW" sz="2400" baseline="-25000"/>
              <a:t>1,9</a:t>
            </a:r>
            <a:r>
              <a:rPr lang="en-US" altLang="zh-TW" sz="2400"/>
              <a:t> = 0.634, ns</a:t>
            </a:r>
          </a:p>
        </p:txBody>
      </p:sp>
      <p:pic>
        <p:nvPicPr>
          <p:cNvPr id="3420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8638"/>
            <a:ext cx="914400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342025" name="Group 9"/>
          <p:cNvGrpSpPr>
            <a:grpSpLocks/>
          </p:cNvGrpSpPr>
          <p:nvPr/>
        </p:nvGrpSpPr>
        <p:grpSpPr bwMode="auto">
          <a:xfrm>
            <a:off x="4648200" y="2984500"/>
            <a:ext cx="3810000" cy="1376363"/>
            <a:chOff x="2928" y="1907"/>
            <a:chExt cx="2400" cy="867"/>
          </a:xfrm>
        </p:grpSpPr>
        <p:sp>
          <p:nvSpPr>
            <p:cNvPr id="342021" name="Line 5"/>
            <p:cNvSpPr>
              <a:spLocks noChangeShapeType="1"/>
            </p:cNvSpPr>
            <p:nvPr/>
          </p:nvSpPr>
          <p:spPr bwMode="auto">
            <a:xfrm rot="-5400000" flipH="1" flipV="1">
              <a:off x="3792" y="2243"/>
              <a:ext cx="6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zh-TW" altLang="en-US"/>
            </a:p>
          </p:txBody>
        </p:sp>
        <p:sp>
          <p:nvSpPr>
            <p:cNvPr id="342024" name="Text Box 8"/>
            <p:cNvSpPr txBox="1">
              <a:spLocks noChangeArrowheads="1"/>
            </p:cNvSpPr>
            <p:nvPr/>
          </p:nvSpPr>
          <p:spPr bwMode="auto">
            <a:xfrm>
              <a:off x="2928" y="2352"/>
              <a:ext cx="2400" cy="422"/>
            </a:xfrm>
            <a:prstGeom prst="rect">
              <a:avLst/>
            </a:prstGeom>
            <a:solidFill>
              <a:srgbClr val="FFE5E5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TW" sz="1800"/>
                <a:t>Probability that the difference in the means is due to chance</a:t>
              </a:r>
            </a:p>
          </p:txBody>
        </p:sp>
      </p:grpSp>
      <p:grpSp>
        <p:nvGrpSpPr>
          <p:cNvPr id="342034" name="Group 18"/>
          <p:cNvGrpSpPr>
            <a:grpSpLocks/>
          </p:cNvGrpSpPr>
          <p:nvPr/>
        </p:nvGrpSpPr>
        <p:grpSpPr bwMode="auto">
          <a:xfrm>
            <a:off x="5715000" y="4514848"/>
            <a:ext cx="3200400" cy="1276350"/>
            <a:chOff x="3600" y="2844"/>
            <a:chExt cx="2016" cy="804"/>
          </a:xfrm>
        </p:grpSpPr>
        <p:sp>
          <p:nvSpPr>
            <p:cNvPr id="342032" name="Line 16"/>
            <p:cNvSpPr>
              <a:spLocks noChangeShapeType="1"/>
            </p:cNvSpPr>
            <p:nvPr/>
          </p:nvSpPr>
          <p:spPr bwMode="auto">
            <a:xfrm flipV="1">
              <a:off x="3600" y="3264"/>
              <a:ext cx="768" cy="38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zh-TW" altLang="en-US"/>
            </a:p>
          </p:txBody>
        </p:sp>
        <p:sp>
          <p:nvSpPr>
            <p:cNvPr id="342033" name="Text Box 17"/>
            <p:cNvSpPr txBox="1">
              <a:spLocks noChangeArrowheads="1"/>
            </p:cNvSpPr>
            <p:nvPr/>
          </p:nvSpPr>
          <p:spPr bwMode="auto">
            <a:xfrm>
              <a:off x="4272" y="2844"/>
              <a:ext cx="1344" cy="757"/>
            </a:xfrm>
            <a:prstGeom prst="rect">
              <a:avLst/>
            </a:prstGeom>
            <a:solidFill>
              <a:srgbClr val="FFE5E5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TW" sz="1800" dirty="0"/>
                <a:t>Note: For non- significant effects, use </a:t>
              </a:r>
              <a:r>
                <a:rPr lang="en-US" altLang="zh-TW" dirty="0" smtClean="0">
                  <a:latin typeface="Arial"/>
                </a:rPr>
                <a:t>“</a:t>
              </a:r>
              <a:r>
                <a:rPr lang="en-US" altLang="zh-TW" sz="1800" dirty="0" smtClean="0"/>
                <a:t>ns</a:t>
              </a:r>
              <a:r>
                <a:rPr lang="en-US" altLang="zh-TW" dirty="0" smtClean="0">
                  <a:latin typeface="Arial"/>
                </a:rPr>
                <a:t>”</a:t>
              </a:r>
              <a:r>
                <a:rPr lang="en-US" altLang="zh-TW" sz="1800" dirty="0" smtClean="0"/>
                <a:t> </a:t>
              </a:r>
              <a:r>
                <a:rPr lang="en-US" altLang="zh-TW" sz="1800" dirty="0"/>
                <a:t>if </a:t>
              </a:r>
              <a:r>
                <a:rPr lang="en-US" altLang="zh-TW" sz="1800" i="1" dirty="0"/>
                <a:t>F</a:t>
              </a:r>
              <a:r>
                <a:rPr lang="en-US" altLang="zh-TW" sz="1800" dirty="0"/>
                <a:t> &lt; 1.0, or </a:t>
              </a:r>
              <a:r>
                <a:rPr lang="en-US" altLang="zh-TW" dirty="0" smtClean="0">
                  <a:latin typeface="Arial"/>
                </a:rPr>
                <a:t>“</a:t>
              </a:r>
              <a:r>
                <a:rPr lang="en-US" altLang="zh-TW" sz="1800" i="1" dirty="0" smtClean="0"/>
                <a:t>p</a:t>
              </a:r>
              <a:r>
                <a:rPr lang="en-US" altLang="zh-TW" sz="1800" dirty="0" smtClean="0"/>
                <a:t> </a:t>
              </a:r>
              <a:r>
                <a:rPr lang="en-US" altLang="zh-TW" sz="1800" dirty="0"/>
                <a:t>&gt; .</a:t>
              </a:r>
              <a:r>
                <a:rPr lang="en-US" altLang="zh-TW" sz="1800" dirty="0" smtClean="0"/>
                <a:t>05</a:t>
              </a:r>
              <a:r>
                <a:rPr lang="en-US" altLang="zh-TW" dirty="0" smtClean="0">
                  <a:latin typeface="Arial"/>
                </a:rPr>
                <a:t>”</a:t>
              </a:r>
              <a:r>
                <a:rPr lang="en-US" altLang="zh-TW" sz="1800" dirty="0" smtClean="0"/>
                <a:t> </a:t>
              </a:r>
              <a:r>
                <a:rPr lang="en-US" altLang="zh-TW" sz="1800" dirty="0"/>
                <a:t>if </a:t>
              </a:r>
              <a:r>
                <a:rPr lang="en-US" altLang="zh-TW" sz="1800" i="1" dirty="0"/>
                <a:t>F</a:t>
              </a:r>
              <a:r>
                <a:rPr lang="en-US" altLang="zh-TW" sz="1800" dirty="0"/>
                <a:t> &gt; 1.0.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91779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3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More Than Two Test Conditions</a:t>
            </a:r>
            <a:endParaRPr lang="en-GB"/>
          </a:p>
        </p:txBody>
      </p:sp>
      <p:pic>
        <p:nvPicPr>
          <p:cNvPr id="6768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8" y="1600200"/>
            <a:ext cx="2770187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768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981200"/>
            <a:ext cx="5486400" cy="316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768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5638800"/>
            <a:ext cx="5551487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99438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9825</TotalTime>
  <Words>2510</Words>
  <Application>Microsoft Macintosh PowerPoint</Application>
  <PresentationFormat>如螢幕大小 (4:3)</PresentationFormat>
  <Paragraphs>395</Paragraphs>
  <Slides>38</Slides>
  <Notes>23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伺服器</vt:lpstr>
      </vt:variant>
      <vt:variant>
        <vt:i4>6</vt:i4>
      </vt:variant>
      <vt:variant>
        <vt:lpstr>投影片標題</vt:lpstr>
      </vt:variant>
      <vt:variant>
        <vt:i4>38</vt:i4>
      </vt:variant>
    </vt:vector>
  </HeadingPairs>
  <TitlesOfParts>
    <vt:vector size="45" baseType="lpstr">
      <vt:lpstr>Office Theme</vt:lpstr>
      <vt:lpstr>方程式</vt:lpstr>
      <vt:lpstr>Equation</vt:lpstr>
      <vt:lpstr>文件</vt:lpstr>
      <vt:lpstr>Chart</vt:lpstr>
      <vt:lpstr>圖表</vt:lpstr>
      <vt:lpstr>工作表</vt:lpstr>
      <vt:lpstr>ISA5577 Applied Quantitative Methods for Human-Computer Interaction 人機互動量化研究方法  November, 2016</vt:lpstr>
      <vt:lpstr>Today’s Agenda</vt:lpstr>
      <vt:lpstr>Hypothesis Testing t-test, ANOVA</vt:lpstr>
      <vt:lpstr>Answering Research Questions</vt:lpstr>
      <vt:lpstr>Answering Empirical Questions (2)</vt:lpstr>
      <vt:lpstr>Hypotheses: For statistical inference, these are predictions about a population expressed in terms of parameters (e.g., population means or proportions or correlations) for the variables considered in a study.</vt:lpstr>
      <vt:lpstr>Five Parts of a Significance Test</vt:lpstr>
      <vt:lpstr>PowerPoint 簡報</vt:lpstr>
      <vt:lpstr>PowerPoint 簡報</vt:lpstr>
      <vt:lpstr>Significance Test for Mean (t-test)</vt:lpstr>
      <vt:lpstr>Samples and Populations</vt:lpstr>
      <vt:lpstr>PowerPoint 簡報</vt:lpstr>
      <vt:lpstr>Example: Anorexia study (revisited)</vt:lpstr>
      <vt:lpstr>Is there evidence that family therapy has an effect?</vt:lpstr>
      <vt:lpstr>PowerPoint 簡報</vt:lpstr>
      <vt:lpstr>Decisions in Tests</vt:lpstr>
      <vt:lpstr>Error Types</vt:lpstr>
      <vt:lpstr>P(Type I error)</vt:lpstr>
      <vt:lpstr>Comparing two Samples</vt:lpstr>
      <vt:lpstr>Analysis of Variance (Anova)</vt:lpstr>
      <vt:lpstr>Anova terminology</vt:lpstr>
      <vt:lpstr>F statistic</vt:lpstr>
      <vt:lpstr>F Statistic</vt:lpstr>
      <vt:lpstr>F statistic</vt:lpstr>
      <vt:lpstr>Statistical significance vs  Practical significance </vt:lpstr>
      <vt:lpstr>Single Factor Analysis of Variance</vt:lpstr>
      <vt:lpstr>Anova terminology</vt:lpstr>
      <vt:lpstr>Anova terminology</vt:lpstr>
      <vt:lpstr>Anova</vt:lpstr>
      <vt:lpstr>Anova</vt:lpstr>
      <vt:lpstr>More ANOVA examples</vt:lpstr>
      <vt:lpstr>Example #1   Example #2</vt:lpstr>
      <vt:lpstr>Example #1 - Details</vt:lpstr>
      <vt:lpstr>Example #1 - Anova</vt:lpstr>
      <vt:lpstr>How to Report an F-statistic</vt:lpstr>
      <vt:lpstr>Example #2 - Details</vt:lpstr>
      <vt:lpstr>Example #2 – Anova</vt:lpstr>
      <vt:lpstr>More Than Two Test Conditions</vt:lpstr>
    </vt:vector>
  </TitlesOfParts>
  <Company>Cornell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5441 Social Computing TA</dc:title>
  <dc:creator>Hao-Chuan Wang</dc:creator>
  <cp:lastModifiedBy>HC WANG</cp:lastModifiedBy>
  <cp:revision>548</cp:revision>
  <dcterms:created xsi:type="dcterms:W3CDTF">2012-02-07T03:56:58Z</dcterms:created>
  <dcterms:modified xsi:type="dcterms:W3CDTF">2016-10-27T05:34:33Z</dcterms:modified>
</cp:coreProperties>
</file>